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00b30f7-5a95-009a-3bf2-db1cfeae6cfb}">
          <p14:sldIdLst>
            <p14:sldId id="256"/>
            <p14:sldId id="257"/>
            <p14:sldId id="258"/>
            <p14:sldId id="259"/>
          </p14:sldIdLst>
        </p14:section>
        <p14:section name="Data flow" id="{80ff94d1-c947-a62c-3148-1b69a61444bf}">
          <p14:sldIdLst>
            <p14:sldId id="260"/>
            <p14:sldId id="261"/>
          </p14:sldIdLst>
        </p14:section>
        <p14:section name="Functional modules" id="{cea44b33-9007-fdd9-613d-e067af835fc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ontrols &amp; operations" id="{5d312de2-2004-9ee1-e0ea-e770f8cf5159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Next steps" id="{2d6ce897-a736-57e0-066b-3d8e82122481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Fees</c:v>
                </c:pt>
              </c:strCache>
            </c:strRef>
          </c:tx>
          <c:spPr>
            <a:solidFill>
              <a:srgbClr val="A8811F"/>
            </a:solidFill>
            <a:effectLst/>
          </c:spPr>
          <c:invertIfNegative val="0"/>
          <c:dLbls>
            <c:numFmt formatCode="&quot;Rs &quot;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Express Filing</c:v>
                  </c:pt>
                  <c:pt idx="1">
                    <c:v>Consultant Plus</c:v>
                  </c:pt>
                  <c:pt idx="2">
                    <c:v>Basic Filing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156500</c:v>
                </c:pt>
                <c:pt idx="1">
                  <c:v>320000</c:v>
                </c:pt>
                <c:pt idx="2">
                  <c:v>67500</c:v>
                </c:pt>
              </c:numCache>
            </c:numRef>
          </c:val>
        </c:ser>
        <c:dLbls>
          <c:numFmt formatCode="&quot;Rs &quot;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1B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B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B21"/>
                </a:solidFill>
                <a:latin typeface="+mn-lt"/>
              </a:rPr>
              <a:t>Season trend (per month)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Returns started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6</c:v>
                </c:pt>
                <c:pt idx="3">
                  <c:v>24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 filed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7</c:v>
                </c:pt>
                <c:pt idx="5">
                  <c:v>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clients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7</c:v>
                </c:pt>
                <c:pt idx="3">
                  <c:v>27</c:v>
                </c:pt>
                <c:pt idx="4">
                  <c:v>4</c:v>
                </c:pt>
                <c:pt idx="5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This FSD documents the VVS Tax Consultancy Portal as built and running on the demo site 'consultant'. Figures come from live records on 18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0 treats the portal as a single process. Clients and prospects feed it data; staff act on it; FBR IRIS is reached manually by the filing officer; WhatsApp, SMS and email carry messages and verification codes; Apify supplies business prospects.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1 opens process 0. The main line runs left to right: a lead becomes a client, buys a package, uploads documents, the return is prepared and calculated, reviewed, confirmed and approved, then filed. Communication (8.0) and reporting (9.0) serve every step; the audit trail records every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owner decisions that block go-live. Everything else in this document is built and running on the demo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VS_COVER">
    <p:bg>
      <p:bgPr>
        <a:solidFill>
          <a:srgbClr val="14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VS_SECTION">
    <p:bg>
      <p:bgPr>
        <a:solidFill>
          <a:srgbClr val="14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1575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251460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3520440"/>
            <a:ext cx="86868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C3B3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677"/>
                </a:solidFill>
              </a:rPr>
              <a:t>VVS Tax Consultancy Portal  ·  Functional Specification Document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V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4727" y="347472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F6470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6" name="Text 0"/>
          <p:cNvSpPr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88C"/>
                </a:solidFill>
              </a:rPr>
              <a:t>VVS Tax Consultancy Portal  ·  Functional Specification Document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16152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Vault Solutions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216152" y="822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VVS Consultants · Audit &amp; Taxation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6002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37"/>
                </a:solidFill>
              </a:rPr>
              <a:t>FUNCTIONAL SPECIFICATION DOCUMENT  ·  VERSION 1.0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92024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 Consultancy Portal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74320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8D2C2"/>
                </a:solidFill>
              </a:rPr>
              <a:t>Client portal, staff workspace and CRM for income tax returns on FBR IRIS — functional design, data flow diagrams (level 0 and 1), workflow, controls and live data, on ERPNext v16 with a React front end.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069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FIRM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Vision Vault Solutions, Faisalabad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4069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SITE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43159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consultant  ·  ERPNext v16 + React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4846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PARTNER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0932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Faizan Chaudhary — Audit &amp; Taxation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4846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677"/>
                </a:solidFill>
              </a:rPr>
              <a:t>DATA AS OF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50932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18 Oct 2026  ·  demo season, live entries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543800" y="685800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99248" y="813816"/>
            <a:ext cx="493776" cy="493776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754" y="932322"/>
            <a:ext cx="256764" cy="2567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321040" y="795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01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8641080" y="777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Client portal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1088136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Sign-up · OTP · documents · confirm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543800" y="1572768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99248" y="1700784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7754" y="1819290"/>
            <a:ext cx="256764" cy="25676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21040" y="16824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02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641080" y="1664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Return workflow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1975104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12 states · four-eyes · IRIS evidence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7543800" y="2459736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7699248" y="2587752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754" y="2706258"/>
            <a:ext cx="256764" cy="25676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321040" y="256946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86410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Tax engine &amp; simulator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2862072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Slabs from rules · what-if scenarios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7543800" y="3346704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699248" y="3474720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754" y="3593226"/>
            <a:ext cx="256764" cy="256764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321040" y="345643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04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8641080" y="34381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CRM &amp; outreach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8321040" y="3749040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Leads · pipeline · WhatsApp · Lead Finder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7543800" y="4233672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7699248" y="4361688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754" y="4480194"/>
            <a:ext cx="256764" cy="256764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321040" y="43434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05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8641080" y="4325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Billing &amp; accounts</a:t>
            </a:r>
            <a:endParaRPr lang="en-US" sz="1400" dirty="0"/>
          </a:p>
        </p:txBody>
      </p:sp>
      <p:sp>
        <p:nvSpPr>
          <p:cNvPr id="45" name="Text 37"/>
          <p:cNvSpPr txBox="1"/>
          <p:nvPr/>
        </p:nvSpPr>
        <p:spPr>
          <a:xfrm>
            <a:off x="8321040" y="4636008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Packages · proofs → invoice + payment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7543800" y="5120640"/>
            <a:ext cx="4114800" cy="749808"/>
          </a:xfrm>
          <a:prstGeom prst="roundRect">
            <a:avLst>
              <a:gd name="adj" fmla="val 9756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7699248" y="5248656"/>
            <a:ext cx="493776" cy="49377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7754" y="5367162"/>
            <a:ext cx="256764" cy="256764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8321040" y="52303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06</a:t>
            </a:r>
            <a:endParaRPr lang="en-US" sz="1000" dirty="0"/>
          </a:p>
        </p:txBody>
      </p:sp>
      <p:sp>
        <p:nvSpPr>
          <p:cNvPr id="50" name="Text 41"/>
          <p:cNvSpPr txBox="1"/>
          <p:nvPr/>
        </p:nvSpPr>
        <p:spPr>
          <a:xfrm>
            <a:off x="8641080" y="5212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Insights &amp; control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8321040" y="5522976"/>
            <a:ext cx="3246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Dashboards · reports · roles · audit</a:t>
            </a:r>
            <a:endParaRPr lang="en-US" sz="1100" dirty="0"/>
          </a:p>
        </p:txBody>
      </p:sp>
      <p:sp>
        <p:nvSpPr>
          <p:cNvPr id="52" name="Text 43"/>
          <p:cNvSpPr txBox="1"/>
          <p:nvPr/>
        </p:nvSpPr>
        <p:spPr>
          <a:xfrm>
            <a:off x="502920" y="64008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C8677"/>
                </a:solidFill>
              </a:rPr>
              <a:t>Prepared by MicroMax Erp Pvt Ltd  ·  Office P.442/D, Mezzanine Floor, Adjacent to Unze London, Hurrian Wala Chowk, Faisalabad 38000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DOCUMENT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About this document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Scope, audience and how the specification is organised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56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Document information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1206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Item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Detail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Functional Specification — VVS Tax Portal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Version / date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1.0  ·  18 Oct 2026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ERPNext v16 · Frappe CRM · WhatsApp · React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Audience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Partner, admin, consultants, implementers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 source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Live records, site 'consultant' (fake clients)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297680"/>
            <a:ext cx="548640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4407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Contents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4773168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773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4754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System at a glance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91840" y="4773168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4773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584448" y="4754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Actors &amp; roles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5074920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0749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DFD level 0 — context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91840" y="5074920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91840" y="50749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3584448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DFD level 1 — processes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85800" y="5376672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5376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" y="53583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Client journey &amp; workflow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91840" y="5376672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291840" y="5376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584448" y="53583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Onboarding &amp; verification codes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85800" y="5678424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5678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78408" y="5660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CRM &amp; lead generation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91840" y="5678424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291840" y="5678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3584448" y="5660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Documents · tax · simulator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85800" y="5980176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59801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9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978408" y="5961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Controls · billing · insights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291840" y="5980176"/>
            <a:ext cx="219456" cy="219456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291840" y="59801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10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3584448" y="5961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Security · next steps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263640" y="1737360"/>
            <a:ext cx="5422392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46520" y="1856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Notation used in the diagrams</a:t>
            </a:r>
            <a:endParaRPr lang="en-US" sz="1400" dirty="0"/>
          </a:p>
        </p:txBody>
      </p:sp>
      <p:sp>
        <p:nvSpPr>
          <p:cNvPr id="42" name="Process 3.0"/>
          <p:cNvSpPr/>
          <p:nvPr/>
        </p:nvSpPr>
        <p:spPr>
          <a:xfrm>
            <a:off x="6446520" y="2240280"/>
            <a:ext cx="14630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519672" y="2514600"/>
            <a:ext cx="131673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446520" y="22768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3.0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6501384" y="2551176"/>
            <a:ext cx="1353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Process</a:t>
            </a:r>
            <a:endParaRPr lang="en-US" sz="1100" dirty="0"/>
          </a:p>
        </p:txBody>
      </p:sp>
      <p:sp>
        <p:nvSpPr>
          <p:cNvPr id="46" name="Entity External entity"/>
          <p:cNvSpPr/>
          <p:nvPr/>
        </p:nvSpPr>
        <p:spPr>
          <a:xfrm>
            <a:off x="8138160" y="2331720"/>
            <a:ext cx="1417320" cy="54864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1312" y="2331720"/>
            <a:ext cx="1271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External entity</a:t>
            </a:r>
            <a:endParaRPr lang="en-US" sz="1200" dirty="0"/>
          </a:p>
        </p:txBody>
      </p:sp>
      <p:sp>
        <p:nvSpPr>
          <p:cNvPr id="48" name="Store D4"/>
          <p:cNvSpPr/>
          <p:nvPr/>
        </p:nvSpPr>
        <p:spPr>
          <a:xfrm>
            <a:off x="9784080" y="2423160"/>
            <a:ext cx="169164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784080" y="2423160"/>
            <a:ext cx="169164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784080" y="2807208"/>
            <a:ext cx="169164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784080" y="24231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168128" y="24231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7840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D4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10222992" y="242316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Data store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6492240" y="3520440"/>
            <a:ext cx="1371600" cy="0"/>
          </a:xfrm>
          <a:prstGeom prst="line">
            <a:avLst/>
          </a:prstGeom>
          <a:noFill/>
          <a:ln w="15875">
            <a:solidFill>
              <a:srgbClr val="6B6455"/>
            </a:solidFill>
            <a:prstDash val="solid"/>
            <a:tailEnd type="triangle"/>
          </a:ln>
        </p:spPr>
      </p:sp>
      <p:sp>
        <p:nvSpPr>
          <p:cNvPr id="56" name="Text 53"/>
          <p:cNvSpPr txBox="1"/>
          <p:nvPr/>
        </p:nvSpPr>
        <p:spPr>
          <a:xfrm>
            <a:off x="800100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Data flow (labelled with what moves)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6263640" y="4297680"/>
            <a:ext cx="5422392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6446520" y="44074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Principles the design follows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446520" y="4754880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Rates never live in code — slabs, credits and final-tax rates come from rule records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Nothing is shown as filed without an IRIS acknowledgment and receipt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Four-eyes: whoever prepares a return cannot approve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Calculators and simulators are labelled as estimates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SYSTEM AT A GLANCE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Live volumes on site 'consultant'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Record counts on 18 Oct 2026: a demo filing season (TY2026) walked through the real workflow by the team and the clients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Taxpayers with masked identifiers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10128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93008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Tax Returns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11 filed · 40 in progress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17336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0216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376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300216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Tax Documents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0216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Checklist items, private 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24544" y="1737360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107424" y="1847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742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107424" y="23957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Audit Events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07424" y="26151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Every create / move / approve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85800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Engagements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Packages sold this season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10128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493008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600" dirty="0"/>
          </a:p>
        </p:txBody>
      </p:sp>
      <p:sp>
        <p:nvSpPr>
          <p:cNvPr id="27" name="Text 25"/>
          <p:cNvSpPr txBox="1"/>
          <p:nvPr/>
        </p:nvSpPr>
        <p:spPr>
          <a:xfrm>
            <a:off x="3493008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Sales Invoices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493008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Posted from verified proofs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17336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00216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Site Visits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300216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Field prospects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924544" y="3035808"/>
            <a:ext cx="2624328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107424" y="31455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600" dirty="0"/>
          </a:p>
        </p:txBody>
      </p:sp>
      <p:sp>
        <p:nvSpPr>
          <p:cNvPr id="35" name="Text 33"/>
          <p:cNvSpPr txBox="1"/>
          <p:nvPr/>
        </p:nvSpPr>
        <p:spPr>
          <a:xfrm>
            <a:off x="9107424" y="36941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CRM Leads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07424" y="39136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Website, WhatsApp, visits, finder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34840"/>
          <a:ext cx="11185855" cy="914400"/>
        </p:xfrm>
        <a:graphic>
          <a:graphicData uri="http://schemas.openxmlformats.org/drawingml/2006/table">
            <a:tbl>
              <a:tblPr/>
              <a:tblGrid>
                <a:gridCol w="1700784"/>
                <a:gridCol w="640080"/>
                <a:gridCol w="1700784"/>
                <a:gridCol w="640080"/>
                <a:gridCol w="1700784"/>
                <a:gridCol w="640080"/>
                <a:gridCol w="1700784"/>
                <a:gridCol w="6309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Count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 PDFs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Payment Entries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 Messages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Document Types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 Calculations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Consultations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 Templates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 Years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Scenarios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CRM Deals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Slab Settings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Payment Proofs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Lead Prospects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users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ACTORS &amp; ROLES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Who uses the system — and whose records they see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Role decides what kind of access; scope decides which records (enforced on the server for every list and document)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548640" cy="54864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0519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Admin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Runs the firm: settings, team, payments, every client and return.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310128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93008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682" y="205191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78808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Consultant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178808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2 users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Prepares returns for the clients assigned to them.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3493008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93008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Assigned clients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117336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00216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890" y="2051914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986016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Reviewer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6986016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6300216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Checks prepared returns and sends them back or on for approval.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300216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300216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8924544" y="1737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107424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098" y="2051914"/>
            <a:ext cx="285293" cy="285293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793224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Tax Approver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9793224" y="2212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107424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Gives the final approval before filing (never their own work).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9107424" y="3429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107424" y="3429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85800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4337914"/>
            <a:ext cx="285293" cy="285293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371600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Filing Officer</a:t>
            </a:r>
            <a:endParaRPr lang="en-US" sz="1400" dirty="0"/>
          </a:p>
        </p:txBody>
      </p:sp>
      <p:sp>
        <p:nvSpPr>
          <p:cNvPr id="41" name="Text 34"/>
          <p:cNvSpPr txBox="1"/>
          <p:nvPr/>
        </p:nvSpPr>
        <p:spPr>
          <a:xfrm>
            <a:off x="1371600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685800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Files approved returns on FBR IRIS and records the acknowledgment.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685800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All clients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3310128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3493008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4682" y="4337914"/>
            <a:ext cx="285293" cy="285293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4178808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Field Officer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4178808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1 user</a:t>
            </a:r>
            <a:endParaRPr lang="en-US" sz="1000" dirty="0"/>
          </a:p>
        </p:txBody>
      </p:sp>
      <p:sp>
        <p:nvSpPr>
          <p:cNvPr id="50" name="Text 42"/>
          <p:cNvSpPr txBox="1"/>
          <p:nvPr/>
        </p:nvSpPr>
        <p:spPr>
          <a:xfrm>
            <a:off x="3493008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 prospects and clients met in the field.</a:t>
            </a:r>
            <a:endParaRPr lang="en-US" sz="1100" dirty="0"/>
          </a:p>
        </p:txBody>
      </p:sp>
      <p:sp>
        <p:nvSpPr>
          <p:cNvPr id="51" name="Shape 43"/>
          <p:cNvSpPr/>
          <p:nvPr/>
        </p:nvSpPr>
        <p:spPr>
          <a:xfrm>
            <a:off x="3493008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3493008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Own registrations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6117336" y="4023360"/>
            <a:ext cx="2624328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6300216" y="4206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1890" y="4337914"/>
            <a:ext cx="285293" cy="285293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6986016" y="4224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Client</a:t>
            </a:r>
            <a:endParaRPr lang="en-US" sz="1400" dirty="0"/>
          </a:p>
        </p:txBody>
      </p:sp>
      <p:sp>
        <p:nvSpPr>
          <p:cNvPr id="57" name="Text 48"/>
          <p:cNvSpPr txBox="1"/>
          <p:nvPr/>
        </p:nvSpPr>
        <p:spPr>
          <a:xfrm>
            <a:off x="6986016" y="44988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50 portal logins</a:t>
            </a:r>
            <a:endParaRPr lang="en-US" sz="1000" dirty="0"/>
          </a:p>
        </p:txBody>
      </p:sp>
      <p:sp>
        <p:nvSpPr>
          <p:cNvPr id="58" name="Text 49"/>
          <p:cNvSpPr txBox="1"/>
          <p:nvPr/>
        </p:nvSpPr>
        <p:spPr>
          <a:xfrm>
            <a:off x="6300216" y="4892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taxpayer using the client portal.</a:t>
            </a:r>
            <a:endParaRPr lang="en-US" sz="1100" dirty="0"/>
          </a:p>
        </p:txBody>
      </p:sp>
      <p:sp>
        <p:nvSpPr>
          <p:cNvPr id="59" name="Shape 50"/>
          <p:cNvSpPr/>
          <p:nvPr/>
        </p:nvSpPr>
        <p:spPr>
          <a:xfrm>
            <a:off x="6300216" y="5715000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6300216" y="57150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Own records only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DFD LEVEL 0  ·  CONTEXT DIAGRAM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portal and everything it exchanges data with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One process (the whole system), eight external entities and the data flowing between them</a:t>
            </a:r>
            <a:endParaRPr lang="en-US" sz="1300" dirty="0"/>
          </a:p>
        </p:txBody>
      </p:sp>
      <p:sp>
        <p:nvSpPr>
          <p:cNvPr id="6" name="Process 0"/>
          <p:cNvSpPr/>
          <p:nvPr/>
        </p:nvSpPr>
        <p:spPr>
          <a:xfrm>
            <a:off x="4754880" y="3291840"/>
            <a:ext cx="2679192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2540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828032" y="3675888"/>
            <a:ext cx="2532888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0" y="3328416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11F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809744" y="3730752"/>
            <a:ext cx="25694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VVS Tax Consultancy Portal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06040" y="2139696"/>
            <a:ext cx="2148840" cy="1380744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2606040" y="3954780"/>
            <a:ext cx="2148840" cy="4572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2" name="Shape 9"/>
          <p:cNvSpPr/>
          <p:nvPr/>
        </p:nvSpPr>
        <p:spPr>
          <a:xfrm flipV="1">
            <a:off x="2606040" y="4389120"/>
            <a:ext cx="2148840" cy="1362456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3" name="Shape 10"/>
          <p:cNvSpPr/>
          <p:nvPr/>
        </p:nvSpPr>
        <p:spPr>
          <a:xfrm flipH="1">
            <a:off x="7434072" y="2139696"/>
            <a:ext cx="2151583" cy="1380744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4" name="Shape 11"/>
          <p:cNvSpPr/>
          <p:nvPr/>
        </p:nvSpPr>
        <p:spPr>
          <a:xfrm flipH="1" flipV="1">
            <a:off x="7434072" y="3954780"/>
            <a:ext cx="2151583" cy="4572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5" name="Shape 12"/>
          <p:cNvSpPr/>
          <p:nvPr/>
        </p:nvSpPr>
        <p:spPr>
          <a:xfrm flipH="1" flipV="1">
            <a:off x="7434072" y="4389120"/>
            <a:ext cx="2151583" cy="1362456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6094476" y="2496312"/>
            <a:ext cx="0" cy="795528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 flipH="1" flipV="1">
            <a:off x="6094476" y="4617720"/>
            <a:ext cx="0" cy="77724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8" name="Entity Client (taxpayer)"/>
          <p:cNvSpPr/>
          <p:nvPr/>
        </p:nvSpPr>
        <p:spPr>
          <a:xfrm>
            <a:off x="502920" y="178308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6072" y="183794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 (taxpayer)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76072" y="211226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portal · WhatsApp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965960" y="2606040"/>
            <a:ext cx="256032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11680" y="26060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sign-up, answers, documents, fee proof, confirmation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codes, checklist, return summary, IRIS receipt, letters</a:t>
            </a:r>
            <a:endParaRPr lang="en-US" sz="1000" dirty="0"/>
          </a:p>
        </p:txBody>
      </p:sp>
      <p:sp>
        <p:nvSpPr>
          <p:cNvPr id="23" name="Entity Prospect / visitor"/>
          <p:cNvSpPr/>
          <p:nvPr/>
        </p:nvSpPr>
        <p:spPr>
          <a:xfrm>
            <a:off x="502920" y="3602736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" y="3657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Prospect / visitor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" y="3931920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website · walk-in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697480" y="3639312"/>
            <a:ext cx="196596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43200" y="3639312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enquiry, booking, calculator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estimate, follow-up</a:t>
            </a:r>
            <a:endParaRPr lang="en-US" sz="1000" dirty="0"/>
          </a:p>
        </p:txBody>
      </p:sp>
      <p:sp>
        <p:nvSpPr>
          <p:cNvPr id="28" name="Entity Apify (Google Maps)"/>
          <p:cNvSpPr/>
          <p:nvPr/>
        </p:nvSpPr>
        <p:spPr>
          <a:xfrm>
            <a:off x="502920" y="539496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76072" y="5449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Apify (Google Maps)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6072" y="572414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external service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011680" y="4846320"/>
            <a:ext cx="201168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57400" y="484632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business listings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search (type + city)</a:t>
            </a:r>
            <a:endParaRPr lang="en-US" sz="1000" dirty="0"/>
          </a:p>
        </p:txBody>
      </p:sp>
      <p:sp>
        <p:nvSpPr>
          <p:cNvPr id="33" name="Entity Firm staff"/>
          <p:cNvSpPr/>
          <p:nvPr/>
        </p:nvSpPr>
        <p:spPr>
          <a:xfrm>
            <a:off x="9585655" y="178308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58807" y="183794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Firm staff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658807" y="211226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consultant · reviewer · approver · filing · admin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2606040"/>
            <a:ext cx="242316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927848" y="2606040"/>
            <a:ext cx="2331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preparation, reviews, approvals, filing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queues, inbox, dashboards, reports</a:t>
            </a:r>
            <a:endParaRPr lang="en-US" sz="1000" dirty="0"/>
          </a:p>
        </p:txBody>
      </p:sp>
      <p:sp>
        <p:nvSpPr>
          <p:cNvPr id="38" name="Entity FBR IRIS"/>
          <p:cNvSpPr/>
          <p:nvPr/>
        </p:nvSpPr>
        <p:spPr>
          <a:xfrm>
            <a:off x="9585655" y="3602736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58807" y="3657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FBR IRIS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9658807" y="3931920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filed manually by the filing officer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589520" y="3639312"/>
            <a:ext cx="196596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35240" y="3639312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approved return figures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acknowledgment no. + receipt</a:t>
            </a:r>
            <a:endParaRPr lang="en-US" sz="1000" dirty="0"/>
          </a:p>
        </p:txBody>
      </p:sp>
      <p:sp>
        <p:nvSpPr>
          <p:cNvPr id="43" name="Entity Email server"/>
          <p:cNvSpPr/>
          <p:nvPr/>
        </p:nvSpPr>
        <p:spPr>
          <a:xfrm>
            <a:off x="9585655" y="539496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8807" y="5449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Email server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9658807" y="572414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outgoing SMTP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001000" y="4846320"/>
            <a:ext cx="2148840" cy="402336"/>
          </a:xfrm>
          <a:prstGeom prst="roundRect">
            <a:avLst>
              <a:gd name="adj" fmla="val 11364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46720" y="4846320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notices, portal invites, reports</a:t>
            </a:r>
            <a:endParaRPr lang="en-US" sz="1000" dirty="0"/>
          </a:p>
        </p:txBody>
      </p:sp>
      <p:sp>
        <p:nvSpPr>
          <p:cNvPr id="48" name="Entity WhatsApp Cloud API"/>
          <p:cNvSpPr/>
          <p:nvPr/>
        </p:nvSpPr>
        <p:spPr>
          <a:xfrm>
            <a:off x="5042916" y="178308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116068" y="183794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WhatsApp Cloud API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116068" y="211226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Meta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204204" y="2578608"/>
            <a:ext cx="1645920" cy="585216"/>
          </a:xfrm>
          <a:prstGeom prst="roundRect">
            <a:avLst>
              <a:gd name="adj" fmla="val 7813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249924" y="257860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messages, templates, codes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▸ replies, delivery status</a:t>
            </a:r>
            <a:endParaRPr lang="en-US" sz="1000" dirty="0"/>
          </a:p>
        </p:txBody>
      </p:sp>
      <p:sp>
        <p:nvSpPr>
          <p:cNvPr id="53" name="Entity SMS gateway"/>
          <p:cNvSpPr/>
          <p:nvPr/>
        </p:nvSpPr>
        <p:spPr>
          <a:xfrm>
            <a:off x="5042916" y="5394960"/>
            <a:ext cx="2103120" cy="713232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116068" y="5449824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SMS gateway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5116068" y="5724144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C3B3"/>
                </a:solidFill>
              </a:rPr>
              <a:t>Twilio / bulk SMS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204204" y="4754880"/>
            <a:ext cx="1645920" cy="402336"/>
          </a:xfrm>
          <a:prstGeom prst="roundRect">
            <a:avLst>
              <a:gd name="adj" fmla="val 11364"/>
            </a:avLst>
          </a:prstGeom>
          <a:solidFill>
            <a:schemeClr val="bg1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249924" y="475488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◂ verification codes (backup)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502920" y="6199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▸ into the portal   ◂ out of the portal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DFD LEVEL 1  ·  PROCESSES &amp; DATA STORES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Inside the portal: nine processes, eight data stores</a:t>
            </a:r>
            <a:endParaRPr lang="en-US" sz="2800" dirty="0"/>
          </a:p>
        </p:txBody>
      </p:sp>
      <p:sp>
        <p:nvSpPr>
          <p:cNvPr id="5" name="Entity Prospect · Apify"/>
          <p:cNvSpPr/>
          <p:nvPr/>
        </p:nvSpPr>
        <p:spPr>
          <a:xfrm>
            <a:off x="502920" y="1280160"/>
            <a:ext cx="1417320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280160"/>
            <a:ext cx="1271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Prospect · Apify</a:t>
            </a:r>
            <a:endParaRPr lang="en-US" sz="1200" dirty="0"/>
          </a:p>
        </p:txBody>
      </p:sp>
      <p:sp>
        <p:nvSpPr>
          <p:cNvPr id="7" name="Entity Client (taxpayer)"/>
          <p:cNvSpPr/>
          <p:nvPr/>
        </p:nvSpPr>
        <p:spPr>
          <a:xfrm>
            <a:off x="2131009" y="1280160"/>
            <a:ext cx="4673498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04161" y="1280160"/>
            <a:ext cx="4527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 (taxpayer)</a:t>
            </a:r>
            <a:endParaRPr lang="en-US" sz="1200" dirty="0"/>
          </a:p>
        </p:txBody>
      </p:sp>
      <p:sp>
        <p:nvSpPr>
          <p:cNvPr id="9" name="Entity Firm staff"/>
          <p:cNvSpPr/>
          <p:nvPr/>
        </p:nvSpPr>
        <p:spPr>
          <a:xfrm>
            <a:off x="7015277" y="1280160"/>
            <a:ext cx="3045409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8429" y="1280160"/>
            <a:ext cx="28991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Firm staff</a:t>
            </a:r>
            <a:endParaRPr lang="en-US" sz="1200" dirty="0"/>
          </a:p>
        </p:txBody>
      </p:sp>
      <p:sp>
        <p:nvSpPr>
          <p:cNvPr id="11" name="Entity FBR IRIS"/>
          <p:cNvSpPr/>
          <p:nvPr/>
        </p:nvSpPr>
        <p:spPr>
          <a:xfrm>
            <a:off x="10271455" y="1280160"/>
            <a:ext cx="1417320" cy="45720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44607" y="1280160"/>
            <a:ext cx="1271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FBR IRIS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11580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1266444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enquiry · listings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839669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894533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sign-up · code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467758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522622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package · fee proof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095848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150712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answers · uploads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723937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7778801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line entries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352026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9406890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review · approve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980115" y="1737360"/>
            <a:ext cx="0" cy="59436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11034979" y="1801368"/>
            <a:ext cx="8828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470"/>
                </a:solidFill>
              </a:rPr>
              <a:t>ack no. · receipt</a:t>
            </a:r>
            <a:endParaRPr lang="en-US" sz="900" dirty="0"/>
          </a:p>
        </p:txBody>
      </p:sp>
      <p:sp>
        <p:nvSpPr>
          <p:cNvPr id="27" name="Process 1.0"/>
          <p:cNvSpPr/>
          <p:nvPr/>
        </p:nvSpPr>
        <p:spPr>
          <a:xfrm>
            <a:off x="502920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1.0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57784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Capture &amp; convert leads</a:t>
            </a:r>
            <a:endParaRPr lang="en-US" sz="1100" dirty="0"/>
          </a:p>
        </p:txBody>
      </p:sp>
      <p:sp>
        <p:nvSpPr>
          <p:cNvPr id="31" name="Process 2.0"/>
          <p:cNvSpPr/>
          <p:nvPr/>
        </p:nvSpPr>
        <p:spPr>
          <a:xfrm>
            <a:off x="2131009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204161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131009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2.0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185873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Onboard &amp; verify client</a:t>
            </a:r>
            <a:endParaRPr lang="en-US" sz="1100" dirty="0"/>
          </a:p>
        </p:txBody>
      </p:sp>
      <p:sp>
        <p:nvSpPr>
          <p:cNvPr id="35" name="Process 3.0"/>
          <p:cNvSpPr/>
          <p:nvPr/>
        </p:nvSpPr>
        <p:spPr>
          <a:xfrm>
            <a:off x="3759098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832250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759098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3.0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3813962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Engage &amp; bill</a:t>
            </a:r>
            <a:endParaRPr lang="en-US" sz="1100" dirty="0"/>
          </a:p>
        </p:txBody>
      </p:sp>
      <p:sp>
        <p:nvSpPr>
          <p:cNvPr id="39" name="Process 4.0"/>
          <p:cNvSpPr/>
          <p:nvPr/>
        </p:nvSpPr>
        <p:spPr>
          <a:xfrm>
            <a:off x="5387188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460340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387188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4.0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442052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Collect &amp; verify documents</a:t>
            </a:r>
            <a:endParaRPr lang="en-US" sz="1100" dirty="0"/>
          </a:p>
        </p:txBody>
      </p:sp>
      <p:sp>
        <p:nvSpPr>
          <p:cNvPr id="43" name="Process 5.0"/>
          <p:cNvSpPr/>
          <p:nvPr/>
        </p:nvSpPr>
        <p:spPr>
          <a:xfrm>
            <a:off x="7015277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088429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015277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5.0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070141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Prepare return &amp; calculate tax</a:t>
            </a:r>
            <a:endParaRPr lang="en-US" sz="1100" dirty="0"/>
          </a:p>
        </p:txBody>
      </p:sp>
      <p:sp>
        <p:nvSpPr>
          <p:cNvPr id="47" name="Process 6.0"/>
          <p:cNvSpPr/>
          <p:nvPr/>
        </p:nvSpPr>
        <p:spPr>
          <a:xfrm>
            <a:off x="8643366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716518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3366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6.0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8698230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Review, confirm &amp; approve</a:t>
            </a:r>
            <a:endParaRPr lang="en-US" sz="1100" dirty="0"/>
          </a:p>
        </p:txBody>
      </p:sp>
      <p:sp>
        <p:nvSpPr>
          <p:cNvPr id="51" name="Process 7.0"/>
          <p:cNvSpPr/>
          <p:nvPr/>
        </p:nvSpPr>
        <p:spPr>
          <a:xfrm>
            <a:off x="10271455" y="2331720"/>
            <a:ext cx="141732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10344607" y="2606040"/>
            <a:ext cx="12710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271455" y="23682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7.0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326319" y="2642616"/>
            <a:ext cx="1307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File &amp; acknowledge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1920240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3548329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5176418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804508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8432597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0060686" y="2766060"/>
            <a:ext cx="210769" cy="0"/>
          </a:xfrm>
          <a:prstGeom prst="line">
            <a:avLst/>
          </a:prstGeom>
          <a:noFill/>
          <a:ln w="22225">
            <a:solidFill>
              <a:srgbClr val="141416"/>
            </a:solidFill>
            <a:prstDash val="solid"/>
            <a:tailEnd type="triangle"/>
          </a:ln>
        </p:spPr>
      </p:sp>
      <p:sp>
        <p:nvSpPr>
          <p:cNvPr id="61" name="Store D2"/>
          <p:cNvSpPr/>
          <p:nvPr/>
        </p:nvSpPr>
        <p:spPr>
          <a:xfrm>
            <a:off x="502920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02920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02920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02920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86968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0292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D2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941832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Leads, deals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1211580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69" name="Store D1"/>
          <p:cNvSpPr/>
          <p:nvPr/>
        </p:nvSpPr>
        <p:spPr>
          <a:xfrm>
            <a:off x="2131009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131009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131009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2131009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2515057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2131009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D1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2569921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Tax clients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2839669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77" name="Store D3"/>
          <p:cNvSpPr/>
          <p:nvPr/>
        </p:nvSpPr>
        <p:spPr>
          <a:xfrm>
            <a:off x="3759098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3759098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759098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759098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143146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375909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D3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198010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Fees, payments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467758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85" name="Store D4"/>
          <p:cNvSpPr/>
          <p:nvPr/>
        </p:nvSpPr>
        <p:spPr>
          <a:xfrm>
            <a:off x="5387188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387188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5387188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5387188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5771236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538718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D4</a:t>
            </a:r>
            <a:endParaRPr lang="en-US" sz="1000" dirty="0"/>
          </a:p>
        </p:txBody>
      </p:sp>
      <p:sp>
        <p:nvSpPr>
          <p:cNvPr id="91" name="Text 88"/>
          <p:cNvSpPr txBox="1"/>
          <p:nvPr/>
        </p:nvSpPr>
        <p:spPr>
          <a:xfrm>
            <a:off x="5826100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Documents</a:t>
            </a:r>
            <a:endParaRPr lang="en-US" sz="1000" dirty="0"/>
          </a:p>
        </p:txBody>
      </p:sp>
      <p:sp>
        <p:nvSpPr>
          <p:cNvPr id="92" name="Shape 89"/>
          <p:cNvSpPr/>
          <p:nvPr/>
        </p:nvSpPr>
        <p:spPr>
          <a:xfrm>
            <a:off x="6095848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93" name="Store D6"/>
          <p:cNvSpPr/>
          <p:nvPr/>
        </p:nvSpPr>
        <p:spPr>
          <a:xfrm>
            <a:off x="7015277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7015277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015277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7015277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399325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7015277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D6</a:t>
            </a:r>
            <a:endParaRPr lang="en-US" sz="1000" dirty="0"/>
          </a:p>
        </p:txBody>
      </p:sp>
      <p:sp>
        <p:nvSpPr>
          <p:cNvPr id="99" name="Text 96"/>
          <p:cNvSpPr txBox="1"/>
          <p:nvPr/>
        </p:nvSpPr>
        <p:spPr>
          <a:xfrm>
            <a:off x="7454189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Tax rules</a:t>
            </a:r>
            <a:endParaRPr lang="en-US" sz="1000" dirty="0"/>
          </a:p>
        </p:txBody>
      </p:sp>
      <p:sp>
        <p:nvSpPr>
          <p:cNvPr id="100" name="Shape 97"/>
          <p:cNvSpPr/>
          <p:nvPr/>
        </p:nvSpPr>
        <p:spPr>
          <a:xfrm>
            <a:off x="7723937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tailEnd type="triangle"/>
          </a:ln>
        </p:spPr>
      </p:sp>
      <p:sp>
        <p:nvSpPr>
          <p:cNvPr id="101" name="Store D5"/>
          <p:cNvSpPr/>
          <p:nvPr/>
        </p:nvSpPr>
        <p:spPr>
          <a:xfrm>
            <a:off x="8643366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643366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643366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643366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9027414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8643366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D5</a:t>
            </a:r>
            <a:endParaRPr lang="en-US" sz="1000" dirty="0"/>
          </a:p>
        </p:txBody>
      </p:sp>
      <p:sp>
        <p:nvSpPr>
          <p:cNvPr id="107" name="Text 104"/>
          <p:cNvSpPr txBox="1"/>
          <p:nvPr/>
        </p:nvSpPr>
        <p:spPr>
          <a:xfrm>
            <a:off x="9082278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Returns, calcs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352026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109" name="Store D7"/>
          <p:cNvSpPr/>
          <p:nvPr/>
        </p:nvSpPr>
        <p:spPr>
          <a:xfrm>
            <a:off x="10271455" y="3794760"/>
            <a:ext cx="14173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271455" y="3794760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271455" y="4178808"/>
            <a:ext cx="14173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271455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655503" y="3794760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10271455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D7</a:t>
            </a:r>
            <a:endParaRPr lang="en-US" sz="1000" dirty="0"/>
          </a:p>
        </p:txBody>
      </p:sp>
      <p:sp>
        <p:nvSpPr>
          <p:cNvPr id="115" name="Text 112"/>
          <p:cNvSpPr txBox="1"/>
          <p:nvPr/>
        </p:nvSpPr>
        <p:spPr>
          <a:xfrm>
            <a:off x="10710367" y="379476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Filing records</a:t>
            </a:r>
            <a:endParaRPr lang="en-US" sz="1000" dirty="0"/>
          </a:p>
        </p:txBody>
      </p:sp>
      <p:sp>
        <p:nvSpPr>
          <p:cNvPr id="116" name="Shape 113"/>
          <p:cNvSpPr/>
          <p:nvPr/>
        </p:nvSpPr>
        <p:spPr>
          <a:xfrm>
            <a:off x="10980115" y="3200400"/>
            <a:ext cx="0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117" name="Shape 114"/>
          <p:cNvSpPr/>
          <p:nvPr/>
        </p:nvSpPr>
        <p:spPr>
          <a:xfrm>
            <a:off x="8341157" y="3200400"/>
            <a:ext cx="485089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tailEnd type="triangle"/>
          </a:ln>
        </p:spPr>
      </p:sp>
      <p:sp>
        <p:nvSpPr>
          <p:cNvPr id="118" name="Process 8.0"/>
          <p:cNvSpPr/>
          <p:nvPr/>
        </p:nvSpPr>
        <p:spPr>
          <a:xfrm>
            <a:off x="502920" y="4526280"/>
            <a:ext cx="21031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19" name="Shape 116"/>
          <p:cNvSpPr/>
          <p:nvPr/>
        </p:nvSpPr>
        <p:spPr>
          <a:xfrm>
            <a:off x="576072" y="4800600"/>
            <a:ext cx="19568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120" name="Text 117"/>
          <p:cNvSpPr txBox="1"/>
          <p:nvPr/>
        </p:nvSpPr>
        <p:spPr>
          <a:xfrm>
            <a:off x="502920" y="4562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8.0</a:t>
            </a:r>
            <a:endParaRPr lang="en-US" sz="1100" dirty="0"/>
          </a:p>
        </p:txBody>
      </p:sp>
      <p:sp>
        <p:nvSpPr>
          <p:cNvPr id="121" name="Text 118"/>
          <p:cNvSpPr txBox="1"/>
          <p:nvPr/>
        </p:nvSpPr>
        <p:spPr>
          <a:xfrm>
            <a:off x="557784" y="4837176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Communicate &amp; notify</a:t>
            </a:r>
            <a:endParaRPr lang="en-US" sz="1100" dirty="0"/>
          </a:p>
        </p:txBody>
      </p:sp>
      <p:sp>
        <p:nvSpPr>
          <p:cNvPr id="122" name="Entity WhatsApp · SMS · Email"/>
          <p:cNvSpPr/>
          <p:nvPr/>
        </p:nvSpPr>
        <p:spPr>
          <a:xfrm>
            <a:off x="2880360" y="4636008"/>
            <a:ext cx="1828800" cy="640080"/>
          </a:xfrm>
          <a:prstGeom prst="rect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123" name="Text 120"/>
          <p:cNvSpPr txBox="1"/>
          <p:nvPr/>
        </p:nvSpPr>
        <p:spPr>
          <a:xfrm>
            <a:off x="2953512" y="4636008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WhatsApp · SMS · Email</a:t>
            </a:r>
            <a:endParaRPr lang="en-US" sz="1200" dirty="0"/>
          </a:p>
        </p:txBody>
      </p:sp>
      <p:sp>
        <p:nvSpPr>
          <p:cNvPr id="124" name="Shape 121"/>
          <p:cNvSpPr/>
          <p:nvPr/>
        </p:nvSpPr>
        <p:spPr>
          <a:xfrm>
            <a:off x="2606040" y="4937760"/>
            <a:ext cx="274320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headEnd type="triangle"/>
            <a:tailEnd type="triangle"/>
          </a:ln>
        </p:spPr>
      </p:sp>
      <p:sp>
        <p:nvSpPr>
          <p:cNvPr id="125" name="Store D8"/>
          <p:cNvSpPr/>
          <p:nvPr/>
        </p:nvSpPr>
        <p:spPr>
          <a:xfrm>
            <a:off x="502920" y="5577840"/>
            <a:ext cx="2103120" cy="365760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02920" y="5577840"/>
            <a:ext cx="21031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02920" y="5943600"/>
            <a:ext cx="21031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502920" y="5577840"/>
            <a:ext cx="0" cy="36576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886968" y="5577840"/>
            <a:ext cx="0" cy="36576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0" name="Text 127"/>
          <p:cNvSpPr txBox="1"/>
          <p:nvPr/>
        </p:nvSpPr>
        <p:spPr>
          <a:xfrm>
            <a:off x="502920" y="55778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D8</a:t>
            </a:r>
            <a:endParaRPr lang="en-US" sz="1000" dirty="0"/>
          </a:p>
        </p:txBody>
      </p:sp>
      <p:sp>
        <p:nvSpPr>
          <p:cNvPr id="131" name="Text 128"/>
          <p:cNvSpPr txBox="1"/>
          <p:nvPr/>
        </p:nvSpPr>
        <p:spPr>
          <a:xfrm>
            <a:off x="941832" y="55778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Messages &amp; conversations</a:t>
            </a:r>
            <a:endParaRPr lang="en-US" sz="1000" dirty="0"/>
          </a:p>
        </p:txBody>
      </p:sp>
      <p:sp>
        <p:nvSpPr>
          <p:cNvPr id="132" name="Shape 129"/>
          <p:cNvSpPr/>
          <p:nvPr/>
        </p:nvSpPr>
        <p:spPr>
          <a:xfrm>
            <a:off x="1554480" y="5349240"/>
            <a:ext cx="0" cy="22860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headEnd type="triangle"/>
            <a:tailEnd type="triangle"/>
          </a:ln>
        </p:spPr>
      </p:sp>
      <p:sp>
        <p:nvSpPr>
          <p:cNvPr id="133" name="Store D9"/>
          <p:cNvSpPr/>
          <p:nvPr/>
        </p:nvSpPr>
        <p:spPr>
          <a:xfrm>
            <a:off x="5029200" y="4773168"/>
            <a:ext cx="3017520" cy="384048"/>
          </a:xfrm>
          <a:prstGeom prst="rect">
            <a:avLst/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5029200" y="4773168"/>
            <a:ext cx="30175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5029200" y="5157216"/>
            <a:ext cx="3017520" cy="0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5029200" y="4773168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413248" y="4773168"/>
            <a:ext cx="0" cy="384048"/>
          </a:xfrm>
          <a:prstGeom prst="line">
            <a:avLst/>
          </a:prstGeom>
          <a:noFill/>
          <a:ln w="12700">
            <a:solidFill>
              <a:srgbClr val="6B6455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502920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811F"/>
                </a:solidFill>
              </a:rPr>
              <a:t>D9</a:t>
            </a:r>
            <a:endParaRPr lang="en-US" sz="1000" dirty="0"/>
          </a:p>
        </p:txBody>
      </p:sp>
      <p:sp>
        <p:nvSpPr>
          <p:cNvPr id="139" name="Text 136"/>
          <p:cNvSpPr txBox="1"/>
          <p:nvPr/>
        </p:nvSpPr>
        <p:spPr>
          <a:xfrm>
            <a:off x="5468112" y="4773168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Audit trail — every create, move, approval</a:t>
            </a:r>
            <a:endParaRPr lang="en-US" sz="1000" dirty="0"/>
          </a:p>
        </p:txBody>
      </p:sp>
      <p:sp>
        <p:nvSpPr>
          <p:cNvPr id="140" name="Process 9.0"/>
          <p:cNvSpPr/>
          <p:nvPr/>
        </p:nvSpPr>
        <p:spPr>
          <a:xfrm>
            <a:off x="9585655" y="4526280"/>
            <a:ext cx="21031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A8811F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41" name="Shape 138"/>
          <p:cNvSpPr/>
          <p:nvPr/>
        </p:nvSpPr>
        <p:spPr>
          <a:xfrm>
            <a:off x="9658807" y="4800600"/>
            <a:ext cx="1956816" cy="0"/>
          </a:xfrm>
          <a:prstGeom prst="line">
            <a:avLst/>
          </a:prstGeom>
          <a:noFill/>
          <a:ln w="9525">
            <a:solidFill>
              <a:srgbClr val="D4AF37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9585655" y="4562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9.0</a:t>
            </a:r>
            <a:endParaRPr lang="en-US" sz="1100" dirty="0"/>
          </a:p>
        </p:txBody>
      </p:sp>
      <p:sp>
        <p:nvSpPr>
          <p:cNvPr id="143" name="Text 140"/>
          <p:cNvSpPr txBox="1"/>
          <p:nvPr/>
        </p:nvSpPr>
        <p:spPr>
          <a:xfrm>
            <a:off x="9640519" y="4837176"/>
            <a:ext cx="1993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Analyse &amp; report</a:t>
            </a:r>
            <a:endParaRPr lang="en-US" sz="1100" dirty="0"/>
          </a:p>
        </p:txBody>
      </p:sp>
      <p:sp>
        <p:nvSpPr>
          <p:cNvPr id="144" name="Shape 141"/>
          <p:cNvSpPr/>
          <p:nvPr/>
        </p:nvSpPr>
        <p:spPr>
          <a:xfrm>
            <a:off x="8046720" y="4937760"/>
            <a:ext cx="1538935" cy="0"/>
          </a:xfrm>
          <a:prstGeom prst="line">
            <a:avLst/>
          </a:prstGeom>
          <a:noFill/>
          <a:ln w="12700">
            <a:solidFill>
              <a:srgbClr val="8C8677"/>
            </a:solidFill>
            <a:prstDash val="solid"/>
            <a:tailEnd type="triangle"/>
          </a:ln>
        </p:spPr>
      </p:sp>
      <p:sp>
        <p:nvSpPr>
          <p:cNvPr id="145" name="Shape 142"/>
          <p:cNvSpPr/>
          <p:nvPr/>
        </p:nvSpPr>
        <p:spPr>
          <a:xfrm>
            <a:off x="9352026" y="4178808"/>
            <a:ext cx="873709" cy="347472"/>
          </a:xfrm>
          <a:prstGeom prst="line">
            <a:avLst/>
          </a:prstGeom>
          <a:noFill/>
          <a:ln w="12700">
            <a:solidFill>
              <a:srgbClr val="8C8677"/>
            </a:solidFill>
            <a:prstDash val="dash"/>
            <a:tailEnd type="triangle"/>
          </a:ln>
        </p:spPr>
      </p:sp>
      <p:sp>
        <p:nvSpPr>
          <p:cNvPr id="146" name="Shape 143"/>
          <p:cNvSpPr/>
          <p:nvPr/>
        </p:nvSpPr>
        <p:spPr>
          <a:xfrm>
            <a:off x="6095848" y="4178808"/>
            <a:ext cx="442112" cy="594360"/>
          </a:xfrm>
          <a:prstGeom prst="line">
            <a:avLst/>
          </a:prstGeom>
          <a:noFill/>
          <a:ln w="12700">
            <a:solidFill>
              <a:srgbClr val="8C8677"/>
            </a:solidFill>
            <a:prstDash val="dash"/>
            <a:tailEnd type="triangle"/>
          </a:ln>
        </p:spPr>
      </p:sp>
      <p:sp>
        <p:nvSpPr>
          <p:cNvPr id="147" name="Shape 144"/>
          <p:cNvSpPr/>
          <p:nvPr/>
        </p:nvSpPr>
        <p:spPr>
          <a:xfrm flipH="1">
            <a:off x="1965960" y="4178808"/>
            <a:ext cx="873709" cy="347472"/>
          </a:xfrm>
          <a:prstGeom prst="line">
            <a:avLst/>
          </a:prstGeom>
          <a:noFill/>
          <a:ln w="12700">
            <a:solidFill>
              <a:srgbClr val="8C8677"/>
            </a:solidFill>
            <a:prstDash val="dash"/>
            <a:tailEnd type="triangle"/>
          </a:ln>
        </p:spPr>
      </p:sp>
      <p:sp>
        <p:nvSpPr>
          <p:cNvPr id="148" name="Text 145"/>
          <p:cNvSpPr txBox="1"/>
          <p:nvPr/>
        </p:nvSpPr>
        <p:spPr>
          <a:xfrm>
            <a:off x="5029200" y="427939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every step → D9</a:t>
            </a:r>
            <a:endParaRPr lang="en-US" sz="1000" dirty="0"/>
          </a:p>
        </p:txBody>
      </p:sp>
      <p:sp>
        <p:nvSpPr>
          <p:cNvPr id="149" name="Text 146"/>
          <p:cNvSpPr txBox="1"/>
          <p:nvPr/>
        </p:nvSpPr>
        <p:spPr>
          <a:xfrm>
            <a:off x="9037015" y="54223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dashboards · insights · reports → staff</a:t>
            </a:r>
            <a:endParaRPr lang="en-US" sz="1000" dirty="0"/>
          </a:p>
        </p:txBody>
      </p:sp>
      <p:sp>
        <p:nvSpPr>
          <p:cNvPr id="150" name="Text 147"/>
          <p:cNvSpPr txBox="1"/>
          <p:nvPr/>
        </p:nvSpPr>
        <p:spPr>
          <a:xfrm>
            <a:off x="4572000" y="5897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Main line:  qualified lead  →  verified client  →  engagement  →  documents verified  →  calculated return  →  approved return</a:t>
            </a:r>
            <a:endParaRPr lang="en-US" sz="1000" dirty="0"/>
          </a:p>
        </p:txBody>
      </p:sp>
      <p:sp>
        <p:nvSpPr>
          <p:cNvPr id="151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SECTION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2514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Functional modules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35204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C3B3"/>
                </a:solidFill>
              </a:rPr>
              <a:t>From first contact to the IRIS acknowledgment: the client journey, the 12-state return workflow and each module that supports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CLIENT JOURNEY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Seven steps the client sees in the portal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Every step is dated from the audit trail and shown as a progress tracker to the client and to staff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1910" y="2395728"/>
            <a:ext cx="9587876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2726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734" y="2224552"/>
            <a:ext cx="342351" cy="34235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4790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76072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Account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76072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Sign up, verify mobile with a 6-digit code (WhatsApp first, SMS backup)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70705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713" y="222455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82769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174051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Documents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174051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Answer 10 questions → personalised checklist; upload from the phone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168684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693" y="222455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680748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3772031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 preparation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772031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Consultant verifies documents, enters lines, calculates tax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766664" y="2066544"/>
            <a:ext cx="658368" cy="65836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672" y="2224552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278728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5370010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 review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5370010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 second person reviews against a checklist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7364643" y="2066544"/>
            <a:ext cx="658368" cy="65836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2651" y="2224552"/>
            <a:ext cx="342351" cy="342351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876707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5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6967989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Confirmation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967989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Client checks the summary and confirms (or asks a question)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962622" y="2066544"/>
            <a:ext cx="658368" cy="65836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0631" y="2224552"/>
            <a:ext cx="342351" cy="342351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474686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6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8565969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Filed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8565969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Approver signs off; filing officer files on FBR IRIS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10560602" y="2066544"/>
            <a:ext cx="658368" cy="65836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8610" y="2224552"/>
            <a:ext cx="342351" cy="3423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1072666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7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63948" y="2852928"/>
            <a:ext cx="14516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Acknowledged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10163948" y="3163824"/>
            <a:ext cx="14516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IRIS acknowledgment no. + receipt in the client's vault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502920" y="4434840"/>
            <a:ext cx="11185855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731520" y="4553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Where the TY2026 demo season stands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31520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800" dirty="0"/>
          </a:p>
        </p:txBody>
      </p:sp>
      <p:sp>
        <p:nvSpPr>
          <p:cNvPr id="44" name="Text 35"/>
          <p:cNvSpPr txBox="1"/>
          <p:nvPr/>
        </p:nvSpPr>
        <p:spPr>
          <a:xfrm>
            <a:off x="731520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Documents Pending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1956816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800" dirty="0"/>
          </a:p>
        </p:txBody>
      </p:sp>
      <p:sp>
        <p:nvSpPr>
          <p:cNvPr id="46" name="Text 37"/>
          <p:cNvSpPr txBox="1"/>
          <p:nvPr/>
        </p:nvSpPr>
        <p:spPr>
          <a:xfrm>
            <a:off x="1956816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Draft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3182112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800" dirty="0"/>
          </a:p>
        </p:txBody>
      </p:sp>
      <p:sp>
        <p:nvSpPr>
          <p:cNvPr id="48" name="Text 39"/>
          <p:cNvSpPr txBox="1"/>
          <p:nvPr/>
        </p:nvSpPr>
        <p:spPr>
          <a:xfrm>
            <a:off x="3182112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Pending Review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4407408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800" dirty="0"/>
          </a:p>
        </p:txBody>
      </p:sp>
      <p:sp>
        <p:nvSpPr>
          <p:cNvPr id="50" name="Text 41"/>
          <p:cNvSpPr txBox="1"/>
          <p:nvPr/>
        </p:nvSpPr>
        <p:spPr>
          <a:xfrm>
            <a:off x="4407408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Under Review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5632704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800" dirty="0"/>
          </a:p>
        </p:txBody>
      </p:sp>
      <p:sp>
        <p:nvSpPr>
          <p:cNvPr id="52" name="Text 43"/>
          <p:cNvSpPr txBox="1"/>
          <p:nvPr/>
        </p:nvSpPr>
        <p:spPr>
          <a:xfrm>
            <a:off x="5632704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Reviewed</a:t>
            </a:r>
            <a:endParaRPr lang="en-US" sz="1000" dirty="0"/>
          </a:p>
        </p:txBody>
      </p:sp>
      <p:sp>
        <p:nvSpPr>
          <p:cNvPr id="53" name="Text 44"/>
          <p:cNvSpPr txBox="1"/>
          <p:nvPr/>
        </p:nvSpPr>
        <p:spPr>
          <a:xfrm>
            <a:off x="6858000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800" dirty="0"/>
          </a:p>
        </p:txBody>
      </p:sp>
      <p:sp>
        <p:nvSpPr>
          <p:cNvPr id="54" name="Text 45"/>
          <p:cNvSpPr txBox="1"/>
          <p:nvPr/>
        </p:nvSpPr>
        <p:spPr>
          <a:xfrm>
            <a:off x="6858000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Client confirm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8083296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56" name="Text 47"/>
          <p:cNvSpPr txBox="1"/>
          <p:nvPr/>
        </p:nvSpPr>
        <p:spPr>
          <a:xfrm>
            <a:off x="8083296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Approved</a:t>
            </a:r>
            <a:endParaRPr lang="en-US" sz="1000" dirty="0"/>
          </a:p>
        </p:txBody>
      </p:sp>
      <p:sp>
        <p:nvSpPr>
          <p:cNvPr id="57" name="Text 48"/>
          <p:cNvSpPr txBox="1"/>
          <p:nvPr/>
        </p:nvSpPr>
        <p:spPr>
          <a:xfrm>
            <a:off x="9308592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800" dirty="0"/>
          </a:p>
        </p:txBody>
      </p:sp>
      <p:sp>
        <p:nvSpPr>
          <p:cNvPr id="58" name="Text 49"/>
          <p:cNvSpPr txBox="1"/>
          <p:nvPr/>
        </p:nvSpPr>
        <p:spPr>
          <a:xfrm>
            <a:off x="9308592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Submitted</a:t>
            </a:r>
            <a:endParaRPr lang="en-US" sz="1000" dirty="0"/>
          </a:p>
        </p:txBody>
      </p:sp>
      <p:sp>
        <p:nvSpPr>
          <p:cNvPr id="59" name="Text 50"/>
          <p:cNvSpPr txBox="1"/>
          <p:nvPr/>
        </p:nvSpPr>
        <p:spPr>
          <a:xfrm>
            <a:off x="10533888" y="48920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60" name="Text 51"/>
          <p:cNvSpPr txBox="1"/>
          <p:nvPr/>
        </p:nvSpPr>
        <p:spPr>
          <a:xfrm>
            <a:off x="10533888" y="54681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Acknowledged</a:t>
            </a:r>
            <a:endParaRPr lang="en-US" sz="1000" dirty="0"/>
          </a:p>
        </p:txBody>
      </p:sp>
      <p:sp>
        <p:nvSpPr>
          <p:cNvPr id="61" name="Text 52"/>
          <p:cNvSpPr txBox="1"/>
          <p:nvPr/>
        </p:nvSpPr>
        <p:spPr>
          <a:xfrm>
            <a:off x="731520" y="5897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470"/>
                </a:solidFill>
              </a:rPr>
              <a:t>Returns that have reached each step (cumulative)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RETURN WORKFLOW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12 states, 17 moves — a rule checked on each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Frappe Workflow checks the role; the portal's rules check the business conditions before any state change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965960"/>
                <a:gridCol w="1600200"/>
                <a:gridCol w="2514600"/>
                <a:gridCol w="350215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From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Who may act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</a:rPr>
                        <a:t>Rule checked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Documents Pending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Documents Complete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All required documents verified; fee policy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Submit for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Pending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Income lines, final-tax rates, current calculation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Pending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Start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Under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Under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Request Changes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Comment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Resume Preparation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Draft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Under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Mark 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Tax Review saved with checklist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Send to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Awaiting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Awaiting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Client Question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Awaiting Client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Approve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Client confirmed; four-eyes (not the preparer)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Mark Submitted on IRIS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Approved and unchanged since approval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Record Acknowledgment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Acknowledged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IRIS ack no. + FBR receipt attached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Report Filing Error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Error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Error notes required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Error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Retry Filing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Filing Officer, 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Acknowledged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Close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Closed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Reopen for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Pending Review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Consultant, Admin, Reviewer, Approver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6470"/>
                          </a:solidFill>
                        </a:rPr>
                        <a:t>Reason required; approval cancelled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08076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470"/>
                </a:solidFill>
              </a:rPr>
              <a:t>Reopen for Review is also allowed from Awaiting Client and Approved. Any change to signed-off figures cancels the approval automatically; a filed return can only be revised, never edited.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01  ·  ONBOARDING &amp; VERIFICATION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6-digit code: WhatsApp first, SMS as backup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The code is generated, stored only as a hash, and delivered by the channel order set in Settings → Verification codes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24179" y="178308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09" y="1932310"/>
            <a:ext cx="323332" cy="3233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19123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94360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 enters mobile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88488" y="1783080"/>
            <a:ext cx="621792" cy="62179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718" y="1932310"/>
            <a:ext cx="323332" cy="3233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683432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2458669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Code generated · hashed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52797" y="1783080"/>
            <a:ext cx="621792" cy="62179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027" y="1932310"/>
            <a:ext cx="323332" cy="32333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547741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4322978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WhatsApp authentication template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717106" y="1783080"/>
            <a:ext cx="621792" cy="62179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336" y="1932310"/>
            <a:ext cx="323332" cy="3233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412050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6187288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If it fails: same code by SMS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581415" y="1783080"/>
            <a:ext cx="621792" cy="62179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0645" y="1932310"/>
            <a:ext cx="323332" cy="323332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9276359" y="2093976"/>
            <a:ext cx="1096213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8051597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 types code · verified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10445725" y="178308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4955" y="1932310"/>
            <a:ext cx="323332" cy="3233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915906" y="2514600"/>
            <a:ext cx="16814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Account + client record created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502920" y="3337560"/>
            <a:ext cx="5486400" cy="2880360"/>
          </a:xfrm>
          <a:prstGeom prst="roundRect">
            <a:avLst>
              <a:gd name="adj" fmla="val 254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9" name="Text 21"/>
          <p:cNvSpPr txBox="1"/>
          <p:nvPr/>
        </p:nvSpPr>
        <p:spPr>
          <a:xfrm>
            <a:off x="685800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Rules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685800" y="379476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Code expires after 10 minutes; 5 attempts; 5 codes per number per hour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a hash is stored — never the code; WhatsApp codes bypass the team inbox and API log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Channel recorded on each request: WhatsApp, SMS or Failed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"No WhatsApp? Send the code by SMS instead" on the code screen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mobile that already has an account is sent to sign in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263640" y="3337560"/>
            <a:ext cx="5422392" cy="2880360"/>
          </a:xfrm>
          <a:prstGeom prst="roundRect">
            <a:avLst>
              <a:gd name="adj" fmla="val 254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6446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Settings → Verification codes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794760"/>
          <a:ext cx="5074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11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Setting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Options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Send codes by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WhatsApp, then SMS (default) · SMS only · WhatsApp only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WhatsApp template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Meta Authentication template, e.g. vvs_verification_code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SMS provider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Console (development) · Twilio · HTTP gateway (PK bulk SMS)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Secrets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Auth token / API key stored encrypted, write-only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Send 000000 to own mobile, WhatsApp-first or SMS only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02  ·  CRM &amp; LEAD GENERATION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From enquiry to engaged client in one pipeline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Frappe CRM inside the portal: leads, a tax pipeline, activities, Lead Finder and WhatsApp broadcasts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810512" cy="502920"/>
          </a:xfrm>
          <a:prstGeom prst="chevron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Enquiry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68296" y="1737360"/>
            <a:ext cx="1810512" cy="50292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9464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Consultation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33672" y="1737360"/>
            <a:ext cx="1810512" cy="502920"/>
          </a:xfrm>
          <a:prstGeom prst="chevron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Proposal Sent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9048" y="1737360"/>
            <a:ext cx="1810512" cy="502920"/>
          </a:xfrm>
          <a:prstGeom prst="chevron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Documents Pending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4424" y="1737360"/>
            <a:ext cx="1810512" cy="502920"/>
          </a:xfrm>
          <a:prstGeom prst="chevron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65592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Engaged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829800" y="1737360"/>
            <a:ext cx="1810512" cy="502920"/>
          </a:xfrm>
          <a:prstGeom prst="chevron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470"/>
                </a:solidFill>
              </a:rPr>
              <a:t>Moving a deal to Engaged creates the Tax Client (with its site-visit details) — no re-typing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88920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4088" y="3017520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3153583"/>
            <a:ext cx="294803" cy="29480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 capture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069080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55 leads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463040" y="333756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Website contact &amp; booking, WhatsApp first message, site visits, walk-ins, Lead Finder — one lead per person (duplicate check on mobile / email).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44768" y="2788920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45936" y="3017520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99" y="3153583"/>
            <a:ext cx="294803" cy="294803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04888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Activities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710928" y="2990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Notes · tasks · calendar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7104888" y="333756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Lead page: rich notes, follow-up tasks, calendar meetings, WhatsApp (free text or approved template), email from templates.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02920" y="4544568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04088" y="477316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1" y="4909231"/>
            <a:ext cx="294803" cy="294803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463040" y="47274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Lead Finder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4069080" y="47457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15 prospects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1463040" y="5093208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Google Maps by business type + city through Apify, or public websites; every result reviewed before it becomes a lead.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144768" y="4544568"/>
            <a:ext cx="548640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345936" y="477316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999" y="4909231"/>
            <a:ext cx="294803" cy="29480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104888" y="47274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WhatsApp broadcast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9710928" y="47457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11F"/>
                </a:solidFill>
              </a:rPr>
              <a:t>4 templates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7104888" y="5093208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approved template to clients or leads; consent and STOP opt-outs respected; insights per campaign.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03  ·  DOCUMENTS &amp; VAULT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right documents, checked once, kept private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Questionnaire answers and the chosen service build each return's checklist; generated letters land in the same vault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57600" cy="448056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56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Checklist rules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9456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10 yes/no questions (salary, business, rent, capital gains, bank profit, property, vehicle …)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18 document types, each with a client hint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Requirement rules by client type, taxpayer type, service, year, answer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planning scenario can add evidence (e.g. Zakat certificate) with the reason shown to the client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754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Statuses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507492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50749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Requested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31720" y="507492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31720" y="50749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5422392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223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Verified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31720" y="5422392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31720" y="54223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Rejected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470"/>
                </a:solidFill>
              </a:rPr>
              <a:t>Upload → staff verify / reject (with reason) → all required verified → return moves to Draft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1737360"/>
            <a:ext cx="7296912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72000" y="1856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Generated documents  ·  19 issued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212848"/>
          <a:ext cx="693115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3456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From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Purpose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Authority Letter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Lets the firm file on IRIS for the 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Engagement Letter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Engagement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Scope, fee and what is needed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Document Checklist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Every document, with what is missing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Computation Summary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Income, tax, refund or payable on one page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Wealth Statement Summary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Assets, liabilities and net wealth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Withholding Certificate Request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Ready letter to employer or bank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Filing Confirmation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Only after the IRIS acknowledgment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Planning Report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Scenario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What-if vs this year and last year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0" y="55321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470"/>
                </a:solidFill>
              </a:rPr>
              <a:t>Jinja print formats on the firm letterhead, rendered to PDF, versioned (v1, v2 …) and stored privately; clients download them from their vault.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04  ·  TAX ENGINE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a return's tax is calculated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Worked example: TAX-RET-2026-00006 · Usman Ghani (test) · TY2026 · Salaried Individual · demo rates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852160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47672"/>
            <a:ext cx="256032" cy="25603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47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019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income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1901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3,117,000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404872"/>
            <a:ext cx="256032" cy="25603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04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3591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Deductible allowances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23591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31,250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779776"/>
            <a:ext cx="5577840" cy="402336"/>
          </a:xfrm>
          <a:prstGeom prst="roundRect">
            <a:avLst>
              <a:gd name="adj" fmla="val 13636"/>
            </a:avLst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2862072"/>
            <a:ext cx="256032" cy="25603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862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=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8163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Taxable income (normal)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28163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Rs 2,968,750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3319272"/>
            <a:ext cx="256032" cy="25603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319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2735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Tax on taxable income (slab)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32735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292,812.5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776472"/>
            <a:ext cx="256032" cy="25603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776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+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7307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Final / separate-block tax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3730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17,550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" y="4233672"/>
            <a:ext cx="256032" cy="25603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233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41879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Tax credits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43400" y="41879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4,930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608576"/>
            <a:ext cx="5577840" cy="402336"/>
          </a:xfrm>
          <a:prstGeom prst="roundRect">
            <a:avLst>
              <a:gd name="adj" fmla="val 13636"/>
            </a:avLst>
          </a:prstGeom>
          <a:solidFill>
            <a:srgbClr val="F3F1EA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=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88720" y="46451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Tax liability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43400" y="46451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Rs 305,432.5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" y="5148072"/>
            <a:ext cx="256032" cy="256032"/>
          </a:xfrm>
          <a:prstGeom prst="ellipse">
            <a:avLst/>
          </a:prstGeom>
          <a:solidFill>
            <a:srgbClr val="1BAF7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1480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−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188720" y="51023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Tax withheld / advance tax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51023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Rs 258,550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522976"/>
            <a:ext cx="5577840" cy="402336"/>
          </a:xfrm>
          <a:prstGeom prst="roundRect">
            <a:avLst>
              <a:gd name="adj" fmla="val 13636"/>
            </a:avLst>
          </a:prstGeom>
          <a:solidFill>
            <a:srgbClr val="141416"/>
          </a:solidFill>
          <a:ln w="12700">
            <a:solidFill>
              <a:srgbClr val="F3F1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605272"/>
            <a:ext cx="256032" cy="25603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7240" y="5605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=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188720" y="555955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Payable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343400" y="55595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Rs 46,882.5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537960" y="1737360"/>
            <a:ext cx="5148072" cy="4480560"/>
          </a:xfrm>
          <a:prstGeom prst="roundRect">
            <a:avLst>
              <a:gd name="adj" fmla="val 1633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6720840" y="1856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Slab table · Salaried Individual · TY2026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212848"/>
          <a:ext cx="47823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  <a:gridCol w="1124712"/>
                <a:gridCol w="868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Taxable income from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Fixed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1,200,000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1,200,000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2,200,000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Rs 2,200,000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Rs 3,200,000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Rs 116,000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C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3,200,000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4,100,000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346,000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4,100,000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and above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616,000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8" name="Text 45"/>
          <p:cNvSpPr txBox="1"/>
          <p:nvPr/>
        </p:nvSpPr>
        <p:spPr>
          <a:xfrm>
            <a:off x="6720840" y="4343400"/>
            <a:ext cx="4782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Highlighted slab applies: Rs 116,000 + 23% of the amount above Rs 2,200,000. Separate-block income (bank profit) is taxed at the rate entered on its line; credits reduce normal tax only.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720840" y="525780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6470"/>
                </a:solidFill>
              </a:rPr>
              <a:t>Slabs, credit rules and tax years are records — the firm updates them each Finance Act, no code change. Demo rates must be validated before live use.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MODULE 05  ·  TAX SIMULATOR &amp; SCENARIOS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first, then apply the final scenario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Same engine and rates as the return; nothing changes the return until a consultant applies a scenario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20519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 Move levers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Income per group, add-backs, allowances, credits, tax paid — sliders and amounts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30363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13243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96123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797" y="205191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996123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 Compare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996123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Last year's filed return · this year's actual · simulated — table and chart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867534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050414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33294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68" y="205191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33294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 Save scenarios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33294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Name + client notes; compare up to 3; lowest tax marked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104705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287585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470465" y="1920240"/>
            <a:ext cx="548640" cy="548640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139" y="2051914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70465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 PDF report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470465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Tax Planning Report PDF into the client's vault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9341876" y="2898648"/>
            <a:ext cx="219456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9524756" y="1737360"/>
            <a:ext cx="2090867" cy="2331720"/>
          </a:xfrm>
          <a:prstGeom prst="roundRect">
            <a:avLst>
              <a:gd name="adj" fmla="val 3499"/>
            </a:avLst>
          </a:prstGeom>
          <a:solidFill>
            <a:srgbClr val="141416"/>
          </a:solidFill>
          <a:ln w="9525">
            <a:solidFill>
              <a:srgbClr val="141416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707636" y="1920240"/>
            <a:ext cx="548640" cy="54864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9310" y="2051914"/>
            <a:ext cx="285293" cy="28529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707636" y="2578608"/>
            <a:ext cx="18256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  Apply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9707636" y="2926080"/>
            <a:ext cx="17799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D2C2"/>
                </a:solidFill>
              </a:rPr>
              <a:t>Preview line changes → write lines → recalculate → request evidence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02920" y="4297680"/>
            <a:ext cx="11185855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31520" y="4416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Safeguards when a scenario is applied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3152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Only while preparing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73152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Documents Pending, Draft or Changes Required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352044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One at a time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352044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Undo the applied scenario before another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630936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Evidence required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630936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New deductions / credits add required documents — Submit for Review blocked until verified</a:t>
            </a:r>
            <a:endParaRPr lang="en-US" sz="1100" dirty="0"/>
          </a:p>
        </p:txBody>
      </p:sp>
      <p:sp>
        <p:nvSpPr>
          <p:cNvPr id="42" name="Text 35"/>
          <p:cNvSpPr txBox="1"/>
          <p:nvPr/>
        </p:nvSpPr>
        <p:spPr>
          <a:xfrm>
            <a:off x="9098280" y="4800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11F"/>
                </a:solidFill>
              </a:rPr>
              <a:t>Undo</a:t>
            </a:r>
            <a:endParaRPr lang="en-US" sz="1200" dirty="0"/>
          </a:p>
        </p:txBody>
      </p:sp>
      <p:sp>
        <p:nvSpPr>
          <p:cNvPr id="43" name="Text 36"/>
          <p:cNvSpPr txBox="1"/>
          <p:nvPr/>
        </p:nvSpPr>
        <p:spPr>
          <a:xfrm>
            <a:off x="9098280" y="5093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Restores every line exactly and recalculates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REVIEW, APPROVAL &amp; FILING CONTROLS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Built-in controls that protect client and firm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Each control is enforced on the server when the state changes — not only hidden in the screen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93852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207459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Four-eyes approval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26334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preparer can never approve; approval needs the client's confirmation first.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61104" y="173736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62272" y="193852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335" y="207459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75504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Content hash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462272" y="26334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Approval stores a hash of the figures; any change cancels it and reopens review.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19288" y="173736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0456" y="193852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519" y="2074591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33688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Review checklist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220456" y="26334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 Reviewed needs a saved Tax Review with every checklist item answered.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02920" y="374904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95020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51" y="4086271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IRIS evidence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04088" y="46451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Acknowledged only with the IRIS number and the FBR receipt attached.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261104" y="374904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462272" y="395020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8335" y="4086271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75504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Filed is final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462272" y="46451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filed return cannot change — a revised return is created instead.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019288" y="3749040"/>
            <a:ext cx="36118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20456" y="3950208"/>
            <a:ext cx="566928" cy="566928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6519" y="4086271"/>
            <a:ext cx="294803" cy="29480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933688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20456" y="46451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742 events: who moved what, from which state, when.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BILLING &amp; ACCOUNTING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Packages, fee proofs and the ERPNext postings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This season: Rs 544,000 billed · Rs 320,500 collected · Rs 223,500 outstanding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10610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9840" y="1886590"/>
            <a:ext cx="323332" cy="3233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05554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94360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Package chosen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Client orders in the portal (promo codes optional)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547781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7011" y="1886590"/>
            <a:ext cx="323332" cy="3233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242725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2831531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Engagement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831531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Fee, discount, payment status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784952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182" y="1886590"/>
            <a:ext cx="323332" cy="32333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479896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18" name="Text 13"/>
          <p:cNvSpPr txBox="1"/>
          <p:nvPr/>
        </p:nvSpPr>
        <p:spPr>
          <a:xfrm>
            <a:off x="5068702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Payment proof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068702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Raast / bank / JazzCash / Easypaisa reference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22123" y="1737360"/>
            <a:ext cx="621792" cy="621792"/>
          </a:xfrm>
          <a:prstGeom prst="ellipse">
            <a:avLst/>
          </a:prstGeom>
          <a:solidFill>
            <a:srgbClr val="141416"/>
          </a:solidFill>
          <a:ln w="12700">
            <a:solidFill>
              <a:srgbClr val="14141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353" y="1886590"/>
            <a:ext cx="323332" cy="32333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717067" y="2048256"/>
            <a:ext cx="1469075" cy="0"/>
          </a:xfrm>
          <a:prstGeom prst="line">
            <a:avLst/>
          </a:prstGeom>
          <a:noFill/>
          <a:ln w="15875">
            <a:solidFill>
              <a:srgbClr val="A8811F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7305873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Verified by admin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305873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Approve or reject with reason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10259294" y="1737360"/>
            <a:ext cx="621792" cy="621792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524" y="1886590"/>
            <a:ext cx="323332" cy="3233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543044" y="2468880"/>
            <a:ext cx="20542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Posted to accounts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9543044" y="2770632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Sales Invoice + Payment Entry in ERPNext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02920" y="3611880"/>
            <a:ext cx="5486400" cy="2606040"/>
          </a:xfrm>
          <a:prstGeom prst="roundRect">
            <a:avLst>
              <a:gd name="adj" fmla="val 280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3730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Packages on the website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069080"/>
          <a:ext cx="51206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Package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Turnaround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Basic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 Tax Return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3–5 working days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4,500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Express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 Tax Return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24–48 hours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10,000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Consultant Plus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Income Tax Return Filing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By appointment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20,000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NTN Registration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NTN Registration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1–2 working days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Rs 2,000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Shape 24"/>
          <p:cNvSpPr/>
          <p:nvPr/>
        </p:nvSpPr>
        <p:spPr>
          <a:xfrm>
            <a:off x="6263640" y="3611880"/>
            <a:ext cx="5422392" cy="2606040"/>
          </a:xfrm>
          <a:prstGeom prst="roundRect">
            <a:avLst>
              <a:gd name="adj" fmla="val 2807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6446520" y="3730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Packages sold · TY2026</a:t>
            </a:r>
            <a:endParaRPr lang="en-US" sz="14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446520" y="4023360"/>
          <a:ext cx="5074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INSIGHTS &amp; REPORT CENTER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season at a glance, and every report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Insights and reports are scoped like everything else: a consultant sees only their own clients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51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returns filed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0128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93008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31.5 d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93008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order → IRIS ack (avg)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17336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00216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00216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field visits → clients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24544" y="1737360"/>
            <a:ext cx="262432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07424" y="18105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223,500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470"/>
                </a:solidFill>
              </a:rPr>
              <a:t>fees outstanding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880360"/>
            <a:ext cx="6949440" cy="3337560"/>
          </a:xfrm>
          <a:prstGeom prst="roundRect">
            <a:avLst>
              <a:gd name="adj" fmla="val 219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graphicFrame>
        <p:nvGraphicFramePr>
          <p:cNvPr id="18" name="Chart 0" descr=""/>
          <p:cNvGraphicFramePr/>
          <p:nvPr/>
        </p:nvGraphicFramePr>
        <p:xfrm>
          <a:off x="640080" y="2971800"/>
          <a:ext cx="667512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7635240" y="2880360"/>
            <a:ext cx="4050792" cy="3337560"/>
          </a:xfrm>
          <a:prstGeom prst="roundRect">
            <a:avLst>
              <a:gd name="adj" fmla="val 2192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81812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 center  ·  10 reports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333756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Returns by Status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Review and Approval Aging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Consultant Workload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Missing Documents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Filing Status and Errors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Tax Payable and Refund Summary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Fees and Collections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Client Master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Site Visits and Follow-ups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Consultation Requests Report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5806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470"/>
                </a:solidFill>
              </a:rPr>
              <a:t>Run in the portal · filter · sort · search · CSV · open in desk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ROLES &amp; PERMISSIONS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each role may do on the key records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R read · E edit · C create · D delete. Editable per role in Setup → Roles &amp; Permissions (Tax Admin, System Manager and Client are fixed)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58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289304"/>
                <a:gridCol w="1289304"/>
                <a:gridCol w="1289304"/>
                <a:gridCol w="1289304"/>
                <a:gridCol w="1289304"/>
                <a:gridCol w="1289304"/>
                <a:gridCol w="1289304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Admin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Consultant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Reviewer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Approver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Filing Officer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Field Officer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F37"/>
                          </a:solidFill>
                        </a:rPr>
                        <a:t>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Client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Site Visit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Return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Calculation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Scenario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Review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Approval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Filing Record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Generated Document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Payment Proof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 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Tax Slab Setting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811F"/>
                          </a:solidFill>
                        </a:rPr>
                        <a:t>R E C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9B4A6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SECURITY, PRIVACY &amp; COMPLIANCE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Client data stays private by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916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151" y="182770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184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Identifiers masked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842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CNIC shown as *****-*******-1; NTN and bank details never sent by WhatsApp or in templates.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44768" y="14173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45936" y="16916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99" y="182770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04888" y="16184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Private files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104888" y="19842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Documents and generated PDFs are private files, streamed only after a permission check.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4088" y="32918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51" y="342790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186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Record-level isolation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5844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list and document is filtered by scope: all / assigned / own registrations / own portal.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44768" y="30175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45936" y="32918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999" y="342790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04888" y="32186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Secrets write-only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104888" y="35844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Tokens and API keys stored encrypted; the browser only learns whether one is set.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02920" y="46177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04088" y="48920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151" y="502810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8188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Codes hashed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1846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Verification codes stored as hashes, rate-limited, never logged in readable form.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144768" y="4617720"/>
            <a:ext cx="548640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25400" dir="5400000">
              <a:srgbClr val="141416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45936" y="4892040"/>
            <a:ext cx="566928" cy="566928"/>
          </a:xfrm>
          <a:prstGeom prst="ellipse">
            <a:avLst/>
          </a:prstGeom>
          <a:solidFill>
            <a:srgbClr val="A8811F"/>
          </a:solidFill>
          <a:ln w="12700">
            <a:solidFill>
              <a:srgbClr val="A8811F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1999" y="5028103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04888" y="48188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Consent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104888" y="518464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Privacy consent at sign-up; WhatsApp only with opt-in; STOP honoured in broadcasts.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INTEGRATIONS &amp; SETTINGS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60350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External services: live today, and what waits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F6470"/>
                </a:solidFill>
              </a:rPr>
              <a:t>Configured in Setup → Settings by the Tax Admin; secrets are stored encrypted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834640"/>
                <a:gridCol w="322783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Integration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Used for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Status on this site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</a:rPr>
                        <a:t>Needed to go live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WhatsApp Cloud API (Meta)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Inbox, templates, broadcasts, codes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Test mode — nothing leaves the server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Meta app, phone ID, token, approved templates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SMS gateway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Verification-code backup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Console (development)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Twilio or PK bulk-SMS link + PTA sender ID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Outgoing email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Notices, invites, direct email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Not set up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SMTP account (Settings → Email)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Apify (Google Maps)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Lead Finder searches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</a:rPr>
                        <a:t>Live — token saved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Payment gateway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Online fee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</a:rPr>
                        <a:t>Manual proofs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Choose JazzCash / Easypaisa / Safepay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FBR IRIS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Return filing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78D6"/>
                          </a:solidFill>
                        </a:rPr>
                        <a:t>Manual by filing officer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official API — evidence attached by hand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ERPNext Accounts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Invoices and payment entries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</a:rPr>
                        <a:t>Live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C98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NEXT STEPS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2514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Decisions needed to go live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384048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9776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Validate tax rates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2976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Slabs and credit rules are demo values — confirm against the Finance 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61104" y="384048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39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55464" y="39776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Connect messaging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55464" y="42976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Meta WhatsApp account + authentication template; SMS provider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9288" y="384048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0216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613648" y="39776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Set up email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13648" y="42976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Outgoing SMTP for notices and invites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029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1663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Confirm prices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4864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Express Filing Rs 10,000 shown vs Rs 12,000 discussed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61104" y="5029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855464" y="51663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Firm payment details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855464" y="54864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Bank / Raast / wallet titles for the How to pay box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19288" y="50292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1F1E22"/>
          </a:solidFill>
          <a:ln w="9525">
            <a:solidFill>
              <a:srgbClr val="3A35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02168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613648" y="51663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Targets (SLAs)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13648" y="548640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3B3"/>
                </a:solidFill>
              </a:rPr>
              <a:t>Days allowed per step for the late flags</a:t>
            </a:r>
            <a:endParaRPr lang="en-US" sz="1100" dirty="0"/>
          </a:p>
        </p:txBody>
      </p:sp>
      <p:sp>
        <p:nvSpPr>
          <p:cNvPr id="29" name="Text 0"/>
          <p:cNvSpPr/>
          <p:nvPr>
            <p:ph idx="103" type="body" hasCustomPrompt="1"/>
          </p:nvPr>
        </p:nvSpPr>
        <p:spPr>
          <a:xfrm>
            <a:off x="502920" y="352044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4013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6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VS Tax Portal FSD">
  <a:themeElements>
    <a:clrScheme name="VVS Tax Portal FSD">
      <a:dk1>
        <a:srgbClr val="1B1B21"/>
      </a:dk1>
      <a:lt1>
        <a:srgbClr val="FFFFFF"/>
      </a:lt1>
      <a:dk2>
        <a:srgbClr val="141416"/>
      </a:dk2>
      <a:lt2>
        <a:srgbClr val="F3F1EA"/>
      </a:lt2>
      <a:accent1>
        <a:srgbClr val="A8811F"/>
      </a:accent1>
      <a:accent2>
        <a:srgbClr val="D4AF37"/>
      </a:accent2>
      <a:accent3>
        <a:srgbClr val="2A78D6"/>
      </a:accent3>
      <a:accent4>
        <a:srgbClr val="1BAF7A"/>
      </a:accent4>
      <a:accent5>
        <a:srgbClr val="EB6834"/>
      </a:accent5>
      <a:accent6>
        <a:srgbClr val="DC2626"/>
      </a:accent6>
      <a:hlink>
        <a:srgbClr val="A8811F"/>
      </a:hlink>
      <a:folHlink>
        <a:srgbClr val="6B5214"/>
      </a:folHlink>
    </a:clrScheme>
    <a:fontScheme name="VVS Tax Portal FS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MicroMax Erp Pvt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VVS Tax Consultancy Portal — Functional Specification Document</dc:title>
  <dc:subject>PptxGenJS Presentation</dc:subject>
  <dc:creator>MicroMax Erp Pvt Ltd</dc:creator>
  <cp:lastModifiedBy>MicroMax Erp Pvt Ltd</cp:lastModifiedBy>
  <cp:revision>1</cp:revision>
  <dcterms:created xsi:type="dcterms:W3CDTF">2026-10-18T13:12:43Z</dcterms:created>
  <dcterms:modified xsi:type="dcterms:W3CDTF">2026-10-18T13:12:43Z</dcterms:modified>
</cp:coreProperties>
</file>