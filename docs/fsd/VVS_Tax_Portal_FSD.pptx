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1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2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c85a6066-3c00-f20b-06a9-6e8c949fd13f}">
          <p14:sldIdLst>
            <p14:sldId id="256"/>
            <p14:sldId id="257"/>
            <p14:sldId id="258"/>
            <p14:sldId id="259"/>
          </p14:sldIdLst>
        </p14:section>
        <p14:section name="Data flow" id="{18e0f157-bc83-6a1d-0007-618e4a3f4c44}">
          <p14:sldIdLst>
            <p14:sldId id="260"/>
            <p14:sldId id="261"/>
          </p14:sldIdLst>
        </p14:section>
        <p14:section name="Functional modules" id="{bfabd1b3-1aa2-6fb0-b022-83d5bfeab257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Controls &amp; operations" id="{d495783e-3d77-466a-f103-744a32e2b3a7}">
          <p14:sldIdLst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Next steps" id="{685be7ef-bce9-9f0f-9dff-d0aa77d5dbb9}">
          <p14:sldIdLst>
            <p14:sldId id="278"/>
            <p14:sldId id="2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Fees</c:v>
                </c:pt>
              </c:strCache>
            </c:strRef>
          </c:tx>
          <c:spPr>
            <a:solidFill>
              <a:srgbClr val="A8811F"/>
            </a:solidFill>
            <a:effectLst/>
          </c:spPr>
          <c:invertIfNegative val="0"/>
          <c:dLbls>
            <c:numFmt formatCode="&quot;Rs &quot;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1B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Express Filing</c:v>
                  </c:pt>
                  <c:pt idx="1">
                    <c:v>Consultant Plus</c:v>
                  </c:pt>
                  <c:pt idx="2">
                    <c:v>Basic Filing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166500</c:v>
                </c:pt>
                <c:pt idx="1">
                  <c:v>320000</c:v>
                </c:pt>
                <c:pt idx="2">
                  <c:v>67500</c:v>
                </c:pt>
              </c:numCache>
            </c:numRef>
          </c:val>
        </c:ser>
        <c:dLbls>
          <c:numFmt formatCode="&quot;Rs &quot;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B1B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47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B21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B21"/>
                </a:solidFill>
                <a:latin typeface="+mn-lt"/>
              </a:rPr>
              <a:t>Season trend (per month)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Returns started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  <c:pt idx="3">
                    <c:v>Aug</c:v>
                  </c:pt>
                  <c:pt idx="4">
                    <c:v>Sep</c:v>
                  </c:pt>
                  <c:pt idx="5">
                    <c:v>Oct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</c:v>
                </c:pt>
                <c:pt idx="1">
                  <c:v>4</c:v>
                </c:pt>
                <c:pt idx="2">
                  <c:v>6</c:v>
                </c:pt>
                <c:pt idx="3">
                  <c:v>24</c:v>
                </c:pt>
                <c:pt idx="4">
                  <c:v>8</c:v>
                </c:pt>
                <c:pt idx="5">
                  <c:v>10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Returns filed</c:v>
                </c:pt>
              </c:strCache>
            </c:strRef>
          </c:tx>
          <c:spPr>
            <a:solidFill>
              <a:srgbClr val="EB6834"/>
            </a:solidFill>
            <a:ln w="25400" cap="flat">
              <a:solidFill>
                <a:srgbClr val="EB68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  <c:pt idx="3">
                    <c:v>Aug</c:v>
                  </c:pt>
                  <c:pt idx="4">
                    <c:v>Sep</c:v>
                  </c:pt>
                  <c:pt idx="5">
                    <c:v>Oct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</c:v>
                </c:pt>
                <c:pt idx="4">
                  <c:v>7</c:v>
                </c:pt>
                <c:pt idx="5">
                  <c:v>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New clients</c:v>
                </c:pt>
              </c:strCache>
            </c:strRef>
          </c:tx>
          <c:spPr>
            <a:solidFill>
              <a:srgbClr val="1BAF7A"/>
            </a:solidFill>
            <a:ln w="25400" cap="flat">
              <a:solidFill>
                <a:srgbClr val="1BAF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BAF7A"/>
              </a:solidFill>
              <a:ln w="9525" cap="flat">
                <a:solidFill>
                  <a:srgbClr val="1BAF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  <c:pt idx="3">
                    <c:v>Aug</c:v>
                  </c:pt>
                  <c:pt idx="4">
                    <c:v>Sep</c:v>
                  </c:pt>
                  <c:pt idx="5">
                    <c:v>Oct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</c:v>
                </c:pt>
                <c:pt idx="1">
                  <c:v>4</c:v>
                </c:pt>
                <c:pt idx="2">
                  <c:v>7</c:v>
                </c:pt>
                <c:pt idx="3">
                  <c:v>27</c:v>
                </c:pt>
                <c:pt idx="4">
                  <c:v>4</c:v>
                </c:pt>
                <c:pt idx="5">
                  <c:v>11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47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DED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4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F647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This FSD documents the VVS Tax Consultancy Portal as built and running on the demo site 'consultant'. Figures come from live records on 19 Oct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Level 0 treats the portal as a single process. Clients and prospects feed it data; staff act on it; FBR IRIS is reached manually by the filing officer; WhatsApp, SMS and email carry messages and verification codes; Apify supplies business prospects.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Level 1 opens process 0. The main line runs left to right: a lead becomes a client, buys a package, uploads documents, the return is prepared and calculated, reviewed, confirmed and approved, then filed. Communication (8.0) and reporting (9.0) serve every step; the audit trail records every move.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routes into one pipeline. Team-assisted suits clients who prefer phone, WhatsApp or office visits; self-service suits clients comfortable online. Videos 1 and 2 show each route end to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in version 1.1. Built for clients who share information by phone, WhatsApp, email or an office visit. Video 1 shows Zara (Data Entry) doing all three.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Play the videos here, or run the same flows live: returns TAX-RET-2026-00054 (team-assisted) and TAX-RET-2026-00055 (self-service) are on the demo site with their full history. All figures are demo estimates.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owner decisions that block go-live. Everything else in this document is built and running on the demo site.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VS_COVER">
    <p:bg>
      <p:bgPr>
        <a:solidFill>
          <a:srgbClr val="1414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VS_SECTION">
    <p:bg>
      <p:bgPr>
        <a:solidFill>
          <a:srgbClr val="1414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31575" y="320040"/>
            <a:ext cx="45720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02920" y="2148840"/>
            <a:ext cx="82296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3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02920" y="2514600"/>
            <a:ext cx="100584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02920" y="3520440"/>
            <a:ext cx="86868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C9C3B3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6" name="Text 0"/>
          <p:cNvSpPr/>
          <p:nvPr/>
        </p:nvSpPr>
        <p:spPr>
          <a:xfrm>
            <a:off x="50292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8677"/>
                </a:solidFill>
              </a:rPr>
              <a:t>VVS Tax Consultancy Portal  ·  Functional Specification Document v1.1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67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VS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04727" y="347472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02920" y="329184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2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02920" y="603504"/>
            <a:ext cx="1024128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5F6470"/>
                </a:solidFill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6" name="Text 0"/>
          <p:cNvSpPr/>
          <p:nvPr/>
        </p:nvSpPr>
        <p:spPr>
          <a:xfrm>
            <a:off x="50292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988C"/>
                </a:solidFill>
              </a:rPr>
              <a:t>VVS Tax Consultancy Portal  ·  Functional Specification Document v1.1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98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67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6" Type="http://schemas.openxmlformats.org/officeDocument/2006/relationships/chart" Target="/ppt/charts/chart1.xml"/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502920"/>
            <a:ext cx="566928" cy="56692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216152" y="5486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Vision Vault Solutions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1216152" y="8229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C3B3"/>
                </a:solidFill>
              </a:rPr>
              <a:t>VVS Consultants · Audit &amp; Taxation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60020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4AF37"/>
                </a:solidFill>
              </a:rPr>
              <a:t>FUNCTIONAL SPECIFICATION DOCUMENT  ·  VERSION 1.1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920240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Tax Consultancy Portal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2743200"/>
            <a:ext cx="6217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8D2C2"/>
                </a:solidFill>
              </a:rPr>
              <a:t>Client portal, staff workspace and CRM for income tax returns on FBR IRIS — functional design, data flow diagrams (level 0 and 1), workflow, controls and live data, on ERPNext v16 with a React front end.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406908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C8677"/>
                </a:solidFill>
              </a:rPr>
              <a:t>FIRM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431596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Vision Vault Solutions, Faisalabad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3657600" y="406908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C8677"/>
                </a:solidFill>
              </a:rPr>
              <a:t>SITE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3657600" y="431596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consultant  ·  ERPNext v16 + React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502920" y="484632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C8677"/>
                </a:solidFill>
              </a:rPr>
              <a:t>PARTNER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502920" y="509320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Faizan Chaudhary — Audit &amp; Taxation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3657600" y="484632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C8677"/>
                </a:solidFill>
              </a:rPr>
              <a:t>DATA AS OF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3657600" y="509320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19 Oct 2026  ·  demo season, live entries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7543800" y="685800"/>
            <a:ext cx="4114800" cy="749808"/>
          </a:xfrm>
          <a:prstGeom prst="roundRect">
            <a:avLst>
              <a:gd name="adj" fmla="val 9756"/>
            </a:avLst>
          </a:prstGeom>
          <a:solidFill>
            <a:srgbClr val="1F1E22"/>
          </a:solidFill>
          <a:ln w="9525">
            <a:solidFill>
              <a:srgbClr val="3A352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99248" y="813816"/>
            <a:ext cx="493776" cy="493776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7754" y="932322"/>
            <a:ext cx="256764" cy="256764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8321040" y="79552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01</a:t>
            </a:r>
            <a:endParaRPr lang="en-US" sz="1000" dirty="0"/>
          </a:p>
        </p:txBody>
      </p:sp>
      <p:sp>
        <p:nvSpPr>
          <p:cNvPr id="20" name="Text 16"/>
          <p:cNvSpPr txBox="1"/>
          <p:nvPr/>
        </p:nvSpPr>
        <p:spPr>
          <a:xfrm>
            <a:off x="8641080" y="7772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Client portal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8321040" y="1088136"/>
            <a:ext cx="3246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3B3"/>
                </a:solidFill>
              </a:rPr>
              <a:t>Sign-up · OTP · documents · confirm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7543800" y="1572768"/>
            <a:ext cx="4114800" cy="749808"/>
          </a:xfrm>
          <a:prstGeom prst="roundRect">
            <a:avLst>
              <a:gd name="adj" fmla="val 9756"/>
            </a:avLst>
          </a:prstGeom>
          <a:solidFill>
            <a:srgbClr val="1F1E22"/>
          </a:solidFill>
          <a:ln w="9525">
            <a:solidFill>
              <a:srgbClr val="3A352A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699248" y="1700784"/>
            <a:ext cx="493776" cy="493776"/>
          </a:xfrm>
          <a:prstGeom prst="ellipse">
            <a:avLst/>
          </a:prstGeom>
          <a:solidFill>
            <a:srgbClr val="A8811F"/>
          </a:solidFill>
          <a:ln w="12700">
            <a:solidFill>
              <a:srgbClr val="A8811F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7754" y="1819290"/>
            <a:ext cx="256764" cy="256764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8321040" y="1682496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02</a:t>
            </a:r>
            <a:endParaRPr lang="en-US" sz="1000" dirty="0"/>
          </a:p>
        </p:txBody>
      </p:sp>
      <p:sp>
        <p:nvSpPr>
          <p:cNvPr id="26" name="Text 21"/>
          <p:cNvSpPr txBox="1"/>
          <p:nvPr/>
        </p:nvSpPr>
        <p:spPr>
          <a:xfrm>
            <a:off x="8641080" y="166420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Return workflow</a:t>
            </a:r>
            <a:endParaRPr lang="en-US" sz="1400" dirty="0"/>
          </a:p>
        </p:txBody>
      </p:sp>
      <p:sp>
        <p:nvSpPr>
          <p:cNvPr id="27" name="Text 22"/>
          <p:cNvSpPr txBox="1"/>
          <p:nvPr/>
        </p:nvSpPr>
        <p:spPr>
          <a:xfrm>
            <a:off x="8321040" y="1975104"/>
            <a:ext cx="3246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3B3"/>
                </a:solidFill>
              </a:rPr>
              <a:t>12 states · four-eyes · IRIS evidence</a:t>
            </a:r>
            <a:endParaRPr lang="en-US" sz="1100" dirty="0"/>
          </a:p>
        </p:txBody>
      </p:sp>
      <p:sp>
        <p:nvSpPr>
          <p:cNvPr id="28" name="Shape 23"/>
          <p:cNvSpPr/>
          <p:nvPr/>
        </p:nvSpPr>
        <p:spPr>
          <a:xfrm>
            <a:off x="7543800" y="2459736"/>
            <a:ext cx="4114800" cy="749808"/>
          </a:xfrm>
          <a:prstGeom prst="roundRect">
            <a:avLst>
              <a:gd name="adj" fmla="val 9756"/>
            </a:avLst>
          </a:prstGeom>
          <a:solidFill>
            <a:srgbClr val="1F1E22"/>
          </a:solidFill>
          <a:ln w="9525">
            <a:solidFill>
              <a:srgbClr val="3A352A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7699248" y="2587752"/>
            <a:ext cx="493776" cy="493776"/>
          </a:xfrm>
          <a:prstGeom prst="ellipse">
            <a:avLst/>
          </a:prstGeom>
          <a:solidFill>
            <a:srgbClr val="A8811F"/>
          </a:solidFill>
          <a:ln w="12700">
            <a:solidFill>
              <a:srgbClr val="A8811F"/>
            </a:solidFill>
            <a:prstDash val="solid"/>
          </a:ln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7754" y="2706258"/>
            <a:ext cx="256764" cy="256764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8321040" y="256946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03</a:t>
            </a:r>
            <a:endParaRPr lang="en-US" sz="1000" dirty="0"/>
          </a:p>
        </p:txBody>
      </p:sp>
      <p:sp>
        <p:nvSpPr>
          <p:cNvPr id="32" name="Text 26"/>
          <p:cNvSpPr txBox="1"/>
          <p:nvPr/>
        </p:nvSpPr>
        <p:spPr>
          <a:xfrm>
            <a:off x="8641080" y="255117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Tax engine &amp; simulator</a:t>
            </a:r>
            <a:endParaRPr lang="en-US" sz="1400" dirty="0"/>
          </a:p>
        </p:txBody>
      </p:sp>
      <p:sp>
        <p:nvSpPr>
          <p:cNvPr id="33" name="Text 27"/>
          <p:cNvSpPr txBox="1"/>
          <p:nvPr/>
        </p:nvSpPr>
        <p:spPr>
          <a:xfrm>
            <a:off x="8321040" y="2862072"/>
            <a:ext cx="3246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3B3"/>
                </a:solidFill>
              </a:rPr>
              <a:t>Slabs from rules · what-if scenarios</a:t>
            </a:r>
            <a:endParaRPr lang="en-US" sz="1100" dirty="0"/>
          </a:p>
        </p:txBody>
      </p:sp>
      <p:sp>
        <p:nvSpPr>
          <p:cNvPr id="34" name="Shape 28"/>
          <p:cNvSpPr/>
          <p:nvPr/>
        </p:nvSpPr>
        <p:spPr>
          <a:xfrm>
            <a:off x="7543800" y="3346704"/>
            <a:ext cx="4114800" cy="749808"/>
          </a:xfrm>
          <a:prstGeom prst="roundRect">
            <a:avLst>
              <a:gd name="adj" fmla="val 9756"/>
            </a:avLst>
          </a:prstGeom>
          <a:solidFill>
            <a:srgbClr val="1F1E22"/>
          </a:solidFill>
          <a:ln w="9525">
            <a:solidFill>
              <a:srgbClr val="3A352A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7699248" y="3474720"/>
            <a:ext cx="493776" cy="493776"/>
          </a:xfrm>
          <a:prstGeom prst="ellipse">
            <a:avLst/>
          </a:prstGeom>
          <a:solidFill>
            <a:srgbClr val="A8811F"/>
          </a:solidFill>
          <a:ln w="12700">
            <a:solidFill>
              <a:srgbClr val="A8811F"/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7754" y="3593226"/>
            <a:ext cx="256764" cy="256764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8321040" y="345643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04</a:t>
            </a:r>
            <a:endParaRPr lang="en-US" sz="1000" dirty="0"/>
          </a:p>
        </p:txBody>
      </p:sp>
      <p:sp>
        <p:nvSpPr>
          <p:cNvPr id="38" name="Text 31"/>
          <p:cNvSpPr txBox="1"/>
          <p:nvPr/>
        </p:nvSpPr>
        <p:spPr>
          <a:xfrm>
            <a:off x="8641080" y="343814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CRM &amp; outreach</a:t>
            </a:r>
            <a:endParaRPr lang="en-US" sz="1400" dirty="0"/>
          </a:p>
        </p:txBody>
      </p:sp>
      <p:sp>
        <p:nvSpPr>
          <p:cNvPr id="39" name="Text 32"/>
          <p:cNvSpPr txBox="1"/>
          <p:nvPr/>
        </p:nvSpPr>
        <p:spPr>
          <a:xfrm>
            <a:off x="8321040" y="3749040"/>
            <a:ext cx="3246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3B3"/>
                </a:solidFill>
              </a:rPr>
              <a:t>Leads · pipeline · WhatsApp · Lead Finder</a:t>
            </a:r>
            <a:endParaRPr lang="en-US" sz="1100" dirty="0"/>
          </a:p>
        </p:txBody>
      </p:sp>
      <p:sp>
        <p:nvSpPr>
          <p:cNvPr id="40" name="Shape 33"/>
          <p:cNvSpPr/>
          <p:nvPr/>
        </p:nvSpPr>
        <p:spPr>
          <a:xfrm>
            <a:off x="7543800" y="4233672"/>
            <a:ext cx="4114800" cy="749808"/>
          </a:xfrm>
          <a:prstGeom prst="roundRect">
            <a:avLst>
              <a:gd name="adj" fmla="val 9756"/>
            </a:avLst>
          </a:prstGeom>
          <a:solidFill>
            <a:srgbClr val="1F1E22"/>
          </a:solidFill>
          <a:ln w="9525">
            <a:solidFill>
              <a:srgbClr val="3A352A"/>
            </a:solidFill>
            <a:prstDash val="solid"/>
          </a:ln>
        </p:spPr>
      </p:sp>
      <p:sp>
        <p:nvSpPr>
          <p:cNvPr id="41" name="Shape 34"/>
          <p:cNvSpPr/>
          <p:nvPr/>
        </p:nvSpPr>
        <p:spPr>
          <a:xfrm>
            <a:off x="7699248" y="4361688"/>
            <a:ext cx="493776" cy="493776"/>
          </a:xfrm>
          <a:prstGeom prst="ellipse">
            <a:avLst/>
          </a:prstGeom>
          <a:solidFill>
            <a:srgbClr val="A8811F"/>
          </a:solidFill>
          <a:ln w="12700">
            <a:solidFill>
              <a:srgbClr val="A8811F"/>
            </a:solidFill>
            <a:prstDash val="solid"/>
          </a:ln>
        </p:spPr>
      </p:sp>
      <p:pic>
        <p:nvPicPr>
          <p:cNvPr id="4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7754" y="4480194"/>
            <a:ext cx="256764" cy="256764"/>
          </a:xfrm>
          <a:prstGeom prst="rect">
            <a:avLst/>
          </a:prstGeom>
        </p:spPr>
      </p:pic>
      <p:sp>
        <p:nvSpPr>
          <p:cNvPr id="43" name="Text 35"/>
          <p:cNvSpPr txBox="1"/>
          <p:nvPr/>
        </p:nvSpPr>
        <p:spPr>
          <a:xfrm>
            <a:off x="8321040" y="43434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05</a:t>
            </a:r>
            <a:endParaRPr lang="en-US" sz="1000" dirty="0"/>
          </a:p>
        </p:txBody>
      </p:sp>
      <p:sp>
        <p:nvSpPr>
          <p:cNvPr id="44" name="Text 36"/>
          <p:cNvSpPr txBox="1"/>
          <p:nvPr/>
        </p:nvSpPr>
        <p:spPr>
          <a:xfrm>
            <a:off x="8641080" y="432511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Billing &amp; accounts</a:t>
            </a:r>
            <a:endParaRPr lang="en-US" sz="1400" dirty="0"/>
          </a:p>
        </p:txBody>
      </p:sp>
      <p:sp>
        <p:nvSpPr>
          <p:cNvPr id="45" name="Text 37"/>
          <p:cNvSpPr txBox="1"/>
          <p:nvPr/>
        </p:nvSpPr>
        <p:spPr>
          <a:xfrm>
            <a:off x="8321040" y="4636008"/>
            <a:ext cx="3246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3B3"/>
                </a:solidFill>
              </a:rPr>
              <a:t>Packages · proofs → invoice + payment</a:t>
            </a:r>
            <a:endParaRPr lang="en-US" sz="1100" dirty="0"/>
          </a:p>
        </p:txBody>
      </p:sp>
      <p:sp>
        <p:nvSpPr>
          <p:cNvPr id="46" name="Shape 38"/>
          <p:cNvSpPr/>
          <p:nvPr/>
        </p:nvSpPr>
        <p:spPr>
          <a:xfrm>
            <a:off x="7543800" y="5120640"/>
            <a:ext cx="4114800" cy="749808"/>
          </a:xfrm>
          <a:prstGeom prst="roundRect">
            <a:avLst>
              <a:gd name="adj" fmla="val 9756"/>
            </a:avLst>
          </a:prstGeom>
          <a:solidFill>
            <a:srgbClr val="1F1E22"/>
          </a:solidFill>
          <a:ln w="9525">
            <a:solidFill>
              <a:srgbClr val="3A352A"/>
            </a:solidFill>
            <a:prstDash val="solid"/>
          </a:ln>
        </p:spPr>
      </p:sp>
      <p:sp>
        <p:nvSpPr>
          <p:cNvPr id="47" name="Shape 39"/>
          <p:cNvSpPr/>
          <p:nvPr/>
        </p:nvSpPr>
        <p:spPr>
          <a:xfrm>
            <a:off x="7699248" y="5248656"/>
            <a:ext cx="493776" cy="493776"/>
          </a:xfrm>
          <a:prstGeom prst="ellipse">
            <a:avLst/>
          </a:prstGeom>
          <a:solidFill>
            <a:srgbClr val="A8811F"/>
          </a:solidFill>
          <a:ln w="12700">
            <a:solidFill>
              <a:srgbClr val="A8811F"/>
            </a:solidFill>
            <a:prstDash val="solid"/>
          </a:ln>
        </p:spPr>
      </p:sp>
      <p:pic>
        <p:nvPicPr>
          <p:cNvPr id="4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17754" y="5367162"/>
            <a:ext cx="256764" cy="256764"/>
          </a:xfrm>
          <a:prstGeom prst="rect">
            <a:avLst/>
          </a:prstGeom>
        </p:spPr>
      </p:pic>
      <p:sp>
        <p:nvSpPr>
          <p:cNvPr id="49" name="Text 40"/>
          <p:cNvSpPr txBox="1"/>
          <p:nvPr/>
        </p:nvSpPr>
        <p:spPr>
          <a:xfrm>
            <a:off x="8321040" y="523036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06</a:t>
            </a:r>
            <a:endParaRPr lang="en-US" sz="1000" dirty="0"/>
          </a:p>
        </p:txBody>
      </p:sp>
      <p:sp>
        <p:nvSpPr>
          <p:cNvPr id="50" name="Text 41"/>
          <p:cNvSpPr txBox="1"/>
          <p:nvPr/>
        </p:nvSpPr>
        <p:spPr>
          <a:xfrm>
            <a:off x="8641080" y="52120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Insights &amp; control</a:t>
            </a:r>
            <a:endParaRPr lang="en-US" sz="1400" dirty="0"/>
          </a:p>
        </p:txBody>
      </p:sp>
      <p:sp>
        <p:nvSpPr>
          <p:cNvPr id="51" name="Text 42"/>
          <p:cNvSpPr txBox="1"/>
          <p:nvPr/>
        </p:nvSpPr>
        <p:spPr>
          <a:xfrm>
            <a:off x="8321040" y="5522976"/>
            <a:ext cx="3246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3B3"/>
                </a:solidFill>
              </a:rPr>
              <a:t>Dashboards · reports · roles · audit</a:t>
            </a:r>
            <a:endParaRPr lang="en-US" sz="1100" dirty="0"/>
          </a:p>
        </p:txBody>
      </p:sp>
      <p:sp>
        <p:nvSpPr>
          <p:cNvPr id="52" name="Text 43"/>
          <p:cNvSpPr txBox="1"/>
          <p:nvPr/>
        </p:nvSpPr>
        <p:spPr>
          <a:xfrm>
            <a:off x="502920" y="640080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C8677"/>
                </a:solidFill>
              </a:rPr>
              <a:t>Prepared by MicroMax Erp Pvt Ltd  ·  Office P.442/D, Mezzanine Floor, Adjacent to Unze London, Hurrian Wala Chowk, Faisalabad 38000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0292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DOCUMENT CONTROL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02920" y="603504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About this document</a:t>
            </a:r>
            <a:endParaRPr lang="en-US" sz="2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F6470"/>
                </a:solidFill>
              </a:rPr>
              <a:t>Scope, audience and how the specification is organised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5486400" cy="237744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85800" y="185623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Document information</a:t>
            </a:r>
            <a:endParaRPr lang="en-US" sz="1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194560"/>
          <a:ext cx="512064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3794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4AF37"/>
                          </a:solidFill>
                        </a:rPr>
                        <a:t>Item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4AF37"/>
                          </a:solidFill>
                        </a:rPr>
                        <a:t>Detail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Document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Functional Specification — VVS Tax Portal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Version / date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1.1  ·  19 Oct 2026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System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ERPNext v16 · Frappe CRM · WhatsApp · React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Audience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Partner, admin, consultants, implementers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Data source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Live records, site 'consultant' (fake clients)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02920" y="4297680"/>
            <a:ext cx="5486400" cy="201168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685800" y="440740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Contents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85800" y="4773168"/>
            <a:ext cx="219456" cy="219456"/>
          </a:xfrm>
          <a:prstGeom prst="ellipse">
            <a:avLst/>
          </a:prstGeom>
          <a:solidFill>
            <a:srgbClr val="A8811F"/>
          </a:solidFill>
          <a:ln w="12700">
            <a:solidFill>
              <a:srgbClr val="A8811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477316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1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978408" y="47548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System at a glance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291840" y="4773168"/>
            <a:ext cx="219456" cy="219456"/>
          </a:xfrm>
          <a:prstGeom prst="ellipse">
            <a:avLst/>
          </a:prstGeom>
          <a:solidFill>
            <a:srgbClr val="A8811F"/>
          </a:solidFill>
          <a:ln w="12700">
            <a:solidFill>
              <a:srgbClr val="A8811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291840" y="477316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3584448" y="47548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Actors &amp; roles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85800" y="5074920"/>
            <a:ext cx="219456" cy="219456"/>
          </a:xfrm>
          <a:prstGeom prst="ellipse">
            <a:avLst/>
          </a:prstGeom>
          <a:solidFill>
            <a:srgbClr val="A8811F"/>
          </a:solidFill>
          <a:ln w="12700">
            <a:solidFill>
              <a:srgbClr val="A8811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507492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3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978408" y="50566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DFD level 0 — context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3291840" y="5074920"/>
            <a:ext cx="219456" cy="219456"/>
          </a:xfrm>
          <a:prstGeom prst="ellipse">
            <a:avLst/>
          </a:prstGeom>
          <a:solidFill>
            <a:srgbClr val="A8811F"/>
          </a:solidFill>
          <a:ln w="12700">
            <a:solidFill>
              <a:srgbClr val="A8811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291840" y="507492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4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3584448" y="50566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DFD level 1 — processes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85800" y="5376672"/>
            <a:ext cx="219456" cy="219456"/>
          </a:xfrm>
          <a:prstGeom prst="ellipse">
            <a:avLst/>
          </a:prstGeom>
          <a:solidFill>
            <a:srgbClr val="A8811F"/>
          </a:solidFill>
          <a:ln w="12700">
            <a:solidFill>
              <a:srgbClr val="A8811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85800" y="537667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5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978408" y="535838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Two ways to file · workflow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3291840" y="5376672"/>
            <a:ext cx="219456" cy="219456"/>
          </a:xfrm>
          <a:prstGeom prst="ellipse">
            <a:avLst/>
          </a:prstGeom>
          <a:solidFill>
            <a:srgbClr val="A8811F"/>
          </a:solidFill>
          <a:ln w="12700">
            <a:solidFill>
              <a:srgbClr val="A8811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291840" y="537667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6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3584448" y="535838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Onboarding &amp; verification codes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685800" y="5678424"/>
            <a:ext cx="219456" cy="219456"/>
          </a:xfrm>
          <a:prstGeom prst="ellipse">
            <a:avLst/>
          </a:prstGeom>
          <a:solidFill>
            <a:srgbClr val="A8811F"/>
          </a:solidFill>
          <a:ln w="12700">
            <a:solidFill>
              <a:srgbClr val="A8811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85800" y="567842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7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978408" y="566013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CRM &amp; lead generation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3291840" y="5678424"/>
            <a:ext cx="219456" cy="219456"/>
          </a:xfrm>
          <a:prstGeom prst="ellipse">
            <a:avLst/>
          </a:prstGeom>
          <a:solidFill>
            <a:srgbClr val="A8811F"/>
          </a:solidFill>
          <a:ln w="12700">
            <a:solidFill>
              <a:srgbClr val="A8811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3291840" y="567842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8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3584448" y="566013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Documents · tax · simulator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685800" y="5980176"/>
            <a:ext cx="219456" cy="219456"/>
          </a:xfrm>
          <a:prstGeom prst="ellipse">
            <a:avLst/>
          </a:prstGeom>
          <a:solidFill>
            <a:srgbClr val="A8811F"/>
          </a:solidFill>
          <a:ln w="12700">
            <a:solidFill>
              <a:srgbClr val="A8811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85800" y="598017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9</a:t>
            </a:r>
            <a:endParaRPr lang="en-US" sz="900" dirty="0"/>
          </a:p>
        </p:txBody>
      </p:sp>
      <p:sp>
        <p:nvSpPr>
          <p:cNvPr id="36" name="Text 33"/>
          <p:cNvSpPr txBox="1"/>
          <p:nvPr/>
        </p:nvSpPr>
        <p:spPr>
          <a:xfrm>
            <a:off x="978408" y="596188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Controls · billing · insights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3291840" y="5980176"/>
            <a:ext cx="219456" cy="219456"/>
          </a:xfrm>
          <a:prstGeom prst="ellipse">
            <a:avLst/>
          </a:prstGeom>
          <a:solidFill>
            <a:srgbClr val="A8811F"/>
          </a:solidFill>
          <a:ln w="12700">
            <a:solidFill>
              <a:srgbClr val="A8811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3291840" y="598017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10</a:t>
            </a:r>
            <a:endParaRPr lang="en-US" sz="900" dirty="0"/>
          </a:p>
        </p:txBody>
      </p:sp>
      <p:sp>
        <p:nvSpPr>
          <p:cNvPr id="39" name="Text 36"/>
          <p:cNvSpPr txBox="1"/>
          <p:nvPr/>
        </p:nvSpPr>
        <p:spPr>
          <a:xfrm>
            <a:off x="3584448" y="596188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Security · next steps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6263640" y="1737360"/>
            <a:ext cx="5422392" cy="237744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6446520" y="18562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Notation used in the diagrams</a:t>
            </a:r>
            <a:endParaRPr lang="en-US" sz="1400" dirty="0"/>
          </a:p>
        </p:txBody>
      </p:sp>
      <p:sp>
        <p:nvSpPr>
          <p:cNvPr id="42" name="Process 3.0"/>
          <p:cNvSpPr/>
          <p:nvPr/>
        </p:nvSpPr>
        <p:spPr>
          <a:xfrm>
            <a:off x="6446520" y="2240280"/>
            <a:ext cx="1463040" cy="777240"/>
          </a:xfrm>
          <a:prstGeom prst="roundRect">
            <a:avLst>
              <a:gd name="adj" fmla="val 14118"/>
            </a:avLst>
          </a:prstGeom>
          <a:solidFill>
            <a:schemeClr val="bg1"/>
          </a:solidFill>
          <a:ln w="19050">
            <a:solidFill>
              <a:srgbClr val="A8811F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6519672" y="2514600"/>
            <a:ext cx="1316736" cy="0"/>
          </a:xfrm>
          <a:prstGeom prst="line">
            <a:avLst/>
          </a:prstGeom>
          <a:noFill/>
          <a:ln w="9525">
            <a:solidFill>
              <a:srgbClr val="D4AF37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446520" y="227685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8811F"/>
                </a:solidFill>
              </a:rPr>
              <a:t>3.0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6501384" y="2551176"/>
            <a:ext cx="135331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Process</a:t>
            </a:r>
            <a:endParaRPr lang="en-US" sz="1100" dirty="0"/>
          </a:p>
        </p:txBody>
      </p:sp>
      <p:sp>
        <p:nvSpPr>
          <p:cNvPr id="46" name="Entity External entity"/>
          <p:cNvSpPr/>
          <p:nvPr/>
        </p:nvSpPr>
        <p:spPr>
          <a:xfrm>
            <a:off x="8138160" y="2331720"/>
            <a:ext cx="1417320" cy="548640"/>
          </a:xfrm>
          <a:prstGeom prst="rect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8211312" y="2331720"/>
            <a:ext cx="12710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External entity</a:t>
            </a:r>
            <a:endParaRPr lang="en-US" sz="1200" dirty="0"/>
          </a:p>
        </p:txBody>
      </p:sp>
      <p:sp>
        <p:nvSpPr>
          <p:cNvPr id="48" name="Store D4"/>
          <p:cNvSpPr/>
          <p:nvPr/>
        </p:nvSpPr>
        <p:spPr>
          <a:xfrm>
            <a:off x="9784080" y="2423160"/>
            <a:ext cx="1691640" cy="384048"/>
          </a:xfrm>
          <a:prstGeom prst="rect">
            <a:avLst/>
          </a:prstGeom>
          <a:solidFill>
            <a:srgbClr val="F3F1EA"/>
          </a:solidFill>
          <a:ln w="12700">
            <a:solidFill>
              <a:srgbClr val="F3F1EA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9784080" y="2423160"/>
            <a:ext cx="1691640" cy="0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9784080" y="2807208"/>
            <a:ext cx="1691640" cy="0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9784080" y="2423160"/>
            <a:ext cx="0" cy="384048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10168128" y="2423160"/>
            <a:ext cx="0" cy="384048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9784080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8811F"/>
                </a:solidFill>
              </a:rPr>
              <a:t>D4</a:t>
            </a:r>
            <a:endParaRPr lang="en-US" sz="1000" dirty="0"/>
          </a:p>
        </p:txBody>
      </p:sp>
      <p:sp>
        <p:nvSpPr>
          <p:cNvPr id="54" name="Text 51"/>
          <p:cNvSpPr txBox="1"/>
          <p:nvPr/>
        </p:nvSpPr>
        <p:spPr>
          <a:xfrm>
            <a:off x="10222992" y="2423160"/>
            <a:ext cx="1216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Data store</a:t>
            </a:r>
            <a:endParaRPr lang="en-US" sz="1000" dirty="0"/>
          </a:p>
        </p:txBody>
      </p:sp>
      <p:sp>
        <p:nvSpPr>
          <p:cNvPr id="55" name="Shape 52"/>
          <p:cNvSpPr/>
          <p:nvPr/>
        </p:nvSpPr>
        <p:spPr>
          <a:xfrm>
            <a:off x="6492240" y="3520440"/>
            <a:ext cx="1371600" cy="0"/>
          </a:xfrm>
          <a:prstGeom prst="line">
            <a:avLst/>
          </a:prstGeom>
          <a:noFill/>
          <a:ln w="15875">
            <a:solidFill>
              <a:srgbClr val="6B6455"/>
            </a:solidFill>
            <a:prstDash val="solid"/>
            <a:tailEnd type="triangle"/>
          </a:ln>
        </p:spPr>
      </p:sp>
      <p:sp>
        <p:nvSpPr>
          <p:cNvPr id="56" name="Text 53"/>
          <p:cNvSpPr txBox="1"/>
          <p:nvPr/>
        </p:nvSpPr>
        <p:spPr>
          <a:xfrm>
            <a:off x="8001000" y="33832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470"/>
                </a:solidFill>
              </a:rPr>
              <a:t>Data flow (labelled with what moves)</a:t>
            </a:r>
            <a:endParaRPr lang="en-US" sz="1100" dirty="0"/>
          </a:p>
        </p:txBody>
      </p:sp>
      <p:sp>
        <p:nvSpPr>
          <p:cNvPr id="57" name="Shape 54"/>
          <p:cNvSpPr/>
          <p:nvPr/>
        </p:nvSpPr>
        <p:spPr>
          <a:xfrm>
            <a:off x="6263640" y="4297680"/>
            <a:ext cx="5422392" cy="201168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58" name="Text 55"/>
          <p:cNvSpPr txBox="1"/>
          <p:nvPr/>
        </p:nvSpPr>
        <p:spPr>
          <a:xfrm>
            <a:off x="6446520" y="44074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Principles the design follows</a:t>
            </a:r>
            <a:endParaRPr lang="en-US" sz="1400" dirty="0"/>
          </a:p>
        </p:txBody>
      </p:sp>
      <p:sp>
        <p:nvSpPr>
          <p:cNvPr id="59" name="Text 56"/>
          <p:cNvSpPr txBox="1"/>
          <p:nvPr/>
        </p:nvSpPr>
        <p:spPr>
          <a:xfrm>
            <a:off x="6446520" y="4754880"/>
            <a:ext cx="5074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Rates never live in code — slabs, credits and final-tax rates come from rule records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Nothing is shown as filed without an IRIS acknowledgment and receipt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Four-eyes: whoever prepares a return cannot approve it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Calculators and simulators are labelled as estimates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98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0292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SYSTEM AT A GLANCE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02920" y="603504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Live volumes on site 'consultant'</a:t>
            </a:r>
            <a:endParaRPr lang="en-US" sz="2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F6470"/>
                </a:solidFill>
              </a:rPr>
              <a:t>Record counts on 19 Oct 2026: a demo filing season (TY2026) walked through the real workflow by the team and the clients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2624328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85800" y="184708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A88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39572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Clients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61518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470"/>
                </a:solidFill>
              </a:rPr>
              <a:t>Taxpayers with masked identifiers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10128" y="1737360"/>
            <a:ext cx="2624328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493008" y="184708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A88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3493008" y="239572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Tax Returns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493008" y="261518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470"/>
                </a:solidFill>
              </a:rPr>
              <a:t>13 filed · 41 in progress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17336" y="1737360"/>
            <a:ext cx="2624328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300216" y="184708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A88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398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6300216" y="239572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Tax Documents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300216" y="261518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470"/>
                </a:solidFill>
              </a:rPr>
              <a:t>Checklist items, private files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924544" y="1737360"/>
            <a:ext cx="2624328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107424" y="184708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A88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790</a:t>
            </a:r>
            <a:endParaRPr lang="en-US" sz="3600" dirty="0"/>
          </a:p>
        </p:txBody>
      </p:sp>
      <p:sp>
        <p:nvSpPr>
          <p:cNvPr id="19" name="Text 17"/>
          <p:cNvSpPr txBox="1"/>
          <p:nvPr/>
        </p:nvSpPr>
        <p:spPr>
          <a:xfrm>
            <a:off x="9107424" y="239572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Audit Events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107424" y="261518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470"/>
                </a:solidFill>
              </a:rPr>
              <a:t>Every create / move / approve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2920" y="3035808"/>
            <a:ext cx="2624328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85800" y="3145536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</a:t>
            </a:r>
            <a:endParaRPr lang="en-US" sz="360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3694176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Engagements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3913632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470"/>
                </a:solidFill>
              </a:rPr>
              <a:t>Packages sold this season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310128" y="3035808"/>
            <a:ext cx="2624328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3493008" y="3145536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3600" dirty="0"/>
          </a:p>
        </p:txBody>
      </p:sp>
      <p:sp>
        <p:nvSpPr>
          <p:cNvPr id="27" name="Text 25"/>
          <p:cNvSpPr txBox="1"/>
          <p:nvPr/>
        </p:nvSpPr>
        <p:spPr>
          <a:xfrm>
            <a:off x="3493008" y="3694176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Sales Invoices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3493008" y="3913632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470"/>
                </a:solidFill>
              </a:rPr>
              <a:t>Posted from verified proofs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117336" y="3035808"/>
            <a:ext cx="2624328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6300216" y="3145536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</a:t>
            </a:r>
            <a:endParaRPr lang="en-US" sz="3600" dirty="0"/>
          </a:p>
        </p:txBody>
      </p:sp>
      <p:sp>
        <p:nvSpPr>
          <p:cNvPr id="31" name="Text 29"/>
          <p:cNvSpPr txBox="1"/>
          <p:nvPr/>
        </p:nvSpPr>
        <p:spPr>
          <a:xfrm>
            <a:off x="6300216" y="3694176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Site Visits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6300216" y="3913632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470"/>
                </a:solidFill>
              </a:rPr>
              <a:t>Field prospects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8924544" y="3035808"/>
            <a:ext cx="2624328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9107424" y="3145536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</a:t>
            </a:r>
            <a:endParaRPr lang="en-US" sz="3600" dirty="0"/>
          </a:p>
        </p:txBody>
      </p:sp>
      <p:sp>
        <p:nvSpPr>
          <p:cNvPr id="35" name="Text 33"/>
          <p:cNvSpPr txBox="1"/>
          <p:nvPr/>
        </p:nvSpPr>
        <p:spPr>
          <a:xfrm>
            <a:off x="9107424" y="3694176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CRM Leads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9107424" y="3913632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470"/>
                </a:solidFill>
              </a:rPr>
              <a:t>Website, WhatsApp, visits, finder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4434840"/>
          <a:ext cx="11185855" cy="914400"/>
        </p:xfrm>
        <a:graphic>
          <a:graphicData uri="http://schemas.openxmlformats.org/drawingml/2006/table">
            <a:tbl>
              <a:tblPr/>
              <a:tblGrid>
                <a:gridCol w="1700784"/>
                <a:gridCol w="640080"/>
                <a:gridCol w="1700784"/>
                <a:gridCol w="640080"/>
                <a:gridCol w="1700784"/>
                <a:gridCol w="640080"/>
                <a:gridCol w="1700784"/>
                <a:gridCol w="63093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4AF37"/>
                          </a:solidFill>
                        </a:rPr>
                        <a:t>Record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4AF37"/>
                          </a:solidFill>
                        </a:rPr>
                        <a:t>Count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4AF37"/>
                          </a:solidFill>
                        </a:rPr>
                        <a:t>Record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4AF37"/>
                          </a:solidFill>
                        </a:rPr>
                        <a:t>Count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4AF37"/>
                          </a:solidFill>
                        </a:rPr>
                        <a:t>Record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4AF37"/>
                          </a:solidFill>
                        </a:rPr>
                        <a:t>Count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4AF37"/>
                          </a:solidFill>
                        </a:rPr>
                        <a:t>Record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4AF37"/>
                          </a:solidFill>
                        </a:rPr>
                        <a:t>Count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Generated PDFs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19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Payment Entries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WhatsApp Messages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44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Document Types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18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Tax Calculations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48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Consultations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13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WhatsApp Templates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Tax Years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Scenarios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CRM Deals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Services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Slab Settings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Payment Proofs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35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Lead Prospects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Packages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Staff users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13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98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0292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ACTORS &amp; ROLES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02920" y="603504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Who uses the system — and whose records they see</a:t>
            </a:r>
            <a:endParaRPr lang="en-US" sz="2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F6470"/>
                </a:solidFill>
              </a:rPr>
              <a:t>Role decides what kind of access; scope decides which records (enforced on the server for every list and document)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2624328" cy="21031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85800" y="1920240"/>
            <a:ext cx="548640" cy="54864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474" y="2051914"/>
            <a:ext cx="285293" cy="285293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71600" y="193852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Tax Admin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371600" y="2212848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470"/>
                </a:solidFill>
              </a:rPr>
              <a:t>1 user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26060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Runs the firm: settings, team, payments, every client and return.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85800" y="3429000"/>
            <a:ext cx="1600200" cy="256032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342900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All clients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310128" y="1737360"/>
            <a:ext cx="2624328" cy="21031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493008" y="1920240"/>
            <a:ext cx="548640" cy="548640"/>
          </a:xfrm>
          <a:prstGeom prst="ellipse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4682" y="2051914"/>
            <a:ext cx="285293" cy="285293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178808" y="193852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Tax Consultant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4178808" y="2212848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470"/>
                </a:solidFill>
              </a:rPr>
              <a:t>2 users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3493008" y="26060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Prepares returns for the clients assigned to them.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3493008" y="3429000"/>
            <a:ext cx="1600200" cy="256032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3493008" y="342900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Assigned clients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6117336" y="1737360"/>
            <a:ext cx="2624328" cy="21031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6300216" y="1920240"/>
            <a:ext cx="548640" cy="548640"/>
          </a:xfrm>
          <a:prstGeom prst="ellipse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1890" y="2051914"/>
            <a:ext cx="285293" cy="285293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6986016" y="193852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Tax Reviewer</a:t>
            </a:r>
            <a:endParaRPr lang="en-US" sz="1400" dirty="0"/>
          </a:p>
        </p:txBody>
      </p:sp>
      <p:sp>
        <p:nvSpPr>
          <p:cNvPr id="25" name="Text 20"/>
          <p:cNvSpPr txBox="1"/>
          <p:nvPr/>
        </p:nvSpPr>
        <p:spPr>
          <a:xfrm>
            <a:off x="6986016" y="2212848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470"/>
                </a:solidFill>
              </a:rPr>
              <a:t>1 user</a:t>
            </a:r>
            <a:endParaRPr lang="en-US" sz="1000" dirty="0"/>
          </a:p>
        </p:txBody>
      </p:sp>
      <p:sp>
        <p:nvSpPr>
          <p:cNvPr id="26" name="Text 21"/>
          <p:cNvSpPr txBox="1"/>
          <p:nvPr/>
        </p:nvSpPr>
        <p:spPr>
          <a:xfrm>
            <a:off x="6300216" y="26060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Checks prepared returns and sends them back or on for approval.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6300216" y="3429000"/>
            <a:ext cx="1600200" cy="256032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300216" y="342900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All clients</a:t>
            </a:r>
            <a:endParaRPr lang="en-US" sz="1000" dirty="0"/>
          </a:p>
        </p:txBody>
      </p:sp>
      <p:sp>
        <p:nvSpPr>
          <p:cNvPr id="29" name="Shape 24"/>
          <p:cNvSpPr/>
          <p:nvPr/>
        </p:nvSpPr>
        <p:spPr>
          <a:xfrm>
            <a:off x="8924544" y="1737360"/>
            <a:ext cx="2624328" cy="21031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9107424" y="1920240"/>
            <a:ext cx="548640" cy="548640"/>
          </a:xfrm>
          <a:prstGeom prst="ellipse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9098" y="2051914"/>
            <a:ext cx="285293" cy="285293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9793224" y="193852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Tax Approver</a:t>
            </a:r>
            <a:endParaRPr lang="en-US" sz="1400" dirty="0"/>
          </a:p>
        </p:txBody>
      </p:sp>
      <p:sp>
        <p:nvSpPr>
          <p:cNvPr id="33" name="Text 27"/>
          <p:cNvSpPr txBox="1"/>
          <p:nvPr/>
        </p:nvSpPr>
        <p:spPr>
          <a:xfrm>
            <a:off x="9793224" y="2212848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470"/>
                </a:solidFill>
              </a:rPr>
              <a:t>1 user</a:t>
            </a:r>
            <a:endParaRPr lang="en-US" sz="1000" dirty="0"/>
          </a:p>
        </p:txBody>
      </p:sp>
      <p:sp>
        <p:nvSpPr>
          <p:cNvPr id="34" name="Text 28"/>
          <p:cNvSpPr txBox="1"/>
          <p:nvPr/>
        </p:nvSpPr>
        <p:spPr>
          <a:xfrm>
            <a:off x="9107424" y="26060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Gives the final approval before filing (never their own work).</a:t>
            </a:r>
            <a:endParaRPr lang="en-US" sz="1100" dirty="0"/>
          </a:p>
        </p:txBody>
      </p:sp>
      <p:sp>
        <p:nvSpPr>
          <p:cNvPr id="35" name="Shape 29"/>
          <p:cNvSpPr/>
          <p:nvPr/>
        </p:nvSpPr>
        <p:spPr>
          <a:xfrm>
            <a:off x="9107424" y="3429000"/>
            <a:ext cx="1600200" cy="256032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9107424" y="342900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All clients</a:t>
            </a:r>
            <a:endParaRPr lang="en-US" sz="1000" dirty="0"/>
          </a:p>
        </p:txBody>
      </p:sp>
      <p:sp>
        <p:nvSpPr>
          <p:cNvPr id="37" name="Shape 31"/>
          <p:cNvSpPr/>
          <p:nvPr/>
        </p:nvSpPr>
        <p:spPr>
          <a:xfrm>
            <a:off x="502920" y="4023360"/>
            <a:ext cx="2624328" cy="21031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38" name="Shape 32"/>
          <p:cNvSpPr/>
          <p:nvPr/>
        </p:nvSpPr>
        <p:spPr>
          <a:xfrm>
            <a:off x="685800" y="4206240"/>
            <a:ext cx="548640" cy="548640"/>
          </a:xfrm>
          <a:prstGeom prst="ellipse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pic>
        <p:nvPicPr>
          <p:cNvPr id="3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7474" y="4337914"/>
            <a:ext cx="285293" cy="285293"/>
          </a:xfrm>
          <a:prstGeom prst="rect">
            <a:avLst/>
          </a:prstGeom>
        </p:spPr>
      </p:pic>
      <p:sp>
        <p:nvSpPr>
          <p:cNvPr id="40" name="Text 33"/>
          <p:cNvSpPr txBox="1"/>
          <p:nvPr/>
        </p:nvSpPr>
        <p:spPr>
          <a:xfrm>
            <a:off x="1371600" y="422452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Filing Officer</a:t>
            </a:r>
            <a:endParaRPr lang="en-US" sz="1400" dirty="0"/>
          </a:p>
        </p:txBody>
      </p:sp>
      <p:sp>
        <p:nvSpPr>
          <p:cNvPr id="41" name="Text 34"/>
          <p:cNvSpPr txBox="1"/>
          <p:nvPr/>
        </p:nvSpPr>
        <p:spPr>
          <a:xfrm>
            <a:off x="1371600" y="4498848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470"/>
                </a:solidFill>
              </a:rPr>
              <a:t>1 user</a:t>
            </a:r>
            <a:endParaRPr lang="en-US" sz="1000" dirty="0"/>
          </a:p>
        </p:txBody>
      </p:sp>
      <p:sp>
        <p:nvSpPr>
          <p:cNvPr id="42" name="Text 35"/>
          <p:cNvSpPr txBox="1"/>
          <p:nvPr/>
        </p:nvSpPr>
        <p:spPr>
          <a:xfrm>
            <a:off x="685800" y="48920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Files approved returns on FBR IRIS and records the acknowledgment.</a:t>
            </a:r>
            <a:endParaRPr lang="en-US" sz="1100" dirty="0"/>
          </a:p>
        </p:txBody>
      </p:sp>
      <p:sp>
        <p:nvSpPr>
          <p:cNvPr id="43" name="Shape 36"/>
          <p:cNvSpPr/>
          <p:nvPr/>
        </p:nvSpPr>
        <p:spPr>
          <a:xfrm>
            <a:off x="685800" y="5715000"/>
            <a:ext cx="1600200" cy="256032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4" name="Text 37"/>
          <p:cNvSpPr txBox="1"/>
          <p:nvPr/>
        </p:nvSpPr>
        <p:spPr>
          <a:xfrm>
            <a:off x="685800" y="571500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All clients</a:t>
            </a:r>
            <a:endParaRPr lang="en-US" sz="1000" dirty="0"/>
          </a:p>
        </p:txBody>
      </p:sp>
      <p:sp>
        <p:nvSpPr>
          <p:cNvPr id="45" name="Shape 38"/>
          <p:cNvSpPr/>
          <p:nvPr/>
        </p:nvSpPr>
        <p:spPr>
          <a:xfrm>
            <a:off x="3310128" y="4023360"/>
            <a:ext cx="2624328" cy="21031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46" name="Shape 39"/>
          <p:cNvSpPr/>
          <p:nvPr/>
        </p:nvSpPr>
        <p:spPr>
          <a:xfrm>
            <a:off x="3493008" y="4206240"/>
            <a:ext cx="548640" cy="548640"/>
          </a:xfrm>
          <a:prstGeom prst="ellipse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pic>
        <p:nvPicPr>
          <p:cNvPr id="4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4682" y="4337914"/>
            <a:ext cx="285293" cy="285293"/>
          </a:xfrm>
          <a:prstGeom prst="rect">
            <a:avLst/>
          </a:prstGeom>
        </p:spPr>
      </p:pic>
      <p:sp>
        <p:nvSpPr>
          <p:cNvPr id="48" name="Text 40"/>
          <p:cNvSpPr txBox="1"/>
          <p:nvPr/>
        </p:nvSpPr>
        <p:spPr>
          <a:xfrm>
            <a:off x="4178808" y="422452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Field Officer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4178808" y="4498848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470"/>
                </a:solidFill>
              </a:rPr>
              <a:t>1 user</a:t>
            </a:r>
            <a:endParaRPr lang="en-US" sz="1000" dirty="0"/>
          </a:p>
        </p:txBody>
      </p:sp>
      <p:sp>
        <p:nvSpPr>
          <p:cNvPr id="50" name="Text 42"/>
          <p:cNvSpPr txBox="1"/>
          <p:nvPr/>
        </p:nvSpPr>
        <p:spPr>
          <a:xfrm>
            <a:off x="3493008" y="48920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Registers prospects and clients met in the field.</a:t>
            </a:r>
            <a:endParaRPr lang="en-US" sz="1100" dirty="0"/>
          </a:p>
        </p:txBody>
      </p:sp>
      <p:sp>
        <p:nvSpPr>
          <p:cNvPr id="51" name="Shape 43"/>
          <p:cNvSpPr/>
          <p:nvPr/>
        </p:nvSpPr>
        <p:spPr>
          <a:xfrm>
            <a:off x="3493008" y="5715000"/>
            <a:ext cx="1600200" cy="256032"/>
          </a:xfrm>
          <a:prstGeom prst="roundRect">
            <a:avLst>
              <a:gd name="adj" fmla="val 50000"/>
            </a:avLst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52" name="Text 44"/>
          <p:cNvSpPr txBox="1"/>
          <p:nvPr/>
        </p:nvSpPr>
        <p:spPr>
          <a:xfrm>
            <a:off x="3493008" y="571500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Own registrations</a:t>
            </a:r>
            <a:endParaRPr lang="en-US" sz="1000" dirty="0"/>
          </a:p>
        </p:txBody>
      </p:sp>
      <p:sp>
        <p:nvSpPr>
          <p:cNvPr id="53" name="Shape 45"/>
          <p:cNvSpPr/>
          <p:nvPr/>
        </p:nvSpPr>
        <p:spPr>
          <a:xfrm>
            <a:off x="6117336" y="4023360"/>
            <a:ext cx="2624328" cy="21031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54" name="Shape 46"/>
          <p:cNvSpPr/>
          <p:nvPr/>
        </p:nvSpPr>
        <p:spPr>
          <a:xfrm>
            <a:off x="6300216" y="4206240"/>
            <a:ext cx="548640" cy="548640"/>
          </a:xfrm>
          <a:prstGeom prst="ellipse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pic>
        <p:nvPicPr>
          <p:cNvPr id="5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31890" y="4337914"/>
            <a:ext cx="285293" cy="285293"/>
          </a:xfrm>
          <a:prstGeom prst="rect">
            <a:avLst/>
          </a:prstGeom>
        </p:spPr>
      </p:pic>
      <p:sp>
        <p:nvSpPr>
          <p:cNvPr id="56" name="Text 47"/>
          <p:cNvSpPr txBox="1"/>
          <p:nvPr/>
        </p:nvSpPr>
        <p:spPr>
          <a:xfrm>
            <a:off x="6986016" y="422452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Data Entry</a:t>
            </a:r>
            <a:endParaRPr lang="en-US" sz="1400" dirty="0"/>
          </a:p>
        </p:txBody>
      </p:sp>
      <p:sp>
        <p:nvSpPr>
          <p:cNvPr id="57" name="Text 48"/>
          <p:cNvSpPr txBox="1"/>
          <p:nvPr/>
        </p:nvSpPr>
        <p:spPr>
          <a:xfrm>
            <a:off x="6986016" y="4498848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470"/>
                </a:solidFill>
              </a:rPr>
              <a:t>1 user</a:t>
            </a:r>
            <a:endParaRPr lang="en-US" sz="1000" dirty="0"/>
          </a:p>
        </p:txBody>
      </p:sp>
      <p:sp>
        <p:nvSpPr>
          <p:cNvPr id="58" name="Text 49"/>
          <p:cNvSpPr txBox="1"/>
          <p:nvPr/>
        </p:nvSpPr>
        <p:spPr>
          <a:xfrm>
            <a:off x="6300216" y="48920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Only enters what the client told us and records the client's approval (every team member can also do this).</a:t>
            </a:r>
            <a:endParaRPr lang="en-US" sz="1100" dirty="0"/>
          </a:p>
        </p:txBody>
      </p:sp>
      <p:sp>
        <p:nvSpPr>
          <p:cNvPr id="59" name="Shape 50"/>
          <p:cNvSpPr/>
          <p:nvPr/>
        </p:nvSpPr>
        <p:spPr>
          <a:xfrm>
            <a:off x="6300216" y="5715000"/>
            <a:ext cx="1600200" cy="256032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60" name="Text 51"/>
          <p:cNvSpPr txBox="1"/>
          <p:nvPr/>
        </p:nvSpPr>
        <p:spPr>
          <a:xfrm>
            <a:off x="6300216" y="571500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All clients</a:t>
            </a:r>
            <a:endParaRPr lang="en-US" sz="1000" dirty="0"/>
          </a:p>
        </p:txBody>
      </p:sp>
      <p:sp>
        <p:nvSpPr>
          <p:cNvPr id="61" name="Shape 52"/>
          <p:cNvSpPr/>
          <p:nvPr/>
        </p:nvSpPr>
        <p:spPr>
          <a:xfrm>
            <a:off x="8924544" y="4023360"/>
            <a:ext cx="2624328" cy="21031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62" name="Shape 53"/>
          <p:cNvSpPr/>
          <p:nvPr/>
        </p:nvSpPr>
        <p:spPr>
          <a:xfrm>
            <a:off x="9107424" y="4206240"/>
            <a:ext cx="548640" cy="548640"/>
          </a:xfrm>
          <a:prstGeom prst="ellipse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pic>
        <p:nvPicPr>
          <p:cNvPr id="6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39098" y="4337914"/>
            <a:ext cx="285293" cy="285293"/>
          </a:xfrm>
          <a:prstGeom prst="rect">
            <a:avLst/>
          </a:prstGeom>
        </p:spPr>
      </p:pic>
      <p:sp>
        <p:nvSpPr>
          <p:cNvPr id="64" name="Text 54"/>
          <p:cNvSpPr txBox="1"/>
          <p:nvPr/>
        </p:nvSpPr>
        <p:spPr>
          <a:xfrm>
            <a:off x="9793224" y="422452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Client</a:t>
            </a:r>
            <a:endParaRPr lang="en-US" sz="1400" dirty="0"/>
          </a:p>
        </p:txBody>
      </p:sp>
      <p:sp>
        <p:nvSpPr>
          <p:cNvPr id="65" name="Text 55"/>
          <p:cNvSpPr txBox="1"/>
          <p:nvPr/>
        </p:nvSpPr>
        <p:spPr>
          <a:xfrm>
            <a:off x="9793224" y="4498848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470"/>
                </a:solidFill>
              </a:rPr>
              <a:t>51 portal logins</a:t>
            </a:r>
            <a:endParaRPr lang="en-US" sz="1000" dirty="0"/>
          </a:p>
        </p:txBody>
      </p:sp>
      <p:sp>
        <p:nvSpPr>
          <p:cNvPr id="66" name="Text 56"/>
          <p:cNvSpPr txBox="1"/>
          <p:nvPr/>
        </p:nvSpPr>
        <p:spPr>
          <a:xfrm>
            <a:off x="9107424" y="48920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 taxpayer using the client portal.</a:t>
            </a:r>
            <a:endParaRPr lang="en-US" sz="1100" dirty="0"/>
          </a:p>
        </p:txBody>
      </p:sp>
      <p:sp>
        <p:nvSpPr>
          <p:cNvPr id="67" name="Shape 57"/>
          <p:cNvSpPr/>
          <p:nvPr/>
        </p:nvSpPr>
        <p:spPr>
          <a:xfrm>
            <a:off x="9107424" y="5715000"/>
            <a:ext cx="1600200" cy="256032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8" name="Text 58"/>
          <p:cNvSpPr txBox="1"/>
          <p:nvPr/>
        </p:nvSpPr>
        <p:spPr>
          <a:xfrm>
            <a:off x="9107424" y="571500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Own records only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98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0292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DFD LEVEL 0  ·  CONTEXT DIAGRAM</a:t>
            </a:r>
            <a:endParaRPr lang="en-US" sz="11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02920" y="603504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The portal and everything it exchanges data with</a:t>
            </a:r>
            <a:endParaRPr lang="en-US" sz="2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F6470"/>
                </a:solidFill>
              </a:rPr>
              <a:t>One process (the whole system), eight external entities and the data flowing between them</a:t>
            </a:r>
            <a:endParaRPr lang="en-US" sz="1300" dirty="0"/>
          </a:p>
        </p:txBody>
      </p:sp>
      <p:sp>
        <p:nvSpPr>
          <p:cNvPr id="6" name="Process 0"/>
          <p:cNvSpPr/>
          <p:nvPr/>
        </p:nvSpPr>
        <p:spPr>
          <a:xfrm>
            <a:off x="4754880" y="3291840"/>
            <a:ext cx="2679192" cy="1325880"/>
          </a:xfrm>
          <a:prstGeom prst="roundRect">
            <a:avLst>
              <a:gd name="adj" fmla="val 8276"/>
            </a:avLst>
          </a:prstGeom>
          <a:solidFill>
            <a:schemeClr val="bg1"/>
          </a:solidFill>
          <a:ln w="25400">
            <a:solidFill>
              <a:srgbClr val="A8811F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828032" y="3675888"/>
            <a:ext cx="2532888" cy="0"/>
          </a:xfrm>
          <a:prstGeom prst="line">
            <a:avLst/>
          </a:prstGeom>
          <a:noFill/>
          <a:ln w="9525">
            <a:solidFill>
              <a:srgbClr val="D4AF3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754880" y="3328416"/>
            <a:ext cx="2679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8811F"/>
                </a:solidFill>
              </a:rPr>
              <a:t>0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4809744" y="3730752"/>
            <a:ext cx="25694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VVS Tax Consultancy Portal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2606040" y="2139696"/>
            <a:ext cx="2148840" cy="1380744"/>
          </a:xfrm>
          <a:prstGeom prst="line">
            <a:avLst/>
          </a:prstGeom>
          <a:noFill/>
          <a:ln w="15875">
            <a:solidFill>
              <a:srgbClr val="A8811F"/>
            </a:solidFill>
            <a:prstDash val="solid"/>
            <a:headEnd type="triangle"/>
            <a:tailEnd type="triangle"/>
          </a:ln>
        </p:spPr>
      </p:sp>
      <p:sp>
        <p:nvSpPr>
          <p:cNvPr id="11" name="Shape 8"/>
          <p:cNvSpPr/>
          <p:nvPr/>
        </p:nvSpPr>
        <p:spPr>
          <a:xfrm flipV="1">
            <a:off x="2606040" y="3954780"/>
            <a:ext cx="2148840" cy="4572"/>
          </a:xfrm>
          <a:prstGeom prst="line">
            <a:avLst/>
          </a:prstGeom>
          <a:noFill/>
          <a:ln w="15875">
            <a:solidFill>
              <a:srgbClr val="A8811F"/>
            </a:solidFill>
            <a:prstDash val="solid"/>
            <a:headEnd type="triangle"/>
            <a:tailEnd type="triangle"/>
          </a:ln>
        </p:spPr>
      </p:sp>
      <p:sp>
        <p:nvSpPr>
          <p:cNvPr id="12" name="Shape 9"/>
          <p:cNvSpPr/>
          <p:nvPr/>
        </p:nvSpPr>
        <p:spPr>
          <a:xfrm flipV="1">
            <a:off x="2606040" y="4389120"/>
            <a:ext cx="2148840" cy="1362456"/>
          </a:xfrm>
          <a:prstGeom prst="line">
            <a:avLst/>
          </a:prstGeom>
          <a:noFill/>
          <a:ln w="15875">
            <a:solidFill>
              <a:srgbClr val="A8811F"/>
            </a:solidFill>
            <a:prstDash val="solid"/>
            <a:headEnd type="triangle"/>
            <a:tailEnd type="triangle"/>
          </a:ln>
        </p:spPr>
      </p:sp>
      <p:sp>
        <p:nvSpPr>
          <p:cNvPr id="13" name="Shape 10"/>
          <p:cNvSpPr/>
          <p:nvPr/>
        </p:nvSpPr>
        <p:spPr>
          <a:xfrm flipH="1">
            <a:off x="7434072" y="2139696"/>
            <a:ext cx="2151583" cy="1380744"/>
          </a:xfrm>
          <a:prstGeom prst="line">
            <a:avLst/>
          </a:prstGeom>
          <a:noFill/>
          <a:ln w="15875">
            <a:solidFill>
              <a:srgbClr val="A8811F"/>
            </a:solidFill>
            <a:prstDash val="solid"/>
            <a:headEnd type="triangle"/>
            <a:tailEnd type="triangle"/>
          </a:ln>
        </p:spPr>
      </p:sp>
      <p:sp>
        <p:nvSpPr>
          <p:cNvPr id="14" name="Shape 11"/>
          <p:cNvSpPr/>
          <p:nvPr/>
        </p:nvSpPr>
        <p:spPr>
          <a:xfrm flipH="1" flipV="1">
            <a:off x="7434072" y="3954780"/>
            <a:ext cx="2151583" cy="4572"/>
          </a:xfrm>
          <a:prstGeom prst="line">
            <a:avLst/>
          </a:prstGeom>
          <a:noFill/>
          <a:ln w="15875">
            <a:solidFill>
              <a:srgbClr val="A8811F"/>
            </a:solidFill>
            <a:prstDash val="solid"/>
            <a:headEnd type="triangle"/>
            <a:tailEnd type="triangle"/>
          </a:ln>
        </p:spPr>
      </p:sp>
      <p:sp>
        <p:nvSpPr>
          <p:cNvPr id="15" name="Shape 12"/>
          <p:cNvSpPr/>
          <p:nvPr/>
        </p:nvSpPr>
        <p:spPr>
          <a:xfrm flipH="1" flipV="1">
            <a:off x="7434072" y="4389120"/>
            <a:ext cx="2151583" cy="1362456"/>
          </a:xfrm>
          <a:prstGeom prst="line">
            <a:avLst/>
          </a:prstGeom>
          <a:noFill/>
          <a:ln w="15875">
            <a:solidFill>
              <a:srgbClr val="A8811F"/>
            </a:solidFill>
            <a:prstDash val="solid"/>
            <a:headEnd type="triangle"/>
            <a:tailEnd type="triangle"/>
          </a:ln>
        </p:spPr>
      </p:sp>
      <p:sp>
        <p:nvSpPr>
          <p:cNvPr id="16" name="Shape 13"/>
          <p:cNvSpPr/>
          <p:nvPr/>
        </p:nvSpPr>
        <p:spPr>
          <a:xfrm flipH="1">
            <a:off x="6094476" y="2496312"/>
            <a:ext cx="0" cy="795528"/>
          </a:xfrm>
          <a:prstGeom prst="line">
            <a:avLst/>
          </a:prstGeom>
          <a:noFill/>
          <a:ln w="15875">
            <a:solidFill>
              <a:srgbClr val="A8811F"/>
            </a:solidFill>
            <a:prstDash val="solid"/>
            <a:headEnd type="triangle"/>
            <a:tailEnd type="triangle"/>
          </a:ln>
        </p:spPr>
      </p:sp>
      <p:sp>
        <p:nvSpPr>
          <p:cNvPr id="17" name="Shape 14"/>
          <p:cNvSpPr/>
          <p:nvPr/>
        </p:nvSpPr>
        <p:spPr>
          <a:xfrm flipH="1" flipV="1">
            <a:off x="6094476" y="4617720"/>
            <a:ext cx="0" cy="777240"/>
          </a:xfrm>
          <a:prstGeom prst="line">
            <a:avLst/>
          </a:prstGeom>
          <a:noFill/>
          <a:ln w="15875">
            <a:solidFill>
              <a:srgbClr val="A8811F"/>
            </a:solidFill>
            <a:prstDash val="solid"/>
            <a:headEnd type="triangle"/>
            <a:tailEnd type="triangle"/>
          </a:ln>
        </p:spPr>
      </p:sp>
      <p:sp>
        <p:nvSpPr>
          <p:cNvPr id="18" name="Entity Client (taxpayer)"/>
          <p:cNvSpPr/>
          <p:nvPr/>
        </p:nvSpPr>
        <p:spPr>
          <a:xfrm>
            <a:off x="502920" y="1783080"/>
            <a:ext cx="2103120" cy="713232"/>
          </a:xfrm>
          <a:prstGeom prst="rect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76072" y="1837944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Client (taxpayer)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576072" y="2112264"/>
            <a:ext cx="1956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C3B3"/>
                </a:solidFill>
              </a:rPr>
              <a:t>portal · WhatsApp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1965960" y="2606040"/>
            <a:ext cx="2560320" cy="585216"/>
          </a:xfrm>
          <a:prstGeom prst="roundRect">
            <a:avLst>
              <a:gd name="adj" fmla="val 7813"/>
            </a:avLst>
          </a:prstGeom>
          <a:solidFill>
            <a:schemeClr val="bg1"/>
          </a:solidFill>
          <a:ln w="6350">
            <a:solidFill>
              <a:srgbClr val="E2DED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011680" y="2606040"/>
            <a:ext cx="2468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▸ sign-up, answers, documents, fee proof, confirmation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◂ codes, checklist, return summary, IRIS receipt, letters</a:t>
            </a:r>
            <a:endParaRPr lang="en-US" sz="1000" dirty="0"/>
          </a:p>
        </p:txBody>
      </p:sp>
      <p:sp>
        <p:nvSpPr>
          <p:cNvPr id="23" name="Entity Prospect / visitor"/>
          <p:cNvSpPr/>
          <p:nvPr/>
        </p:nvSpPr>
        <p:spPr>
          <a:xfrm>
            <a:off x="502920" y="3602736"/>
            <a:ext cx="2103120" cy="713232"/>
          </a:xfrm>
          <a:prstGeom prst="rect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76072" y="3657600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Prospect / visitor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576072" y="3931920"/>
            <a:ext cx="1956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C3B3"/>
                </a:solidFill>
              </a:rPr>
              <a:t>website · walk-in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2697480" y="3639312"/>
            <a:ext cx="1965960" cy="585216"/>
          </a:xfrm>
          <a:prstGeom prst="roundRect">
            <a:avLst>
              <a:gd name="adj" fmla="val 7813"/>
            </a:avLst>
          </a:prstGeom>
          <a:solidFill>
            <a:schemeClr val="bg1"/>
          </a:solidFill>
          <a:ln w="6350">
            <a:solidFill>
              <a:srgbClr val="E2DED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743200" y="3639312"/>
            <a:ext cx="1874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▸ enquiry, booking, calculator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◂ estimate, follow-up</a:t>
            </a:r>
            <a:endParaRPr lang="en-US" sz="1000" dirty="0"/>
          </a:p>
        </p:txBody>
      </p:sp>
      <p:sp>
        <p:nvSpPr>
          <p:cNvPr id="28" name="Entity Apify (Google Maps)"/>
          <p:cNvSpPr/>
          <p:nvPr/>
        </p:nvSpPr>
        <p:spPr>
          <a:xfrm>
            <a:off x="502920" y="5394960"/>
            <a:ext cx="2103120" cy="713232"/>
          </a:xfrm>
          <a:prstGeom prst="rect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76072" y="5449824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Apify (Google Maps)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576072" y="5724144"/>
            <a:ext cx="1956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C3B3"/>
                </a:solidFill>
              </a:rPr>
              <a:t>external service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2011680" y="4846320"/>
            <a:ext cx="2011680" cy="585216"/>
          </a:xfrm>
          <a:prstGeom prst="roundRect">
            <a:avLst>
              <a:gd name="adj" fmla="val 7813"/>
            </a:avLst>
          </a:prstGeom>
          <a:solidFill>
            <a:schemeClr val="bg1"/>
          </a:solidFill>
          <a:ln w="6350">
            <a:solidFill>
              <a:srgbClr val="E2DED2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57400" y="4846320"/>
            <a:ext cx="1920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▸ business listings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◂ search (type + city)</a:t>
            </a:r>
            <a:endParaRPr lang="en-US" sz="1000" dirty="0"/>
          </a:p>
        </p:txBody>
      </p:sp>
      <p:sp>
        <p:nvSpPr>
          <p:cNvPr id="33" name="Entity Firm staff"/>
          <p:cNvSpPr/>
          <p:nvPr/>
        </p:nvSpPr>
        <p:spPr>
          <a:xfrm>
            <a:off x="9585655" y="1783080"/>
            <a:ext cx="2103120" cy="713232"/>
          </a:xfrm>
          <a:prstGeom prst="rect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9658807" y="1837944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Firm staff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9658807" y="2112264"/>
            <a:ext cx="1956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C3B3"/>
                </a:solidFill>
              </a:rPr>
              <a:t>consultant · reviewer · approver · filing · admin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7882128" y="2606040"/>
            <a:ext cx="2423160" cy="585216"/>
          </a:xfrm>
          <a:prstGeom prst="roundRect">
            <a:avLst>
              <a:gd name="adj" fmla="val 7813"/>
            </a:avLst>
          </a:prstGeom>
          <a:solidFill>
            <a:schemeClr val="bg1"/>
          </a:solidFill>
          <a:ln w="6350">
            <a:solidFill>
              <a:srgbClr val="E2DE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927848" y="2606040"/>
            <a:ext cx="2331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▸ preparation, reviews, approvals, filing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◂ queues, inbox, dashboards, reports</a:t>
            </a:r>
            <a:endParaRPr lang="en-US" sz="1000" dirty="0"/>
          </a:p>
        </p:txBody>
      </p:sp>
      <p:sp>
        <p:nvSpPr>
          <p:cNvPr id="38" name="Entity FBR IRIS"/>
          <p:cNvSpPr/>
          <p:nvPr/>
        </p:nvSpPr>
        <p:spPr>
          <a:xfrm>
            <a:off x="9585655" y="3602736"/>
            <a:ext cx="2103120" cy="713232"/>
          </a:xfrm>
          <a:prstGeom prst="rect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9658807" y="3657600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FBR IRIS</a:t>
            </a:r>
            <a:endParaRPr lang="en-US" sz="1200" dirty="0"/>
          </a:p>
        </p:txBody>
      </p:sp>
      <p:sp>
        <p:nvSpPr>
          <p:cNvPr id="40" name="Text 37"/>
          <p:cNvSpPr txBox="1"/>
          <p:nvPr/>
        </p:nvSpPr>
        <p:spPr>
          <a:xfrm>
            <a:off x="9658807" y="3931920"/>
            <a:ext cx="1956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C3B3"/>
                </a:solidFill>
              </a:rPr>
              <a:t>filed manually by the filing officer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7589520" y="3639312"/>
            <a:ext cx="1965960" cy="585216"/>
          </a:xfrm>
          <a:prstGeom prst="roundRect">
            <a:avLst>
              <a:gd name="adj" fmla="val 7813"/>
            </a:avLst>
          </a:prstGeom>
          <a:solidFill>
            <a:schemeClr val="bg1"/>
          </a:solidFill>
          <a:ln w="6350">
            <a:solidFill>
              <a:srgbClr val="E2DED2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7635240" y="3639312"/>
            <a:ext cx="1874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◂ approved return figures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▸ acknowledgment no. + receipt</a:t>
            </a:r>
            <a:endParaRPr lang="en-US" sz="1000" dirty="0"/>
          </a:p>
        </p:txBody>
      </p:sp>
      <p:sp>
        <p:nvSpPr>
          <p:cNvPr id="43" name="Entity Email server"/>
          <p:cNvSpPr/>
          <p:nvPr/>
        </p:nvSpPr>
        <p:spPr>
          <a:xfrm>
            <a:off x="9585655" y="5394960"/>
            <a:ext cx="2103120" cy="713232"/>
          </a:xfrm>
          <a:prstGeom prst="rect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9658807" y="5449824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Email server</a:t>
            </a:r>
            <a:endParaRPr lang="en-US" sz="1200" dirty="0"/>
          </a:p>
        </p:txBody>
      </p:sp>
      <p:sp>
        <p:nvSpPr>
          <p:cNvPr id="45" name="Text 42"/>
          <p:cNvSpPr txBox="1"/>
          <p:nvPr/>
        </p:nvSpPr>
        <p:spPr>
          <a:xfrm>
            <a:off x="9658807" y="5724144"/>
            <a:ext cx="1956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C3B3"/>
                </a:solidFill>
              </a:rPr>
              <a:t>outgoing SMTP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8001000" y="4846320"/>
            <a:ext cx="2148840" cy="402336"/>
          </a:xfrm>
          <a:prstGeom prst="roundRect">
            <a:avLst>
              <a:gd name="adj" fmla="val 11364"/>
            </a:avLst>
          </a:prstGeom>
          <a:solidFill>
            <a:schemeClr val="bg1"/>
          </a:solidFill>
          <a:ln w="6350">
            <a:solidFill>
              <a:srgbClr val="E2DED2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8046720" y="4846320"/>
            <a:ext cx="2057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◂ notices, portal invites, reports</a:t>
            </a:r>
            <a:endParaRPr lang="en-US" sz="1000" dirty="0"/>
          </a:p>
        </p:txBody>
      </p:sp>
      <p:sp>
        <p:nvSpPr>
          <p:cNvPr id="48" name="Entity WhatsApp Cloud API"/>
          <p:cNvSpPr/>
          <p:nvPr/>
        </p:nvSpPr>
        <p:spPr>
          <a:xfrm>
            <a:off x="5042916" y="1783080"/>
            <a:ext cx="2103120" cy="713232"/>
          </a:xfrm>
          <a:prstGeom prst="rect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5116068" y="1837944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WhatsApp Cloud API</a:t>
            </a:r>
            <a:endParaRPr lang="en-US" sz="1200" dirty="0"/>
          </a:p>
        </p:txBody>
      </p:sp>
      <p:sp>
        <p:nvSpPr>
          <p:cNvPr id="50" name="Text 47"/>
          <p:cNvSpPr txBox="1"/>
          <p:nvPr/>
        </p:nvSpPr>
        <p:spPr>
          <a:xfrm>
            <a:off x="5116068" y="2112264"/>
            <a:ext cx="1956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C3B3"/>
                </a:solidFill>
              </a:rPr>
              <a:t>Meta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6204204" y="2578608"/>
            <a:ext cx="1645920" cy="585216"/>
          </a:xfrm>
          <a:prstGeom prst="roundRect">
            <a:avLst>
              <a:gd name="adj" fmla="val 7813"/>
            </a:avLst>
          </a:prstGeom>
          <a:solidFill>
            <a:schemeClr val="bg1"/>
          </a:solidFill>
          <a:ln w="6350">
            <a:solidFill>
              <a:srgbClr val="E2DED2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6249924" y="2578608"/>
            <a:ext cx="1554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◂ messages, templates, codes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▸ replies, delivery status</a:t>
            </a:r>
            <a:endParaRPr lang="en-US" sz="1000" dirty="0"/>
          </a:p>
        </p:txBody>
      </p:sp>
      <p:sp>
        <p:nvSpPr>
          <p:cNvPr id="53" name="Entity SMS gateway"/>
          <p:cNvSpPr/>
          <p:nvPr/>
        </p:nvSpPr>
        <p:spPr>
          <a:xfrm>
            <a:off x="5042916" y="5394960"/>
            <a:ext cx="2103120" cy="713232"/>
          </a:xfrm>
          <a:prstGeom prst="rect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5116068" y="5449824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SMS gateway</a:t>
            </a:r>
            <a:endParaRPr lang="en-US" sz="1200" dirty="0"/>
          </a:p>
        </p:txBody>
      </p:sp>
      <p:sp>
        <p:nvSpPr>
          <p:cNvPr id="55" name="Text 52"/>
          <p:cNvSpPr txBox="1"/>
          <p:nvPr/>
        </p:nvSpPr>
        <p:spPr>
          <a:xfrm>
            <a:off x="5116068" y="5724144"/>
            <a:ext cx="1956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C3B3"/>
                </a:solidFill>
              </a:rPr>
              <a:t>Twilio / bulk SMS</a:t>
            </a:r>
            <a:endParaRPr lang="en-US" sz="1000" dirty="0"/>
          </a:p>
        </p:txBody>
      </p:sp>
      <p:sp>
        <p:nvSpPr>
          <p:cNvPr id="56" name="Shape 53"/>
          <p:cNvSpPr/>
          <p:nvPr/>
        </p:nvSpPr>
        <p:spPr>
          <a:xfrm>
            <a:off x="6204204" y="4754880"/>
            <a:ext cx="1645920" cy="402336"/>
          </a:xfrm>
          <a:prstGeom prst="roundRect">
            <a:avLst>
              <a:gd name="adj" fmla="val 11364"/>
            </a:avLst>
          </a:prstGeom>
          <a:solidFill>
            <a:schemeClr val="bg1"/>
          </a:solidFill>
          <a:ln w="6350">
            <a:solidFill>
              <a:srgbClr val="E2DED2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6249924" y="4754880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◂ verification codes (backup)</a:t>
            </a:r>
            <a:endParaRPr lang="en-US" sz="1000" dirty="0"/>
          </a:p>
        </p:txBody>
      </p:sp>
      <p:sp>
        <p:nvSpPr>
          <p:cNvPr id="58" name="Text 55"/>
          <p:cNvSpPr txBox="1"/>
          <p:nvPr/>
        </p:nvSpPr>
        <p:spPr>
          <a:xfrm>
            <a:off x="502920" y="61996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470"/>
                </a:solidFill>
              </a:rPr>
              <a:t>▸ into the portal   ◂ out of the portal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98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0292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DFD LEVEL 1  ·  PROCESSES &amp; DATA STORES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02920" y="603504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Inside the portal: nine processes, eight data stores</a:t>
            </a:r>
            <a:endParaRPr lang="en-US" sz="2800" dirty="0"/>
          </a:p>
        </p:txBody>
      </p:sp>
      <p:sp>
        <p:nvSpPr>
          <p:cNvPr id="5" name="Entity Prospect · Apify"/>
          <p:cNvSpPr/>
          <p:nvPr/>
        </p:nvSpPr>
        <p:spPr>
          <a:xfrm>
            <a:off x="502920" y="1280160"/>
            <a:ext cx="1417320" cy="457200"/>
          </a:xfrm>
          <a:prstGeom prst="rect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76072" y="1280160"/>
            <a:ext cx="1271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Prospect · Apify</a:t>
            </a:r>
            <a:endParaRPr lang="en-US" sz="1200" dirty="0"/>
          </a:p>
        </p:txBody>
      </p:sp>
      <p:sp>
        <p:nvSpPr>
          <p:cNvPr id="7" name="Entity Client (taxpayer)"/>
          <p:cNvSpPr/>
          <p:nvPr/>
        </p:nvSpPr>
        <p:spPr>
          <a:xfrm>
            <a:off x="2131009" y="1280160"/>
            <a:ext cx="4673498" cy="457200"/>
          </a:xfrm>
          <a:prstGeom prst="rect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204161" y="1280160"/>
            <a:ext cx="45271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Client (taxpayer)</a:t>
            </a:r>
            <a:endParaRPr lang="en-US" sz="1200" dirty="0"/>
          </a:p>
        </p:txBody>
      </p:sp>
      <p:sp>
        <p:nvSpPr>
          <p:cNvPr id="9" name="Entity Firm staff"/>
          <p:cNvSpPr/>
          <p:nvPr/>
        </p:nvSpPr>
        <p:spPr>
          <a:xfrm>
            <a:off x="7015277" y="1280160"/>
            <a:ext cx="3045409" cy="457200"/>
          </a:xfrm>
          <a:prstGeom prst="rect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088429" y="1280160"/>
            <a:ext cx="289910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Firm staff</a:t>
            </a:r>
            <a:endParaRPr lang="en-US" sz="1200" dirty="0"/>
          </a:p>
        </p:txBody>
      </p:sp>
      <p:sp>
        <p:nvSpPr>
          <p:cNvPr id="11" name="Entity FBR IRIS"/>
          <p:cNvSpPr/>
          <p:nvPr/>
        </p:nvSpPr>
        <p:spPr>
          <a:xfrm>
            <a:off x="10271455" y="1280160"/>
            <a:ext cx="1417320" cy="457200"/>
          </a:xfrm>
          <a:prstGeom prst="rect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344607" y="1280160"/>
            <a:ext cx="1271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FBR IRIS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211580" y="1737360"/>
            <a:ext cx="0" cy="594360"/>
          </a:xfrm>
          <a:prstGeom prst="line">
            <a:avLst/>
          </a:prstGeom>
          <a:noFill/>
          <a:ln w="15875">
            <a:solidFill>
              <a:srgbClr val="A8811F"/>
            </a:solidFill>
            <a:prstDash val="solid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1266444" y="1801368"/>
            <a:ext cx="8828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470"/>
                </a:solidFill>
              </a:rPr>
              <a:t>enquiry · listings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2839669" y="1737360"/>
            <a:ext cx="0" cy="594360"/>
          </a:xfrm>
          <a:prstGeom prst="line">
            <a:avLst/>
          </a:prstGeom>
          <a:noFill/>
          <a:ln w="15875">
            <a:solidFill>
              <a:srgbClr val="A8811F"/>
            </a:solidFill>
            <a:prstDash val="solid"/>
            <a:tailEnd type="triangle"/>
          </a:ln>
        </p:spPr>
      </p:sp>
      <p:sp>
        <p:nvSpPr>
          <p:cNvPr id="16" name="Text 13"/>
          <p:cNvSpPr txBox="1"/>
          <p:nvPr/>
        </p:nvSpPr>
        <p:spPr>
          <a:xfrm>
            <a:off x="2894533" y="1801368"/>
            <a:ext cx="8828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470"/>
                </a:solidFill>
              </a:rPr>
              <a:t>sign-up · code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4467758" y="1737360"/>
            <a:ext cx="0" cy="594360"/>
          </a:xfrm>
          <a:prstGeom prst="line">
            <a:avLst/>
          </a:prstGeom>
          <a:noFill/>
          <a:ln w="15875">
            <a:solidFill>
              <a:srgbClr val="A8811F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4522622" y="1801368"/>
            <a:ext cx="8828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470"/>
                </a:solidFill>
              </a:rPr>
              <a:t>package · fee proof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6095848" y="1737360"/>
            <a:ext cx="0" cy="594360"/>
          </a:xfrm>
          <a:prstGeom prst="line">
            <a:avLst/>
          </a:prstGeom>
          <a:noFill/>
          <a:ln w="15875">
            <a:solidFill>
              <a:srgbClr val="A8811F"/>
            </a:solidFill>
            <a:prstDash val="solid"/>
            <a:tailEnd type="triangle"/>
          </a:ln>
        </p:spPr>
      </p:sp>
      <p:sp>
        <p:nvSpPr>
          <p:cNvPr id="20" name="Text 17"/>
          <p:cNvSpPr txBox="1"/>
          <p:nvPr/>
        </p:nvSpPr>
        <p:spPr>
          <a:xfrm>
            <a:off x="6150712" y="1801368"/>
            <a:ext cx="8828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470"/>
                </a:solidFill>
              </a:rPr>
              <a:t>answers · uploads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7723937" y="1737360"/>
            <a:ext cx="0" cy="594360"/>
          </a:xfrm>
          <a:prstGeom prst="line">
            <a:avLst/>
          </a:prstGeom>
          <a:noFill/>
          <a:ln w="15875">
            <a:solidFill>
              <a:srgbClr val="A8811F"/>
            </a:solidFill>
            <a:prstDash val="solid"/>
            <a:tailEnd type="triangle"/>
          </a:ln>
        </p:spPr>
      </p:sp>
      <p:sp>
        <p:nvSpPr>
          <p:cNvPr id="22" name="Text 19"/>
          <p:cNvSpPr txBox="1"/>
          <p:nvPr/>
        </p:nvSpPr>
        <p:spPr>
          <a:xfrm>
            <a:off x="7778801" y="1801368"/>
            <a:ext cx="8828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470"/>
                </a:solidFill>
              </a:rPr>
              <a:t>line entries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9352026" y="1737360"/>
            <a:ext cx="0" cy="594360"/>
          </a:xfrm>
          <a:prstGeom prst="line">
            <a:avLst/>
          </a:prstGeom>
          <a:noFill/>
          <a:ln w="15875">
            <a:solidFill>
              <a:srgbClr val="A8811F"/>
            </a:solidFill>
            <a:prstDash val="solid"/>
            <a:headEnd type="triangle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9406890" y="1801368"/>
            <a:ext cx="8828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470"/>
                </a:solidFill>
              </a:rPr>
              <a:t>review · approve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10980115" y="1737360"/>
            <a:ext cx="0" cy="594360"/>
          </a:xfrm>
          <a:prstGeom prst="line">
            <a:avLst/>
          </a:prstGeom>
          <a:noFill/>
          <a:ln w="15875">
            <a:solidFill>
              <a:srgbClr val="A8811F"/>
            </a:solidFill>
            <a:prstDash val="solid"/>
            <a:headEnd type="triangle"/>
            <a:tailEnd type="triangle"/>
          </a:ln>
        </p:spPr>
      </p:sp>
      <p:sp>
        <p:nvSpPr>
          <p:cNvPr id="26" name="Text 23"/>
          <p:cNvSpPr txBox="1"/>
          <p:nvPr/>
        </p:nvSpPr>
        <p:spPr>
          <a:xfrm>
            <a:off x="11034979" y="1801368"/>
            <a:ext cx="8828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470"/>
                </a:solidFill>
              </a:rPr>
              <a:t>ack no. · receipt</a:t>
            </a:r>
            <a:endParaRPr lang="en-US" sz="900" dirty="0"/>
          </a:p>
        </p:txBody>
      </p:sp>
      <p:sp>
        <p:nvSpPr>
          <p:cNvPr id="27" name="Process 1.0"/>
          <p:cNvSpPr/>
          <p:nvPr/>
        </p:nvSpPr>
        <p:spPr>
          <a:xfrm>
            <a:off x="502920" y="2331720"/>
            <a:ext cx="1417320" cy="868680"/>
          </a:xfrm>
          <a:prstGeom prst="roundRect">
            <a:avLst>
              <a:gd name="adj" fmla="val 12632"/>
            </a:avLst>
          </a:prstGeom>
          <a:solidFill>
            <a:schemeClr val="bg1"/>
          </a:solidFill>
          <a:ln w="19050">
            <a:solidFill>
              <a:srgbClr val="A8811F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576072" y="2606040"/>
            <a:ext cx="1271016" cy="0"/>
          </a:xfrm>
          <a:prstGeom prst="line">
            <a:avLst/>
          </a:prstGeom>
          <a:noFill/>
          <a:ln w="9525">
            <a:solidFill>
              <a:srgbClr val="D4AF3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02920" y="2368296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8811F"/>
                </a:solidFill>
              </a:rPr>
              <a:t>1.0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557784" y="2642616"/>
            <a:ext cx="130759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Capture &amp; convert leads</a:t>
            </a:r>
            <a:endParaRPr lang="en-US" sz="1100" dirty="0"/>
          </a:p>
        </p:txBody>
      </p:sp>
      <p:sp>
        <p:nvSpPr>
          <p:cNvPr id="31" name="Process 2.0"/>
          <p:cNvSpPr/>
          <p:nvPr/>
        </p:nvSpPr>
        <p:spPr>
          <a:xfrm>
            <a:off x="2131009" y="2331720"/>
            <a:ext cx="1417320" cy="868680"/>
          </a:xfrm>
          <a:prstGeom prst="roundRect">
            <a:avLst>
              <a:gd name="adj" fmla="val 12632"/>
            </a:avLst>
          </a:prstGeom>
          <a:solidFill>
            <a:schemeClr val="bg1"/>
          </a:solidFill>
          <a:ln w="19050">
            <a:solidFill>
              <a:srgbClr val="A8811F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2204161" y="2606040"/>
            <a:ext cx="1271016" cy="0"/>
          </a:xfrm>
          <a:prstGeom prst="line">
            <a:avLst/>
          </a:prstGeom>
          <a:noFill/>
          <a:ln w="9525">
            <a:solidFill>
              <a:srgbClr val="D4AF3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131009" y="2368296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8811F"/>
                </a:solidFill>
              </a:rPr>
              <a:t>2.0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2185873" y="2642616"/>
            <a:ext cx="130759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Onboard &amp; verify client</a:t>
            </a:r>
            <a:endParaRPr lang="en-US" sz="1100" dirty="0"/>
          </a:p>
        </p:txBody>
      </p:sp>
      <p:sp>
        <p:nvSpPr>
          <p:cNvPr id="35" name="Process 3.0"/>
          <p:cNvSpPr/>
          <p:nvPr/>
        </p:nvSpPr>
        <p:spPr>
          <a:xfrm>
            <a:off x="3759098" y="2331720"/>
            <a:ext cx="1417320" cy="868680"/>
          </a:xfrm>
          <a:prstGeom prst="roundRect">
            <a:avLst>
              <a:gd name="adj" fmla="val 12632"/>
            </a:avLst>
          </a:prstGeom>
          <a:solidFill>
            <a:schemeClr val="bg1"/>
          </a:solidFill>
          <a:ln w="19050">
            <a:solidFill>
              <a:srgbClr val="A8811F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3832250" y="2606040"/>
            <a:ext cx="1271016" cy="0"/>
          </a:xfrm>
          <a:prstGeom prst="line">
            <a:avLst/>
          </a:prstGeom>
          <a:noFill/>
          <a:ln w="9525">
            <a:solidFill>
              <a:srgbClr val="D4AF3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3759098" y="2368296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8811F"/>
                </a:solidFill>
              </a:rPr>
              <a:t>3.0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3813962" y="2642616"/>
            <a:ext cx="130759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Engage &amp; bill</a:t>
            </a:r>
            <a:endParaRPr lang="en-US" sz="1100" dirty="0"/>
          </a:p>
        </p:txBody>
      </p:sp>
      <p:sp>
        <p:nvSpPr>
          <p:cNvPr id="39" name="Process 4.0"/>
          <p:cNvSpPr/>
          <p:nvPr/>
        </p:nvSpPr>
        <p:spPr>
          <a:xfrm>
            <a:off x="5387188" y="2331720"/>
            <a:ext cx="1417320" cy="868680"/>
          </a:xfrm>
          <a:prstGeom prst="roundRect">
            <a:avLst>
              <a:gd name="adj" fmla="val 12632"/>
            </a:avLst>
          </a:prstGeom>
          <a:solidFill>
            <a:schemeClr val="bg1"/>
          </a:solidFill>
          <a:ln w="19050">
            <a:solidFill>
              <a:srgbClr val="A8811F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5460340" y="2606040"/>
            <a:ext cx="1271016" cy="0"/>
          </a:xfrm>
          <a:prstGeom prst="line">
            <a:avLst/>
          </a:prstGeom>
          <a:noFill/>
          <a:ln w="9525">
            <a:solidFill>
              <a:srgbClr val="D4AF37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387188" y="2368296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8811F"/>
                </a:solidFill>
              </a:rPr>
              <a:t>4.0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5442052" y="2642616"/>
            <a:ext cx="130759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Collect &amp; verify documents</a:t>
            </a:r>
            <a:endParaRPr lang="en-US" sz="1100" dirty="0"/>
          </a:p>
        </p:txBody>
      </p:sp>
      <p:sp>
        <p:nvSpPr>
          <p:cNvPr id="43" name="Process 5.0"/>
          <p:cNvSpPr/>
          <p:nvPr/>
        </p:nvSpPr>
        <p:spPr>
          <a:xfrm>
            <a:off x="7015277" y="2331720"/>
            <a:ext cx="1417320" cy="868680"/>
          </a:xfrm>
          <a:prstGeom prst="roundRect">
            <a:avLst>
              <a:gd name="adj" fmla="val 12632"/>
            </a:avLst>
          </a:prstGeom>
          <a:solidFill>
            <a:schemeClr val="bg1"/>
          </a:solidFill>
          <a:ln w="19050">
            <a:solidFill>
              <a:srgbClr val="A8811F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7088429" y="2606040"/>
            <a:ext cx="1271016" cy="0"/>
          </a:xfrm>
          <a:prstGeom prst="line">
            <a:avLst/>
          </a:prstGeom>
          <a:noFill/>
          <a:ln w="9525">
            <a:solidFill>
              <a:srgbClr val="D4AF37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7015277" y="2368296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8811F"/>
                </a:solidFill>
              </a:rPr>
              <a:t>5.0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070141" y="2642616"/>
            <a:ext cx="130759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Prepare return &amp; calculate tax</a:t>
            </a:r>
            <a:endParaRPr lang="en-US" sz="1100" dirty="0"/>
          </a:p>
        </p:txBody>
      </p:sp>
      <p:sp>
        <p:nvSpPr>
          <p:cNvPr id="47" name="Process 6.0"/>
          <p:cNvSpPr/>
          <p:nvPr/>
        </p:nvSpPr>
        <p:spPr>
          <a:xfrm>
            <a:off x="8643366" y="2331720"/>
            <a:ext cx="1417320" cy="868680"/>
          </a:xfrm>
          <a:prstGeom prst="roundRect">
            <a:avLst>
              <a:gd name="adj" fmla="val 12632"/>
            </a:avLst>
          </a:prstGeom>
          <a:solidFill>
            <a:schemeClr val="bg1"/>
          </a:solidFill>
          <a:ln w="19050">
            <a:solidFill>
              <a:srgbClr val="A8811F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8716518" y="2606040"/>
            <a:ext cx="1271016" cy="0"/>
          </a:xfrm>
          <a:prstGeom prst="line">
            <a:avLst/>
          </a:prstGeom>
          <a:noFill/>
          <a:ln w="9525">
            <a:solidFill>
              <a:srgbClr val="D4AF37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3366" y="2368296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8811F"/>
                </a:solidFill>
              </a:rPr>
              <a:t>6.0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8698230" y="2642616"/>
            <a:ext cx="130759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Review, confirm &amp; approve</a:t>
            </a:r>
            <a:endParaRPr lang="en-US" sz="1100" dirty="0"/>
          </a:p>
        </p:txBody>
      </p:sp>
      <p:sp>
        <p:nvSpPr>
          <p:cNvPr id="51" name="Process 7.0"/>
          <p:cNvSpPr/>
          <p:nvPr/>
        </p:nvSpPr>
        <p:spPr>
          <a:xfrm>
            <a:off x="10271455" y="2331720"/>
            <a:ext cx="1417320" cy="868680"/>
          </a:xfrm>
          <a:prstGeom prst="roundRect">
            <a:avLst>
              <a:gd name="adj" fmla="val 12632"/>
            </a:avLst>
          </a:prstGeom>
          <a:solidFill>
            <a:schemeClr val="bg1"/>
          </a:solidFill>
          <a:ln w="19050">
            <a:solidFill>
              <a:srgbClr val="A8811F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10344607" y="2606040"/>
            <a:ext cx="1271016" cy="0"/>
          </a:xfrm>
          <a:prstGeom prst="line">
            <a:avLst/>
          </a:prstGeom>
          <a:noFill/>
          <a:ln w="9525">
            <a:solidFill>
              <a:srgbClr val="D4AF37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10271455" y="2368296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8811F"/>
                </a:solidFill>
              </a:rPr>
              <a:t>7.0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10326319" y="2642616"/>
            <a:ext cx="130759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File &amp; acknowledge</a:t>
            </a:r>
            <a:endParaRPr lang="en-US" sz="1100" dirty="0"/>
          </a:p>
        </p:txBody>
      </p:sp>
      <p:sp>
        <p:nvSpPr>
          <p:cNvPr id="55" name="Shape 52"/>
          <p:cNvSpPr/>
          <p:nvPr/>
        </p:nvSpPr>
        <p:spPr>
          <a:xfrm>
            <a:off x="1920240" y="2766060"/>
            <a:ext cx="210769" cy="0"/>
          </a:xfrm>
          <a:prstGeom prst="line">
            <a:avLst/>
          </a:prstGeom>
          <a:noFill/>
          <a:ln w="22225">
            <a:solidFill>
              <a:srgbClr val="141416"/>
            </a:solidFill>
            <a:prstDash val="solid"/>
            <a:tailEnd type="triangle"/>
          </a:ln>
        </p:spPr>
      </p:sp>
      <p:sp>
        <p:nvSpPr>
          <p:cNvPr id="56" name="Shape 53"/>
          <p:cNvSpPr/>
          <p:nvPr/>
        </p:nvSpPr>
        <p:spPr>
          <a:xfrm>
            <a:off x="3548329" y="2766060"/>
            <a:ext cx="210769" cy="0"/>
          </a:xfrm>
          <a:prstGeom prst="line">
            <a:avLst/>
          </a:prstGeom>
          <a:noFill/>
          <a:ln w="22225">
            <a:solidFill>
              <a:srgbClr val="141416"/>
            </a:solidFill>
            <a:prstDash val="solid"/>
            <a:tailEnd type="triangle"/>
          </a:ln>
        </p:spPr>
      </p:sp>
      <p:sp>
        <p:nvSpPr>
          <p:cNvPr id="57" name="Shape 54"/>
          <p:cNvSpPr/>
          <p:nvPr/>
        </p:nvSpPr>
        <p:spPr>
          <a:xfrm>
            <a:off x="5176418" y="2766060"/>
            <a:ext cx="210769" cy="0"/>
          </a:xfrm>
          <a:prstGeom prst="line">
            <a:avLst/>
          </a:prstGeom>
          <a:noFill/>
          <a:ln w="22225">
            <a:solidFill>
              <a:srgbClr val="141416"/>
            </a:solidFill>
            <a:prstDash val="solid"/>
            <a:tailEnd type="triangle"/>
          </a:ln>
        </p:spPr>
      </p:sp>
      <p:sp>
        <p:nvSpPr>
          <p:cNvPr id="58" name="Shape 55"/>
          <p:cNvSpPr/>
          <p:nvPr/>
        </p:nvSpPr>
        <p:spPr>
          <a:xfrm>
            <a:off x="6804508" y="2766060"/>
            <a:ext cx="210769" cy="0"/>
          </a:xfrm>
          <a:prstGeom prst="line">
            <a:avLst/>
          </a:prstGeom>
          <a:noFill/>
          <a:ln w="22225">
            <a:solidFill>
              <a:srgbClr val="141416"/>
            </a:solidFill>
            <a:prstDash val="solid"/>
            <a:tailEnd type="triangle"/>
          </a:ln>
        </p:spPr>
      </p:sp>
      <p:sp>
        <p:nvSpPr>
          <p:cNvPr id="59" name="Shape 56"/>
          <p:cNvSpPr/>
          <p:nvPr/>
        </p:nvSpPr>
        <p:spPr>
          <a:xfrm>
            <a:off x="8432597" y="2766060"/>
            <a:ext cx="210769" cy="0"/>
          </a:xfrm>
          <a:prstGeom prst="line">
            <a:avLst/>
          </a:prstGeom>
          <a:noFill/>
          <a:ln w="22225">
            <a:solidFill>
              <a:srgbClr val="141416"/>
            </a:solidFill>
            <a:prstDash val="solid"/>
            <a:tailEnd type="triangle"/>
          </a:ln>
        </p:spPr>
      </p:sp>
      <p:sp>
        <p:nvSpPr>
          <p:cNvPr id="60" name="Shape 57"/>
          <p:cNvSpPr/>
          <p:nvPr/>
        </p:nvSpPr>
        <p:spPr>
          <a:xfrm>
            <a:off x="10060686" y="2766060"/>
            <a:ext cx="210769" cy="0"/>
          </a:xfrm>
          <a:prstGeom prst="line">
            <a:avLst/>
          </a:prstGeom>
          <a:noFill/>
          <a:ln w="22225">
            <a:solidFill>
              <a:srgbClr val="141416"/>
            </a:solidFill>
            <a:prstDash val="solid"/>
            <a:tailEnd type="triangle"/>
          </a:ln>
        </p:spPr>
      </p:sp>
      <p:sp>
        <p:nvSpPr>
          <p:cNvPr id="61" name="Store D2"/>
          <p:cNvSpPr/>
          <p:nvPr/>
        </p:nvSpPr>
        <p:spPr>
          <a:xfrm>
            <a:off x="502920" y="3794760"/>
            <a:ext cx="1417320" cy="384048"/>
          </a:xfrm>
          <a:prstGeom prst="rect">
            <a:avLst/>
          </a:prstGeom>
          <a:solidFill>
            <a:srgbClr val="F3F1EA"/>
          </a:solidFill>
          <a:ln w="12700">
            <a:solidFill>
              <a:srgbClr val="F3F1EA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502920" y="3794760"/>
            <a:ext cx="1417320" cy="0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502920" y="4178808"/>
            <a:ext cx="1417320" cy="0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502920" y="3794760"/>
            <a:ext cx="0" cy="384048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886968" y="3794760"/>
            <a:ext cx="0" cy="384048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502920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8811F"/>
                </a:solidFill>
              </a:rPr>
              <a:t>D2</a:t>
            </a:r>
            <a:endParaRPr lang="en-US" sz="1000" dirty="0"/>
          </a:p>
        </p:txBody>
      </p:sp>
      <p:sp>
        <p:nvSpPr>
          <p:cNvPr id="67" name="Text 64"/>
          <p:cNvSpPr txBox="1"/>
          <p:nvPr/>
        </p:nvSpPr>
        <p:spPr>
          <a:xfrm>
            <a:off x="941832" y="3794760"/>
            <a:ext cx="941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Leads, deals</a:t>
            </a:r>
            <a:endParaRPr lang="en-US" sz="1000" dirty="0"/>
          </a:p>
        </p:txBody>
      </p:sp>
      <p:sp>
        <p:nvSpPr>
          <p:cNvPr id="68" name="Shape 65"/>
          <p:cNvSpPr/>
          <p:nvPr/>
        </p:nvSpPr>
        <p:spPr>
          <a:xfrm>
            <a:off x="1211580" y="3200400"/>
            <a:ext cx="0" cy="594360"/>
          </a:xfrm>
          <a:prstGeom prst="line">
            <a:avLst/>
          </a:prstGeom>
          <a:noFill/>
          <a:ln w="12700">
            <a:solidFill>
              <a:srgbClr val="8C8677"/>
            </a:solidFill>
            <a:prstDash val="solid"/>
            <a:headEnd type="triangle"/>
            <a:tailEnd type="triangle"/>
          </a:ln>
        </p:spPr>
      </p:sp>
      <p:sp>
        <p:nvSpPr>
          <p:cNvPr id="69" name="Store D1"/>
          <p:cNvSpPr/>
          <p:nvPr/>
        </p:nvSpPr>
        <p:spPr>
          <a:xfrm>
            <a:off x="2131009" y="3794760"/>
            <a:ext cx="1417320" cy="384048"/>
          </a:xfrm>
          <a:prstGeom prst="rect">
            <a:avLst/>
          </a:prstGeom>
          <a:solidFill>
            <a:srgbClr val="F3F1EA"/>
          </a:solidFill>
          <a:ln w="12700">
            <a:solidFill>
              <a:srgbClr val="F3F1EA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2131009" y="3794760"/>
            <a:ext cx="1417320" cy="0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2131009" y="4178808"/>
            <a:ext cx="1417320" cy="0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2131009" y="3794760"/>
            <a:ext cx="0" cy="384048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2515057" y="3794760"/>
            <a:ext cx="0" cy="384048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74" name="Text 71"/>
          <p:cNvSpPr txBox="1"/>
          <p:nvPr/>
        </p:nvSpPr>
        <p:spPr>
          <a:xfrm>
            <a:off x="2131009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8811F"/>
                </a:solidFill>
              </a:rPr>
              <a:t>D1</a:t>
            </a:r>
            <a:endParaRPr lang="en-US" sz="1000" dirty="0"/>
          </a:p>
        </p:txBody>
      </p:sp>
      <p:sp>
        <p:nvSpPr>
          <p:cNvPr id="75" name="Text 72"/>
          <p:cNvSpPr txBox="1"/>
          <p:nvPr/>
        </p:nvSpPr>
        <p:spPr>
          <a:xfrm>
            <a:off x="2569921" y="3794760"/>
            <a:ext cx="941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Tax clients</a:t>
            </a:r>
            <a:endParaRPr lang="en-US" sz="1000" dirty="0"/>
          </a:p>
        </p:txBody>
      </p:sp>
      <p:sp>
        <p:nvSpPr>
          <p:cNvPr id="76" name="Shape 73"/>
          <p:cNvSpPr/>
          <p:nvPr/>
        </p:nvSpPr>
        <p:spPr>
          <a:xfrm>
            <a:off x="2839669" y="3200400"/>
            <a:ext cx="0" cy="594360"/>
          </a:xfrm>
          <a:prstGeom prst="line">
            <a:avLst/>
          </a:prstGeom>
          <a:noFill/>
          <a:ln w="12700">
            <a:solidFill>
              <a:srgbClr val="8C8677"/>
            </a:solidFill>
            <a:prstDash val="solid"/>
            <a:headEnd type="triangle"/>
            <a:tailEnd type="triangle"/>
          </a:ln>
        </p:spPr>
      </p:sp>
      <p:sp>
        <p:nvSpPr>
          <p:cNvPr id="77" name="Store D3"/>
          <p:cNvSpPr/>
          <p:nvPr/>
        </p:nvSpPr>
        <p:spPr>
          <a:xfrm>
            <a:off x="3759098" y="3794760"/>
            <a:ext cx="1417320" cy="384048"/>
          </a:xfrm>
          <a:prstGeom prst="rect">
            <a:avLst/>
          </a:prstGeom>
          <a:solidFill>
            <a:srgbClr val="F3F1EA"/>
          </a:solidFill>
          <a:ln w="12700">
            <a:solidFill>
              <a:srgbClr val="F3F1EA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>
            <a:off x="3759098" y="3794760"/>
            <a:ext cx="1417320" cy="0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3759098" y="4178808"/>
            <a:ext cx="1417320" cy="0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3759098" y="3794760"/>
            <a:ext cx="0" cy="384048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4143146" y="3794760"/>
            <a:ext cx="0" cy="384048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3759098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8811F"/>
                </a:solidFill>
              </a:rPr>
              <a:t>D3</a:t>
            </a:r>
            <a:endParaRPr lang="en-US" sz="1000" dirty="0"/>
          </a:p>
        </p:txBody>
      </p:sp>
      <p:sp>
        <p:nvSpPr>
          <p:cNvPr id="83" name="Text 80"/>
          <p:cNvSpPr txBox="1"/>
          <p:nvPr/>
        </p:nvSpPr>
        <p:spPr>
          <a:xfrm>
            <a:off x="4198010" y="3794760"/>
            <a:ext cx="941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Fees, payments</a:t>
            </a:r>
            <a:endParaRPr lang="en-US" sz="1000" dirty="0"/>
          </a:p>
        </p:txBody>
      </p:sp>
      <p:sp>
        <p:nvSpPr>
          <p:cNvPr id="84" name="Shape 81"/>
          <p:cNvSpPr/>
          <p:nvPr/>
        </p:nvSpPr>
        <p:spPr>
          <a:xfrm>
            <a:off x="4467758" y="3200400"/>
            <a:ext cx="0" cy="594360"/>
          </a:xfrm>
          <a:prstGeom prst="line">
            <a:avLst/>
          </a:prstGeom>
          <a:noFill/>
          <a:ln w="12700">
            <a:solidFill>
              <a:srgbClr val="8C8677"/>
            </a:solidFill>
            <a:prstDash val="solid"/>
            <a:headEnd type="triangle"/>
            <a:tailEnd type="triangle"/>
          </a:ln>
        </p:spPr>
      </p:sp>
      <p:sp>
        <p:nvSpPr>
          <p:cNvPr id="85" name="Store D4"/>
          <p:cNvSpPr/>
          <p:nvPr/>
        </p:nvSpPr>
        <p:spPr>
          <a:xfrm>
            <a:off x="5387188" y="3794760"/>
            <a:ext cx="1417320" cy="384048"/>
          </a:xfrm>
          <a:prstGeom prst="rect">
            <a:avLst/>
          </a:prstGeom>
          <a:solidFill>
            <a:srgbClr val="F3F1EA"/>
          </a:solidFill>
          <a:ln w="12700">
            <a:solidFill>
              <a:srgbClr val="F3F1EA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>
            <a:off x="5387188" y="3794760"/>
            <a:ext cx="1417320" cy="0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5387188" y="4178808"/>
            <a:ext cx="1417320" cy="0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>
            <a:off x="5387188" y="3794760"/>
            <a:ext cx="0" cy="384048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>
            <a:off x="5771236" y="3794760"/>
            <a:ext cx="0" cy="384048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90" name="Text 87"/>
          <p:cNvSpPr txBox="1"/>
          <p:nvPr/>
        </p:nvSpPr>
        <p:spPr>
          <a:xfrm>
            <a:off x="5387188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8811F"/>
                </a:solidFill>
              </a:rPr>
              <a:t>D4</a:t>
            </a:r>
            <a:endParaRPr lang="en-US" sz="1000" dirty="0"/>
          </a:p>
        </p:txBody>
      </p:sp>
      <p:sp>
        <p:nvSpPr>
          <p:cNvPr id="91" name="Text 88"/>
          <p:cNvSpPr txBox="1"/>
          <p:nvPr/>
        </p:nvSpPr>
        <p:spPr>
          <a:xfrm>
            <a:off x="5826100" y="3794760"/>
            <a:ext cx="941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Documents</a:t>
            </a:r>
            <a:endParaRPr lang="en-US" sz="1000" dirty="0"/>
          </a:p>
        </p:txBody>
      </p:sp>
      <p:sp>
        <p:nvSpPr>
          <p:cNvPr id="92" name="Shape 89"/>
          <p:cNvSpPr/>
          <p:nvPr/>
        </p:nvSpPr>
        <p:spPr>
          <a:xfrm>
            <a:off x="6095848" y="3200400"/>
            <a:ext cx="0" cy="594360"/>
          </a:xfrm>
          <a:prstGeom prst="line">
            <a:avLst/>
          </a:prstGeom>
          <a:noFill/>
          <a:ln w="12700">
            <a:solidFill>
              <a:srgbClr val="8C8677"/>
            </a:solidFill>
            <a:prstDash val="solid"/>
            <a:headEnd type="triangle"/>
            <a:tailEnd type="triangle"/>
          </a:ln>
        </p:spPr>
      </p:sp>
      <p:sp>
        <p:nvSpPr>
          <p:cNvPr id="93" name="Store D6"/>
          <p:cNvSpPr/>
          <p:nvPr/>
        </p:nvSpPr>
        <p:spPr>
          <a:xfrm>
            <a:off x="7015277" y="3794760"/>
            <a:ext cx="1417320" cy="384048"/>
          </a:xfrm>
          <a:prstGeom prst="rect">
            <a:avLst/>
          </a:prstGeom>
          <a:solidFill>
            <a:srgbClr val="F3F1EA"/>
          </a:solidFill>
          <a:ln w="12700">
            <a:solidFill>
              <a:srgbClr val="F3F1EA"/>
            </a:solidFill>
            <a:prstDash val="solid"/>
          </a:ln>
        </p:spPr>
      </p:sp>
      <p:sp>
        <p:nvSpPr>
          <p:cNvPr id="94" name="Shape 91"/>
          <p:cNvSpPr/>
          <p:nvPr/>
        </p:nvSpPr>
        <p:spPr>
          <a:xfrm>
            <a:off x="7015277" y="3794760"/>
            <a:ext cx="1417320" cy="0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7015277" y="4178808"/>
            <a:ext cx="1417320" cy="0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96" name="Shape 93"/>
          <p:cNvSpPr/>
          <p:nvPr/>
        </p:nvSpPr>
        <p:spPr>
          <a:xfrm>
            <a:off x="7015277" y="3794760"/>
            <a:ext cx="0" cy="384048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7399325" y="3794760"/>
            <a:ext cx="0" cy="384048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98" name="Text 95"/>
          <p:cNvSpPr txBox="1"/>
          <p:nvPr/>
        </p:nvSpPr>
        <p:spPr>
          <a:xfrm>
            <a:off x="7015277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8811F"/>
                </a:solidFill>
              </a:rPr>
              <a:t>D6</a:t>
            </a:r>
            <a:endParaRPr lang="en-US" sz="1000" dirty="0"/>
          </a:p>
        </p:txBody>
      </p:sp>
      <p:sp>
        <p:nvSpPr>
          <p:cNvPr id="99" name="Text 96"/>
          <p:cNvSpPr txBox="1"/>
          <p:nvPr/>
        </p:nvSpPr>
        <p:spPr>
          <a:xfrm>
            <a:off x="7454189" y="3794760"/>
            <a:ext cx="941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Tax rules</a:t>
            </a:r>
            <a:endParaRPr lang="en-US" sz="1000" dirty="0"/>
          </a:p>
        </p:txBody>
      </p:sp>
      <p:sp>
        <p:nvSpPr>
          <p:cNvPr id="100" name="Shape 97"/>
          <p:cNvSpPr/>
          <p:nvPr/>
        </p:nvSpPr>
        <p:spPr>
          <a:xfrm>
            <a:off x="7723937" y="3200400"/>
            <a:ext cx="0" cy="594360"/>
          </a:xfrm>
          <a:prstGeom prst="line">
            <a:avLst/>
          </a:prstGeom>
          <a:noFill/>
          <a:ln w="12700">
            <a:solidFill>
              <a:srgbClr val="8C8677"/>
            </a:solidFill>
            <a:prstDash val="solid"/>
            <a:tailEnd type="triangle"/>
          </a:ln>
        </p:spPr>
      </p:sp>
      <p:sp>
        <p:nvSpPr>
          <p:cNvPr id="101" name="Store D5"/>
          <p:cNvSpPr/>
          <p:nvPr/>
        </p:nvSpPr>
        <p:spPr>
          <a:xfrm>
            <a:off x="8643366" y="3794760"/>
            <a:ext cx="1417320" cy="384048"/>
          </a:xfrm>
          <a:prstGeom prst="rect">
            <a:avLst/>
          </a:prstGeom>
          <a:solidFill>
            <a:srgbClr val="F3F1EA"/>
          </a:solidFill>
          <a:ln w="12700">
            <a:solidFill>
              <a:srgbClr val="F3F1EA"/>
            </a:solidFill>
            <a:prstDash val="solid"/>
          </a:ln>
        </p:spPr>
      </p:sp>
      <p:sp>
        <p:nvSpPr>
          <p:cNvPr id="102" name="Shape 99"/>
          <p:cNvSpPr/>
          <p:nvPr/>
        </p:nvSpPr>
        <p:spPr>
          <a:xfrm>
            <a:off x="8643366" y="3794760"/>
            <a:ext cx="1417320" cy="0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103" name="Shape 100"/>
          <p:cNvSpPr/>
          <p:nvPr/>
        </p:nvSpPr>
        <p:spPr>
          <a:xfrm>
            <a:off x="8643366" y="4178808"/>
            <a:ext cx="1417320" cy="0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104" name="Shape 101"/>
          <p:cNvSpPr/>
          <p:nvPr/>
        </p:nvSpPr>
        <p:spPr>
          <a:xfrm>
            <a:off x="8643366" y="3794760"/>
            <a:ext cx="0" cy="384048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105" name="Shape 102"/>
          <p:cNvSpPr/>
          <p:nvPr/>
        </p:nvSpPr>
        <p:spPr>
          <a:xfrm>
            <a:off x="9027414" y="3794760"/>
            <a:ext cx="0" cy="384048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8643366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8811F"/>
                </a:solidFill>
              </a:rPr>
              <a:t>D5</a:t>
            </a:r>
            <a:endParaRPr lang="en-US" sz="1000" dirty="0"/>
          </a:p>
        </p:txBody>
      </p:sp>
      <p:sp>
        <p:nvSpPr>
          <p:cNvPr id="107" name="Text 104"/>
          <p:cNvSpPr txBox="1"/>
          <p:nvPr/>
        </p:nvSpPr>
        <p:spPr>
          <a:xfrm>
            <a:off x="9082278" y="3794760"/>
            <a:ext cx="941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Returns, calcs</a:t>
            </a:r>
            <a:endParaRPr lang="en-US" sz="1000" dirty="0"/>
          </a:p>
        </p:txBody>
      </p:sp>
      <p:sp>
        <p:nvSpPr>
          <p:cNvPr id="108" name="Shape 105"/>
          <p:cNvSpPr/>
          <p:nvPr/>
        </p:nvSpPr>
        <p:spPr>
          <a:xfrm>
            <a:off x="9352026" y="3200400"/>
            <a:ext cx="0" cy="594360"/>
          </a:xfrm>
          <a:prstGeom prst="line">
            <a:avLst/>
          </a:prstGeom>
          <a:noFill/>
          <a:ln w="12700">
            <a:solidFill>
              <a:srgbClr val="8C8677"/>
            </a:solidFill>
            <a:prstDash val="solid"/>
            <a:headEnd type="triangle"/>
            <a:tailEnd type="triangle"/>
          </a:ln>
        </p:spPr>
      </p:sp>
      <p:sp>
        <p:nvSpPr>
          <p:cNvPr id="109" name="Store D7"/>
          <p:cNvSpPr/>
          <p:nvPr/>
        </p:nvSpPr>
        <p:spPr>
          <a:xfrm>
            <a:off x="10271455" y="3794760"/>
            <a:ext cx="1417320" cy="384048"/>
          </a:xfrm>
          <a:prstGeom prst="rect">
            <a:avLst/>
          </a:prstGeom>
          <a:solidFill>
            <a:srgbClr val="F3F1EA"/>
          </a:solidFill>
          <a:ln w="12700">
            <a:solidFill>
              <a:srgbClr val="F3F1EA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10271455" y="3794760"/>
            <a:ext cx="1417320" cy="0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111" name="Shape 108"/>
          <p:cNvSpPr/>
          <p:nvPr/>
        </p:nvSpPr>
        <p:spPr>
          <a:xfrm>
            <a:off x="10271455" y="4178808"/>
            <a:ext cx="1417320" cy="0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112" name="Shape 109"/>
          <p:cNvSpPr/>
          <p:nvPr/>
        </p:nvSpPr>
        <p:spPr>
          <a:xfrm>
            <a:off x="10271455" y="3794760"/>
            <a:ext cx="0" cy="384048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10655503" y="3794760"/>
            <a:ext cx="0" cy="384048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114" name="Text 111"/>
          <p:cNvSpPr txBox="1"/>
          <p:nvPr/>
        </p:nvSpPr>
        <p:spPr>
          <a:xfrm>
            <a:off x="10271455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8811F"/>
                </a:solidFill>
              </a:rPr>
              <a:t>D7</a:t>
            </a:r>
            <a:endParaRPr lang="en-US" sz="1000" dirty="0"/>
          </a:p>
        </p:txBody>
      </p:sp>
      <p:sp>
        <p:nvSpPr>
          <p:cNvPr id="115" name="Text 112"/>
          <p:cNvSpPr txBox="1"/>
          <p:nvPr/>
        </p:nvSpPr>
        <p:spPr>
          <a:xfrm>
            <a:off x="10710367" y="3794760"/>
            <a:ext cx="941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Filing records</a:t>
            </a:r>
            <a:endParaRPr lang="en-US" sz="1000" dirty="0"/>
          </a:p>
        </p:txBody>
      </p:sp>
      <p:sp>
        <p:nvSpPr>
          <p:cNvPr id="116" name="Shape 113"/>
          <p:cNvSpPr/>
          <p:nvPr/>
        </p:nvSpPr>
        <p:spPr>
          <a:xfrm>
            <a:off x="10980115" y="3200400"/>
            <a:ext cx="0" cy="594360"/>
          </a:xfrm>
          <a:prstGeom prst="line">
            <a:avLst/>
          </a:prstGeom>
          <a:noFill/>
          <a:ln w="12700">
            <a:solidFill>
              <a:srgbClr val="8C8677"/>
            </a:solidFill>
            <a:prstDash val="solid"/>
            <a:headEnd type="triangle"/>
            <a:tailEnd type="triangle"/>
          </a:ln>
        </p:spPr>
      </p:sp>
      <p:sp>
        <p:nvSpPr>
          <p:cNvPr id="117" name="Shape 114"/>
          <p:cNvSpPr/>
          <p:nvPr/>
        </p:nvSpPr>
        <p:spPr>
          <a:xfrm>
            <a:off x="8341157" y="3200400"/>
            <a:ext cx="485089" cy="594360"/>
          </a:xfrm>
          <a:prstGeom prst="line">
            <a:avLst/>
          </a:prstGeom>
          <a:noFill/>
          <a:ln w="12700">
            <a:solidFill>
              <a:srgbClr val="8C8677"/>
            </a:solidFill>
            <a:prstDash val="solid"/>
            <a:tailEnd type="triangle"/>
          </a:ln>
        </p:spPr>
      </p:sp>
      <p:sp>
        <p:nvSpPr>
          <p:cNvPr id="118" name="Process 8.0"/>
          <p:cNvSpPr/>
          <p:nvPr/>
        </p:nvSpPr>
        <p:spPr>
          <a:xfrm>
            <a:off x="502920" y="4526280"/>
            <a:ext cx="2103120" cy="82296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A8811F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119" name="Shape 116"/>
          <p:cNvSpPr/>
          <p:nvPr/>
        </p:nvSpPr>
        <p:spPr>
          <a:xfrm>
            <a:off x="576072" y="4800600"/>
            <a:ext cx="1956816" cy="0"/>
          </a:xfrm>
          <a:prstGeom prst="line">
            <a:avLst/>
          </a:prstGeom>
          <a:noFill/>
          <a:ln w="9525">
            <a:solidFill>
              <a:srgbClr val="D4AF37"/>
            </a:solidFill>
            <a:prstDash val="solid"/>
          </a:ln>
        </p:spPr>
      </p:sp>
      <p:sp>
        <p:nvSpPr>
          <p:cNvPr id="120" name="Text 117"/>
          <p:cNvSpPr txBox="1"/>
          <p:nvPr/>
        </p:nvSpPr>
        <p:spPr>
          <a:xfrm>
            <a:off x="502920" y="4562856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8811F"/>
                </a:solidFill>
              </a:rPr>
              <a:t>8.0</a:t>
            </a:r>
            <a:endParaRPr lang="en-US" sz="1100" dirty="0"/>
          </a:p>
        </p:txBody>
      </p:sp>
      <p:sp>
        <p:nvSpPr>
          <p:cNvPr id="121" name="Text 118"/>
          <p:cNvSpPr txBox="1"/>
          <p:nvPr/>
        </p:nvSpPr>
        <p:spPr>
          <a:xfrm>
            <a:off x="557784" y="4837176"/>
            <a:ext cx="1993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Communicate &amp; notify</a:t>
            </a:r>
            <a:endParaRPr lang="en-US" sz="1100" dirty="0"/>
          </a:p>
        </p:txBody>
      </p:sp>
      <p:sp>
        <p:nvSpPr>
          <p:cNvPr id="122" name="Entity WhatsApp · SMS · Email"/>
          <p:cNvSpPr/>
          <p:nvPr/>
        </p:nvSpPr>
        <p:spPr>
          <a:xfrm>
            <a:off x="2880360" y="4636008"/>
            <a:ext cx="1828800" cy="640080"/>
          </a:xfrm>
          <a:prstGeom prst="rect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sp>
        <p:nvSpPr>
          <p:cNvPr id="123" name="Text 120"/>
          <p:cNvSpPr txBox="1"/>
          <p:nvPr/>
        </p:nvSpPr>
        <p:spPr>
          <a:xfrm>
            <a:off x="2953512" y="4636008"/>
            <a:ext cx="16824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WhatsApp · SMS · Email</a:t>
            </a:r>
            <a:endParaRPr lang="en-US" sz="1200" dirty="0"/>
          </a:p>
        </p:txBody>
      </p:sp>
      <p:sp>
        <p:nvSpPr>
          <p:cNvPr id="124" name="Shape 121"/>
          <p:cNvSpPr/>
          <p:nvPr/>
        </p:nvSpPr>
        <p:spPr>
          <a:xfrm>
            <a:off x="2606040" y="4937760"/>
            <a:ext cx="274320" cy="0"/>
          </a:xfrm>
          <a:prstGeom prst="line">
            <a:avLst/>
          </a:prstGeom>
          <a:noFill/>
          <a:ln w="15875">
            <a:solidFill>
              <a:srgbClr val="A8811F"/>
            </a:solidFill>
            <a:prstDash val="solid"/>
            <a:headEnd type="triangle"/>
            <a:tailEnd type="triangle"/>
          </a:ln>
        </p:spPr>
      </p:sp>
      <p:sp>
        <p:nvSpPr>
          <p:cNvPr id="125" name="Store D8"/>
          <p:cNvSpPr/>
          <p:nvPr/>
        </p:nvSpPr>
        <p:spPr>
          <a:xfrm>
            <a:off x="502920" y="5577840"/>
            <a:ext cx="2103120" cy="365760"/>
          </a:xfrm>
          <a:prstGeom prst="rect">
            <a:avLst/>
          </a:prstGeom>
          <a:solidFill>
            <a:srgbClr val="F3F1EA"/>
          </a:solidFill>
          <a:ln w="12700">
            <a:solidFill>
              <a:srgbClr val="F3F1EA"/>
            </a:solidFill>
            <a:prstDash val="solid"/>
          </a:ln>
        </p:spPr>
      </p:sp>
      <p:sp>
        <p:nvSpPr>
          <p:cNvPr id="126" name="Shape 123"/>
          <p:cNvSpPr/>
          <p:nvPr/>
        </p:nvSpPr>
        <p:spPr>
          <a:xfrm>
            <a:off x="502920" y="5577840"/>
            <a:ext cx="2103120" cy="0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127" name="Shape 124"/>
          <p:cNvSpPr/>
          <p:nvPr/>
        </p:nvSpPr>
        <p:spPr>
          <a:xfrm>
            <a:off x="502920" y="5943600"/>
            <a:ext cx="2103120" cy="0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128" name="Shape 125"/>
          <p:cNvSpPr/>
          <p:nvPr/>
        </p:nvSpPr>
        <p:spPr>
          <a:xfrm>
            <a:off x="502920" y="5577840"/>
            <a:ext cx="0" cy="365760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129" name="Shape 126"/>
          <p:cNvSpPr/>
          <p:nvPr/>
        </p:nvSpPr>
        <p:spPr>
          <a:xfrm>
            <a:off x="886968" y="5577840"/>
            <a:ext cx="0" cy="365760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130" name="Text 127"/>
          <p:cNvSpPr txBox="1"/>
          <p:nvPr/>
        </p:nvSpPr>
        <p:spPr>
          <a:xfrm>
            <a:off x="502920" y="557784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8811F"/>
                </a:solidFill>
              </a:rPr>
              <a:t>D8</a:t>
            </a:r>
            <a:endParaRPr lang="en-US" sz="1000" dirty="0"/>
          </a:p>
        </p:txBody>
      </p:sp>
      <p:sp>
        <p:nvSpPr>
          <p:cNvPr id="131" name="Text 128"/>
          <p:cNvSpPr txBox="1"/>
          <p:nvPr/>
        </p:nvSpPr>
        <p:spPr>
          <a:xfrm>
            <a:off x="941832" y="557784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Messages &amp; conversations</a:t>
            </a:r>
            <a:endParaRPr lang="en-US" sz="1000" dirty="0"/>
          </a:p>
        </p:txBody>
      </p:sp>
      <p:sp>
        <p:nvSpPr>
          <p:cNvPr id="132" name="Shape 129"/>
          <p:cNvSpPr/>
          <p:nvPr/>
        </p:nvSpPr>
        <p:spPr>
          <a:xfrm>
            <a:off x="1554480" y="5349240"/>
            <a:ext cx="0" cy="228600"/>
          </a:xfrm>
          <a:prstGeom prst="line">
            <a:avLst/>
          </a:prstGeom>
          <a:noFill/>
          <a:ln w="12700">
            <a:solidFill>
              <a:srgbClr val="8C8677"/>
            </a:solidFill>
            <a:prstDash val="solid"/>
            <a:headEnd type="triangle"/>
            <a:tailEnd type="triangle"/>
          </a:ln>
        </p:spPr>
      </p:sp>
      <p:sp>
        <p:nvSpPr>
          <p:cNvPr id="133" name="Store D9"/>
          <p:cNvSpPr/>
          <p:nvPr/>
        </p:nvSpPr>
        <p:spPr>
          <a:xfrm>
            <a:off x="5029200" y="4773168"/>
            <a:ext cx="3017520" cy="384048"/>
          </a:xfrm>
          <a:prstGeom prst="rect">
            <a:avLst/>
          </a:prstGeom>
          <a:solidFill>
            <a:srgbClr val="F3F1EA"/>
          </a:solidFill>
          <a:ln w="12700">
            <a:solidFill>
              <a:srgbClr val="F3F1EA"/>
            </a:solidFill>
            <a:prstDash val="solid"/>
          </a:ln>
        </p:spPr>
      </p:sp>
      <p:sp>
        <p:nvSpPr>
          <p:cNvPr id="134" name="Shape 131"/>
          <p:cNvSpPr/>
          <p:nvPr/>
        </p:nvSpPr>
        <p:spPr>
          <a:xfrm>
            <a:off x="5029200" y="4773168"/>
            <a:ext cx="3017520" cy="0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135" name="Shape 132"/>
          <p:cNvSpPr/>
          <p:nvPr/>
        </p:nvSpPr>
        <p:spPr>
          <a:xfrm>
            <a:off x="5029200" y="5157216"/>
            <a:ext cx="3017520" cy="0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136" name="Shape 133"/>
          <p:cNvSpPr/>
          <p:nvPr/>
        </p:nvSpPr>
        <p:spPr>
          <a:xfrm>
            <a:off x="5029200" y="4773168"/>
            <a:ext cx="0" cy="384048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137" name="Shape 134"/>
          <p:cNvSpPr/>
          <p:nvPr/>
        </p:nvSpPr>
        <p:spPr>
          <a:xfrm>
            <a:off x="5413248" y="4773168"/>
            <a:ext cx="0" cy="384048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138" name="Text 135"/>
          <p:cNvSpPr txBox="1"/>
          <p:nvPr/>
        </p:nvSpPr>
        <p:spPr>
          <a:xfrm>
            <a:off x="5029200" y="4773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8811F"/>
                </a:solidFill>
              </a:rPr>
              <a:t>D9</a:t>
            </a:r>
            <a:endParaRPr lang="en-US" sz="1000" dirty="0"/>
          </a:p>
        </p:txBody>
      </p:sp>
      <p:sp>
        <p:nvSpPr>
          <p:cNvPr id="139" name="Text 136"/>
          <p:cNvSpPr txBox="1"/>
          <p:nvPr/>
        </p:nvSpPr>
        <p:spPr>
          <a:xfrm>
            <a:off x="5468112" y="4773168"/>
            <a:ext cx="2542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Audit trail — every create, move, approval</a:t>
            </a:r>
            <a:endParaRPr lang="en-US" sz="1000" dirty="0"/>
          </a:p>
        </p:txBody>
      </p:sp>
      <p:sp>
        <p:nvSpPr>
          <p:cNvPr id="140" name="Process 9.0"/>
          <p:cNvSpPr/>
          <p:nvPr/>
        </p:nvSpPr>
        <p:spPr>
          <a:xfrm>
            <a:off x="9585655" y="4526280"/>
            <a:ext cx="2103120" cy="82296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A8811F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141" name="Shape 138"/>
          <p:cNvSpPr/>
          <p:nvPr/>
        </p:nvSpPr>
        <p:spPr>
          <a:xfrm>
            <a:off x="9658807" y="4800600"/>
            <a:ext cx="1956816" cy="0"/>
          </a:xfrm>
          <a:prstGeom prst="line">
            <a:avLst/>
          </a:prstGeom>
          <a:noFill/>
          <a:ln w="9525">
            <a:solidFill>
              <a:srgbClr val="D4AF37"/>
            </a:solidFill>
            <a:prstDash val="solid"/>
          </a:ln>
        </p:spPr>
      </p:sp>
      <p:sp>
        <p:nvSpPr>
          <p:cNvPr id="142" name="Text 139"/>
          <p:cNvSpPr txBox="1"/>
          <p:nvPr/>
        </p:nvSpPr>
        <p:spPr>
          <a:xfrm>
            <a:off x="9585655" y="4562856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8811F"/>
                </a:solidFill>
              </a:rPr>
              <a:t>9.0</a:t>
            </a:r>
            <a:endParaRPr lang="en-US" sz="1100" dirty="0"/>
          </a:p>
        </p:txBody>
      </p:sp>
      <p:sp>
        <p:nvSpPr>
          <p:cNvPr id="143" name="Text 140"/>
          <p:cNvSpPr txBox="1"/>
          <p:nvPr/>
        </p:nvSpPr>
        <p:spPr>
          <a:xfrm>
            <a:off x="9640519" y="4837176"/>
            <a:ext cx="1993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Analyse &amp; report</a:t>
            </a:r>
            <a:endParaRPr lang="en-US" sz="1100" dirty="0"/>
          </a:p>
        </p:txBody>
      </p:sp>
      <p:sp>
        <p:nvSpPr>
          <p:cNvPr id="144" name="Shape 141"/>
          <p:cNvSpPr/>
          <p:nvPr/>
        </p:nvSpPr>
        <p:spPr>
          <a:xfrm>
            <a:off x="8046720" y="4937760"/>
            <a:ext cx="1538935" cy="0"/>
          </a:xfrm>
          <a:prstGeom prst="line">
            <a:avLst/>
          </a:prstGeom>
          <a:noFill/>
          <a:ln w="12700">
            <a:solidFill>
              <a:srgbClr val="8C8677"/>
            </a:solidFill>
            <a:prstDash val="solid"/>
            <a:tailEnd type="triangle"/>
          </a:ln>
        </p:spPr>
      </p:sp>
      <p:sp>
        <p:nvSpPr>
          <p:cNvPr id="145" name="Shape 142"/>
          <p:cNvSpPr/>
          <p:nvPr/>
        </p:nvSpPr>
        <p:spPr>
          <a:xfrm>
            <a:off x="9352026" y="4178808"/>
            <a:ext cx="873709" cy="347472"/>
          </a:xfrm>
          <a:prstGeom prst="line">
            <a:avLst/>
          </a:prstGeom>
          <a:noFill/>
          <a:ln w="12700">
            <a:solidFill>
              <a:srgbClr val="8C8677"/>
            </a:solidFill>
            <a:prstDash val="dash"/>
            <a:tailEnd type="triangle"/>
          </a:ln>
        </p:spPr>
      </p:sp>
      <p:sp>
        <p:nvSpPr>
          <p:cNvPr id="146" name="Shape 143"/>
          <p:cNvSpPr/>
          <p:nvPr/>
        </p:nvSpPr>
        <p:spPr>
          <a:xfrm>
            <a:off x="6095848" y="4178808"/>
            <a:ext cx="442112" cy="594360"/>
          </a:xfrm>
          <a:prstGeom prst="line">
            <a:avLst/>
          </a:prstGeom>
          <a:noFill/>
          <a:ln w="12700">
            <a:solidFill>
              <a:srgbClr val="8C8677"/>
            </a:solidFill>
            <a:prstDash val="dash"/>
            <a:tailEnd type="triangle"/>
          </a:ln>
        </p:spPr>
      </p:sp>
      <p:sp>
        <p:nvSpPr>
          <p:cNvPr id="147" name="Shape 144"/>
          <p:cNvSpPr/>
          <p:nvPr/>
        </p:nvSpPr>
        <p:spPr>
          <a:xfrm flipH="1">
            <a:off x="1965960" y="4178808"/>
            <a:ext cx="873709" cy="347472"/>
          </a:xfrm>
          <a:prstGeom prst="line">
            <a:avLst/>
          </a:prstGeom>
          <a:noFill/>
          <a:ln w="12700">
            <a:solidFill>
              <a:srgbClr val="8C8677"/>
            </a:solidFill>
            <a:prstDash val="dash"/>
            <a:tailEnd type="triangle"/>
          </a:ln>
        </p:spPr>
      </p:sp>
      <p:sp>
        <p:nvSpPr>
          <p:cNvPr id="148" name="Text 145"/>
          <p:cNvSpPr txBox="1"/>
          <p:nvPr/>
        </p:nvSpPr>
        <p:spPr>
          <a:xfrm>
            <a:off x="5029200" y="4279392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6470"/>
                </a:solidFill>
              </a:rPr>
              <a:t>every step → D9</a:t>
            </a:r>
            <a:endParaRPr lang="en-US" sz="1000" dirty="0"/>
          </a:p>
        </p:txBody>
      </p:sp>
      <p:sp>
        <p:nvSpPr>
          <p:cNvPr id="149" name="Text 146"/>
          <p:cNvSpPr txBox="1"/>
          <p:nvPr/>
        </p:nvSpPr>
        <p:spPr>
          <a:xfrm>
            <a:off x="9037015" y="542239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470"/>
                </a:solidFill>
              </a:rPr>
              <a:t>dashboards · insights · reports → staff</a:t>
            </a:r>
            <a:endParaRPr lang="en-US" sz="1000" dirty="0"/>
          </a:p>
        </p:txBody>
      </p:sp>
      <p:sp>
        <p:nvSpPr>
          <p:cNvPr id="150" name="Text 147"/>
          <p:cNvSpPr txBox="1"/>
          <p:nvPr/>
        </p:nvSpPr>
        <p:spPr>
          <a:xfrm>
            <a:off x="4572000" y="58978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470"/>
                </a:solidFill>
              </a:rPr>
              <a:t>Main line:  qualified lead  →  verified client  →  engagement  →  documents verified  →  calculated return  →  approved return</a:t>
            </a:r>
            <a:endParaRPr lang="en-US" sz="1000" dirty="0"/>
          </a:p>
        </p:txBody>
      </p:sp>
      <p:sp>
        <p:nvSpPr>
          <p:cNvPr id="151" name="Text 0"/>
          <p:cNvSpPr/>
          <p:nvPr>
            <p:ph idx="103" type="body" hasCustomPrompt="1"/>
          </p:nvPr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98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02920" y="2148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chemeClr val="accent2"/>
                </a:solidFill>
              </a:rPr>
              <a:t>SECTION 2</a:t>
            </a:r>
            <a:endParaRPr lang="en-US" sz="13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02920" y="25146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Functional modules</a:t>
            </a:r>
            <a:endParaRPr lang="en-US" sz="40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02920" y="352044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9C3B3"/>
                </a:solidFill>
              </a:rPr>
              <a:t>From first contact to the IRIS acknowledgment: the client journey, the 12-state return workflow and each module that supports it.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67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0292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CLIENT JOURNEY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02920" y="603504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Seven steps the client sees in the portal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F6470"/>
                </a:solidFill>
              </a:rPr>
              <a:t>Every step is dated from the audit trail and shown as a progress tracker to the client and to staff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301910" y="2395728"/>
            <a:ext cx="9587876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2726" y="2066544"/>
            <a:ext cx="658368" cy="658368"/>
          </a:xfrm>
          <a:prstGeom prst="ellipse">
            <a:avLst/>
          </a:prstGeom>
          <a:solidFill>
            <a:srgbClr val="A8811F"/>
          </a:solidFill>
          <a:ln w="12700">
            <a:solidFill>
              <a:srgbClr val="A8811F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0734" y="2224552"/>
            <a:ext cx="342351" cy="342351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484790" y="1938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A8811F"/>
                </a:solidFill>
              </a:rPr>
              <a:t>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76072" y="2852928"/>
            <a:ext cx="14516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Account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576072" y="3163824"/>
            <a:ext cx="14516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470"/>
                </a:solidFill>
              </a:rPr>
              <a:t>Sign up, verify mobile with a 6-digit code (WhatsApp first, SMS backup)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2570705" y="2066544"/>
            <a:ext cx="658368" cy="658368"/>
          </a:xfrm>
          <a:prstGeom prst="ellipse">
            <a:avLst/>
          </a:prstGeom>
          <a:solidFill>
            <a:srgbClr val="A8811F"/>
          </a:solidFill>
          <a:ln w="12700">
            <a:solidFill>
              <a:srgbClr val="A8811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8713" y="222455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082769" y="1938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A8811F"/>
                </a:solidFill>
              </a:rPr>
              <a:t>2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2174051" y="2852928"/>
            <a:ext cx="14516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Documents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2174051" y="3163824"/>
            <a:ext cx="14516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470"/>
                </a:solidFill>
              </a:rPr>
              <a:t>Answer 10 questions → personalised checklist; upload from the phone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4168684" y="2066544"/>
            <a:ext cx="658368" cy="658368"/>
          </a:xfrm>
          <a:prstGeom prst="ellipse">
            <a:avLst/>
          </a:prstGeom>
          <a:solidFill>
            <a:srgbClr val="A8811F"/>
          </a:solidFill>
          <a:ln w="12700">
            <a:solidFill>
              <a:srgbClr val="A8811F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6693" y="222455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680748" y="1938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A8811F"/>
                </a:solidFill>
              </a:rPr>
              <a:t>3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3772031" y="2852928"/>
            <a:ext cx="14516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In preparation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3772031" y="3163824"/>
            <a:ext cx="14516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470"/>
                </a:solidFill>
              </a:rPr>
              <a:t>Consultant verifies documents, enters lines, calculates tax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5766664" y="2066544"/>
            <a:ext cx="658368" cy="658368"/>
          </a:xfrm>
          <a:prstGeom prst="ellipse">
            <a:avLst/>
          </a:prstGeom>
          <a:solidFill>
            <a:srgbClr val="A8811F"/>
          </a:solidFill>
          <a:ln w="12700">
            <a:solidFill>
              <a:srgbClr val="A8811F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4672" y="2224552"/>
            <a:ext cx="342351" cy="342351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278728" y="1938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A8811F"/>
                </a:solidFill>
              </a:rPr>
              <a:t>4</a:t>
            </a:r>
            <a:endParaRPr lang="en-US" sz="1100" dirty="0"/>
          </a:p>
        </p:txBody>
      </p:sp>
      <p:sp>
        <p:nvSpPr>
          <p:cNvPr id="24" name="Text 18"/>
          <p:cNvSpPr txBox="1"/>
          <p:nvPr/>
        </p:nvSpPr>
        <p:spPr>
          <a:xfrm>
            <a:off x="5370010" y="2852928"/>
            <a:ext cx="14516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In review</a:t>
            </a:r>
            <a:endParaRPr lang="en-US" sz="1300" dirty="0"/>
          </a:p>
        </p:txBody>
      </p:sp>
      <p:sp>
        <p:nvSpPr>
          <p:cNvPr id="25" name="Text 19"/>
          <p:cNvSpPr txBox="1"/>
          <p:nvPr/>
        </p:nvSpPr>
        <p:spPr>
          <a:xfrm>
            <a:off x="5370010" y="3163824"/>
            <a:ext cx="14516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470"/>
                </a:solidFill>
              </a:rPr>
              <a:t>A second person reviews against a checklist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7364643" y="2066544"/>
            <a:ext cx="658368" cy="658368"/>
          </a:xfrm>
          <a:prstGeom prst="ellipse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2651" y="2224552"/>
            <a:ext cx="342351" cy="342351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876707" y="1938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A8811F"/>
                </a:solidFill>
              </a:rPr>
              <a:t>5</a:t>
            </a:r>
            <a:endParaRPr lang="en-US" sz="1100" dirty="0"/>
          </a:p>
        </p:txBody>
      </p:sp>
      <p:sp>
        <p:nvSpPr>
          <p:cNvPr id="29" name="Text 22"/>
          <p:cNvSpPr txBox="1"/>
          <p:nvPr/>
        </p:nvSpPr>
        <p:spPr>
          <a:xfrm>
            <a:off x="6967989" y="2852928"/>
            <a:ext cx="14516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Confirmation</a:t>
            </a:r>
            <a:endParaRPr lang="en-US" sz="1300" dirty="0"/>
          </a:p>
        </p:txBody>
      </p:sp>
      <p:sp>
        <p:nvSpPr>
          <p:cNvPr id="30" name="Text 23"/>
          <p:cNvSpPr txBox="1"/>
          <p:nvPr/>
        </p:nvSpPr>
        <p:spPr>
          <a:xfrm>
            <a:off x="6967989" y="3163824"/>
            <a:ext cx="14516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470"/>
                </a:solidFill>
              </a:rPr>
              <a:t>Client checks the summary and confirms (or asks a question)</a:t>
            </a:r>
            <a:endParaRPr lang="en-US" sz="1100" dirty="0"/>
          </a:p>
        </p:txBody>
      </p:sp>
      <p:sp>
        <p:nvSpPr>
          <p:cNvPr id="31" name="Shape 24"/>
          <p:cNvSpPr/>
          <p:nvPr/>
        </p:nvSpPr>
        <p:spPr>
          <a:xfrm>
            <a:off x="8962622" y="2066544"/>
            <a:ext cx="658368" cy="658368"/>
          </a:xfrm>
          <a:prstGeom prst="ellipse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0631" y="2224552"/>
            <a:ext cx="342351" cy="342351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9474686" y="1938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A8811F"/>
                </a:solidFill>
              </a:rPr>
              <a:t>6</a:t>
            </a:r>
            <a:endParaRPr lang="en-US" sz="1100" dirty="0"/>
          </a:p>
        </p:txBody>
      </p:sp>
      <p:sp>
        <p:nvSpPr>
          <p:cNvPr id="34" name="Text 26"/>
          <p:cNvSpPr txBox="1"/>
          <p:nvPr/>
        </p:nvSpPr>
        <p:spPr>
          <a:xfrm>
            <a:off x="8565969" y="2852928"/>
            <a:ext cx="14516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Filed</a:t>
            </a:r>
            <a:endParaRPr lang="en-US" sz="1300" dirty="0"/>
          </a:p>
        </p:txBody>
      </p:sp>
      <p:sp>
        <p:nvSpPr>
          <p:cNvPr id="35" name="Text 27"/>
          <p:cNvSpPr txBox="1"/>
          <p:nvPr/>
        </p:nvSpPr>
        <p:spPr>
          <a:xfrm>
            <a:off x="8565969" y="3163824"/>
            <a:ext cx="14516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470"/>
                </a:solidFill>
              </a:rPr>
              <a:t>Approver signs off; filing officer files on FBR IRIS</a:t>
            </a:r>
            <a:endParaRPr lang="en-US" sz="1100" dirty="0"/>
          </a:p>
        </p:txBody>
      </p:sp>
      <p:sp>
        <p:nvSpPr>
          <p:cNvPr id="36" name="Shape 28"/>
          <p:cNvSpPr/>
          <p:nvPr/>
        </p:nvSpPr>
        <p:spPr>
          <a:xfrm>
            <a:off x="10560602" y="2066544"/>
            <a:ext cx="658368" cy="658368"/>
          </a:xfrm>
          <a:prstGeom prst="ellipse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718610" y="2224552"/>
            <a:ext cx="342351" cy="342351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11072666" y="1938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A8811F"/>
                </a:solidFill>
              </a:rPr>
              <a:t>7</a:t>
            </a:r>
            <a:endParaRPr lang="en-US" sz="1100" dirty="0"/>
          </a:p>
        </p:txBody>
      </p:sp>
      <p:sp>
        <p:nvSpPr>
          <p:cNvPr id="39" name="Text 30"/>
          <p:cNvSpPr txBox="1"/>
          <p:nvPr/>
        </p:nvSpPr>
        <p:spPr>
          <a:xfrm>
            <a:off x="10163948" y="2852928"/>
            <a:ext cx="14516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Acknowledged</a:t>
            </a:r>
            <a:endParaRPr lang="en-US" sz="1300" dirty="0"/>
          </a:p>
        </p:txBody>
      </p:sp>
      <p:sp>
        <p:nvSpPr>
          <p:cNvPr id="40" name="Text 31"/>
          <p:cNvSpPr txBox="1"/>
          <p:nvPr/>
        </p:nvSpPr>
        <p:spPr>
          <a:xfrm>
            <a:off x="10163948" y="3163824"/>
            <a:ext cx="14516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470"/>
                </a:solidFill>
              </a:rPr>
              <a:t>IRIS acknowledgment no. + receipt in the client's vault</a:t>
            </a:r>
            <a:endParaRPr lang="en-US" sz="1100" dirty="0"/>
          </a:p>
        </p:txBody>
      </p:sp>
      <p:sp>
        <p:nvSpPr>
          <p:cNvPr id="41" name="Shape 32"/>
          <p:cNvSpPr/>
          <p:nvPr/>
        </p:nvSpPr>
        <p:spPr>
          <a:xfrm>
            <a:off x="502920" y="4434840"/>
            <a:ext cx="11185855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2" name="Text 33"/>
          <p:cNvSpPr txBox="1"/>
          <p:nvPr/>
        </p:nvSpPr>
        <p:spPr>
          <a:xfrm>
            <a:off x="731520" y="45537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Where the TY2026 demo season stands</a:t>
            </a:r>
            <a:endParaRPr lang="en-US" sz="1400" dirty="0"/>
          </a:p>
        </p:txBody>
      </p:sp>
      <p:sp>
        <p:nvSpPr>
          <p:cNvPr id="43" name="Text 34"/>
          <p:cNvSpPr txBox="1"/>
          <p:nvPr/>
        </p:nvSpPr>
        <p:spPr>
          <a:xfrm>
            <a:off x="731520" y="48920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A88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</a:t>
            </a:r>
            <a:endParaRPr lang="en-US" sz="2800" dirty="0"/>
          </a:p>
        </p:txBody>
      </p:sp>
      <p:sp>
        <p:nvSpPr>
          <p:cNvPr id="44" name="Text 35"/>
          <p:cNvSpPr txBox="1"/>
          <p:nvPr/>
        </p:nvSpPr>
        <p:spPr>
          <a:xfrm>
            <a:off x="731520" y="546811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470"/>
                </a:solidFill>
              </a:rPr>
              <a:t>Documents Pending</a:t>
            </a:r>
            <a:endParaRPr lang="en-US" sz="1000" dirty="0"/>
          </a:p>
        </p:txBody>
      </p:sp>
      <p:sp>
        <p:nvSpPr>
          <p:cNvPr id="45" name="Text 36"/>
          <p:cNvSpPr txBox="1"/>
          <p:nvPr/>
        </p:nvSpPr>
        <p:spPr>
          <a:xfrm>
            <a:off x="1956816" y="48920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A88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</a:t>
            </a:r>
            <a:endParaRPr lang="en-US" sz="2800" dirty="0"/>
          </a:p>
        </p:txBody>
      </p:sp>
      <p:sp>
        <p:nvSpPr>
          <p:cNvPr id="46" name="Text 37"/>
          <p:cNvSpPr txBox="1"/>
          <p:nvPr/>
        </p:nvSpPr>
        <p:spPr>
          <a:xfrm>
            <a:off x="1956816" y="546811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470"/>
                </a:solidFill>
              </a:rPr>
              <a:t>Draft</a:t>
            </a:r>
            <a:endParaRPr lang="en-US" sz="1000" dirty="0"/>
          </a:p>
        </p:txBody>
      </p:sp>
      <p:sp>
        <p:nvSpPr>
          <p:cNvPr id="47" name="Text 38"/>
          <p:cNvSpPr txBox="1"/>
          <p:nvPr/>
        </p:nvSpPr>
        <p:spPr>
          <a:xfrm>
            <a:off x="3182112" y="48920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A88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2800" dirty="0"/>
          </a:p>
        </p:txBody>
      </p:sp>
      <p:sp>
        <p:nvSpPr>
          <p:cNvPr id="48" name="Text 39"/>
          <p:cNvSpPr txBox="1"/>
          <p:nvPr/>
        </p:nvSpPr>
        <p:spPr>
          <a:xfrm>
            <a:off x="3182112" y="546811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470"/>
                </a:solidFill>
              </a:rPr>
              <a:t>Pending Review</a:t>
            </a:r>
            <a:endParaRPr lang="en-US" sz="1000" dirty="0"/>
          </a:p>
        </p:txBody>
      </p:sp>
      <p:sp>
        <p:nvSpPr>
          <p:cNvPr id="49" name="Text 40"/>
          <p:cNvSpPr txBox="1"/>
          <p:nvPr/>
        </p:nvSpPr>
        <p:spPr>
          <a:xfrm>
            <a:off x="4407408" y="48920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A88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2800" dirty="0"/>
          </a:p>
        </p:txBody>
      </p:sp>
      <p:sp>
        <p:nvSpPr>
          <p:cNvPr id="50" name="Text 41"/>
          <p:cNvSpPr txBox="1"/>
          <p:nvPr/>
        </p:nvSpPr>
        <p:spPr>
          <a:xfrm>
            <a:off x="4407408" y="546811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470"/>
                </a:solidFill>
              </a:rPr>
              <a:t>Under Review</a:t>
            </a:r>
            <a:endParaRPr lang="en-US" sz="1000" dirty="0"/>
          </a:p>
        </p:txBody>
      </p:sp>
      <p:sp>
        <p:nvSpPr>
          <p:cNvPr id="51" name="Text 42"/>
          <p:cNvSpPr txBox="1"/>
          <p:nvPr/>
        </p:nvSpPr>
        <p:spPr>
          <a:xfrm>
            <a:off x="5632704" y="48920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A88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2800" dirty="0"/>
          </a:p>
        </p:txBody>
      </p:sp>
      <p:sp>
        <p:nvSpPr>
          <p:cNvPr id="52" name="Text 43"/>
          <p:cNvSpPr txBox="1"/>
          <p:nvPr/>
        </p:nvSpPr>
        <p:spPr>
          <a:xfrm>
            <a:off x="5632704" y="546811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470"/>
                </a:solidFill>
              </a:rPr>
              <a:t>Reviewed</a:t>
            </a:r>
            <a:endParaRPr lang="en-US" sz="1000" dirty="0"/>
          </a:p>
        </p:txBody>
      </p:sp>
      <p:sp>
        <p:nvSpPr>
          <p:cNvPr id="53" name="Text 44"/>
          <p:cNvSpPr txBox="1"/>
          <p:nvPr/>
        </p:nvSpPr>
        <p:spPr>
          <a:xfrm>
            <a:off x="6858000" y="48920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A88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2800" dirty="0"/>
          </a:p>
        </p:txBody>
      </p:sp>
      <p:sp>
        <p:nvSpPr>
          <p:cNvPr id="54" name="Text 45"/>
          <p:cNvSpPr txBox="1"/>
          <p:nvPr/>
        </p:nvSpPr>
        <p:spPr>
          <a:xfrm>
            <a:off x="6858000" y="546811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470"/>
                </a:solidFill>
              </a:rPr>
              <a:t>Client confirm</a:t>
            </a:r>
            <a:endParaRPr lang="en-US" sz="1000" dirty="0"/>
          </a:p>
        </p:txBody>
      </p:sp>
      <p:sp>
        <p:nvSpPr>
          <p:cNvPr id="55" name="Text 46"/>
          <p:cNvSpPr txBox="1"/>
          <p:nvPr/>
        </p:nvSpPr>
        <p:spPr>
          <a:xfrm>
            <a:off x="8083296" y="48920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A88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2800" dirty="0"/>
          </a:p>
        </p:txBody>
      </p:sp>
      <p:sp>
        <p:nvSpPr>
          <p:cNvPr id="56" name="Text 47"/>
          <p:cNvSpPr txBox="1"/>
          <p:nvPr/>
        </p:nvSpPr>
        <p:spPr>
          <a:xfrm>
            <a:off x="8083296" y="546811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470"/>
                </a:solidFill>
              </a:rPr>
              <a:t>Approved</a:t>
            </a:r>
            <a:endParaRPr lang="en-US" sz="1000" dirty="0"/>
          </a:p>
        </p:txBody>
      </p:sp>
      <p:sp>
        <p:nvSpPr>
          <p:cNvPr id="57" name="Text 48"/>
          <p:cNvSpPr txBox="1"/>
          <p:nvPr/>
        </p:nvSpPr>
        <p:spPr>
          <a:xfrm>
            <a:off x="9308592" y="48920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A88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2800" dirty="0"/>
          </a:p>
        </p:txBody>
      </p:sp>
      <p:sp>
        <p:nvSpPr>
          <p:cNvPr id="58" name="Text 49"/>
          <p:cNvSpPr txBox="1"/>
          <p:nvPr/>
        </p:nvSpPr>
        <p:spPr>
          <a:xfrm>
            <a:off x="9308592" y="546811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470"/>
                </a:solidFill>
              </a:rPr>
              <a:t>Submitted</a:t>
            </a:r>
            <a:endParaRPr lang="en-US" sz="1000" dirty="0"/>
          </a:p>
        </p:txBody>
      </p:sp>
      <p:sp>
        <p:nvSpPr>
          <p:cNvPr id="59" name="Text 50"/>
          <p:cNvSpPr txBox="1"/>
          <p:nvPr/>
        </p:nvSpPr>
        <p:spPr>
          <a:xfrm>
            <a:off x="10533888" y="48920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2800" dirty="0"/>
          </a:p>
        </p:txBody>
      </p:sp>
      <p:sp>
        <p:nvSpPr>
          <p:cNvPr id="60" name="Text 51"/>
          <p:cNvSpPr txBox="1"/>
          <p:nvPr/>
        </p:nvSpPr>
        <p:spPr>
          <a:xfrm>
            <a:off x="10533888" y="546811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470"/>
                </a:solidFill>
              </a:rPr>
              <a:t>Acknowledged</a:t>
            </a:r>
            <a:endParaRPr lang="en-US" sz="1000" dirty="0"/>
          </a:p>
        </p:txBody>
      </p:sp>
      <p:sp>
        <p:nvSpPr>
          <p:cNvPr id="61" name="Text 52"/>
          <p:cNvSpPr txBox="1"/>
          <p:nvPr/>
        </p:nvSpPr>
        <p:spPr>
          <a:xfrm>
            <a:off x="731520" y="58978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F6470"/>
                </a:solidFill>
              </a:rPr>
              <a:t>Returns that have reached each step (cumulative)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98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0292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TWO WAYS TO FILE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02920" y="603504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We file for the client — or the client files online</a:t>
            </a:r>
            <a:endParaRPr lang="en-US" sz="2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F6470"/>
                </a:solidFill>
              </a:rPr>
              <a:t>Both routes feed the same controlled pipeline: review, client confirmation, four-eyes approval and the IRIS acknowledgment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691640"/>
            <a:ext cx="5455768" cy="3611880"/>
          </a:xfrm>
          <a:prstGeom prst="roundRect">
            <a:avLst>
              <a:gd name="adj" fmla="val 2025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04088" y="1874520"/>
            <a:ext cx="603504" cy="603504"/>
          </a:xfrm>
          <a:prstGeom prst="ellipse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929" y="2019361"/>
            <a:ext cx="313822" cy="31382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463040" y="187452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Team-assisted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463040" y="220370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6470"/>
                </a:solidFill>
              </a:rPr>
              <a:t>We file on the client's behalf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07128" y="1947672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A8811F"/>
          </a:solidFill>
          <a:ln w="12700">
            <a:solidFill>
              <a:srgbClr val="A8811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907128" y="194767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Video 1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704088" y="2624328"/>
            <a:ext cx="589788" cy="256032"/>
          </a:xfrm>
          <a:prstGeom prst="roundRect">
            <a:avLst>
              <a:gd name="adj" fmla="val 50000"/>
            </a:avLst>
          </a:prstGeom>
          <a:solidFill>
            <a:srgbClr val="F1ECDD"/>
          </a:solidFill>
          <a:ln w="12700">
            <a:solidFill>
              <a:srgbClr val="F1ECDD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04088" y="2624328"/>
            <a:ext cx="5897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1416"/>
                </a:solidFill>
              </a:rPr>
              <a:t>Phone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1385316" y="2624328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F1ECDD"/>
          </a:solidFill>
          <a:ln w="12700">
            <a:solidFill>
              <a:srgbClr val="F1ECDD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385316" y="262432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1416"/>
                </a:solidFill>
              </a:rPr>
              <a:t>WhatsApp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2299716" y="2624328"/>
            <a:ext cx="589788" cy="256032"/>
          </a:xfrm>
          <a:prstGeom prst="roundRect">
            <a:avLst>
              <a:gd name="adj" fmla="val 50000"/>
            </a:avLst>
          </a:prstGeom>
          <a:solidFill>
            <a:srgbClr val="F1ECDD"/>
          </a:solidFill>
          <a:ln w="12700">
            <a:solidFill>
              <a:srgbClr val="F1ECDD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299716" y="2624328"/>
            <a:ext cx="5897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1416"/>
                </a:solidFill>
              </a:rPr>
              <a:t>Email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2980944" y="2624328"/>
            <a:ext cx="1133856" cy="256032"/>
          </a:xfrm>
          <a:prstGeom prst="roundRect">
            <a:avLst>
              <a:gd name="adj" fmla="val 50000"/>
            </a:avLst>
          </a:prstGeom>
          <a:solidFill>
            <a:srgbClr val="F1ECDD"/>
          </a:solidFill>
          <a:ln w="12700">
            <a:solidFill>
              <a:srgbClr val="F1ECDD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980944" y="2624328"/>
            <a:ext cx="1133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1416"/>
                </a:solidFill>
              </a:rPr>
              <a:t>Office visit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722376" y="3090672"/>
            <a:ext cx="274320" cy="274320"/>
          </a:xfrm>
          <a:prstGeom prst="ellipse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22376" y="30906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1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1106424" y="3063240"/>
            <a:ext cx="467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Front desk registers the client and opens the return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722376" y="3520440"/>
            <a:ext cx="274320" cy="274320"/>
          </a:xfrm>
          <a:prstGeom prst="ellipse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22376" y="3520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2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1106424" y="3493008"/>
            <a:ext cx="467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Client sends documents on WhatsApp — attached straight from the chat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722376" y="3950208"/>
            <a:ext cx="274320" cy="274320"/>
          </a:xfrm>
          <a:prstGeom prst="ellipse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22376" y="39502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3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1106424" y="3922776"/>
            <a:ext cx="467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Data entry records what the client told us and answers the questionnaire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722376" y="4379976"/>
            <a:ext cx="274320" cy="274320"/>
          </a:xfrm>
          <a:prstGeom prst="ellipse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22376" y="43799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4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1106424" y="4352544"/>
            <a:ext cx="467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Consultant verifies documents, prepares the return, calculates tax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22376" y="4809744"/>
            <a:ext cx="274320" cy="274320"/>
          </a:xfrm>
          <a:prstGeom prst="ellipse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22376" y="48097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5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1106424" y="4782312"/>
            <a:ext cx="467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Client approves the summary by phone — staff record method, note and proof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6233008" y="1691640"/>
            <a:ext cx="5455768" cy="3611880"/>
          </a:xfrm>
          <a:prstGeom prst="roundRect">
            <a:avLst>
              <a:gd name="adj" fmla="val 2025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434176" y="1874520"/>
            <a:ext cx="603504" cy="603504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3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9017" y="2019361"/>
            <a:ext cx="313822" cy="313822"/>
          </a:xfrm>
          <a:prstGeom prst="rect">
            <a:avLst/>
          </a:prstGeom>
        </p:spPr>
      </p:pic>
      <p:sp>
        <p:nvSpPr>
          <p:cNvPr id="38" name="Text 34"/>
          <p:cNvSpPr txBox="1"/>
          <p:nvPr/>
        </p:nvSpPr>
        <p:spPr>
          <a:xfrm>
            <a:off x="7193128" y="187452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Self-service</a:t>
            </a:r>
            <a:endParaRPr lang="en-US" sz="1800" dirty="0"/>
          </a:p>
        </p:txBody>
      </p:sp>
      <p:sp>
        <p:nvSpPr>
          <p:cNvPr id="39" name="Text 35"/>
          <p:cNvSpPr txBox="1"/>
          <p:nvPr/>
        </p:nvSpPr>
        <p:spPr>
          <a:xfrm>
            <a:off x="7193128" y="220370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6470"/>
                </a:solidFill>
              </a:rPr>
              <a:t>The client files from the website</a:t>
            </a:r>
            <a:endParaRPr lang="en-US" sz="1100" dirty="0"/>
          </a:p>
        </p:txBody>
      </p:sp>
      <p:sp>
        <p:nvSpPr>
          <p:cNvPr id="40" name="Shape 36"/>
          <p:cNvSpPr/>
          <p:nvPr/>
        </p:nvSpPr>
        <p:spPr>
          <a:xfrm>
            <a:off x="10637215" y="1947672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A8811F"/>
          </a:solidFill>
          <a:ln w="12700">
            <a:solidFill>
              <a:srgbClr val="A8811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0637215" y="194767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Video 2</a:t>
            </a:r>
            <a:endParaRPr lang="en-US" sz="1000" dirty="0"/>
          </a:p>
        </p:txBody>
      </p:sp>
      <p:sp>
        <p:nvSpPr>
          <p:cNvPr id="42" name="Shape 38"/>
          <p:cNvSpPr/>
          <p:nvPr/>
        </p:nvSpPr>
        <p:spPr>
          <a:xfrm>
            <a:off x="6434176" y="2624328"/>
            <a:ext cx="745236" cy="256032"/>
          </a:xfrm>
          <a:prstGeom prst="roundRect">
            <a:avLst>
              <a:gd name="adj" fmla="val 50000"/>
            </a:avLst>
          </a:prstGeom>
          <a:solidFill>
            <a:srgbClr val="F1ECDD"/>
          </a:solidFill>
          <a:ln w="12700">
            <a:solidFill>
              <a:srgbClr val="F1ECDD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434176" y="2624328"/>
            <a:ext cx="7452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1416"/>
                </a:solidFill>
              </a:rPr>
              <a:t>Website</a:t>
            </a:r>
            <a:endParaRPr lang="en-US" sz="900" dirty="0"/>
          </a:p>
        </p:txBody>
      </p:sp>
      <p:sp>
        <p:nvSpPr>
          <p:cNvPr id="44" name="Shape 40"/>
          <p:cNvSpPr/>
          <p:nvPr/>
        </p:nvSpPr>
        <p:spPr>
          <a:xfrm>
            <a:off x="7270852" y="2624328"/>
            <a:ext cx="667512" cy="256032"/>
          </a:xfrm>
          <a:prstGeom prst="roundRect">
            <a:avLst>
              <a:gd name="adj" fmla="val 50000"/>
            </a:avLst>
          </a:prstGeom>
          <a:solidFill>
            <a:srgbClr val="F1ECDD"/>
          </a:solidFill>
          <a:ln w="12700">
            <a:solidFill>
              <a:srgbClr val="F1ECDD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7270852" y="2624328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1416"/>
                </a:solidFill>
              </a:rPr>
              <a:t>Mobile</a:t>
            </a:r>
            <a:endParaRPr lang="en-US" sz="900" dirty="0"/>
          </a:p>
        </p:txBody>
      </p:sp>
      <p:sp>
        <p:nvSpPr>
          <p:cNvPr id="46" name="Shape 42"/>
          <p:cNvSpPr/>
          <p:nvPr/>
        </p:nvSpPr>
        <p:spPr>
          <a:xfrm>
            <a:off x="8029804" y="2624328"/>
            <a:ext cx="667512" cy="256032"/>
          </a:xfrm>
          <a:prstGeom prst="roundRect">
            <a:avLst>
              <a:gd name="adj" fmla="val 50000"/>
            </a:avLst>
          </a:prstGeom>
          <a:solidFill>
            <a:srgbClr val="F1ECDD"/>
          </a:solidFill>
          <a:ln w="12700">
            <a:solidFill>
              <a:srgbClr val="F1ECDD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8029804" y="2624328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1416"/>
                </a:solidFill>
              </a:rPr>
              <a:t>24 / 7</a:t>
            </a:r>
            <a:endParaRPr lang="en-US" sz="900" dirty="0"/>
          </a:p>
        </p:txBody>
      </p:sp>
      <p:sp>
        <p:nvSpPr>
          <p:cNvPr id="48" name="Shape 44"/>
          <p:cNvSpPr/>
          <p:nvPr/>
        </p:nvSpPr>
        <p:spPr>
          <a:xfrm>
            <a:off x="6452464" y="3090672"/>
            <a:ext cx="274320" cy="27432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6452464" y="30906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1416"/>
                </a:solidFill>
              </a:rPr>
              <a:t>1</a:t>
            </a:r>
            <a:endParaRPr lang="en-US" sz="1000" dirty="0"/>
          </a:p>
        </p:txBody>
      </p:sp>
      <p:sp>
        <p:nvSpPr>
          <p:cNvPr id="50" name="Text 46"/>
          <p:cNvSpPr txBox="1"/>
          <p:nvPr/>
        </p:nvSpPr>
        <p:spPr>
          <a:xfrm>
            <a:off x="6836512" y="3063240"/>
            <a:ext cx="467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Visits the website → Start Filing → login verified with a 6-digit code</a:t>
            </a:r>
            <a:endParaRPr lang="en-US" sz="1200" dirty="0"/>
          </a:p>
        </p:txBody>
      </p:sp>
      <p:sp>
        <p:nvSpPr>
          <p:cNvPr id="51" name="Shape 47"/>
          <p:cNvSpPr/>
          <p:nvPr/>
        </p:nvSpPr>
        <p:spPr>
          <a:xfrm>
            <a:off x="6452464" y="3520440"/>
            <a:ext cx="274320" cy="27432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6452464" y="3520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1416"/>
                </a:solidFill>
              </a:rPr>
              <a:t>2</a:t>
            </a:r>
            <a:endParaRPr lang="en-US" sz="1000" dirty="0"/>
          </a:p>
        </p:txBody>
      </p:sp>
      <p:sp>
        <p:nvSpPr>
          <p:cNvPr id="53" name="Text 49"/>
          <p:cNvSpPr txBox="1"/>
          <p:nvPr/>
        </p:nvSpPr>
        <p:spPr>
          <a:xfrm>
            <a:off x="6836512" y="3493008"/>
            <a:ext cx="467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Chooses a package and answers simple Yes / No questions</a:t>
            </a:r>
            <a:endParaRPr lang="en-US" sz="1200" dirty="0"/>
          </a:p>
        </p:txBody>
      </p:sp>
      <p:sp>
        <p:nvSpPr>
          <p:cNvPr id="54" name="Shape 50"/>
          <p:cNvSpPr/>
          <p:nvPr/>
        </p:nvSpPr>
        <p:spPr>
          <a:xfrm>
            <a:off x="6452464" y="3950208"/>
            <a:ext cx="274320" cy="27432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6452464" y="39502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1416"/>
                </a:solidFill>
              </a:rPr>
              <a:t>3</a:t>
            </a:r>
            <a:endParaRPr lang="en-US" sz="1000" dirty="0"/>
          </a:p>
        </p:txBody>
      </p:sp>
      <p:sp>
        <p:nvSpPr>
          <p:cNvPr id="56" name="Text 52"/>
          <p:cNvSpPr txBox="1"/>
          <p:nvPr/>
        </p:nvSpPr>
        <p:spPr>
          <a:xfrm>
            <a:off x="6836512" y="3922776"/>
            <a:ext cx="467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Describes her year in everyday words and uploads her documents</a:t>
            </a:r>
            <a:endParaRPr lang="en-US" sz="1200" dirty="0"/>
          </a:p>
        </p:txBody>
      </p:sp>
      <p:sp>
        <p:nvSpPr>
          <p:cNvPr id="57" name="Shape 53"/>
          <p:cNvSpPr/>
          <p:nvPr/>
        </p:nvSpPr>
        <p:spPr>
          <a:xfrm>
            <a:off x="6452464" y="4379976"/>
            <a:ext cx="274320" cy="27432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6452464" y="43799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1416"/>
                </a:solidFill>
              </a:rPr>
              <a:t>4</a:t>
            </a:r>
            <a:endParaRPr lang="en-US" sz="1000" dirty="0"/>
          </a:p>
        </p:txBody>
      </p:sp>
      <p:sp>
        <p:nvSpPr>
          <p:cNvPr id="59" name="Text 55"/>
          <p:cNvSpPr txBox="1"/>
          <p:nvPr/>
        </p:nvSpPr>
        <p:spPr>
          <a:xfrm>
            <a:off x="6836512" y="4352544"/>
            <a:ext cx="467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Pays the fee (Bank, Raast, JazzCash, Easypaisa) with a screenshot</a:t>
            </a:r>
            <a:endParaRPr lang="en-US" sz="1200" dirty="0"/>
          </a:p>
        </p:txBody>
      </p:sp>
      <p:sp>
        <p:nvSpPr>
          <p:cNvPr id="60" name="Shape 56"/>
          <p:cNvSpPr/>
          <p:nvPr/>
        </p:nvSpPr>
        <p:spPr>
          <a:xfrm>
            <a:off x="6452464" y="4809744"/>
            <a:ext cx="274320" cy="27432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6452464" y="48097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1416"/>
                </a:solidFill>
              </a:rPr>
              <a:t>5</a:t>
            </a:r>
            <a:endParaRPr lang="en-US" sz="1000" dirty="0"/>
          </a:p>
        </p:txBody>
      </p:sp>
      <p:sp>
        <p:nvSpPr>
          <p:cNvPr id="62" name="Text 58"/>
          <p:cNvSpPr txBox="1"/>
          <p:nvPr/>
        </p:nvSpPr>
        <p:spPr>
          <a:xfrm>
            <a:off x="6836512" y="4782312"/>
            <a:ext cx="467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Reads the summary and clicks “Confirm my return” in the portal</a:t>
            </a:r>
            <a:endParaRPr lang="en-US" sz="1200" dirty="0"/>
          </a:p>
        </p:txBody>
      </p:sp>
      <p:sp>
        <p:nvSpPr>
          <p:cNvPr id="63" name="Shape 59"/>
          <p:cNvSpPr/>
          <p:nvPr/>
        </p:nvSpPr>
        <p:spPr>
          <a:xfrm>
            <a:off x="502920" y="5486400"/>
            <a:ext cx="11185855" cy="804672"/>
          </a:xfrm>
          <a:prstGeom prst="roundRect">
            <a:avLst>
              <a:gd name="adj" fmla="val 9091"/>
            </a:avLst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731520" y="559612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D4AF37"/>
                </a:solidFill>
              </a:rPr>
              <a:t>SAME PIPELINE</a:t>
            </a:r>
            <a:endParaRPr lang="en-US" sz="1000" dirty="0"/>
          </a:p>
        </p:txBody>
      </p:sp>
      <p:sp>
        <p:nvSpPr>
          <p:cNvPr id="65" name="Text 61"/>
          <p:cNvSpPr txBox="1"/>
          <p:nvPr/>
        </p:nvSpPr>
        <p:spPr>
          <a:xfrm>
            <a:off x="731520" y="583387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3B3"/>
                </a:solidFill>
              </a:rPr>
              <a:t>for both routes</a:t>
            </a:r>
            <a:endParaRPr lang="en-US" sz="1100" dirty="0"/>
          </a:p>
        </p:txBody>
      </p:sp>
      <p:sp>
        <p:nvSpPr>
          <p:cNvPr id="66" name="Shape 62"/>
          <p:cNvSpPr/>
          <p:nvPr/>
        </p:nvSpPr>
        <p:spPr>
          <a:xfrm>
            <a:off x="2377440" y="5669280"/>
            <a:ext cx="1542227" cy="438912"/>
          </a:xfrm>
          <a:prstGeom prst="roundRect">
            <a:avLst>
              <a:gd name="adj" fmla="val 50000"/>
            </a:avLst>
          </a:prstGeom>
          <a:solidFill>
            <a:srgbClr val="2A2620"/>
          </a:solidFill>
          <a:ln w="9525">
            <a:solidFill>
              <a:srgbClr val="A8811F"/>
            </a:solidFill>
            <a:prstDash val="solid"/>
          </a:ln>
        </p:spPr>
      </p:sp>
      <p:sp>
        <p:nvSpPr>
          <p:cNvPr id="67" name="Text 63"/>
          <p:cNvSpPr txBox="1"/>
          <p:nvPr/>
        </p:nvSpPr>
        <p:spPr>
          <a:xfrm>
            <a:off x="2377440" y="5669280"/>
            <a:ext cx="15422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Review checklist</a:t>
            </a:r>
            <a:endParaRPr lang="en-US" sz="1100" dirty="0"/>
          </a:p>
        </p:txBody>
      </p:sp>
      <p:sp>
        <p:nvSpPr>
          <p:cNvPr id="68" name="Shape 64"/>
          <p:cNvSpPr/>
          <p:nvPr/>
        </p:nvSpPr>
        <p:spPr>
          <a:xfrm>
            <a:off x="3937955" y="5888736"/>
            <a:ext cx="256032" cy="0"/>
          </a:xfrm>
          <a:prstGeom prst="line">
            <a:avLst/>
          </a:prstGeom>
          <a:noFill/>
          <a:ln w="15875">
            <a:solidFill>
              <a:srgbClr val="D4AF37"/>
            </a:solidFill>
            <a:prstDash val="solid"/>
            <a:tailEnd type="triangle"/>
          </a:ln>
        </p:spPr>
      </p:sp>
      <p:sp>
        <p:nvSpPr>
          <p:cNvPr id="69" name="Shape 65"/>
          <p:cNvSpPr/>
          <p:nvPr/>
        </p:nvSpPr>
        <p:spPr>
          <a:xfrm>
            <a:off x="4212275" y="5669280"/>
            <a:ext cx="1542227" cy="438912"/>
          </a:xfrm>
          <a:prstGeom prst="roundRect">
            <a:avLst>
              <a:gd name="adj" fmla="val 50000"/>
            </a:avLst>
          </a:prstGeom>
          <a:solidFill>
            <a:srgbClr val="2A2620"/>
          </a:solidFill>
          <a:ln w="9525">
            <a:solidFill>
              <a:srgbClr val="A8811F"/>
            </a:solidFill>
            <a:prstDash val="solid"/>
          </a:ln>
        </p:spPr>
      </p:sp>
      <p:sp>
        <p:nvSpPr>
          <p:cNvPr id="70" name="Text 66"/>
          <p:cNvSpPr txBox="1"/>
          <p:nvPr/>
        </p:nvSpPr>
        <p:spPr>
          <a:xfrm>
            <a:off x="4212275" y="5669280"/>
            <a:ext cx="15422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Client confirmation</a:t>
            </a:r>
            <a:endParaRPr lang="en-US" sz="1100" dirty="0"/>
          </a:p>
        </p:txBody>
      </p:sp>
      <p:sp>
        <p:nvSpPr>
          <p:cNvPr id="71" name="Shape 67"/>
          <p:cNvSpPr/>
          <p:nvPr/>
        </p:nvSpPr>
        <p:spPr>
          <a:xfrm>
            <a:off x="5772790" y="5888736"/>
            <a:ext cx="256032" cy="0"/>
          </a:xfrm>
          <a:prstGeom prst="line">
            <a:avLst/>
          </a:prstGeom>
          <a:noFill/>
          <a:ln w="15875">
            <a:solidFill>
              <a:srgbClr val="D4AF37"/>
            </a:solidFill>
            <a:prstDash val="solid"/>
            <a:tailEnd type="triangle"/>
          </a:ln>
        </p:spPr>
      </p:sp>
      <p:sp>
        <p:nvSpPr>
          <p:cNvPr id="72" name="Shape 68"/>
          <p:cNvSpPr/>
          <p:nvPr/>
        </p:nvSpPr>
        <p:spPr>
          <a:xfrm>
            <a:off x="6047110" y="5669280"/>
            <a:ext cx="1542227" cy="438912"/>
          </a:xfrm>
          <a:prstGeom prst="roundRect">
            <a:avLst>
              <a:gd name="adj" fmla="val 50000"/>
            </a:avLst>
          </a:prstGeom>
          <a:solidFill>
            <a:srgbClr val="2A2620"/>
          </a:solidFill>
          <a:ln w="9525">
            <a:solidFill>
              <a:srgbClr val="A8811F"/>
            </a:solidFill>
            <a:prstDash val="solid"/>
          </a:ln>
        </p:spPr>
      </p:sp>
      <p:sp>
        <p:nvSpPr>
          <p:cNvPr id="73" name="Text 69"/>
          <p:cNvSpPr txBox="1"/>
          <p:nvPr/>
        </p:nvSpPr>
        <p:spPr>
          <a:xfrm>
            <a:off x="6047110" y="5669280"/>
            <a:ext cx="15422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Four-eyes approval</a:t>
            </a:r>
            <a:endParaRPr lang="en-US" sz="1100" dirty="0"/>
          </a:p>
        </p:txBody>
      </p:sp>
      <p:sp>
        <p:nvSpPr>
          <p:cNvPr id="74" name="Shape 70"/>
          <p:cNvSpPr/>
          <p:nvPr/>
        </p:nvSpPr>
        <p:spPr>
          <a:xfrm>
            <a:off x="7607625" y="5888736"/>
            <a:ext cx="256032" cy="0"/>
          </a:xfrm>
          <a:prstGeom prst="line">
            <a:avLst/>
          </a:prstGeom>
          <a:noFill/>
          <a:ln w="15875">
            <a:solidFill>
              <a:srgbClr val="D4AF37"/>
            </a:solidFill>
            <a:prstDash val="solid"/>
            <a:tailEnd type="triangle"/>
          </a:ln>
        </p:spPr>
      </p:sp>
      <p:sp>
        <p:nvSpPr>
          <p:cNvPr id="75" name="Shape 71"/>
          <p:cNvSpPr/>
          <p:nvPr/>
        </p:nvSpPr>
        <p:spPr>
          <a:xfrm>
            <a:off x="7881945" y="5669280"/>
            <a:ext cx="1542227" cy="438912"/>
          </a:xfrm>
          <a:prstGeom prst="roundRect">
            <a:avLst>
              <a:gd name="adj" fmla="val 50000"/>
            </a:avLst>
          </a:prstGeom>
          <a:solidFill>
            <a:srgbClr val="2A2620"/>
          </a:solidFill>
          <a:ln w="9525">
            <a:solidFill>
              <a:srgbClr val="A8811F"/>
            </a:solidFill>
            <a:prstDash val="solid"/>
          </a:ln>
        </p:spPr>
      </p:sp>
      <p:sp>
        <p:nvSpPr>
          <p:cNvPr id="76" name="Text 72"/>
          <p:cNvSpPr txBox="1"/>
          <p:nvPr/>
        </p:nvSpPr>
        <p:spPr>
          <a:xfrm>
            <a:off x="7881945" y="5669280"/>
            <a:ext cx="15422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File on FBR IRIS</a:t>
            </a:r>
            <a:endParaRPr lang="en-US" sz="1100" dirty="0"/>
          </a:p>
        </p:txBody>
      </p:sp>
      <p:sp>
        <p:nvSpPr>
          <p:cNvPr id="77" name="Shape 73"/>
          <p:cNvSpPr/>
          <p:nvPr/>
        </p:nvSpPr>
        <p:spPr>
          <a:xfrm>
            <a:off x="9442460" y="5888736"/>
            <a:ext cx="256032" cy="0"/>
          </a:xfrm>
          <a:prstGeom prst="line">
            <a:avLst/>
          </a:prstGeom>
          <a:noFill/>
          <a:ln w="15875">
            <a:solidFill>
              <a:srgbClr val="D4AF37"/>
            </a:solidFill>
            <a:prstDash val="solid"/>
            <a:tailEnd type="triangle"/>
          </a:ln>
        </p:spPr>
      </p:sp>
      <p:sp>
        <p:nvSpPr>
          <p:cNvPr id="78" name="Shape 74"/>
          <p:cNvSpPr/>
          <p:nvPr/>
        </p:nvSpPr>
        <p:spPr>
          <a:xfrm>
            <a:off x="9716780" y="5669280"/>
            <a:ext cx="1542227" cy="438912"/>
          </a:xfrm>
          <a:prstGeom prst="roundRect">
            <a:avLst>
              <a:gd name="adj" fmla="val 50000"/>
            </a:avLst>
          </a:prstGeom>
          <a:solidFill>
            <a:srgbClr val="2A2620"/>
          </a:solidFill>
          <a:ln w="9525">
            <a:solidFill>
              <a:srgbClr val="A8811F"/>
            </a:solidFill>
            <a:prstDash val="solid"/>
          </a:ln>
        </p:spPr>
      </p:sp>
      <p:sp>
        <p:nvSpPr>
          <p:cNvPr id="79" name="Text 75"/>
          <p:cNvSpPr txBox="1"/>
          <p:nvPr/>
        </p:nvSpPr>
        <p:spPr>
          <a:xfrm>
            <a:off x="9716780" y="5669280"/>
            <a:ext cx="15422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Acknowledgment in vault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98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0292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MODULE 01b  ·  ACTING FOR THE CLIENT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02920" y="603504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Data entry on the client's behalf — with a trail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F6470"/>
                </a:solidFill>
              </a:rPr>
              <a:t>Every team member can act for a client within their record scope; the Data Entry Officer role does only this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691640"/>
            <a:ext cx="3576218" cy="2971800"/>
          </a:xfrm>
          <a:prstGeom prst="roundRect">
            <a:avLst>
              <a:gd name="adj" fmla="val 2462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04088" y="1892808"/>
            <a:ext cx="566928" cy="566928"/>
          </a:xfrm>
          <a:prstGeom prst="ellipse">
            <a:avLst/>
          </a:prstGeom>
          <a:solidFill>
            <a:srgbClr val="A8811F"/>
          </a:solidFill>
          <a:ln w="12700">
            <a:solidFill>
              <a:srgbClr val="A8811F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0151" y="2028871"/>
            <a:ext cx="294803" cy="294803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417320" y="1965960"/>
            <a:ext cx="25246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What the client told us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04088" y="2651760"/>
            <a:ext cx="32104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“Enter for client” form: salary, bank, property, vehicle, cash, household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Questionnaire answered for the client — rebuilds the document checklist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Shows “Entered for the client by …”; figures change only when the consultant copies it in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07738" y="1691640"/>
            <a:ext cx="3576218" cy="2971800"/>
          </a:xfrm>
          <a:prstGeom prst="roundRect">
            <a:avLst>
              <a:gd name="adj" fmla="val 2462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08906" y="1892808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4969" y="2028871"/>
            <a:ext cx="294803" cy="29480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222138" y="1965960"/>
            <a:ext cx="25246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Documents from WhatsApp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4508906" y="2651760"/>
            <a:ext cx="32104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“From WhatsApp” lists the files that client sent — no download, no re-upload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Only that client's files; PDF, JPG or PNG; type and size checked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Badge on each document: via WhatsApp, Email, In person, Courier or client upload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8112557" y="1691640"/>
            <a:ext cx="3576218" cy="2971800"/>
          </a:xfrm>
          <a:prstGeom prst="roundRect">
            <a:avLst>
              <a:gd name="adj" fmla="val 2462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313725" y="1892808"/>
            <a:ext cx="566928" cy="566928"/>
          </a:xfrm>
          <a:prstGeom prst="ellipse">
            <a:avLst/>
          </a:prstGeom>
          <a:solidFill>
            <a:srgbClr val="A8811F"/>
          </a:solidFill>
          <a:ln w="12700">
            <a:solidFill>
              <a:srgbClr val="A8811F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9788" y="2028871"/>
            <a:ext cx="294803" cy="29480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026957" y="1965960"/>
            <a:ext cx="25246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Client approval recorded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8313725" y="2651760"/>
            <a:ext cx="32104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For clients who approve by phone, WhatsApp, in person, email or signed letter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Method + note (who, when, what was agreed) + optional proof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Comment on the return and a notice to the approver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502920" y="4846320"/>
            <a:ext cx="11185855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731520" y="4956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Controls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731520" y="5285232"/>
            <a:ext cx="24992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A8811F"/>
                </a:solidFill>
              </a:rPr>
              <a:t>Four eyes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731520" y="5532120"/>
            <a:ext cx="24992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Whoever records the client's approval cannot approve the return</a:t>
            </a:r>
            <a:endParaRPr lang="en-US" sz="1100" dirty="0"/>
          </a:p>
        </p:txBody>
      </p:sp>
      <p:sp>
        <p:nvSpPr>
          <p:cNvPr id="24" name="Text 19"/>
          <p:cNvSpPr txBox="1"/>
          <p:nvPr/>
        </p:nvSpPr>
        <p:spPr>
          <a:xfrm>
            <a:off x="3413684" y="5285232"/>
            <a:ext cx="24992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A8811F"/>
                </a:solidFill>
              </a:rPr>
              <a:t>Separation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3413684" y="5532120"/>
            <a:ext cx="24992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Data entry uploads documents; a consultant or reviewer verifies them</a:t>
            </a:r>
            <a:endParaRPr lang="en-US" sz="1100" dirty="0"/>
          </a:p>
        </p:txBody>
      </p:sp>
      <p:sp>
        <p:nvSpPr>
          <p:cNvPr id="26" name="Text 21"/>
          <p:cNvSpPr txBox="1"/>
          <p:nvPr/>
        </p:nvSpPr>
        <p:spPr>
          <a:xfrm>
            <a:off x="6095848" y="5285232"/>
            <a:ext cx="24992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A8811F"/>
                </a:solidFill>
              </a:rPr>
              <a:t>Time window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6095848" y="5532120"/>
            <a:ext cx="24992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Client data editable until Submitted to FBR; later changes are flagged to consultant and reviewer</a:t>
            </a:r>
            <a:endParaRPr lang="en-US" sz="1100" dirty="0"/>
          </a:p>
        </p:txBody>
      </p:sp>
      <p:sp>
        <p:nvSpPr>
          <p:cNvPr id="28" name="Text 23"/>
          <p:cNvSpPr txBox="1"/>
          <p:nvPr/>
        </p:nvSpPr>
        <p:spPr>
          <a:xfrm>
            <a:off x="8778011" y="5285232"/>
            <a:ext cx="24992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A8811F"/>
                </a:solidFill>
              </a:rPr>
              <a:t>Audit</a:t>
            </a:r>
            <a:endParaRPr lang="en-US" sz="1200" dirty="0"/>
          </a:p>
        </p:txBody>
      </p:sp>
      <p:sp>
        <p:nvSpPr>
          <p:cNvPr id="29" name="Text 24"/>
          <p:cNvSpPr txBox="1"/>
          <p:nvPr/>
        </p:nvSpPr>
        <p:spPr>
          <a:xfrm>
            <a:off x="8778011" y="5532120"/>
            <a:ext cx="24992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Every entry, upload and approval: who, when, how — in the audit trail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98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0292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RETURN WORKFLOW</a:t>
            </a:r>
            <a:endParaRPr lang="en-US" sz="11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02920" y="603504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12 states, 17 moves — a rule checked on each</a:t>
            </a:r>
            <a:endParaRPr lang="en-US" sz="2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F6470"/>
                </a:solidFill>
              </a:rPr>
              <a:t>Frappe Workflow checks the role; the portal's rules check the business conditions before any state change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11185855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965960"/>
                <a:gridCol w="1600200"/>
                <a:gridCol w="2514600"/>
                <a:gridCol w="3502152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4AF37"/>
                          </a:solidFill>
                        </a:rPr>
                        <a:t>From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4AF37"/>
                          </a:solidFill>
                        </a:rPr>
                        <a:t>Action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4AF37"/>
                          </a:solidFill>
                        </a:rPr>
                        <a:t>To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4AF37"/>
                          </a:solidFill>
                        </a:rPr>
                        <a:t>Who may act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4AF37"/>
                          </a:solidFill>
                        </a:rPr>
                        <a:t>Rule checked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Documents Pending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Documents Complete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Draft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Consultant, Admin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F6470"/>
                          </a:solidFill>
                        </a:rPr>
                        <a:t>All required documents verified; fee policy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Draft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Submit for Review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Pending Review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Consultant, Admin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F6470"/>
                          </a:solidFill>
                        </a:rPr>
                        <a:t>Income lines, final-tax rates, current calculation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Pending Review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Start Review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Under Review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Reviewer, Admin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F6470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Under Review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Request Changes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Changes Required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Reviewer, Admin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F6470"/>
                          </a:solidFill>
                        </a:rPr>
                        <a:t>Comment required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Changes Required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Resume Preparation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Draft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Consultant, Admin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F6470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Under Review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Mark Reviewed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Reviewed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Reviewer, Admin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F6470"/>
                          </a:solidFill>
                        </a:rPr>
                        <a:t>Tax Review saved with checklist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Reviewed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Send to Client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Awaiting Client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Reviewer, Admin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F6470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Awaiting Client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Client Question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Changes Required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Client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F6470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Awaiting Client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Approve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Approved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Approver, Admin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F6470"/>
                          </a:solidFill>
                        </a:rPr>
                        <a:t>Client confirmed (portal or staff); four-eyes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Approved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Mark Submitted on IRIS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Submitted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Filing Officer, Admin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F6470"/>
                          </a:solidFill>
                        </a:rPr>
                        <a:t>Approved and unchanged since approval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Submitted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Record Acknowledgment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Acknowledged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Filing Officer, Admin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F6470"/>
                          </a:solidFill>
                        </a:rPr>
                        <a:t>IRIS ack no. + FBR receipt attached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Submitted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Report Filing Error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Filing Error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Filing Officer, Admin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F6470"/>
                          </a:solidFill>
                        </a:rPr>
                        <a:t>Error notes required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Filing Error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Retry Filing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Submitted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Filing Officer, Admin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F6470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Acknowledged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Close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Closed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Admin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F6470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Reviewed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Reopen for Review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Pending Review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Consultant, Admin, Reviewer, Approver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F6470"/>
                          </a:solidFill>
                        </a:rPr>
                        <a:t>Reason required; approval cancelled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02920" y="6080760"/>
            <a:ext cx="111858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F6470"/>
                </a:solidFill>
              </a:rPr>
              <a:t>Reopen for Review is also allowed from Awaiting Client and Approved. Any change to signed-off figures cancels the approval automatically; a filed return can only be revised, never edited.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98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0292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MODULE 01  ·  ONBOARDING &amp; VERIFICATION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02920" y="603504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 6-digit code: WhatsApp first, SMS as backup</a:t>
            </a:r>
            <a:endParaRPr lang="en-US" sz="2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F6470"/>
                </a:solidFill>
              </a:rPr>
              <a:t>The code is generated, stored only as a hash, and delivered by the channel order set in Settings → Verification codes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124179" y="1783080"/>
            <a:ext cx="621792" cy="621792"/>
          </a:xfrm>
          <a:prstGeom prst="ellipse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3409" y="1932310"/>
            <a:ext cx="323332" cy="32333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819123" y="2093976"/>
            <a:ext cx="1096213" cy="0"/>
          </a:xfrm>
          <a:prstGeom prst="line">
            <a:avLst/>
          </a:prstGeom>
          <a:noFill/>
          <a:ln w="15875">
            <a:solidFill>
              <a:srgbClr val="A8811F"/>
            </a:solidFill>
            <a:prstDash val="solid"/>
            <a:tailEnd type="triangle"/>
          </a:ln>
        </p:spPr>
      </p:sp>
      <p:sp>
        <p:nvSpPr>
          <p:cNvPr id="8" name="Text 5"/>
          <p:cNvSpPr txBox="1"/>
          <p:nvPr/>
        </p:nvSpPr>
        <p:spPr>
          <a:xfrm>
            <a:off x="594360" y="2514600"/>
            <a:ext cx="168142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Client enters mobile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988488" y="1783080"/>
            <a:ext cx="621792" cy="621792"/>
          </a:xfrm>
          <a:prstGeom prst="ellipse">
            <a:avLst/>
          </a:prstGeom>
          <a:solidFill>
            <a:srgbClr val="A8811F"/>
          </a:solidFill>
          <a:ln w="12700">
            <a:solidFill>
              <a:srgbClr val="A8811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7718" y="1932310"/>
            <a:ext cx="323332" cy="323332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683432" y="2093976"/>
            <a:ext cx="1096213" cy="0"/>
          </a:xfrm>
          <a:prstGeom prst="line">
            <a:avLst/>
          </a:prstGeom>
          <a:noFill/>
          <a:ln w="15875">
            <a:solidFill>
              <a:srgbClr val="A8811F"/>
            </a:solidFill>
            <a:prstDash val="solid"/>
            <a:tailEnd type="triangle"/>
          </a:ln>
        </p:spPr>
      </p:sp>
      <p:sp>
        <p:nvSpPr>
          <p:cNvPr id="12" name="Text 8"/>
          <p:cNvSpPr txBox="1"/>
          <p:nvPr/>
        </p:nvSpPr>
        <p:spPr>
          <a:xfrm>
            <a:off x="2458669" y="2514600"/>
            <a:ext cx="168142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Code generated · hashed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852797" y="1783080"/>
            <a:ext cx="621792" cy="621792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2027" y="1932310"/>
            <a:ext cx="323332" cy="323332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5547741" y="2093976"/>
            <a:ext cx="1096213" cy="0"/>
          </a:xfrm>
          <a:prstGeom prst="line">
            <a:avLst/>
          </a:prstGeom>
          <a:noFill/>
          <a:ln w="15875">
            <a:solidFill>
              <a:srgbClr val="A8811F"/>
            </a:solidFill>
            <a:prstDash val="solid"/>
            <a:tailEnd type="triangle"/>
          </a:ln>
        </p:spPr>
      </p:sp>
      <p:sp>
        <p:nvSpPr>
          <p:cNvPr id="16" name="Text 11"/>
          <p:cNvSpPr txBox="1"/>
          <p:nvPr/>
        </p:nvSpPr>
        <p:spPr>
          <a:xfrm>
            <a:off x="4322978" y="2514600"/>
            <a:ext cx="168142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WhatsApp authentication template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6717106" y="1783080"/>
            <a:ext cx="621792" cy="621792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6336" y="1932310"/>
            <a:ext cx="323332" cy="323332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7412050" y="2093976"/>
            <a:ext cx="1096213" cy="0"/>
          </a:xfrm>
          <a:prstGeom prst="line">
            <a:avLst/>
          </a:prstGeom>
          <a:noFill/>
          <a:ln w="15875">
            <a:solidFill>
              <a:srgbClr val="A8811F"/>
            </a:solidFill>
            <a:prstDash val="solid"/>
            <a:tailEnd type="triangle"/>
          </a:ln>
        </p:spPr>
      </p:sp>
      <p:sp>
        <p:nvSpPr>
          <p:cNvPr id="20" name="Text 14"/>
          <p:cNvSpPr txBox="1"/>
          <p:nvPr/>
        </p:nvSpPr>
        <p:spPr>
          <a:xfrm>
            <a:off x="6187288" y="2514600"/>
            <a:ext cx="168142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If it fails: same code by SMS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8581415" y="1783080"/>
            <a:ext cx="621792" cy="621792"/>
          </a:xfrm>
          <a:prstGeom prst="ellipse">
            <a:avLst/>
          </a:prstGeom>
          <a:solidFill>
            <a:srgbClr val="A8811F"/>
          </a:solidFill>
          <a:ln w="12700">
            <a:solidFill>
              <a:srgbClr val="A8811F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0645" y="1932310"/>
            <a:ext cx="323332" cy="323332"/>
          </a:xfrm>
          <a:prstGeom prst="rect">
            <a:avLst/>
          </a:prstGeom>
        </p:spPr>
      </p:pic>
      <p:sp>
        <p:nvSpPr>
          <p:cNvPr id="23" name="Shape 16"/>
          <p:cNvSpPr/>
          <p:nvPr/>
        </p:nvSpPr>
        <p:spPr>
          <a:xfrm>
            <a:off x="9276359" y="2093976"/>
            <a:ext cx="1096213" cy="0"/>
          </a:xfrm>
          <a:prstGeom prst="line">
            <a:avLst/>
          </a:prstGeom>
          <a:noFill/>
          <a:ln w="15875">
            <a:solidFill>
              <a:srgbClr val="A8811F"/>
            </a:solidFill>
            <a:prstDash val="solid"/>
            <a:tailEnd type="triangle"/>
          </a:ln>
        </p:spPr>
      </p:sp>
      <p:sp>
        <p:nvSpPr>
          <p:cNvPr id="24" name="Text 17"/>
          <p:cNvSpPr txBox="1"/>
          <p:nvPr/>
        </p:nvSpPr>
        <p:spPr>
          <a:xfrm>
            <a:off x="8051597" y="2514600"/>
            <a:ext cx="168142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Client types code · verified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10445725" y="1783080"/>
            <a:ext cx="621792" cy="621792"/>
          </a:xfrm>
          <a:prstGeom prst="ellipse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94955" y="1932310"/>
            <a:ext cx="323332" cy="323332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9915906" y="2514600"/>
            <a:ext cx="168142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Account + client record created</a:t>
            </a:r>
            <a:endParaRPr lang="en-US" sz="1200" dirty="0"/>
          </a:p>
        </p:txBody>
      </p:sp>
      <p:sp>
        <p:nvSpPr>
          <p:cNvPr id="28" name="Shape 20"/>
          <p:cNvSpPr/>
          <p:nvPr/>
        </p:nvSpPr>
        <p:spPr>
          <a:xfrm>
            <a:off x="502920" y="3337560"/>
            <a:ext cx="5486400" cy="2880360"/>
          </a:xfrm>
          <a:prstGeom prst="roundRect">
            <a:avLst>
              <a:gd name="adj" fmla="val 2540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29" name="Text 21"/>
          <p:cNvSpPr txBox="1"/>
          <p:nvPr/>
        </p:nvSpPr>
        <p:spPr>
          <a:xfrm>
            <a:off x="685800" y="345643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Rules</a:t>
            </a:r>
            <a:endParaRPr lang="en-US" sz="1400" dirty="0"/>
          </a:p>
        </p:txBody>
      </p:sp>
      <p:sp>
        <p:nvSpPr>
          <p:cNvPr id="30" name="Text 22"/>
          <p:cNvSpPr txBox="1"/>
          <p:nvPr/>
        </p:nvSpPr>
        <p:spPr>
          <a:xfrm>
            <a:off x="685800" y="3794760"/>
            <a:ext cx="5120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Code expires after 10 minutes; 5 attempts; 5 codes per number per hour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Only a hash is stored — never the code; WhatsApp codes bypass the team inbox and API log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Channel recorded on each request: WhatsApp, SMS or Failed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"No WhatsApp? Send the code by SMS instead" on the code screen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 mobile that already has an account is sent to sign in</a:t>
            </a:r>
            <a:endParaRPr lang="en-US" sz="1200" dirty="0"/>
          </a:p>
        </p:txBody>
      </p:sp>
      <p:sp>
        <p:nvSpPr>
          <p:cNvPr id="31" name="Shape 23"/>
          <p:cNvSpPr/>
          <p:nvPr/>
        </p:nvSpPr>
        <p:spPr>
          <a:xfrm>
            <a:off x="6263640" y="3337560"/>
            <a:ext cx="5422392" cy="2880360"/>
          </a:xfrm>
          <a:prstGeom prst="roundRect">
            <a:avLst>
              <a:gd name="adj" fmla="val 2540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32" name="Text 24"/>
          <p:cNvSpPr txBox="1"/>
          <p:nvPr/>
        </p:nvSpPr>
        <p:spPr>
          <a:xfrm>
            <a:off x="6446520" y="34564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Settings → Verification codes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46520" y="3794760"/>
          <a:ext cx="50749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11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4AF37"/>
                          </a:solidFill>
                        </a:rPr>
                        <a:t>Setting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4AF37"/>
                          </a:solidFill>
                        </a:rPr>
                        <a:t>Options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Send codes by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WhatsApp, then SMS (default) · SMS only · WhatsApp only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WhatsApp template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Meta Authentication template, e.g. vvs_verification_code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SMS provider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Console (development) · Twilio · HTTP gateway (PK bulk SMS)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Secrets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Auth token / API key stored encrypted, write-only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Test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Send 000000 to own mobile, WhatsApp-first or SMS only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98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0292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MODULE 02  ·  CRM &amp; LEAD GENERATION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02920" y="603504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From enquiry to engaged client in one pipeline</a:t>
            </a:r>
            <a:endParaRPr lang="en-US" sz="2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F6470"/>
                </a:solidFill>
              </a:rPr>
              <a:t>Frappe CRM inside the portal: leads, a tax pipeline, activities, Lead Finder and WhatsApp broadcasts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1810512" cy="502920"/>
          </a:xfrm>
          <a:prstGeom prst="chevron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04088" y="17373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Enquiry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368296" y="1737360"/>
            <a:ext cx="1810512" cy="502920"/>
          </a:xfrm>
          <a:prstGeom prst="chevron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69464" y="17373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Consultation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33672" y="1737360"/>
            <a:ext cx="1810512" cy="502920"/>
          </a:xfrm>
          <a:prstGeom prst="chevron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34840" y="17373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Proposal Sent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099048" y="1737360"/>
            <a:ext cx="1810512" cy="502920"/>
          </a:xfrm>
          <a:prstGeom prst="chevron">
            <a:avLst/>
          </a:prstGeom>
          <a:solidFill>
            <a:srgbClr val="A8811F"/>
          </a:solidFill>
          <a:ln w="12700">
            <a:solidFill>
              <a:srgbClr val="A881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00216" y="17373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Documents Pending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964424" y="1737360"/>
            <a:ext cx="1810512" cy="502920"/>
          </a:xfrm>
          <a:prstGeom prst="chevron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65592" y="17373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Engaged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829800" y="1737360"/>
            <a:ext cx="1810512" cy="502920"/>
          </a:xfrm>
          <a:prstGeom prst="chevron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030968" y="17373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Lost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F6470"/>
                </a:solidFill>
              </a:rPr>
              <a:t>Moving a deal to Engaged creates the Tax Client (with its site-visit details) — no re-typing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2920" y="2788920"/>
            <a:ext cx="5486400" cy="1600200"/>
          </a:xfrm>
          <a:prstGeom prst="roundRect">
            <a:avLst>
              <a:gd name="adj" fmla="val 4571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04088" y="3017520"/>
            <a:ext cx="566928" cy="566928"/>
          </a:xfrm>
          <a:prstGeom prst="ellipse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0151" y="3153583"/>
            <a:ext cx="294803" cy="294803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1463040" y="29718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Lead capture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4069080" y="299008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811F"/>
                </a:solidFill>
              </a:rPr>
              <a:t>55 leads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463040" y="3337560"/>
            <a:ext cx="4343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Website contact &amp; booking, WhatsApp first message, site visits, walk-ins, Lead Finder — one lead per person (duplicate check on mobile / email).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144768" y="2788920"/>
            <a:ext cx="5486400" cy="1600200"/>
          </a:xfrm>
          <a:prstGeom prst="roundRect">
            <a:avLst>
              <a:gd name="adj" fmla="val 4571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6345936" y="3017520"/>
            <a:ext cx="566928" cy="566928"/>
          </a:xfrm>
          <a:prstGeom prst="ellipse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1999" y="3153583"/>
            <a:ext cx="294803" cy="294803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7104888" y="29718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Activities</a:t>
            </a:r>
            <a:endParaRPr lang="en-US" sz="1500" dirty="0"/>
          </a:p>
        </p:txBody>
      </p:sp>
      <p:sp>
        <p:nvSpPr>
          <p:cNvPr id="28" name="Text 24"/>
          <p:cNvSpPr txBox="1"/>
          <p:nvPr/>
        </p:nvSpPr>
        <p:spPr>
          <a:xfrm>
            <a:off x="9710928" y="299008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811F"/>
                </a:solidFill>
              </a:rPr>
              <a:t>Notes · tasks · calendar</a:t>
            </a:r>
            <a:endParaRPr lang="en-US" sz="1100" dirty="0"/>
          </a:p>
        </p:txBody>
      </p:sp>
      <p:sp>
        <p:nvSpPr>
          <p:cNvPr id="29" name="Text 25"/>
          <p:cNvSpPr txBox="1"/>
          <p:nvPr/>
        </p:nvSpPr>
        <p:spPr>
          <a:xfrm>
            <a:off x="7104888" y="3337560"/>
            <a:ext cx="4343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Lead page: rich notes, follow-up tasks, calendar meetings, WhatsApp (free text or approved template), email from templates.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502920" y="4544568"/>
            <a:ext cx="5486400" cy="1600200"/>
          </a:xfrm>
          <a:prstGeom prst="roundRect">
            <a:avLst>
              <a:gd name="adj" fmla="val 4571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704088" y="4773168"/>
            <a:ext cx="566928" cy="566928"/>
          </a:xfrm>
          <a:prstGeom prst="ellipse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pic>
        <p:nvPicPr>
          <p:cNvPr id="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151" y="4909231"/>
            <a:ext cx="294803" cy="294803"/>
          </a:xfrm>
          <a:prstGeom prst="rect">
            <a:avLst/>
          </a:prstGeom>
        </p:spPr>
      </p:pic>
      <p:sp>
        <p:nvSpPr>
          <p:cNvPr id="33" name="Text 28"/>
          <p:cNvSpPr txBox="1"/>
          <p:nvPr/>
        </p:nvSpPr>
        <p:spPr>
          <a:xfrm>
            <a:off x="1463040" y="47274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Lead Finder</a:t>
            </a:r>
            <a:endParaRPr lang="en-US" sz="1500" dirty="0"/>
          </a:p>
        </p:txBody>
      </p:sp>
      <p:sp>
        <p:nvSpPr>
          <p:cNvPr id="34" name="Text 29"/>
          <p:cNvSpPr txBox="1"/>
          <p:nvPr/>
        </p:nvSpPr>
        <p:spPr>
          <a:xfrm>
            <a:off x="4069080" y="474573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811F"/>
                </a:solidFill>
              </a:rPr>
              <a:t>15 prospects</a:t>
            </a:r>
            <a:endParaRPr lang="en-US" sz="1100" dirty="0"/>
          </a:p>
        </p:txBody>
      </p:sp>
      <p:sp>
        <p:nvSpPr>
          <p:cNvPr id="35" name="Text 30"/>
          <p:cNvSpPr txBox="1"/>
          <p:nvPr/>
        </p:nvSpPr>
        <p:spPr>
          <a:xfrm>
            <a:off x="1463040" y="5093208"/>
            <a:ext cx="4343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Google Maps by business type + city through Apify, or public websites; every result reviewed before it becomes a lead.</a:t>
            </a:r>
            <a:endParaRPr lang="en-US" sz="1100" dirty="0"/>
          </a:p>
        </p:txBody>
      </p:sp>
      <p:sp>
        <p:nvSpPr>
          <p:cNvPr id="36" name="Shape 31"/>
          <p:cNvSpPr/>
          <p:nvPr/>
        </p:nvSpPr>
        <p:spPr>
          <a:xfrm>
            <a:off x="6144768" y="4544568"/>
            <a:ext cx="5486400" cy="1600200"/>
          </a:xfrm>
          <a:prstGeom prst="roundRect">
            <a:avLst>
              <a:gd name="adj" fmla="val 4571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37" name="Shape 32"/>
          <p:cNvSpPr/>
          <p:nvPr/>
        </p:nvSpPr>
        <p:spPr>
          <a:xfrm>
            <a:off x="6345936" y="4773168"/>
            <a:ext cx="566928" cy="566928"/>
          </a:xfrm>
          <a:prstGeom prst="ellipse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1999" y="4909231"/>
            <a:ext cx="294803" cy="294803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7104888" y="47274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WhatsApp broadcast</a:t>
            </a:r>
            <a:endParaRPr lang="en-US" sz="1500" dirty="0"/>
          </a:p>
        </p:txBody>
      </p:sp>
      <p:sp>
        <p:nvSpPr>
          <p:cNvPr id="40" name="Text 34"/>
          <p:cNvSpPr txBox="1"/>
          <p:nvPr/>
        </p:nvSpPr>
        <p:spPr>
          <a:xfrm>
            <a:off x="9710928" y="474573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811F"/>
                </a:solidFill>
              </a:rPr>
              <a:t>4 templates</a:t>
            </a:r>
            <a:endParaRPr lang="en-US" sz="1100" dirty="0"/>
          </a:p>
        </p:txBody>
      </p:sp>
      <p:sp>
        <p:nvSpPr>
          <p:cNvPr id="41" name="Text 35"/>
          <p:cNvSpPr txBox="1"/>
          <p:nvPr/>
        </p:nvSpPr>
        <p:spPr>
          <a:xfrm>
            <a:off x="7104888" y="5093208"/>
            <a:ext cx="4343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One approved template to clients or leads; consent and STOP opt-outs respected; insights per campaign.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98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0292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MODULE 03  ·  DOCUMENTS &amp; VAULT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02920" y="603504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The right documents, checked once, kept private</a:t>
            </a:r>
            <a:endParaRPr lang="en-US" sz="2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F6470"/>
                </a:solidFill>
              </a:rPr>
              <a:t>Questionnaire answers and the chosen service build each return's checklist; generated letters land in the same vault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3657600" cy="4480560"/>
          </a:xfrm>
          <a:prstGeom prst="roundRect">
            <a:avLst>
              <a:gd name="adj" fmla="val 2000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85800" y="18562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Checklist rules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194560"/>
            <a:ext cx="32918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10 yes/no questions (salary, business, rent, capital gains, bank profit, property, vehicle …)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18 document types, each with a client hint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Requirement rules by client type, taxpayer type, service, year, answer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 planning scenario can add evidence (e.g. Zakat certificate) with the reason shown to the client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47548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Statuses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" y="5074920"/>
            <a:ext cx="1508760" cy="256032"/>
          </a:xfrm>
          <a:prstGeom prst="roundRect">
            <a:avLst>
              <a:gd name="adj" fmla="val 50000"/>
            </a:avLst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50749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Requested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331720" y="5074920"/>
            <a:ext cx="1508760" cy="256032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331720" y="50749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Pending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5800" y="5422392"/>
            <a:ext cx="1508760" cy="256032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54223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Verified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331720" y="5422392"/>
            <a:ext cx="1508760" cy="256032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331720" y="54223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Rejected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5806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470"/>
                </a:solidFill>
              </a:rPr>
              <a:t>Upload → staff verify / reject (with reason) → all required verified → return moves to Draft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89120" y="1737360"/>
            <a:ext cx="7296912" cy="4480560"/>
          </a:xfrm>
          <a:prstGeom prst="roundRect">
            <a:avLst>
              <a:gd name="adj" fmla="val 1633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4572000" y="185623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Generated documents  ·  19 issued</a:t>
            </a:r>
            <a:endParaRPr lang="en-US" sz="1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2212848"/>
          <a:ext cx="6931152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188720"/>
                <a:gridCol w="34564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4AF37"/>
                          </a:solidFill>
                        </a:rPr>
                        <a:t>Document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4AF37"/>
                          </a:solidFill>
                        </a:rPr>
                        <a:t>From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4AF37"/>
                          </a:solidFill>
                        </a:rPr>
                        <a:t>Purpose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Authority Letter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Client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Lets the firm file on IRIS for the client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Engagement Letter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Engagement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Scope, fee and what is needed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Document Checklist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Return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Every document, with what is missing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Tax Computation Summary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Return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Income, tax, refund or payable on one page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Wealth Statement Summary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Return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Assets, liabilities and net wealth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Withholding Certificate Request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Return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Ready letter to employer or bank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Filing Confirmation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Return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Only after the IRIS acknowledgment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Tax Planning Report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Scenario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What-if vs this year and last year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Text 18"/>
          <p:cNvSpPr txBox="1"/>
          <p:nvPr/>
        </p:nvSpPr>
        <p:spPr>
          <a:xfrm>
            <a:off x="4572000" y="553212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F6470"/>
                </a:solidFill>
              </a:rPr>
              <a:t>Jinja print formats on the firm letterhead, rendered to PDF, versioned (v1, v2 …) and stored privately; clients download them from their vault.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98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0292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MODULE 04  ·  TAX ENGINE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02920" y="603504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How a return's tax is calculated</a:t>
            </a:r>
            <a:endParaRPr lang="en-US" sz="2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F6470"/>
                </a:solidFill>
              </a:rPr>
              <a:t>Worked example: TAX-RET-2026-00006 · Usman Ghani (test) · TY2026 · Salaried Individual · demo rates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5852160" cy="4480560"/>
          </a:xfrm>
          <a:prstGeom prst="roundRect">
            <a:avLst>
              <a:gd name="adj" fmla="val 1633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947672"/>
            <a:ext cx="256032" cy="256032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9476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+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190195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Total income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343400" y="19019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Rs 3,117,000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77240" y="2404872"/>
            <a:ext cx="256032" cy="256032"/>
          </a:xfrm>
          <a:prstGeom prst="ellipse">
            <a:avLst/>
          </a:prstGeom>
          <a:solidFill>
            <a:srgbClr val="1BAF7A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24048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−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235915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Deductible allowances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343400" y="23591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Rs 31,250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2779776"/>
            <a:ext cx="5577840" cy="402336"/>
          </a:xfrm>
          <a:prstGeom prst="roundRect">
            <a:avLst>
              <a:gd name="adj" fmla="val 13636"/>
            </a:avLst>
          </a:prstGeom>
          <a:solidFill>
            <a:srgbClr val="F3F1EA"/>
          </a:solidFill>
          <a:ln w="12700">
            <a:solidFill>
              <a:srgbClr val="F3F1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2862072"/>
            <a:ext cx="256032" cy="256032"/>
          </a:xfrm>
          <a:prstGeom prst="ellipse">
            <a:avLst/>
          </a:prstGeom>
          <a:solidFill>
            <a:srgbClr val="A8811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28620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=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281635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Taxable income (normal)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343400" y="28163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Rs 2,968,750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77240" y="3319272"/>
            <a:ext cx="256032" cy="256032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33192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+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327355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Tax on taxable income (slab)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343400" y="32735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Rs 292,812.5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77240" y="3776472"/>
            <a:ext cx="256032" cy="256032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37764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+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188720" y="373075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Final / separate-block tax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343400" y="37307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Rs 17,550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777240" y="4233672"/>
            <a:ext cx="256032" cy="256032"/>
          </a:xfrm>
          <a:prstGeom prst="ellipse">
            <a:avLst/>
          </a:prstGeom>
          <a:solidFill>
            <a:srgbClr val="1BAF7A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77240" y="42336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−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188720" y="418795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Tax credits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343400" y="41879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Rs 4,930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4608576"/>
            <a:ext cx="5577840" cy="402336"/>
          </a:xfrm>
          <a:prstGeom prst="roundRect">
            <a:avLst>
              <a:gd name="adj" fmla="val 13636"/>
            </a:avLst>
          </a:prstGeom>
          <a:solidFill>
            <a:srgbClr val="F3F1EA"/>
          </a:solidFill>
          <a:ln w="12700">
            <a:solidFill>
              <a:srgbClr val="F3F1E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77240" y="4690872"/>
            <a:ext cx="256032" cy="256032"/>
          </a:xfrm>
          <a:prstGeom prst="ellipse">
            <a:avLst/>
          </a:prstGeom>
          <a:solidFill>
            <a:srgbClr val="A8811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=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188720" y="464515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Tax liability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343400" y="46451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Rs 305,432.5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77240" y="5148072"/>
            <a:ext cx="256032" cy="256032"/>
          </a:xfrm>
          <a:prstGeom prst="ellipse">
            <a:avLst/>
          </a:prstGeom>
          <a:solidFill>
            <a:srgbClr val="1BAF7A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77240" y="51480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−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188720" y="510235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Tax withheld / advance tax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4343400" y="51023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Rs 258,550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640080" y="5522976"/>
            <a:ext cx="5577840" cy="402336"/>
          </a:xfrm>
          <a:prstGeom prst="roundRect">
            <a:avLst>
              <a:gd name="adj" fmla="val 13636"/>
            </a:avLst>
          </a:prstGeom>
          <a:solidFill>
            <a:srgbClr val="141416"/>
          </a:solidFill>
          <a:ln w="12700">
            <a:solidFill>
              <a:srgbClr val="F3F1E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77240" y="5605272"/>
            <a:ext cx="256032" cy="256032"/>
          </a:xfrm>
          <a:prstGeom prst="ellipse">
            <a:avLst/>
          </a:prstGeom>
          <a:solidFill>
            <a:srgbClr val="A8811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77240" y="56052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=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188720" y="555955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Payable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4343400" y="55595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Rs 46,882.5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6537960" y="1737360"/>
            <a:ext cx="5148072" cy="4480560"/>
          </a:xfrm>
          <a:prstGeom prst="roundRect">
            <a:avLst>
              <a:gd name="adj" fmla="val 1633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46" name="Text 44"/>
          <p:cNvSpPr txBox="1"/>
          <p:nvPr/>
        </p:nvSpPr>
        <p:spPr>
          <a:xfrm>
            <a:off x="6720840" y="185623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Slab table · Salaried Individual · TY2026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20840" y="2212848"/>
          <a:ext cx="478231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371600"/>
                <a:gridCol w="1124712"/>
                <a:gridCol w="868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4AF37"/>
                          </a:solidFill>
                        </a:rPr>
                        <a:t>Taxable income from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4AF37"/>
                          </a:solidFill>
                        </a:rPr>
                        <a:t>to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4AF37"/>
                          </a:solidFill>
                        </a:rPr>
                        <a:t>Fixed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4AF37"/>
                          </a:solidFill>
                        </a:rPr>
                        <a:t>Rate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Rs 0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Rs 600,000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Rs 0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0%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Rs 600,000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Rs 1,200,000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Rs 0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1%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Rs 1,200,000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Rs 2,200,000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Rs 6,000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11%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Rs 2,200,000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BC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Rs 3,200,000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BC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Rs 116,000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BC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23%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BC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Rs 3,200,000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Rs 4,100,000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Rs 346,000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30%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Rs 4,100,000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and above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Rs 616,000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35%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8" name="Text 45"/>
          <p:cNvSpPr txBox="1"/>
          <p:nvPr/>
        </p:nvSpPr>
        <p:spPr>
          <a:xfrm>
            <a:off x="6720840" y="4343400"/>
            <a:ext cx="47823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Highlighted slab applies: Rs 116,000 + 23% of the amount above Rs 2,200,000. Separate-block income (bank profit) is taxed at the rate entered on its line; credits reduce normal tax only.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6720840" y="5257800"/>
            <a:ext cx="47823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F6470"/>
                </a:solidFill>
              </a:rPr>
              <a:t>Slabs, credit rules and tax years are records — the firm updates them each Finance Act, no code change. Demo rates must be validated before live use.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98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0292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MODULE 05  ·  TAX SIMULATOR &amp; SCENARIOS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02920" y="603504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Plan first, then apply the final scenario</a:t>
            </a:r>
            <a:endParaRPr lang="en-US" sz="2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F6470"/>
                </a:solidFill>
              </a:rPr>
              <a:t>Same engine and rates as the return; nothing changes the return until a consultant applies a scenario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76072" y="1737360"/>
            <a:ext cx="2090867" cy="2331720"/>
          </a:xfrm>
          <a:prstGeom prst="roundRect">
            <a:avLst>
              <a:gd name="adj" fmla="val 3499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58952" y="1920240"/>
            <a:ext cx="548640" cy="548640"/>
          </a:xfrm>
          <a:prstGeom prst="ellipse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0626" y="2051914"/>
            <a:ext cx="285293" cy="285293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" y="2578608"/>
            <a:ext cx="18256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1  Move levers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58952" y="2926080"/>
            <a:ext cx="1779971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Income per group, add-backs, allowances, credits, tax paid — sliders and amounts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630363" y="2898648"/>
            <a:ext cx="219456" cy="0"/>
          </a:xfrm>
          <a:prstGeom prst="line">
            <a:avLst/>
          </a:prstGeom>
          <a:noFill/>
          <a:ln w="15875">
            <a:solidFill>
              <a:srgbClr val="A8811F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2813243" y="1737360"/>
            <a:ext cx="2090867" cy="2331720"/>
          </a:xfrm>
          <a:prstGeom prst="roundRect">
            <a:avLst>
              <a:gd name="adj" fmla="val 3499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2996123" y="1920240"/>
            <a:ext cx="548640" cy="548640"/>
          </a:xfrm>
          <a:prstGeom prst="ellipse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7797" y="2051914"/>
            <a:ext cx="285293" cy="285293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2996123" y="2578608"/>
            <a:ext cx="18256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2  Compare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2996123" y="2926080"/>
            <a:ext cx="1779971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Last year's filed return · this year's actual · simulated — table and chart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4867534" y="2898648"/>
            <a:ext cx="219456" cy="0"/>
          </a:xfrm>
          <a:prstGeom prst="line">
            <a:avLst/>
          </a:prstGeom>
          <a:noFill/>
          <a:ln w="15875">
            <a:solidFill>
              <a:srgbClr val="A8811F"/>
            </a:solidFill>
            <a:prstDash val="solid"/>
            <a:tailEnd type="triangle"/>
          </a:ln>
        </p:spPr>
      </p:sp>
      <p:sp>
        <p:nvSpPr>
          <p:cNvPr id="17" name="Shape 13"/>
          <p:cNvSpPr/>
          <p:nvPr/>
        </p:nvSpPr>
        <p:spPr>
          <a:xfrm>
            <a:off x="5050414" y="1737360"/>
            <a:ext cx="2090867" cy="2331720"/>
          </a:xfrm>
          <a:prstGeom prst="roundRect">
            <a:avLst>
              <a:gd name="adj" fmla="val 3499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233294" y="1920240"/>
            <a:ext cx="548640" cy="548640"/>
          </a:xfrm>
          <a:prstGeom prst="ellipse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968" y="2051914"/>
            <a:ext cx="285293" cy="285293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5233294" y="2578608"/>
            <a:ext cx="18256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3  Save scenarios</a:t>
            </a:r>
            <a:endParaRPr lang="en-US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5233294" y="2926080"/>
            <a:ext cx="1779971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Name + client notes; compare up to 3; lowest tax marked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7104705" y="2898648"/>
            <a:ext cx="219456" cy="0"/>
          </a:xfrm>
          <a:prstGeom prst="line">
            <a:avLst/>
          </a:prstGeom>
          <a:noFill/>
          <a:ln w="15875">
            <a:solidFill>
              <a:srgbClr val="A8811F"/>
            </a:solidFill>
            <a:prstDash val="solid"/>
            <a:tailEnd type="triangle"/>
          </a:ln>
        </p:spPr>
      </p:sp>
      <p:sp>
        <p:nvSpPr>
          <p:cNvPr id="23" name="Shape 18"/>
          <p:cNvSpPr/>
          <p:nvPr/>
        </p:nvSpPr>
        <p:spPr>
          <a:xfrm>
            <a:off x="7287585" y="1737360"/>
            <a:ext cx="2090867" cy="2331720"/>
          </a:xfrm>
          <a:prstGeom prst="roundRect">
            <a:avLst>
              <a:gd name="adj" fmla="val 3499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7470465" y="1920240"/>
            <a:ext cx="548640" cy="548640"/>
          </a:xfrm>
          <a:prstGeom prst="ellipse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2139" y="2051914"/>
            <a:ext cx="285293" cy="285293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7470465" y="2578608"/>
            <a:ext cx="18256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4  PDF report</a:t>
            </a:r>
            <a:endParaRPr lang="en-US" sz="1300" dirty="0"/>
          </a:p>
        </p:txBody>
      </p:sp>
      <p:sp>
        <p:nvSpPr>
          <p:cNvPr id="27" name="Text 21"/>
          <p:cNvSpPr txBox="1"/>
          <p:nvPr/>
        </p:nvSpPr>
        <p:spPr>
          <a:xfrm>
            <a:off x="7470465" y="2926080"/>
            <a:ext cx="1779971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Tax Planning Report PDF into the client's vault</a:t>
            </a:r>
            <a:endParaRPr lang="en-US" sz="1100" dirty="0"/>
          </a:p>
        </p:txBody>
      </p:sp>
      <p:sp>
        <p:nvSpPr>
          <p:cNvPr id="28" name="Shape 22"/>
          <p:cNvSpPr/>
          <p:nvPr/>
        </p:nvSpPr>
        <p:spPr>
          <a:xfrm>
            <a:off x="9341876" y="2898648"/>
            <a:ext cx="219456" cy="0"/>
          </a:xfrm>
          <a:prstGeom prst="line">
            <a:avLst/>
          </a:prstGeom>
          <a:noFill/>
          <a:ln w="15875">
            <a:solidFill>
              <a:srgbClr val="A8811F"/>
            </a:solidFill>
            <a:prstDash val="solid"/>
            <a:tailEnd type="triangle"/>
          </a:ln>
        </p:spPr>
      </p:sp>
      <p:sp>
        <p:nvSpPr>
          <p:cNvPr id="29" name="Shape 23"/>
          <p:cNvSpPr/>
          <p:nvPr/>
        </p:nvSpPr>
        <p:spPr>
          <a:xfrm>
            <a:off x="9524756" y="1737360"/>
            <a:ext cx="2090867" cy="2331720"/>
          </a:xfrm>
          <a:prstGeom prst="roundRect">
            <a:avLst>
              <a:gd name="adj" fmla="val 3499"/>
            </a:avLst>
          </a:prstGeom>
          <a:solidFill>
            <a:srgbClr val="141416"/>
          </a:solidFill>
          <a:ln w="9525">
            <a:solidFill>
              <a:srgbClr val="141416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9707636" y="1920240"/>
            <a:ext cx="548640" cy="54864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39310" y="2051914"/>
            <a:ext cx="285293" cy="285293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9707636" y="2578608"/>
            <a:ext cx="18256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  Apply</a:t>
            </a:r>
            <a:endParaRPr lang="en-US" sz="1300" dirty="0"/>
          </a:p>
        </p:txBody>
      </p:sp>
      <p:sp>
        <p:nvSpPr>
          <p:cNvPr id="33" name="Text 26"/>
          <p:cNvSpPr txBox="1"/>
          <p:nvPr/>
        </p:nvSpPr>
        <p:spPr>
          <a:xfrm>
            <a:off x="9707636" y="2926080"/>
            <a:ext cx="1779971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8D2C2"/>
                </a:solidFill>
              </a:rPr>
              <a:t>Preview line changes → write lines → recalculate → request evidence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502920" y="4297680"/>
            <a:ext cx="11185855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731520" y="44165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Safeguards when a scenario is applied</a:t>
            </a:r>
            <a:endParaRPr lang="en-US" sz="1400" dirty="0"/>
          </a:p>
        </p:txBody>
      </p:sp>
      <p:sp>
        <p:nvSpPr>
          <p:cNvPr id="36" name="Text 29"/>
          <p:cNvSpPr txBox="1"/>
          <p:nvPr/>
        </p:nvSpPr>
        <p:spPr>
          <a:xfrm>
            <a:off x="731520" y="48006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A8811F"/>
                </a:solidFill>
              </a:rPr>
              <a:t>Only while preparing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731520" y="5093208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Documents Pending, Draft or Changes Required</a:t>
            </a:r>
            <a:endParaRPr lang="en-US" sz="1100" dirty="0"/>
          </a:p>
        </p:txBody>
      </p:sp>
      <p:sp>
        <p:nvSpPr>
          <p:cNvPr id="38" name="Text 31"/>
          <p:cNvSpPr txBox="1"/>
          <p:nvPr/>
        </p:nvSpPr>
        <p:spPr>
          <a:xfrm>
            <a:off x="3520440" y="48006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A8811F"/>
                </a:solidFill>
              </a:rPr>
              <a:t>One at a time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3520440" y="5093208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Undo the applied scenario before another</a:t>
            </a:r>
            <a:endParaRPr lang="en-US" sz="1100" dirty="0"/>
          </a:p>
        </p:txBody>
      </p:sp>
      <p:sp>
        <p:nvSpPr>
          <p:cNvPr id="40" name="Text 33"/>
          <p:cNvSpPr txBox="1"/>
          <p:nvPr/>
        </p:nvSpPr>
        <p:spPr>
          <a:xfrm>
            <a:off x="6309360" y="48006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A8811F"/>
                </a:solidFill>
              </a:rPr>
              <a:t>Evidence required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6309360" y="5093208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New deductions / credits add required documents — Submit for Review blocked until verified</a:t>
            </a:r>
            <a:endParaRPr lang="en-US" sz="1100" dirty="0"/>
          </a:p>
        </p:txBody>
      </p:sp>
      <p:sp>
        <p:nvSpPr>
          <p:cNvPr id="42" name="Text 35"/>
          <p:cNvSpPr txBox="1"/>
          <p:nvPr/>
        </p:nvSpPr>
        <p:spPr>
          <a:xfrm>
            <a:off x="9098280" y="48006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A8811F"/>
                </a:solidFill>
              </a:rPr>
              <a:t>Undo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9098280" y="5093208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Restores every line exactly and recalculates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98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0292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REVIEW, APPROVAL &amp; FILING CONTROLS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02920" y="603504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Built-in controls that protect client and firm</a:t>
            </a:r>
            <a:endParaRPr lang="en-US" sz="2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F6470"/>
                </a:solidFill>
              </a:rPr>
              <a:t>Each control is enforced on the server when the state changes — not only hidden in the screen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3611880" cy="18288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04088" y="1938528"/>
            <a:ext cx="566928" cy="566928"/>
          </a:xfrm>
          <a:prstGeom prst="ellipse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0151" y="2074591"/>
            <a:ext cx="294803" cy="294803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417320" y="20116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Four-eyes approval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04088" y="2633472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The preparer can never approve; approval needs the client's confirmation first.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261104" y="1737360"/>
            <a:ext cx="3611880" cy="18288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462272" y="1938528"/>
            <a:ext cx="566928" cy="566928"/>
          </a:xfrm>
          <a:prstGeom prst="ellipse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8335" y="2074591"/>
            <a:ext cx="294803" cy="29480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175504" y="20116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Content hash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4462272" y="2633472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Approval stores a hash of the figures; any change cancels it and reopens review.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8019288" y="1737360"/>
            <a:ext cx="3611880" cy="18288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20456" y="1938528"/>
            <a:ext cx="566928" cy="566928"/>
          </a:xfrm>
          <a:prstGeom prst="ellipse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6519" y="2074591"/>
            <a:ext cx="294803" cy="29480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933688" y="20116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Review checklist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8220456" y="2633472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Mark Reviewed needs a saved Tax Review with every checklist item answered.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502920" y="3749040"/>
            <a:ext cx="3611880" cy="18288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04088" y="3950208"/>
            <a:ext cx="566928" cy="566928"/>
          </a:xfrm>
          <a:prstGeom prst="ellipse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151" y="4086271"/>
            <a:ext cx="294803" cy="294803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417320" y="40233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IRIS evidence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704088" y="4645152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Acknowledged only with the IRIS number and the FBR receipt attached.</a:t>
            </a:r>
            <a:endParaRPr lang="en-US" sz="1200" dirty="0"/>
          </a:p>
        </p:txBody>
      </p:sp>
      <p:sp>
        <p:nvSpPr>
          <p:cNvPr id="25" name="Shape 19"/>
          <p:cNvSpPr/>
          <p:nvPr/>
        </p:nvSpPr>
        <p:spPr>
          <a:xfrm>
            <a:off x="4261104" y="3749040"/>
            <a:ext cx="3611880" cy="18288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462272" y="3950208"/>
            <a:ext cx="566928" cy="566928"/>
          </a:xfrm>
          <a:prstGeom prst="ellipse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8335" y="4086271"/>
            <a:ext cx="294803" cy="294803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5175504" y="40233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Filed is final</a:t>
            </a:r>
            <a:endParaRPr lang="en-US" sz="1500" dirty="0"/>
          </a:p>
        </p:txBody>
      </p:sp>
      <p:sp>
        <p:nvSpPr>
          <p:cNvPr id="29" name="Text 22"/>
          <p:cNvSpPr txBox="1"/>
          <p:nvPr/>
        </p:nvSpPr>
        <p:spPr>
          <a:xfrm>
            <a:off x="4462272" y="4645152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 filed return cannot change — a revised return is created instead.</a:t>
            </a:r>
            <a:endParaRPr lang="en-US" sz="1200" dirty="0"/>
          </a:p>
        </p:txBody>
      </p:sp>
      <p:sp>
        <p:nvSpPr>
          <p:cNvPr id="30" name="Shape 23"/>
          <p:cNvSpPr/>
          <p:nvPr/>
        </p:nvSpPr>
        <p:spPr>
          <a:xfrm>
            <a:off x="8019288" y="3749040"/>
            <a:ext cx="3611880" cy="18288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220456" y="3950208"/>
            <a:ext cx="566928" cy="566928"/>
          </a:xfrm>
          <a:prstGeom prst="ellipse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56519" y="4086271"/>
            <a:ext cx="294803" cy="294803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8933688" y="40233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Audit trail</a:t>
            </a:r>
            <a:endParaRPr lang="en-US" sz="1500" dirty="0"/>
          </a:p>
        </p:txBody>
      </p:sp>
      <p:sp>
        <p:nvSpPr>
          <p:cNvPr id="34" name="Text 26"/>
          <p:cNvSpPr txBox="1"/>
          <p:nvPr/>
        </p:nvSpPr>
        <p:spPr>
          <a:xfrm>
            <a:off x="8220456" y="4645152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790 events: who moved what, from which state, when.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98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0292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BILLING &amp; ACCOUNTING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02920" y="603504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Packages, fee proofs and the ERPNext postings</a:t>
            </a:r>
            <a:endParaRPr lang="en-US" sz="2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F6470"/>
                </a:solidFill>
              </a:rPr>
              <a:t>This season: Rs 554,000 billed · Rs 330,500 collected · Rs 223,500 outstanding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310610" y="1737360"/>
            <a:ext cx="621792" cy="621792"/>
          </a:xfrm>
          <a:prstGeom prst="ellipse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59840" y="1886590"/>
            <a:ext cx="323332" cy="32333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005554" y="2048256"/>
            <a:ext cx="1469075" cy="0"/>
          </a:xfrm>
          <a:prstGeom prst="line">
            <a:avLst/>
          </a:prstGeom>
          <a:noFill/>
          <a:ln w="15875">
            <a:solidFill>
              <a:srgbClr val="A8811F"/>
            </a:solidFill>
            <a:prstDash val="solid"/>
            <a:tailEnd type="triangle"/>
          </a:ln>
        </p:spPr>
      </p:sp>
      <p:sp>
        <p:nvSpPr>
          <p:cNvPr id="8" name="Text 5"/>
          <p:cNvSpPr txBox="1"/>
          <p:nvPr/>
        </p:nvSpPr>
        <p:spPr>
          <a:xfrm>
            <a:off x="594360" y="2468880"/>
            <a:ext cx="20542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Package chosen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2770632"/>
            <a:ext cx="205429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470"/>
                </a:solidFill>
              </a:rPr>
              <a:t>Client orders in the portal (promo codes optional)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547781" y="1737360"/>
            <a:ext cx="621792" cy="621792"/>
          </a:xfrm>
          <a:prstGeom prst="ellipse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7011" y="1886590"/>
            <a:ext cx="323332" cy="323332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4242725" y="2048256"/>
            <a:ext cx="1469075" cy="0"/>
          </a:xfrm>
          <a:prstGeom prst="line">
            <a:avLst/>
          </a:prstGeom>
          <a:noFill/>
          <a:ln w="15875">
            <a:solidFill>
              <a:srgbClr val="A8811F"/>
            </a:solidFill>
            <a:prstDash val="solid"/>
            <a:tailEnd type="triangle"/>
          </a:ln>
        </p:spPr>
      </p:sp>
      <p:sp>
        <p:nvSpPr>
          <p:cNvPr id="13" name="Text 9"/>
          <p:cNvSpPr txBox="1"/>
          <p:nvPr/>
        </p:nvSpPr>
        <p:spPr>
          <a:xfrm>
            <a:off x="2831531" y="2468880"/>
            <a:ext cx="20542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Engagement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2831531" y="2770632"/>
            <a:ext cx="205429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470"/>
                </a:solidFill>
              </a:rPr>
              <a:t>Fee, discount, payment status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5784952" y="1737360"/>
            <a:ext cx="621792" cy="621792"/>
          </a:xfrm>
          <a:prstGeom prst="ellipse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4182" y="1886590"/>
            <a:ext cx="323332" cy="323332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6479896" y="2048256"/>
            <a:ext cx="1469075" cy="0"/>
          </a:xfrm>
          <a:prstGeom prst="line">
            <a:avLst/>
          </a:prstGeom>
          <a:noFill/>
          <a:ln w="15875">
            <a:solidFill>
              <a:srgbClr val="A8811F"/>
            </a:solidFill>
            <a:prstDash val="solid"/>
            <a:tailEnd type="triangle"/>
          </a:ln>
        </p:spPr>
      </p:sp>
      <p:sp>
        <p:nvSpPr>
          <p:cNvPr id="18" name="Text 13"/>
          <p:cNvSpPr txBox="1"/>
          <p:nvPr/>
        </p:nvSpPr>
        <p:spPr>
          <a:xfrm>
            <a:off x="5068702" y="2468880"/>
            <a:ext cx="20542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Payment proof</a:t>
            </a:r>
            <a:endParaRPr lang="en-US" sz="1300" dirty="0"/>
          </a:p>
        </p:txBody>
      </p:sp>
      <p:sp>
        <p:nvSpPr>
          <p:cNvPr id="19" name="Text 14"/>
          <p:cNvSpPr txBox="1"/>
          <p:nvPr/>
        </p:nvSpPr>
        <p:spPr>
          <a:xfrm>
            <a:off x="5068702" y="2770632"/>
            <a:ext cx="205429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470"/>
                </a:solidFill>
              </a:rPr>
              <a:t>Raast / bank / JazzCash / Easypaisa reference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022123" y="1737360"/>
            <a:ext cx="621792" cy="621792"/>
          </a:xfrm>
          <a:prstGeom prst="ellipse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1353" y="1886590"/>
            <a:ext cx="323332" cy="323332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8717067" y="2048256"/>
            <a:ext cx="1469075" cy="0"/>
          </a:xfrm>
          <a:prstGeom prst="line">
            <a:avLst/>
          </a:prstGeom>
          <a:noFill/>
          <a:ln w="15875">
            <a:solidFill>
              <a:srgbClr val="A8811F"/>
            </a:solidFill>
            <a:prstDash val="solid"/>
            <a:tailEnd type="triangle"/>
          </a:ln>
        </p:spPr>
      </p:sp>
      <p:sp>
        <p:nvSpPr>
          <p:cNvPr id="23" name="Text 17"/>
          <p:cNvSpPr txBox="1"/>
          <p:nvPr/>
        </p:nvSpPr>
        <p:spPr>
          <a:xfrm>
            <a:off x="7305873" y="2468880"/>
            <a:ext cx="20542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Verified by admin</a:t>
            </a:r>
            <a:endParaRPr lang="en-US" sz="1300" dirty="0"/>
          </a:p>
        </p:txBody>
      </p:sp>
      <p:sp>
        <p:nvSpPr>
          <p:cNvPr id="24" name="Text 18"/>
          <p:cNvSpPr txBox="1"/>
          <p:nvPr/>
        </p:nvSpPr>
        <p:spPr>
          <a:xfrm>
            <a:off x="7305873" y="2770632"/>
            <a:ext cx="205429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470"/>
                </a:solidFill>
              </a:rPr>
              <a:t>Approve or reject with reason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10259294" y="1737360"/>
            <a:ext cx="621792" cy="621792"/>
          </a:xfrm>
          <a:prstGeom prst="ellipse">
            <a:avLst/>
          </a:prstGeom>
          <a:solidFill>
            <a:srgbClr val="A8811F"/>
          </a:solidFill>
          <a:ln w="12700">
            <a:solidFill>
              <a:srgbClr val="A8811F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08524" y="1886590"/>
            <a:ext cx="323332" cy="32333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9543044" y="2468880"/>
            <a:ext cx="20542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Posted to accounts</a:t>
            </a:r>
            <a:endParaRPr lang="en-US" sz="1300" dirty="0"/>
          </a:p>
        </p:txBody>
      </p:sp>
      <p:sp>
        <p:nvSpPr>
          <p:cNvPr id="28" name="Text 21"/>
          <p:cNvSpPr txBox="1"/>
          <p:nvPr/>
        </p:nvSpPr>
        <p:spPr>
          <a:xfrm>
            <a:off x="9543044" y="2770632"/>
            <a:ext cx="205429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470"/>
                </a:solidFill>
              </a:rPr>
              <a:t>Sales Invoice + Payment Entry in ERPNext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502920" y="3611880"/>
            <a:ext cx="5486400" cy="2606040"/>
          </a:xfrm>
          <a:prstGeom prst="roundRect">
            <a:avLst>
              <a:gd name="adj" fmla="val 2807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30" name="Text 23"/>
          <p:cNvSpPr txBox="1"/>
          <p:nvPr/>
        </p:nvSpPr>
        <p:spPr>
          <a:xfrm>
            <a:off x="685800" y="373075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Packages on the website</a:t>
            </a:r>
            <a:endParaRPr lang="en-US" sz="14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4069080"/>
          <a:ext cx="512064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600200"/>
                <a:gridCol w="118872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4AF37"/>
                          </a:solidFill>
                        </a:rPr>
                        <a:t>Package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4AF37"/>
                          </a:solidFill>
                        </a:rPr>
                        <a:t>Service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4AF37"/>
                          </a:solidFill>
                        </a:rPr>
                        <a:t>Turnaround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4AF37"/>
                          </a:solidFill>
                        </a:rPr>
                        <a:t>Price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Basic Filing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Income Tax Return Filing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3–5 working days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Rs 4,500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Express Filing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Income Tax Return Filing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24–48 hours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Rs 10,000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Consultant Plus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Income Tax Return Filing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By appointment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Rs 20,000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NTN Registration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NTN Registration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1–2 working days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Rs 2,000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2" name="Shape 24"/>
          <p:cNvSpPr/>
          <p:nvPr/>
        </p:nvSpPr>
        <p:spPr>
          <a:xfrm>
            <a:off x="6263640" y="3611880"/>
            <a:ext cx="5422392" cy="2606040"/>
          </a:xfrm>
          <a:prstGeom prst="roundRect">
            <a:avLst>
              <a:gd name="adj" fmla="val 2807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33" name="Text 25"/>
          <p:cNvSpPr txBox="1"/>
          <p:nvPr/>
        </p:nvSpPr>
        <p:spPr>
          <a:xfrm>
            <a:off x="6446520" y="37307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Packages sold · TY2026</a:t>
            </a:r>
            <a:endParaRPr lang="en-US" sz="1400" dirty="0"/>
          </a:p>
        </p:txBody>
      </p:sp>
      <p:graphicFrame>
        <p:nvGraphicFramePr>
          <p:cNvPr id="34" name="Chart 0" descr=""/>
          <p:cNvGraphicFramePr/>
          <p:nvPr/>
        </p:nvGraphicFramePr>
        <p:xfrm>
          <a:off x="6446520" y="4023360"/>
          <a:ext cx="507492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98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0292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INSIGHTS &amp; REPORT CENTER</a:t>
            </a:r>
            <a:endParaRPr lang="en-US" sz="11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02920" y="603504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The season at a glance, and every report</a:t>
            </a:r>
            <a:endParaRPr lang="en-US" sz="2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F6470"/>
                </a:solidFill>
              </a:rPr>
              <a:t>Insights and reports are scoped like everything else: a consultant sees only their own clients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262432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85800" y="181051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A88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 / 54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3317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6470"/>
                </a:solidFill>
              </a:rPr>
              <a:t>returns filed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10128" y="1737360"/>
            <a:ext cx="262432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493008" y="181051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A88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26.6 d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3493008" y="23317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6470"/>
                </a:solidFill>
              </a:rPr>
              <a:t>order → IRIS ack (avg)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17336" y="1737360"/>
            <a:ext cx="262432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300216" y="181051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A88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73%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6300216" y="23317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6470"/>
                </a:solidFill>
              </a:rPr>
              <a:t>field visits → clients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24544" y="1737360"/>
            <a:ext cx="262432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9107424" y="181051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A88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Rs 223,500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9107424" y="23317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6470"/>
                </a:solidFill>
              </a:rPr>
              <a:t>fees outstanding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2880360"/>
            <a:ext cx="6949440" cy="3337560"/>
          </a:xfrm>
          <a:prstGeom prst="roundRect">
            <a:avLst>
              <a:gd name="adj" fmla="val 2192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graphicFrame>
        <p:nvGraphicFramePr>
          <p:cNvPr id="18" name="Chart 0" descr=""/>
          <p:cNvGraphicFramePr/>
          <p:nvPr/>
        </p:nvGraphicFramePr>
        <p:xfrm>
          <a:off x="640080" y="2971800"/>
          <a:ext cx="667512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7635240" y="2880360"/>
            <a:ext cx="4050792" cy="3337560"/>
          </a:xfrm>
          <a:prstGeom prst="roundRect">
            <a:avLst>
              <a:gd name="adj" fmla="val 2192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7818120" y="29992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Report center  ·  10 reports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7818120" y="3337560"/>
            <a:ext cx="3703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Returns by Status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Review and Approval Aging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Consultant Workload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Missing Documents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Filing Status and Errors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Tax Payable and Refund Summary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Fees and Collections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Client Master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Site Visits and Follow-ups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Consultation Requests Report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818120" y="58064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F6470"/>
                </a:solidFill>
              </a:rPr>
              <a:t>Run in the portal · filter · sort · search · CSV · open in desk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98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0292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ROLES &amp; PERMISSIONS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02920" y="603504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What each role may do on the key records</a:t>
            </a:r>
            <a:endParaRPr lang="en-US" sz="2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F6470"/>
                </a:solidFill>
              </a:rPr>
              <a:t>R read · E edit · C create · D delete. Editable per role in Setup → Roles &amp; Permissions (Tax Admin, System Manager and Client are fixed)</a:t>
            </a:r>
            <a:endParaRPr lang="en-US" sz="13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83080"/>
          <a:ext cx="11185855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1289304"/>
                <a:gridCol w="1289304"/>
                <a:gridCol w="1289304"/>
                <a:gridCol w="1289304"/>
                <a:gridCol w="1289304"/>
                <a:gridCol w="1289304"/>
                <a:gridCol w="1289304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4AF37"/>
                          </a:solidFill>
                        </a:rPr>
                        <a:t>Record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4AF37"/>
                          </a:solidFill>
                        </a:rPr>
                        <a:t>Admin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4AF37"/>
                          </a:solidFill>
                        </a:rPr>
                        <a:t>Consultant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4AF37"/>
                          </a:solidFill>
                        </a:rPr>
                        <a:t>Reviewer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4AF37"/>
                          </a:solidFill>
                        </a:rPr>
                        <a:t>Approver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4AF37"/>
                          </a:solidFill>
                        </a:rPr>
                        <a:t>Filing Officer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4AF37"/>
                          </a:solidFill>
                        </a:rPr>
                        <a:t>Field Officer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4AF37"/>
                          </a:solidFill>
                        </a:rPr>
                        <a:t>Client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Tax Client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811F"/>
                          </a:solidFill>
                        </a:rPr>
                        <a:t>R E C D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811F"/>
                          </a:solidFill>
                        </a:rPr>
                        <a:t>R E C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811F"/>
                          </a:solidFill>
                        </a:rPr>
                        <a:t>R E C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811F"/>
                          </a:solidFill>
                        </a:rPr>
                        <a:t>R E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Site Visit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811F"/>
                          </a:solidFill>
                        </a:rPr>
                        <a:t>R E C D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811F"/>
                          </a:solidFill>
                        </a:rPr>
                        <a:t>R E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9B4A6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9B4A6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9B4A6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811F"/>
                          </a:solidFill>
                        </a:rPr>
                        <a:t>R E C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9B4A6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Tax Return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811F"/>
                          </a:solidFill>
                        </a:rPr>
                        <a:t>R E C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811F"/>
                          </a:solidFill>
                        </a:rPr>
                        <a:t>R E C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811F"/>
                          </a:solidFill>
                        </a:rPr>
                        <a:t>R E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811F"/>
                          </a:solidFill>
                        </a:rPr>
                        <a:t>R E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811F"/>
                          </a:solidFill>
                        </a:rPr>
                        <a:t>R E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Tax Calculation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811F"/>
                          </a:solidFill>
                        </a:rPr>
                        <a:t>R E C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811F"/>
                          </a:solidFill>
                        </a:rPr>
                        <a:t>R E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9B4A6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Tax Scenario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811F"/>
                          </a:solidFill>
                        </a:rPr>
                        <a:t>R E C D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811F"/>
                          </a:solidFill>
                        </a:rPr>
                        <a:t>R E C D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9B4A6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9B4A6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9B4A6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Tax Review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811F"/>
                          </a:solidFill>
                        </a:rPr>
                        <a:t>R E C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9B4A6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9B4A6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9B4A6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Tax Approval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811F"/>
                          </a:solidFill>
                        </a:rPr>
                        <a:t>R E C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9B4A6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9B4A6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Filing Record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811F"/>
                          </a:solidFill>
                        </a:rPr>
                        <a:t>R E C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9B4A6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Tax Document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811F"/>
                          </a:solidFill>
                        </a:rPr>
                        <a:t>R E C D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811F"/>
                          </a:solidFill>
                        </a:rPr>
                        <a:t>R E C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811F"/>
                          </a:solidFill>
                        </a:rPr>
                        <a:t>R E C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811F"/>
                          </a:solidFill>
                        </a:rPr>
                        <a:t>R E C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Generated Document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811F"/>
                          </a:solidFill>
                        </a:rPr>
                        <a:t>R E C D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811F"/>
                          </a:solidFill>
                        </a:rPr>
                        <a:t>R E C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Payment Proof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811F"/>
                          </a:solidFill>
                        </a:rPr>
                        <a:t>R E C D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9B4A6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9B4A6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9B4A6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9B4A6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811F"/>
                          </a:solidFill>
                        </a:rPr>
                        <a:t>R C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Tax Slab Setting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811F"/>
                          </a:solidFill>
                        </a:rPr>
                        <a:t>R E C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9B4A6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98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0292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SECURITY, PRIVACY &amp; COMPLIANCE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02920" y="603504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Client data stays private by design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548640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04088" y="1691640"/>
            <a:ext cx="566928" cy="566928"/>
          </a:xfrm>
          <a:prstGeom prst="ellipse">
            <a:avLst/>
          </a:prstGeom>
          <a:solidFill>
            <a:srgbClr val="A8811F"/>
          </a:solidFill>
          <a:ln w="12700">
            <a:solidFill>
              <a:srgbClr val="A8811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0151" y="1827703"/>
            <a:ext cx="294803" cy="29480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61848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Identifiers masked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1984248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CNIC shown as *****-*******-1; NTN and bank details never sent by WhatsApp or in templates.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144768" y="1417320"/>
            <a:ext cx="548640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345936" y="1691640"/>
            <a:ext cx="566928" cy="566928"/>
          </a:xfrm>
          <a:prstGeom prst="ellipse">
            <a:avLst/>
          </a:prstGeom>
          <a:solidFill>
            <a:srgbClr val="A8811F"/>
          </a:solidFill>
          <a:ln w="12700">
            <a:solidFill>
              <a:srgbClr val="A8811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1999" y="1827703"/>
            <a:ext cx="294803" cy="29480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104888" y="161848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Private files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104888" y="1984248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Documents and generated PDFs are private files, streamed only after a permission check.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02920" y="3017520"/>
            <a:ext cx="548640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04088" y="3291840"/>
            <a:ext cx="566928" cy="566928"/>
          </a:xfrm>
          <a:prstGeom prst="ellipse">
            <a:avLst/>
          </a:prstGeom>
          <a:solidFill>
            <a:srgbClr val="A8811F"/>
          </a:solidFill>
          <a:ln w="12700">
            <a:solidFill>
              <a:srgbClr val="A8811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151" y="3427903"/>
            <a:ext cx="294803" cy="29480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321868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Record-level isolation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1463040" y="3584448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Every list and document is filtered by scope: all / assigned / own registrations / own portal.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144768" y="3017520"/>
            <a:ext cx="548640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345936" y="3291840"/>
            <a:ext cx="566928" cy="566928"/>
          </a:xfrm>
          <a:prstGeom prst="ellipse">
            <a:avLst/>
          </a:prstGeom>
          <a:solidFill>
            <a:srgbClr val="A8811F"/>
          </a:solidFill>
          <a:ln w="12700">
            <a:solidFill>
              <a:srgbClr val="A8811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1999" y="3427903"/>
            <a:ext cx="294803" cy="29480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104888" y="321868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Secrets write-only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7104888" y="3584448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Tokens and API keys stored encrypted; the browser only learns whether one is set.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502920" y="4617720"/>
            <a:ext cx="548640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704088" y="4892040"/>
            <a:ext cx="566928" cy="566928"/>
          </a:xfrm>
          <a:prstGeom prst="ellipse">
            <a:avLst/>
          </a:prstGeom>
          <a:solidFill>
            <a:srgbClr val="A8811F"/>
          </a:solidFill>
          <a:ln w="12700">
            <a:solidFill>
              <a:srgbClr val="A8811F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151" y="5028103"/>
            <a:ext cx="294803" cy="29480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463040" y="481888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Codes hashed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1463040" y="5184648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Verification codes stored as hashes, rate-limited, never logged in readable form.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6144768" y="4617720"/>
            <a:ext cx="548640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6345936" y="4892040"/>
            <a:ext cx="566928" cy="566928"/>
          </a:xfrm>
          <a:prstGeom prst="ellipse">
            <a:avLst/>
          </a:prstGeom>
          <a:solidFill>
            <a:srgbClr val="A8811F"/>
          </a:solidFill>
          <a:ln w="12700">
            <a:solidFill>
              <a:srgbClr val="A8811F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81999" y="5028103"/>
            <a:ext cx="294803" cy="29480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7104888" y="481888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Consent</a:t>
            </a:r>
            <a:endParaRPr lang="en-US" sz="1500" dirty="0"/>
          </a:p>
        </p:txBody>
      </p:sp>
      <p:sp>
        <p:nvSpPr>
          <p:cNvPr id="33" name="Text 25"/>
          <p:cNvSpPr txBox="1"/>
          <p:nvPr/>
        </p:nvSpPr>
        <p:spPr>
          <a:xfrm>
            <a:off x="7104888" y="5184648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Privacy consent at sign-up; WhatsApp only with opt-in; STOP honoured in broadcasts.</a:t>
            </a:r>
            <a:endParaRPr lang="en-US" sz="1200" dirty="0"/>
          </a:p>
        </p:txBody>
      </p:sp>
      <p:sp>
        <p:nvSpPr>
          <p:cNvPr id="34" name="Text 0"/>
          <p:cNvSpPr/>
          <p:nvPr>
            <p:ph idx="103" type="body" hasCustomPrompt="1"/>
          </p:nvPr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98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0292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INTEGRATIONS &amp; SETTINGS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02920" y="603504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External services: live today, and what waits</a:t>
            </a:r>
            <a:endParaRPr lang="en-US" sz="2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F6470"/>
                </a:solidFill>
              </a:rPr>
              <a:t>Configured in Setup → Settings by the Tax Admin; secrets are stored encrypted</a:t>
            </a:r>
            <a:endParaRPr lang="en-US" sz="13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83080"/>
          <a:ext cx="1118585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2834640"/>
                <a:gridCol w="322783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4AF37"/>
                          </a:solidFill>
                        </a:rPr>
                        <a:t>Integration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4AF37"/>
                          </a:solidFill>
                        </a:rPr>
                        <a:t>Used for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4AF37"/>
                          </a:solidFill>
                        </a:rPr>
                        <a:t>Status on this site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4AF37"/>
                          </a:solidFill>
                        </a:rPr>
                        <a:t>Needed to go live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WhatsApp Cloud API (Meta)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Inbox, templates, broadcasts, codes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B6834"/>
                          </a:solidFill>
                        </a:rPr>
                        <a:t>Test mode — nothing leaves the server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Meta app, phone ID, token, approved templates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SMS gateway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Verification-code backup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B6834"/>
                          </a:solidFill>
                        </a:rPr>
                        <a:t>Console (development)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Twilio or PK bulk-SMS link + PTA sender ID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Outgoing email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Notices, invites, direct email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</a:rPr>
                        <a:t>Not set up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SMTP account (Settings → Email)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Apify (Google Maps)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Lead Finder searches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AF7A"/>
                          </a:solidFill>
                        </a:rPr>
                        <a:t>Live — token saved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Payment gateway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Online fee payment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B6834"/>
                          </a:solidFill>
                        </a:rPr>
                        <a:t>Manual proofs only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Choose JazzCash / Easypaisa / Safepay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FBR IRIS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Return filing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A78D6"/>
                          </a:solidFill>
                        </a:rPr>
                        <a:t>Manual by filing officer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No official API — evidence attached by hand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ERPNext Accounts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Invoices and payment entries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AF7A"/>
                          </a:solidFill>
                        </a:rPr>
                        <a:t>Live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98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0292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DEMO VIDEOS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02920" y="603504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See both routes end to end</a:t>
            </a:r>
            <a:endParaRPr lang="en-US" sz="2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F6470"/>
                </a:solidFill>
              </a:rPr>
              <a:t>Recorded on the demo site with fictitious clients — every screen, entry and approval is the real system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645920"/>
            <a:ext cx="5455768" cy="4663440"/>
          </a:xfrm>
          <a:prstGeom prst="roundRect">
            <a:avLst>
              <a:gd name="adj" fmla="val 1569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pic>
        <p:nvPicPr>
          <p:cNvPr id="6" name="Image 0" descr="Video 1 · Team-assisted fil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783080"/>
            <a:ext cx="4815688" cy="3009805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865044" y="2922222"/>
            <a:ext cx="731520" cy="731520"/>
          </a:xfrm>
          <a:prstGeom prst="ellipse">
            <a:avLst/>
          </a:prstGeom>
          <a:solidFill>
            <a:srgbClr val="D4AF37">
              <a:alpha val="90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5400000">
            <a:off x="3111932" y="3105102"/>
            <a:ext cx="329184" cy="365760"/>
          </a:xfrm>
          <a:prstGeom prst="triangle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4930045"/>
            <a:ext cx="5090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Video 1 · Team-assisted filing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5240941"/>
            <a:ext cx="5090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A8811F"/>
                </a:solidFill>
              </a:rPr>
              <a:t>VVS_Tax_Return_Full_Process.mp4  ·  4 min 32 s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5496973"/>
            <a:ext cx="50900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Walk-in client Usman Tariq. Admin registers him; documents arrive on WhatsApp; Zara (Data Entry) enters what he said and attaches the files; consultant prepares; reviewer checks; Zara records his phone approval; approver signs off; filing officer records the IRIS acknowledgment.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233008" y="1645920"/>
            <a:ext cx="5455768" cy="4663440"/>
          </a:xfrm>
          <a:prstGeom prst="roundRect">
            <a:avLst>
              <a:gd name="adj" fmla="val 1569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pic>
        <p:nvPicPr>
          <p:cNvPr id="13" name="Image 1" descr="Video 2 · Client journey from the websi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3048" y="1783080"/>
            <a:ext cx="4815688" cy="3009805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8595131" y="2922222"/>
            <a:ext cx="731520" cy="731520"/>
          </a:xfrm>
          <a:prstGeom prst="ellipse">
            <a:avLst/>
          </a:prstGeom>
          <a:solidFill>
            <a:srgbClr val="D4AF37">
              <a:alpha val="90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rot="5400000">
            <a:off x="8842019" y="3105102"/>
            <a:ext cx="329184" cy="365760"/>
          </a:xfrm>
          <a:prstGeom prst="triangle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415888" y="4930045"/>
            <a:ext cx="5090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Video 2 · Client journey from the website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6415888" y="5240941"/>
            <a:ext cx="5090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A8811F"/>
                </a:solidFill>
              </a:rPr>
              <a:t>VVS_Client_Journey_Website_to_Filed.mp4  ·  4 min 40 s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6415888" y="5496973"/>
            <a:ext cx="50900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Hira Naveed finds the website, requests a login with a 6-digit code, enters her own details and documents, pays by JazzCash; the team verifies and prepares; she confirms in the portal; the return is filed and acknowledged.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98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02920" y="2148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chemeClr val="accent2"/>
                </a:solidFill>
              </a:rPr>
              <a:t>NEXT STEPS</a:t>
            </a:r>
            <a:endParaRPr lang="en-US" sz="13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02920" y="25146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Decisions needed to go live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02920" y="3840480"/>
            <a:ext cx="3611880" cy="1005840"/>
          </a:xfrm>
          <a:prstGeom prst="roundRect">
            <a:avLst>
              <a:gd name="adj" fmla="val 7273"/>
            </a:avLst>
          </a:prstGeom>
          <a:solidFill>
            <a:srgbClr val="1F1E22"/>
          </a:solidFill>
          <a:ln w="9525">
            <a:solidFill>
              <a:srgbClr val="3A35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3977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4AF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3977640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Validate tax rates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429768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3B3"/>
                </a:solidFill>
              </a:rPr>
              <a:t>Slabs and credit rules are demo values — confirm against the Finance Act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61104" y="3840480"/>
            <a:ext cx="3611880" cy="1005840"/>
          </a:xfrm>
          <a:prstGeom prst="roundRect">
            <a:avLst>
              <a:gd name="adj" fmla="val 7273"/>
            </a:avLst>
          </a:prstGeom>
          <a:solidFill>
            <a:srgbClr val="1F1E22"/>
          </a:solidFill>
          <a:ln w="9525">
            <a:solidFill>
              <a:srgbClr val="3A352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43984" y="3977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4AF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855464" y="3977640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Connect messaging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855464" y="429768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3B3"/>
                </a:solidFill>
              </a:rPr>
              <a:t>Meta WhatsApp account + authentication template; SMS provider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19288" y="3840480"/>
            <a:ext cx="3611880" cy="1005840"/>
          </a:xfrm>
          <a:prstGeom prst="roundRect">
            <a:avLst>
              <a:gd name="adj" fmla="val 7273"/>
            </a:avLst>
          </a:prstGeom>
          <a:solidFill>
            <a:srgbClr val="1F1E22"/>
          </a:solidFill>
          <a:ln w="9525">
            <a:solidFill>
              <a:srgbClr val="3A352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02168" y="3977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4AF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613648" y="3977640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Set up email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613648" y="429768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3B3"/>
                </a:solidFill>
              </a:rPr>
              <a:t>Outgoing SMTP for notices and invites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5029200"/>
            <a:ext cx="3611880" cy="1005840"/>
          </a:xfrm>
          <a:prstGeom prst="roundRect">
            <a:avLst>
              <a:gd name="adj" fmla="val 7273"/>
            </a:avLst>
          </a:prstGeom>
          <a:solidFill>
            <a:srgbClr val="1F1E22"/>
          </a:solidFill>
          <a:ln w="9525">
            <a:solidFill>
              <a:srgbClr val="3A352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5166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4AF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5166360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Confirm prices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" y="548640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3B3"/>
                </a:solidFill>
              </a:rPr>
              <a:t>Express Filing Rs 10,000 shown vs Rs 12,000 discussed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261104" y="5029200"/>
            <a:ext cx="3611880" cy="1005840"/>
          </a:xfrm>
          <a:prstGeom prst="roundRect">
            <a:avLst>
              <a:gd name="adj" fmla="val 7273"/>
            </a:avLst>
          </a:prstGeom>
          <a:solidFill>
            <a:srgbClr val="1F1E22"/>
          </a:solidFill>
          <a:ln w="9525">
            <a:solidFill>
              <a:srgbClr val="3A352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443984" y="5166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4AF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4855464" y="5166360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Firm payment details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855464" y="548640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3B3"/>
                </a:solidFill>
              </a:rPr>
              <a:t>Bank / Raast / wallet titles for the How to pay box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019288" y="5029200"/>
            <a:ext cx="3611880" cy="1005840"/>
          </a:xfrm>
          <a:prstGeom prst="roundRect">
            <a:avLst>
              <a:gd name="adj" fmla="val 7273"/>
            </a:avLst>
          </a:prstGeom>
          <a:solidFill>
            <a:srgbClr val="1F1E22"/>
          </a:solidFill>
          <a:ln w="9525">
            <a:solidFill>
              <a:srgbClr val="3A352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02168" y="5166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4AF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8613648" y="5166360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Targets (SLAs)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8613648" y="548640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3B3"/>
                </a:solidFill>
              </a:rPr>
              <a:t>Days allowed per step for the late flags</a:t>
            </a:r>
            <a:endParaRPr lang="en-US" sz="1100" dirty="0"/>
          </a:p>
        </p:txBody>
      </p:sp>
      <p:sp>
        <p:nvSpPr>
          <p:cNvPr id="29" name="Text 0"/>
          <p:cNvSpPr/>
          <p:nvPr>
            <p:ph idx="103" type="body" hasCustomPrompt="1"/>
          </p:nvPr>
        </p:nvSpPr>
        <p:spPr>
          <a:xfrm>
            <a:off x="502920" y="352044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67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VS Tax Portal FSD">
  <a:themeElements>
    <a:clrScheme name="VVS Tax Portal FSD">
      <a:dk1>
        <a:srgbClr val="1B1B21"/>
      </a:dk1>
      <a:lt1>
        <a:srgbClr val="FFFFFF"/>
      </a:lt1>
      <a:dk2>
        <a:srgbClr val="141416"/>
      </a:dk2>
      <a:lt2>
        <a:srgbClr val="F3F1EA"/>
      </a:lt2>
      <a:accent1>
        <a:srgbClr val="A8811F"/>
      </a:accent1>
      <a:accent2>
        <a:srgbClr val="D4AF37"/>
      </a:accent2>
      <a:accent3>
        <a:srgbClr val="2A78D6"/>
      </a:accent3>
      <a:accent4>
        <a:srgbClr val="1BAF7A"/>
      </a:accent4>
      <a:accent5>
        <a:srgbClr val="EB6834"/>
      </a:accent5>
      <a:accent6>
        <a:srgbClr val="DC2626"/>
      </a:accent6>
      <a:hlink>
        <a:srgbClr val="A8811F"/>
      </a:hlink>
      <a:folHlink>
        <a:srgbClr val="6B5214"/>
      </a:folHlink>
    </a:clrScheme>
    <a:fontScheme name="VVS Tax Portal FSD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MicroMax Erp Pvt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VVS Tax Consultancy Portal — Functional Specification Document</dc:title>
  <dc:subject>PptxGenJS Presentation</dc:subject>
  <dc:creator>MicroMax Erp Pvt Ltd</dc:creator>
  <cp:lastModifiedBy>MicroMax Erp Pvt Ltd</cp:lastModifiedBy>
  <cp:revision>1</cp:revision>
  <dcterms:created xsi:type="dcterms:W3CDTF">2026-10-19T13:36:35Z</dcterms:created>
  <dcterms:modified xsi:type="dcterms:W3CDTF">2026-10-19T13:36:35Z</dcterms:modified>
</cp:coreProperties>
</file>