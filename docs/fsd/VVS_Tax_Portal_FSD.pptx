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82b2817-34bc-a5db-d0ff-cbef1c2b5155}">
          <p14:sldIdLst>
            <p14:sldId id="256"/>
            <p14:sldId id="257"/>
            <p14:sldId id="258"/>
            <p14:sldId id="259"/>
            <p14:sldId id="260"/>
          </p14:sldIdLst>
        </p14:section>
        <p14:section name="Data flow" id="{4e067b4b-a8ca-dd07-77f9-5ed0a0f491bb}">
          <p14:sldIdLst>
            <p14:sldId id="261"/>
            <p14:sldId id="262"/>
          </p14:sldIdLst>
        </p14:section>
        <p14:section name="Functional modules" id="{cf2bb0bf-d54e-bebf-4bf6-c2ff9d887dd4}">
          <p14:sldIdLst>
            <p14:sldId id="263"/>
            <p14:sldId id="264"/>
            <p14:sldId id="265"/>
            <p14:sldId id="266"/>
            <p14:sldId id="267"/>
            <p14:sldId id="268"/>
            <p14:sldId id="269"/>
            <p14:sldId id="270"/>
            <p14:sldId id="271"/>
            <p14:sldId id="272"/>
          </p14:sldIdLst>
        </p14:section>
        <p14:section name="Controls &amp; operations" id="{ed3b3acc-b1f5-8dd0-18fa-99736fad493f}">
          <p14:sldIdLst>
            <p14:sldId id="273"/>
            <p14:sldId id="274"/>
            <p14:sldId id="275"/>
            <p14:sldId id="276"/>
            <p14:sldId id="277"/>
            <p14:sldId id="278"/>
          </p14:sldIdLst>
        </p14:section>
        <p14:section name="Next steps" id="{751efd3e-1c4d-a89a-7bcc-a28ecbee129c}">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Fees</c:v>
                </c:pt>
              </c:strCache>
            </c:strRef>
          </c:tx>
          <c:spPr>
            <a:solidFill>
              <a:srgbClr val="A8811F"/>
            </a:solidFill>
            <a:effectLst/>
          </c:spPr>
          <c:invertIfNegative val="0"/>
          <c:dLbls>
            <c:numFmt formatCode="&quot;Rs &quot;#,##0" sourceLinked="0"/>
            <c:txPr>
              <a:bodyPr/>
              <a:lstStyle/>
              <a:p>
                <a:pPr>
                  <a:defRPr b="0" i="0" strike="noStrike" sz="1000" u="none">
                    <a:solidFill>
                      <a:srgbClr val="1B1B21"/>
                    </a:solidFill>
                    <a:latin typeface="+mn-lt"/>
                  </a:defRPr>
                </a:pPr>
              </a:p>
            </c:txPr>
            <c:showLegendKey val="0"/>
            <c:showVal val="1"/>
            <c:showCatName val="0"/>
            <c:showSerName val="0"/>
            <c:showPercent val="0"/>
            <c:showBubbleSize val="0"/>
            <c:showLeaderLines val="0"/>
          </c:dLbls>
          <c:cat>
            <c:multiLvlStrRef>
              <c:f>Sheet1!$A$2:$A$4</c:f>
              <c:multiLvlStrCache>
                <c:ptCount val="3"/>
                <c:lvl>
                  <c:pt idx="0">
                    <c:v>Express Filing</c:v>
                  </c:pt>
                  <c:pt idx="1">
                    <c:v>Consultant Plus</c:v>
                  </c:pt>
                  <c:pt idx="2">
                    <c:v>Basic Filing</c:v>
                  </c:pt>
                </c:lvl>
              </c:multiLvlStrCache>
            </c:multiLvlStrRef>
          </c:cat>
          <c:val>
            <c:numRef>
              <c:f>Sheet1!$B$2:$B$4</c:f>
              <c:numCache>
                <c:formatCode>General</c:formatCode>
                <c:ptCount val="3"/>
                <c:pt idx="0">
                  <c:v>166500</c:v>
                </c:pt>
                <c:pt idx="1">
                  <c:v>320000</c:v>
                </c:pt>
                <c:pt idx="2">
                  <c:v>67500</c:v>
                </c:pt>
              </c:numCache>
            </c:numRef>
          </c:val>
        </c:ser>
        <c:dLbls>
          <c:numFmt formatCode="&quot;Rs &quot;#,##0" sourceLinked="0"/>
          <c:txPr>
            <a:bodyPr/>
            <a:lstStyle/>
            <a:p>
              <a:pPr>
                <a:defRPr b="0" i="0" strike="noStrike" sz="1000" u="none">
                  <a:solidFill>
                    <a:srgbClr val="1B1B2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647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B21"/>
                </a:solidFill>
                <a:latin typeface="+mn-lt"/>
              </a:defRPr>
            </a:pPr>
            <a:r>
              <a:rPr sz="1300" b="0" i="0" u="none" strike="noStrike">
                <a:solidFill>
                  <a:srgbClr val="1B1B21"/>
                </a:solidFill>
                <a:latin typeface="+mn-lt"/>
              </a:rPr>
              <a:t>Season trend (per month)</a:t>
            </a:r>
          </a:p>
        </c:rich>
      </c:tx>
      <c:layout/>
      <c:overlay val="0"/>
    </c:title>
    <c:autoTitleDeleted val="0"/>
    <c:plotArea>
      <c:layout/>
      <c:lineChart>
        <c:varyColors val="0"/>
        <c:ser>
          <c:idx val="0"/>
          <c:order val="0"/>
          <c:tx>
            <c:strRef>
              <c:f>Sheet1!$B$1</c:f>
              <c:strCache>
                <c:ptCount val="1"/>
                <c:pt idx="0">
                  <c:v>Returns started</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Sheet1!$A$2:$A$7</c:f>
              <c:multiLvlStrCache>
                <c:ptCount val="6"/>
                <c:lvl>
                  <c:pt idx="0">
                    <c:v>May</c:v>
                  </c:pt>
                  <c:pt idx="1">
                    <c:v>Jun</c:v>
                  </c:pt>
                  <c:pt idx="2">
                    <c:v>Jul</c:v>
                  </c:pt>
                  <c:pt idx="3">
                    <c:v>Aug</c:v>
                  </c:pt>
                  <c:pt idx="4">
                    <c:v>Sep</c:v>
                  </c:pt>
                  <c:pt idx="5">
                    <c:v>Oct</c:v>
                  </c:pt>
                </c:lvl>
              </c:multiLvlStrCache>
            </c:multiLvlStrRef>
          </c:cat>
          <c:val>
            <c:numRef>
              <c:f>Sheet1!$B$2:$B$7</c:f>
              <c:numCache>
                <c:formatCode>General</c:formatCode>
                <c:ptCount val="6"/>
                <c:pt idx="0">
                  <c:v>3</c:v>
                </c:pt>
                <c:pt idx="1">
                  <c:v>4</c:v>
                </c:pt>
                <c:pt idx="2">
                  <c:v>6</c:v>
                </c:pt>
                <c:pt idx="3">
                  <c:v>24</c:v>
                </c:pt>
                <c:pt idx="4">
                  <c:v>8</c:v>
                </c:pt>
                <c:pt idx="5">
                  <c:v>10</c:v>
                </c:pt>
              </c:numCache>
            </c:numRef>
          </c:val>
          <c:smooth val="0"/>
        </c:ser>
        <c:ser>
          <c:idx val="1"/>
          <c:order val="1"/>
          <c:tx>
            <c:strRef>
              <c:f>Sheet1!$C$1</c:f>
              <c:strCache>
                <c:ptCount val="1"/>
                <c:pt idx="0">
                  <c:v>Returns filed</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Sheet1!$A$2:$A$7</c:f>
              <c:multiLvlStrCache>
                <c:ptCount val="6"/>
                <c:lvl>
                  <c:pt idx="0">
                    <c:v>May</c:v>
                  </c:pt>
                  <c:pt idx="1">
                    <c:v>Jun</c:v>
                  </c:pt>
                  <c:pt idx="2">
                    <c:v>Jul</c:v>
                  </c:pt>
                  <c:pt idx="3">
                    <c:v>Aug</c:v>
                  </c:pt>
                  <c:pt idx="4">
                    <c:v>Sep</c:v>
                  </c:pt>
                  <c:pt idx="5">
                    <c:v>Oct</c:v>
                  </c:pt>
                </c:lvl>
              </c:multiLvlStrCache>
            </c:multiLvlStrRef>
          </c:cat>
          <c:val>
            <c:numRef>
              <c:f>Sheet1!$C$2:$C$7</c:f>
              <c:numCache>
                <c:formatCode>General</c:formatCode>
                <c:ptCount val="6"/>
                <c:pt idx="0">
                  <c:v>0</c:v>
                </c:pt>
                <c:pt idx="1">
                  <c:v>0</c:v>
                </c:pt>
                <c:pt idx="2">
                  <c:v>0</c:v>
                </c:pt>
                <c:pt idx="3">
                  <c:v>1</c:v>
                </c:pt>
                <c:pt idx="4">
                  <c:v>7</c:v>
                </c:pt>
                <c:pt idx="5">
                  <c:v>6</c:v>
                </c:pt>
              </c:numCache>
            </c:numRef>
          </c:val>
          <c:smooth val="0"/>
        </c:ser>
        <c:ser>
          <c:idx val="2"/>
          <c:order val="2"/>
          <c:tx>
            <c:strRef>
              <c:f>Sheet1!$D$1</c:f>
              <c:strCache>
                <c:ptCount val="1"/>
                <c:pt idx="0">
                  <c:v>New clients</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Sheet1!$A$2:$A$7</c:f>
              <c:multiLvlStrCache>
                <c:ptCount val="6"/>
                <c:lvl>
                  <c:pt idx="0">
                    <c:v>May</c:v>
                  </c:pt>
                  <c:pt idx="1">
                    <c:v>Jun</c:v>
                  </c:pt>
                  <c:pt idx="2">
                    <c:v>Jul</c:v>
                  </c:pt>
                  <c:pt idx="3">
                    <c:v>Aug</c:v>
                  </c:pt>
                  <c:pt idx="4">
                    <c:v>Sep</c:v>
                  </c:pt>
                  <c:pt idx="5">
                    <c:v>Oct</c:v>
                  </c:pt>
                </c:lvl>
              </c:multiLvlStrCache>
            </c:multiLvlStrRef>
          </c:cat>
          <c:val>
            <c:numRef>
              <c:f>Sheet1!$D$2:$D$7</c:f>
              <c:numCache>
                <c:formatCode>General</c:formatCode>
                <c:ptCount val="6"/>
                <c:pt idx="0">
                  <c:v>3</c:v>
                </c:pt>
                <c:pt idx="1">
                  <c:v>4</c:v>
                </c:pt>
                <c:pt idx="2">
                  <c:v>7</c:v>
                </c:pt>
                <c:pt idx="3">
                  <c:v>27</c:v>
                </c:pt>
                <c:pt idx="4">
                  <c:v>4</c:v>
                </c:pt>
                <c:pt idx="5">
                  <c:v>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47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DED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4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F647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letter to the partner. Summarises the two ways of working, lists the enclosures and points to the decisions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This FSD documents the VVS Tax Consultancy Portal as built and running on the demo site 'consultant'. Figures come from live records on 19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0 treats the portal as a single process. Clients and prospects feed it data; staff act on it; FBR IRIS is reached manually by the filing officer; WhatsApp, SMS and email carry messages and verification codes; Apify supplies business prospects.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1 opens process 0. The main line runs left to right: a lead becomes a client, buys a package, uploads documents, the return is prepared and calculated, reviewed, confirmed and approved, then filed. Communication (8.0) and reporting (9.0) serve every step; the audit trail records every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routes into one pipeline. Team-assisted suits clients who prefer phone, WhatsApp or office visits; self-service suits clients comfortable online. Videos 1 and 2 show each route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version 1.1. Built for clients who share information by phone, WhatsApp, email or an office visit. Video 1 shows Zara (Data Entry) doing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videos here, or run the same flows live: returns TAX-RET-2026-00054 (team-assisted) and TAX-RET-2026-00055 (self-service) are on the demo site with their full history. All figures are demo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owner decisions that block go-live. Everything else in this document is built and running on the demo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VS_COVER">
    <p:bg>
      <p:bgPr>
        <a:solidFill>
          <a:srgbClr val="141416"/>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VS_SECTION">
    <p:bg>
      <p:bgPr>
        <a:solidFill>
          <a:srgbClr val="14141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231575" y="320040"/>
            <a:ext cx="457200" cy="457200"/>
          </a:xfrm>
          <a:prstGeom prst="rect">
            <a:avLst/>
          </a:prstGeom>
        </p:spPr>
      </p:pic>
      <p:sp>
        <p:nvSpPr>
          <p:cNvPr id="3" name="Text 0"/>
          <p:cNvSpPr/>
          <p:nvPr>
            <p:ph idx="101" type="body" hasCustomPrompt="1"/>
          </p:nvPr>
        </p:nvSpPr>
        <p:spPr>
          <a:xfrm>
            <a:off x="502920" y="2148840"/>
            <a:ext cx="8229600" cy="320040"/>
          </a:xfrm>
          <a:prstGeom prst="rect">
            <a:avLst/>
          </a:prstGeom>
          <a:noFill/>
          <a:ln/>
        </p:spPr>
        <p:txBody>
          <a:bodyPr wrap="square" rtlCol="0"/>
          <a:lstStyle>
            <a:lvl1pPr indent="0" marL="0">
              <a:buNone/>
              <a:defRPr lang="en-US" sz="1300" b="1" spc="300" kern="0" dirty="0">
                <a:solidFill>
                  <a:schemeClr val="accent2"/>
                </a:solidFill>
              </a:defRPr>
            </a:lvl1pPr>
          </a:lstStyle>
          <a:p>
            <a:pPr indent="0" marL="0">
              <a:buNone/>
            </a:pPr>
            <a:endParaRPr lang="en-US" sz="1300" dirty="0"/>
          </a:p>
        </p:txBody>
      </p:sp>
      <p:sp>
        <p:nvSpPr>
          <p:cNvPr id="4" name="Text 0"/>
          <p:cNvSpPr/>
          <p:nvPr>
            <p:ph idx="102" type="title" hasCustomPrompt="1"/>
          </p:nvPr>
        </p:nvSpPr>
        <p:spPr>
          <a:xfrm>
            <a:off x="502920" y="2514600"/>
            <a:ext cx="100584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0"/>
          <p:cNvSpPr/>
          <p:nvPr>
            <p:ph idx="103" type="body" hasCustomPrompt="1"/>
          </p:nvPr>
        </p:nvSpPr>
        <p:spPr>
          <a:xfrm>
            <a:off x="502920" y="3520440"/>
            <a:ext cx="8686800" cy="1005840"/>
          </a:xfrm>
          <a:prstGeom prst="rect">
            <a:avLst/>
          </a:prstGeom>
          <a:noFill/>
          <a:ln/>
        </p:spPr>
        <p:txBody>
          <a:bodyPr wrap="square" rtlCol="0"/>
          <a:lstStyle>
            <a:lvl1pPr algn="l" indent="0" marL="0">
              <a:buNone/>
              <a:defRPr lang="en-US" sz="1600" dirty="0">
                <a:solidFill>
                  <a:srgbClr val="C9C3B3"/>
                </a:solidFill>
              </a:defRPr>
            </a:lvl1pPr>
          </a:lstStyle>
          <a:p>
            <a:pPr algn="l" indent="0" marL="0">
              <a:buNone/>
            </a:pPr>
            <a:endParaRPr lang="en-US" sz="1600" dirty="0"/>
          </a:p>
        </p:txBody>
      </p:sp>
      <p:sp>
        <p:nvSpPr>
          <p:cNvPr id="6" name="Text 0"/>
          <p:cNvSpPr/>
          <p:nvPr/>
        </p:nvSpPr>
        <p:spPr>
          <a:xfrm>
            <a:off x="502920" y="6473952"/>
            <a:ext cx="7315200" cy="228600"/>
          </a:xfrm>
          <a:prstGeom prst="rect">
            <a:avLst/>
          </a:prstGeom>
          <a:noFill/>
          <a:ln/>
        </p:spPr>
        <p:txBody>
          <a:bodyPr wrap="square" lIns="0" tIns="0" rIns="0" bIns="0" rtlCol="0" anchor="ctr"/>
          <a:lstStyle/>
          <a:p>
            <a:pPr indent="0" marL="0">
              <a:buNone/>
            </a:pPr>
            <a:r>
              <a:rPr lang="en-US" sz="900" dirty="0">
                <a:solidFill>
                  <a:srgbClr val="8C8677"/>
                </a:solidFill>
              </a:rPr>
              <a:t>VVS Tax Consultancy Portal  ·  Functional Specification Document v1.1</a:t>
            </a:r>
            <a:endParaRPr lang="en-US" sz="9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677"/>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VS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04727" y="347472"/>
            <a:ext cx="384048" cy="384048"/>
          </a:xfrm>
          <a:prstGeom prst="rect">
            <a:avLst/>
          </a:prstGeom>
        </p:spPr>
      </p:pic>
      <p:sp>
        <p:nvSpPr>
          <p:cNvPr id="3" name="Text 0"/>
          <p:cNvSpPr/>
          <p:nvPr>
            <p:ph idx="101" type="body" hasCustomPrompt="1"/>
          </p:nvPr>
        </p:nvSpPr>
        <p:spPr>
          <a:xfrm>
            <a:off x="502920" y="329184"/>
            <a:ext cx="82296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4" name="Text 0"/>
          <p:cNvSpPr/>
          <p:nvPr>
            <p:ph idx="102" type="title" hasCustomPrompt="1"/>
          </p:nvPr>
        </p:nvSpPr>
        <p:spPr>
          <a:xfrm>
            <a:off x="502920" y="603504"/>
            <a:ext cx="10241280" cy="566928"/>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5" name="Text 0"/>
          <p:cNvSpPr/>
          <p:nvPr>
            <p:ph idx="103" type="body" hasCustomPrompt="1"/>
          </p:nvPr>
        </p:nvSpPr>
        <p:spPr>
          <a:xfrm>
            <a:off x="502920" y="1188720"/>
            <a:ext cx="11185855" cy="411480"/>
          </a:xfrm>
          <a:prstGeom prst="rect">
            <a:avLst/>
          </a:prstGeom>
          <a:noFill/>
          <a:ln/>
        </p:spPr>
        <p:txBody>
          <a:bodyPr wrap="square" rtlCol="0"/>
          <a:lstStyle>
            <a:lvl1pPr algn="l" indent="0" marL="0">
              <a:buNone/>
              <a:defRPr lang="en-US" sz="1300" dirty="0">
                <a:solidFill>
                  <a:srgbClr val="5F6470"/>
                </a:solidFill>
              </a:defRPr>
            </a:lvl1pPr>
          </a:lstStyle>
          <a:p>
            <a:pPr algn="l" indent="0" marL="0">
              <a:buNone/>
            </a:pPr>
            <a:endParaRPr lang="en-US" sz="1300" dirty="0"/>
          </a:p>
        </p:txBody>
      </p:sp>
      <p:sp>
        <p:nvSpPr>
          <p:cNvPr id="6" name="Text 0"/>
          <p:cNvSpPr/>
          <p:nvPr/>
        </p:nvSpPr>
        <p:spPr>
          <a:xfrm>
            <a:off x="502920" y="6473952"/>
            <a:ext cx="7315200" cy="228600"/>
          </a:xfrm>
          <a:prstGeom prst="rect">
            <a:avLst/>
          </a:prstGeom>
          <a:noFill/>
          <a:ln/>
        </p:spPr>
        <p:txBody>
          <a:bodyPr wrap="square" lIns="0" tIns="0" rIns="0" bIns="0" rtlCol="0" anchor="ctr"/>
          <a:lstStyle/>
          <a:p>
            <a:pPr indent="0" marL="0">
              <a:buNone/>
            </a:pPr>
            <a:r>
              <a:rPr lang="en-US" sz="900" dirty="0">
                <a:solidFill>
                  <a:srgbClr val="9C988C"/>
                </a:solidFill>
              </a:rPr>
              <a:t>VVS Tax Consultancy Portal  ·  Functional Specification Document v1.1</a:t>
            </a:r>
            <a:endParaRPr lang="en-US" sz="9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67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4.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4.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4.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4.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6" Type="http://schemas.openxmlformats.org/officeDocument/2006/relationships/chart" Target="/ppt/charts/chart1.xml"/><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7" Type="http://schemas.openxmlformats.org/officeDocument/2006/relationships/slideLayout" Target="../slideLayouts/slideLayout4.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4.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jp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COVER LETTER  ·  19 OCT 2026</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E-Filing Portal: FSD and two demo videos</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To: Faizan Chaudhary, Partner — Vision Vault Solutions, Faisalabad</a:t>
            </a:r>
            <a:endParaRPr lang="en-US" sz="1300" dirty="0"/>
          </a:p>
        </p:txBody>
      </p:sp>
      <p:sp>
        <p:nvSpPr>
          <p:cNvPr id="5" name="Text 3"/>
          <p:cNvSpPr txBox="1"/>
          <p:nvPr/>
        </p:nvSpPr>
        <p:spPr>
          <a:xfrm>
            <a:off x="502920" y="1691640"/>
            <a:ext cx="6720840" cy="274320"/>
          </a:xfrm>
          <a:prstGeom prst="rect">
            <a:avLst/>
          </a:prstGeom>
          <a:noFill/>
          <a:ln/>
        </p:spPr>
        <p:txBody>
          <a:bodyPr wrap="square" lIns="0" tIns="0" rIns="0" bIns="0" rtlCol="0" anchor="t"/>
          <a:lstStyle/>
          <a:p>
            <a:pPr indent="0" marL="0">
              <a:buNone/>
            </a:pPr>
            <a:r>
              <a:rPr lang="en-US" sz="1300" b="1" dirty="0">
                <a:solidFill>
                  <a:schemeClr val="tx2"/>
                </a:solidFill>
              </a:rPr>
              <a:t>Dear Sir,</a:t>
            </a:r>
            <a:endParaRPr lang="en-US" sz="1300" dirty="0"/>
          </a:p>
        </p:txBody>
      </p:sp>
      <p:sp>
        <p:nvSpPr>
          <p:cNvPr id="6" name="Text 4"/>
          <p:cNvSpPr txBox="1"/>
          <p:nvPr/>
        </p:nvSpPr>
        <p:spPr>
          <a:xfrm>
            <a:off x="502920" y="2011680"/>
            <a:ext cx="6720840" cy="960120"/>
          </a:xfrm>
          <a:prstGeom prst="rect">
            <a:avLst/>
          </a:prstGeom>
          <a:noFill/>
          <a:ln/>
        </p:spPr>
        <p:txBody>
          <a:bodyPr wrap="square" lIns="0" tIns="0" rIns="0" bIns="0" rtlCol="0" anchor="t"/>
          <a:lstStyle/>
          <a:p>
            <a:pPr indent="0" marL="0">
              <a:buNone/>
            </a:pPr>
            <a:r>
              <a:rPr lang="en-US" sz="1200" dirty="0">
                <a:solidFill>
                  <a:schemeClr val="tx1"/>
                </a:solidFill>
              </a:rPr>
              <a:t>With reference to our last meeting about the E-Filing project, I am pleased to share the progress so far. The portal is built and running on our demo site, and this document explains how it works. It supports two ways of working, so every client is covered whether or not they use the internet themselves:</a:t>
            </a:r>
            <a:endParaRPr lang="en-US" sz="1200" dirty="0"/>
          </a:p>
        </p:txBody>
      </p:sp>
      <p:sp>
        <p:nvSpPr>
          <p:cNvPr id="7" name="Shape 5"/>
          <p:cNvSpPr/>
          <p:nvPr/>
        </p:nvSpPr>
        <p:spPr>
          <a:xfrm>
            <a:off x="502920" y="3063240"/>
            <a:ext cx="6720840" cy="914400"/>
          </a:xfrm>
          <a:prstGeom prst="roundRect">
            <a:avLst>
              <a:gd name="adj" fmla="val 8000"/>
            </a:avLst>
          </a:prstGeom>
          <a:solidFill>
            <a:schemeClr val="bg1"/>
          </a:solidFill>
          <a:ln w="9525">
            <a:solidFill>
              <a:srgbClr val="E2DED2"/>
            </a:solidFill>
            <a:prstDash val="solid"/>
          </a:ln>
        </p:spPr>
      </p:sp>
      <p:sp>
        <p:nvSpPr>
          <p:cNvPr id="8" name="Shape 6"/>
          <p:cNvSpPr/>
          <p:nvPr/>
        </p:nvSpPr>
        <p:spPr>
          <a:xfrm>
            <a:off x="667512" y="3246120"/>
            <a:ext cx="548640" cy="548640"/>
          </a:xfrm>
          <a:prstGeom prst="ellipse">
            <a:avLst/>
          </a:prstGeom>
          <a:solidFill>
            <a:srgbClr val="141416"/>
          </a:solidFill>
          <a:ln w="12700">
            <a:solidFill>
              <a:srgbClr val="141416"/>
            </a:solidFill>
            <a:prstDash val="solid"/>
          </a:ln>
        </p:spPr>
      </p:sp>
      <p:pic>
        <p:nvPicPr>
          <p:cNvPr id="9" name="Image 0" descr="preencoded.png">    </p:cNvPr>
          <p:cNvPicPr>
            <a:picLocks noChangeAspect="1"/>
          </p:cNvPicPr>
          <p:nvPr/>
        </p:nvPicPr>
        <p:blipFill>
          <a:blip r:embed="rId1"/>
          <a:stretch>
            <a:fillRect/>
          </a:stretch>
        </p:blipFill>
        <p:spPr>
          <a:xfrm>
            <a:off x="799186" y="3377794"/>
            <a:ext cx="285293" cy="285293"/>
          </a:xfrm>
          <a:prstGeom prst="rect">
            <a:avLst/>
          </a:prstGeom>
        </p:spPr>
      </p:pic>
      <p:sp>
        <p:nvSpPr>
          <p:cNvPr id="10" name="Text 7"/>
          <p:cNvSpPr txBox="1"/>
          <p:nvPr/>
        </p:nvSpPr>
        <p:spPr>
          <a:xfrm>
            <a:off x="1371600" y="3172968"/>
            <a:ext cx="4389120" cy="274320"/>
          </a:xfrm>
          <a:prstGeom prst="rect">
            <a:avLst/>
          </a:prstGeom>
          <a:noFill/>
          <a:ln/>
        </p:spPr>
        <p:txBody>
          <a:bodyPr wrap="square" lIns="0" tIns="0" rIns="0" bIns="0" rtlCol="0" anchor="t"/>
          <a:lstStyle/>
          <a:p>
            <a:pPr indent="0" marL="0">
              <a:buNone/>
            </a:pPr>
            <a:r>
              <a:rPr lang="en-US" sz="1300" b="1" dirty="0">
                <a:solidFill>
                  <a:schemeClr val="tx2"/>
                </a:solidFill>
              </a:rPr>
              <a:t>Our team files for the client</a:t>
            </a:r>
            <a:endParaRPr lang="en-US" sz="1300" dirty="0"/>
          </a:p>
        </p:txBody>
      </p:sp>
      <p:sp>
        <p:nvSpPr>
          <p:cNvPr id="11" name="Shape 8"/>
          <p:cNvSpPr/>
          <p:nvPr/>
        </p:nvSpPr>
        <p:spPr>
          <a:xfrm>
            <a:off x="6263640" y="3191256"/>
            <a:ext cx="777240" cy="256032"/>
          </a:xfrm>
          <a:prstGeom prst="roundRect">
            <a:avLst>
              <a:gd name="adj" fmla="val 50000"/>
            </a:avLst>
          </a:prstGeom>
          <a:solidFill>
            <a:srgbClr val="A8811F"/>
          </a:solidFill>
          <a:ln w="12700">
            <a:solidFill>
              <a:srgbClr val="A8811F"/>
            </a:solidFill>
            <a:prstDash val="solid"/>
          </a:ln>
        </p:spPr>
      </p:sp>
      <p:sp>
        <p:nvSpPr>
          <p:cNvPr id="12" name="Text 9"/>
          <p:cNvSpPr txBox="1"/>
          <p:nvPr/>
        </p:nvSpPr>
        <p:spPr>
          <a:xfrm>
            <a:off x="6263640" y="3191256"/>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rPr>
              <a:t>Video 1</a:t>
            </a:r>
            <a:endParaRPr lang="en-US" sz="900" dirty="0"/>
          </a:p>
        </p:txBody>
      </p:sp>
      <p:sp>
        <p:nvSpPr>
          <p:cNvPr id="13" name="Text 10"/>
          <p:cNvSpPr txBox="1"/>
          <p:nvPr/>
        </p:nvSpPr>
        <p:spPr>
          <a:xfrm>
            <a:off x="1371600" y="3465576"/>
            <a:ext cx="5669280" cy="475488"/>
          </a:xfrm>
          <a:prstGeom prst="rect">
            <a:avLst/>
          </a:prstGeom>
          <a:noFill/>
          <a:ln/>
        </p:spPr>
        <p:txBody>
          <a:bodyPr wrap="square" lIns="0" tIns="0" rIns="0" bIns="0" rtlCol="0" anchor="t"/>
          <a:lstStyle/>
          <a:p>
            <a:pPr indent="0" marL="0">
              <a:buNone/>
            </a:pPr>
            <a:r>
              <a:rPr lang="en-US" sz="1100" dirty="0">
                <a:solidFill>
                  <a:schemeClr val="tx1"/>
                </a:solidFill>
              </a:rPr>
              <a:t>Client shares information by phone, WhatsApp, email or an office visit; our team enters it, attaches documents from WhatsApp and records the client's approval.</a:t>
            </a:r>
            <a:endParaRPr lang="en-US" sz="1100" dirty="0"/>
          </a:p>
        </p:txBody>
      </p:sp>
      <p:sp>
        <p:nvSpPr>
          <p:cNvPr id="14" name="Shape 11"/>
          <p:cNvSpPr/>
          <p:nvPr/>
        </p:nvSpPr>
        <p:spPr>
          <a:xfrm>
            <a:off x="502920" y="4087368"/>
            <a:ext cx="6720840" cy="914400"/>
          </a:xfrm>
          <a:prstGeom prst="roundRect">
            <a:avLst>
              <a:gd name="adj" fmla="val 8000"/>
            </a:avLst>
          </a:prstGeom>
          <a:solidFill>
            <a:schemeClr val="bg1"/>
          </a:solidFill>
          <a:ln w="9525">
            <a:solidFill>
              <a:srgbClr val="E2DED2"/>
            </a:solidFill>
            <a:prstDash val="solid"/>
          </a:ln>
        </p:spPr>
      </p:sp>
      <p:sp>
        <p:nvSpPr>
          <p:cNvPr id="15" name="Shape 12"/>
          <p:cNvSpPr/>
          <p:nvPr/>
        </p:nvSpPr>
        <p:spPr>
          <a:xfrm>
            <a:off x="667512" y="4270248"/>
            <a:ext cx="548640" cy="548640"/>
          </a:xfrm>
          <a:prstGeom prst="ellipse">
            <a:avLst/>
          </a:prstGeom>
          <a:solidFill>
            <a:srgbClr val="D4AF37"/>
          </a:solidFill>
          <a:ln w="12700">
            <a:solidFill>
              <a:srgbClr val="D4AF37"/>
            </a:solidFill>
            <a:prstDash val="solid"/>
          </a:ln>
        </p:spPr>
      </p:sp>
      <p:pic>
        <p:nvPicPr>
          <p:cNvPr id="16" name="Image 1" descr="preencoded.png">    </p:cNvPr>
          <p:cNvPicPr>
            <a:picLocks noChangeAspect="1"/>
          </p:cNvPicPr>
          <p:nvPr/>
        </p:nvPicPr>
        <p:blipFill>
          <a:blip r:embed="rId2"/>
          <a:stretch>
            <a:fillRect/>
          </a:stretch>
        </p:blipFill>
        <p:spPr>
          <a:xfrm>
            <a:off x="799186" y="4401922"/>
            <a:ext cx="285293" cy="285293"/>
          </a:xfrm>
          <a:prstGeom prst="rect">
            <a:avLst/>
          </a:prstGeom>
        </p:spPr>
      </p:pic>
      <p:sp>
        <p:nvSpPr>
          <p:cNvPr id="17" name="Text 13"/>
          <p:cNvSpPr txBox="1"/>
          <p:nvPr/>
        </p:nvSpPr>
        <p:spPr>
          <a:xfrm>
            <a:off x="1371600" y="4197096"/>
            <a:ext cx="4389120" cy="274320"/>
          </a:xfrm>
          <a:prstGeom prst="rect">
            <a:avLst/>
          </a:prstGeom>
          <a:noFill/>
          <a:ln/>
        </p:spPr>
        <p:txBody>
          <a:bodyPr wrap="square" lIns="0" tIns="0" rIns="0" bIns="0" rtlCol="0" anchor="t"/>
          <a:lstStyle/>
          <a:p>
            <a:pPr indent="0" marL="0">
              <a:buNone/>
            </a:pPr>
            <a:r>
              <a:rPr lang="en-US" sz="1300" b="1" dirty="0">
                <a:solidFill>
                  <a:schemeClr val="tx2"/>
                </a:solidFill>
              </a:rPr>
              <a:t>The client files online</a:t>
            </a:r>
            <a:endParaRPr lang="en-US" sz="1300" dirty="0"/>
          </a:p>
        </p:txBody>
      </p:sp>
      <p:sp>
        <p:nvSpPr>
          <p:cNvPr id="18" name="Shape 14"/>
          <p:cNvSpPr/>
          <p:nvPr/>
        </p:nvSpPr>
        <p:spPr>
          <a:xfrm>
            <a:off x="6263640" y="4215384"/>
            <a:ext cx="777240" cy="256032"/>
          </a:xfrm>
          <a:prstGeom prst="roundRect">
            <a:avLst>
              <a:gd name="adj" fmla="val 50000"/>
            </a:avLst>
          </a:prstGeom>
          <a:solidFill>
            <a:srgbClr val="A8811F"/>
          </a:solidFill>
          <a:ln w="12700">
            <a:solidFill>
              <a:srgbClr val="A8811F"/>
            </a:solidFill>
            <a:prstDash val="solid"/>
          </a:ln>
        </p:spPr>
      </p:sp>
      <p:sp>
        <p:nvSpPr>
          <p:cNvPr id="19" name="Text 15"/>
          <p:cNvSpPr txBox="1"/>
          <p:nvPr/>
        </p:nvSpPr>
        <p:spPr>
          <a:xfrm>
            <a:off x="6263640" y="4215384"/>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rPr>
              <a:t>Video 2</a:t>
            </a:r>
            <a:endParaRPr lang="en-US" sz="900" dirty="0"/>
          </a:p>
        </p:txBody>
      </p:sp>
      <p:sp>
        <p:nvSpPr>
          <p:cNvPr id="20" name="Text 16"/>
          <p:cNvSpPr txBox="1"/>
          <p:nvPr/>
        </p:nvSpPr>
        <p:spPr>
          <a:xfrm>
            <a:off x="1371600" y="4489704"/>
            <a:ext cx="5669280" cy="475488"/>
          </a:xfrm>
          <a:prstGeom prst="rect">
            <a:avLst/>
          </a:prstGeom>
          <a:noFill/>
          <a:ln/>
        </p:spPr>
        <p:txBody>
          <a:bodyPr wrap="square" lIns="0" tIns="0" rIns="0" bIns="0" rtlCol="0" anchor="t"/>
          <a:lstStyle/>
          <a:p>
            <a:pPr indent="0" marL="0">
              <a:buNone/>
            </a:pPr>
            <a:r>
              <a:rPr lang="en-US" sz="1100" dirty="0">
                <a:solidFill>
                  <a:schemeClr val="tx1"/>
                </a:solidFill>
              </a:rPr>
              <a:t>Client requests a login on our website, enters their own details and documents, pays the fee and confirms the summary in the portal.</a:t>
            </a:r>
            <a:endParaRPr lang="en-US" sz="1100" dirty="0"/>
          </a:p>
        </p:txBody>
      </p:sp>
      <p:sp>
        <p:nvSpPr>
          <p:cNvPr id="21" name="Text 17"/>
          <p:cNvSpPr txBox="1"/>
          <p:nvPr/>
        </p:nvSpPr>
        <p:spPr>
          <a:xfrm>
            <a:off x="502920" y="5120640"/>
            <a:ext cx="6720840" cy="411480"/>
          </a:xfrm>
          <a:prstGeom prst="rect">
            <a:avLst/>
          </a:prstGeom>
          <a:noFill/>
          <a:ln/>
        </p:spPr>
        <p:txBody>
          <a:bodyPr wrap="square" lIns="0" tIns="0" rIns="0" bIns="0" rtlCol="0" anchor="t"/>
          <a:lstStyle/>
          <a:p>
            <a:pPr indent="0" marL="0">
              <a:buNone/>
            </a:pPr>
            <a:r>
              <a:rPr lang="en-US" sz="1050" i="1" dirty="0">
                <a:solidFill>
                  <a:srgbClr val="5F6470"/>
                </a:solidFill>
              </a:rPr>
              <a:t>Both routes share the same controls: review, client confirmation, four-eyes approval, and filing only after the IRIS acknowledgment. All figures shown are demo data.</a:t>
            </a:r>
            <a:endParaRPr lang="en-US" sz="1050" dirty="0"/>
          </a:p>
        </p:txBody>
      </p:sp>
      <p:sp>
        <p:nvSpPr>
          <p:cNvPr id="22" name="Text 18"/>
          <p:cNvSpPr txBox="1"/>
          <p:nvPr/>
        </p:nvSpPr>
        <p:spPr>
          <a:xfrm>
            <a:off x="502920" y="5596128"/>
            <a:ext cx="6720840" cy="256032"/>
          </a:xfrm>
          <a:prstGeom prst="rect">
            <a:avLst/>
          </a:prstGeom>
          <a:noFill/>
          <a:ln/>
        </p:spPr>
        <p:txBody>
          <a:bodyPr wrap="square" lIns="0" tIns="0" rIns="0" bIns="0" rtlCol="0" anchor="t"/>
          <a:lstStyle/>
          <a:p>
            <a:pPr indent="0" marL="0">
              <a:buNone/>
            </a:pPr>
            <a:r>
              <a:rPr lang="en-US" sz="1150" dirty="0">
                <a:solidFill>
                  <a:schemeClr val="tx1"/>
                </a:solidFill>
              </a:rPr>
              <a:t>I would be glad to arrange a live demonstration. Looking forward to your feedback.</a:t>
            </a:r>
            <a:endParaRPr lang="en-US" sz="1150" dirty="0"/>
          </a:p>
        </p:txBody>
      </p:sp>
      <p:sp>
        <p:nvSpPr>
          <p:cNvPr id="23" name="Text 19"/>
          <p:cNvSpPr txBox="1"/>
          <p:nvPr/>
        </p:nvSpPr>
        <p:spPr>
          <a:xfrm>
            <a:off x="502920" y="5943600"/>
            <a:ext cx="6720840" cy="256032"/>
          </a:xfrm>
          <a:prstGeom prst="rect">
            <a:avLst/>
          </a:prstGeom>
          <a:noFill/>
          <a:ln/>
        </p:spPr>
        <p:txBody>
          <a:bodyPr wrap="square" lIns="0" tIns="0" rIns="0" bIns="0" rtlCol="0" anchor="t"/>
          <a:lstStyle/>
          <a:p>
            <a:pPr indent="0" marL="0">
              <a:buNone/>
            </a:pPr>
            <a:r>
              <a:rPr lang="en-US" sz="1150" dirty="0">
                <a:solidFill>
                  <a:schemeClr val="tx1"/>
                </a:solidFill>
              </a:rPr>
              <a:t>Best regards,  </a:t>
            </a:r>
            <a:pPr indent="0" marL="0">
              <a:buNone/>
            </a:pPr>
            <a:r>
              <a:rPr lang="en-US" sz="1150" b="1" dirty="0">
                <a:solidFill>
                  <a:srgbClr val="A8811F"/>
                </a:solidFill>
              </a:rPr>
              <a:t>MicroMax Erp Pvt Ltd</a:t>
            </a:r>
            <a:endParaRPr lang="en-US" sz="1150" dirty="0"/>
          </a:p>
        </p:txBody>
      </p:sp>
      <p:sp>
        <p:nvSpPr>
          <p:cNvPr id="24" name="Shape 20"/>
          <p:cNvSpPr/>
          <p:nvPr/>
        </p:nvSpPr>
        <p:spPr>
          <a:xfrm>
            <a:off x="7543800" y="1691640"/>
            <a:ext cx="4144975" cy="3246120"/>
          </a:xfrm>
          <a:prstGeom prst="roundRect">
            <a:avLst>
              <a:gd name="adj" fmla="val 2254"/>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25" name="Text 21"/>
          <p:cNvSpPr txBox="1"/>
          <p:nvPr/>
        </p:nvSpPr>
        <p:spPr>
          <a:xfrm>
            <a:off x="7772400" y="1828800"/>
            <a:ext cx="2743200" cy="228600"/>
          </a:xfrm>
          <a:prstGeom prst="rect">
            <a:avLst/>
          </a:prstGeom>
          <a:noFill/>
          <a:ln/>
        </p:spPr>
        <p:txBody>
          <a:bodyPr wrap="square" lIns="0" tIns="0" rIns="0" bIns="0" rtlCol="0" anchor="t"/>
          <a:lstStyle/>
          <a:p>
            <a:pPr indent="0" marL="0">
              <a:buNone/>
            </a:pPr>
            <a:r>
              <a:rPr lang="en-US" sz="1000" b="1" spc="200" kern="0" dirty="0">
                <a:solidFill>
                  <a:srgbClr val="A8811F"/>
                </a:solidFill>
              </a:rPr>
              <a:t>ENCLOSED</a:t>
            </a:r>
            <a:endParaRPr lang="en-US" sz="1000" dirty="0"/>
          </a:p>
        </p:txBody>
      </p:sp>
      <p:sp>
        <p:nvSpPr>
          <p:cNvPr id="26" name="Shape 22"/>
          <p:cNvSpPr/>
          <p:nvPr/>
        </p:nvSpPr>
        <p:spPr>
          <a:xfrm>
            <a:off x="7772400" y="2176272"/>
            <a:ext cx="475488" cy="475488"/>
          </a:xfrm>
          <a:prstGeom prst="ellipse">
            <a:avLst/>
          </a:prstGeom>
          <a:solidFill>
            <a:srgbClr val="D4AF37"/>
          </a:solidFill>
          <a:ln w="12700">
            <a:solidFill>
              <a:srgbClr val="D4AF37"/>
            </a:solidFill>
            <a:prstDash val="solid"/>
          </a:ln>
        </p:spPr>
      </p:sp>
      <p:pic>
        <p:nvPicPr>
          <p:cNvPr id="27" name="Image 2" descr="preencoded.png">    </p:cNvPr>
          <p:cNvPicPr>
            <a:picLocks noChangeAspect="1"/>
          </p:cNvPicPr>
          <p:nvPr/>
        </p:nvPicPr>
        <p:blipFill>
          <a:blip r:embed="rId3"/>
          <a:stretch>
            <a:fillRect/>
          </a:stretch>
        </p:blipFill>
        <p:spPr>
          <a:xfrm>
            <a:off x="7886517" y="2290389"/>
            <a:ext cx="247254" cy="247254"/>
          </a:xfrm>
          <a:prstGeom prst="rect">
            <a:avLst/>
          </a:prstGeom>
        </p:spPr>
      </p:pic>
      <p:sp>
        <p:nvSpPr>
          <p:cNvPr id="28" name="Text 23"/>
          <p:cNvSpPr txBox="1"/>
          <p:nvPr/>
        </p:nvSpPr>
        <p:spPr>
          <a:xfrm>
            <a:off x="8385048" y="2157984"/>
            <a:ext cx="3139135" cy="274320"/>
          </a:xfrm>
          <a:prstGeom prst="rect">
            <a:avLst/>
          </a:prstGeom>
          <a:noFill/>
          <a:ln/>
        </p:spPr>
        <p:txBody>
          <a:bodyPr wrap="square" lIns="0" tIns="0" rIns="0" bIns="0" rtlCol="0" anchor="t"/>
          <a:lstStyle/>
          <a:p>
            <a:pPr indent="0" marL="0">
              <a:buNone/>
            </a:pPr>
            <a:r>
              <a:rPr lang="en-US" sz="1200" b="1" dirty="0">
                <a:solidFill>
                  <a:schemeClr val="tx2"/>
                </a:solidFill>
              </a:rPr>
              <a:t>Functional Specification (FSD)</a:t>
            </a:r>
            <a:endParaRPr lang="en-US" sz="1200" dirty="0"/>
          </a:p>
        </p:txBody>
      </p:sp>
      <p:sp>
        <p:nvSpPr>
          <p:cNvPr id="29" name="Text 24"/>
          <p:cNvSpPr txBox="1"/>
          <p:nvPr/>
        </p:nvSpPr>
        <p:spPr>
          <a:xfrm>
            <a:off x="8385048" y="2432304"/>
            <a:ext cx="3139135" cy="548640"/>
          </a:xfrm>
          <a:prstGeom prst="rect">
            <a:avLst/>
          </a:prstGeom>
          <a:noFill/>
          <a:ln/>
        </p:spPr>
        <p:txBody>
          <a:bodyPr wrap="square" lIns="0" tIns="0" rIns="0" bIns="0" rtlCol="0" anchor="t"/>
          <a:lstStyle/>
          <a:p>
            <a:pPr indent="0" marL="0">
              <a:buNone/>
            </a:pPr>
            <a:r>
              <a:rPr lang="en-US" sz="1000" dirty="0">
                <a:solidFill>
                  <a:srgbClr val="5F6470"/>
                </a:solidFill>
              </a:rPr>
              <a:t>This document · 25 slides · PowerPoint + PDF · DFD level 0 and 1, roles, workflow, controls</a:t>
            </a:r>
            <a:endParaRPr lang="en-US" sz="1000" dirty="0"/>
          </a:p>
        </p:txBody>
      </p:sp>
      <p:sp>
        <p:nvSpPr>
          <p:cNvPr id="30" name="Shape 25"/>
          <p:cNvSpPr/>
          <p:nvPr/>
        </p:nvSpPr>
        <p:spPr>
          <a:xfrm>
            <a:off x="7772400" y="3072384"/>
            <a:ext cx="475488" cy="475488"/>
          </a:xfrm>
          <a:prstGeom prst="ellipse">
            <a:avLst/>
          </a:prstGeom>
          <a:solidFill>
            <a:srgbClr val="141416"/>
          </a:solidFill>
          <a:ln w="12700">
            <a:solidFill>
              <a:srgbClr val="141416"/>
            </a:solidFill>
            <a:prstDash val="solid"/>
          </a:ln>
        </p:spPr>
      </p:sp>
      <p:pic>
        <p:nvPicPr>
          <p:cNvPr id="31" name="Image 3" descr="preencoded.png">    </p:cNvPr>
          <p:cNvPicPr>
            <a:picLocks noChangeAspect="1"/>
          </p:cNvPicPr>
          <p:nvPr/>
        </p:nvPicPr>
        <p:blipFill>
          <a:blip r:embed="rId4"/>
          <a:stretch>
            <a:fillRect/>
          </a:stretch>
        </p:blipFill>
        <p:spPr>
          <a:xfrm>
            <a:off x="7886517" y="3186501"/>
            <a:ext cx="247254" cy="247254"/>
          </a:xfrm>
          <a:prstGeom prst="rect">
            <a:avLst/>
          </a:prstGeom>
        </p:spPr>
      </p:pic>
      <p:sp>
        <p:nvSpPr>
          <p:cNvPr id="32" name="Text 26"/>
          <p:cNvSpPr txBox="1"/>
          <p:nvPr/>
        </p:nvSpPr>
        <p:spPr>
          <a:xfrm>
            <a:off x="8385048" y="3054096"/>
            <a:ext cx="3139135" cy="274320"/>
          </a:xfrm>
          <a:prstGeom prst="rect">
            <a:avLst/>
          </a:prstGeom>
          <a:noFill/>
          <a:ln/>
        </p:spPr>
        <p:txBody>
          <a:bodyPr wrap="square" lIns="0" tIns="0" rIns="0" bIns="0" rtlCol="0" anchor="t"/>
          <a:lstStyle/>
          <a:p>
            <a:pPr indent="0" marL="0">
              <a:buNone/>
            </a:pPr>
            <a:r>
              <a:rPr lang="en-US" sz="1200" b="1" dirty="0">
                <a:solidFill>
                  <a:schemeClr val="tx2"/>
                </a:solidFill>
              </a:rPr>
              <a:t>Video 1 · Team-assisted filing</a:t>
            </a:r>
            <a:endParaRPr lang="en-US" sz="1200" dirty="0"/>
          </a:p>
        </p:txBody>
      </p:sp>
      <p:sp>
        <p:nvSpPr>
          <p:cNvPr id="33" name="Text 27"/>
          <p:cNvSpPr txBox="1"/>
          <p:nvPr/>
        </p:nvSpPr>
        <p:spPr>
          <a:xfrm>
            <a:off x="8385048" y="3328416"/>
            <a:ext cx="3139135" cy="548640"/>
          </a:xfrm>
          <a:prstGeom prst="rect">
            <a:avLst/>
          </a:prstGeom>
          <a:noFill/>
          <a:ln/>
        </p:spPr>
        <p:txBody>
          <a:bodyPr wrap="square" lIns="0" tIns="0" rIns="0" bIns="0" rtlCol="0" anchor="t"/>
          <a:lstStyle/>
          <a:p>
            <a:pPr indent="0" marL="0">
              <a:buNone/>
            </a:pPr>
            <a:r>
              <a:rPr lang="en-US" sz="1000" dirty="0">
                <a:solidFill>
                  <a:srgbClr val="5F6470"/>
                </a:solidFill>
              </a:rPr>
              <a:t>VVS_Tax_Return_Full_Process.mp4 · 4 min 32 s</a:t>
            </a:r>
            <a:endParaRPr lang="en-US" sz="1000" dirty="0"/>
          </a:p>
        </p:txBody>
      </p:sp>
      <p:sp>
        <p:nvSpPr>
          <p:cNvPr id="34" name="Shape 28"/>
          <p:cNvSpPr/>
          <p:nvPr/>
        </p:nvSpPr>
        <p:spPr>
          <a:xfrm>
            <a:off x="7772400" y="3968496"/>
            <a:ext cx="475488" cy="475488"/>
          </a:xfrm>
          <a:prstGeom prst="ellipse">
            <a:avLst/>
          </a:prstGeom>
          <a:solidFill>
            <a:srgbClr val="141416"/>
          </a:solidFill>
          <a:ln w="12700">
            <a:solidFill>
              <a:srgbClr val="141416"/>
            </a:solidFill>
            <a:prstDash val="solid"/>
          </a:ln>
        </p:spPr>
      </p:sp>
      <p:pic>
        <p:nvPicPr>
          <p:cNvPr id="35" name="Image 4" descr="preencoded.png">    </p:cNvPr>
          <p:cNvPicPr>
            <a:picLocks noChangeAspect="1"/>
          </p:cNvPicPr>
          <p:nvPr/>
        </p:nvPicPr>
        <p:blipFill>
          <a:blip r:embed="rId5"/>
          <a:stretch>
            <a:fillRect/>
          </a:stretch>
        </p:blipFill>
        <p:spPr>
          <a:xfrm>
            <a:off x="7886517" y="4082613"/>
            <a:ext cx="247254" cy="247254"/>
          </a:xfrm>
          <a:prstGeom prst="rect">
            <a:avLst/>
          </a:prstGeom>
        </p:spPr>
      </p:pic>
      <p:sp>
        <p:nvSpPr>
          <p:cNvPr id="36" name="Text 29"/>
          <p:cNvSpPr txBox="1"/>
          <p:nvPr/>
        </p:nvSpPr>
        <p:spPr>
          <a:xfrm>
            <a:off x="8385048" y="3950208"/>
            <a:ext cx="3139135" cy="274320"/>
          </a:xfrm>
          <a:prstGeom prst="rect">
            <a:avLst/>
          </a:prstGeom>
          <a:noFill/>
          <a:ln/>
        </p:spPr>
        <p:txBody>
          <a:bodyPr wrap="square" lIns="0" tIns="0" rIns="0" bIns="0" rtlCol="0" anchor="t"/>
          <a:lstStyle/>
          <a:p>
            <a:pPr indent="0" marL="0">
              <a:buNone/>
            </a:pPr>
            <a:r>
              <a:rPr lang="en-US" sz="1200" b="1" dirty="0">
                <a:solidFill>
                  <a:schemeClr val="tx2"/>
                </a:solidFill>
              </a:rPr>
              <a:t>Video 2 · Client journey online</a:t>
            </a:r>
            <a:endParaRPr lang="en-US" sz="1200" dirty="0"/>
          </a:p>
        </p:txBody>
      </p:sp>
      <p:sp>
        <p:nvSpPr>
          <p:cNvPr id="37" name="Text 30"/>
          <p:cNvSpPr txBox="1"/>
          <p:nvPr/>
        </p:nvSpPr>
        <p:spPr>
          <a:xfrm>
            <a:off x="8385048" y="4224528"/>
            <a:ext cx="3139135" cy="548640"/>
          </a:xfrm>
          <a:prstGeom prst="rect">
            <a:avLst/>
          </a:prstGeom>
          <a:noFill/>
          <a:ln/>
        </p:spPr>
        <p:txBody>
          <a:bodyPr wrap="square" lIns="0" tIns="0" rIns="0" bIns="0" rtlCol="0" anchor="t"/>
          <a:lstStyle/>
          <a:p>
            <a:pPr indent="0" marL="0">
              <a:buNone/>
            </a:pPr>
            <a:r>
              <a:rPr lang="en-US" sz="1000" dirty="0">
                <a:solidFill>
                  <a:srgbClr val="5F6470"/>
                </a:solidFill>
              </a:rPr>
              <a:t>VVS_Client_Journey_Website_to_Filed.mp4 · 4 min 40 s</a:t>
            </a:r>
            <a:endParaRPr lang="en-US" sz="1000" dirty="0"/>
          </a:p>
        </p:txBody>
      </p:sp>
      <p:sp>
        <p:nvSpPr>
          <p:cNvPr id="38" name="Shape 31"/>
          <p:cNvSpPr/>
          <p:nvPr/>
        </p:nvSpPr>
        <p:spPr>
          <a:xfrm>
            <a:off x="7543800" y="5120640"/>
            <a:ext cx="4144975" cy="1188720"/>
          </a:xfrm>
          <a:prstGeom prst="roundRect">
            <a:avLst>
              <a:gd name="adj" fmla="val 6154"/>
            </a:avLst>
          </a:prstGeom>
          <a:solidFill>
            <a:srgbClr val="141416"/>
          </a:solidFill>
          <a:ln w="12700">
            <a:solidFill>
              <a:srgbClr val="141416"/>
            </a:solidFill>
            <a:prstDash val="solid"/>
          </a:ln>
        </p:spPr>
      </p:sp>
      <p:sp>
        <p:nvSpPr>
          <p:cNvPr id="39" name="Text 32"/>
          <p:cNvSpPr txBox="1"/>
          <p:nvPr/>
        </p:nvSpPr>
        <p:spPr>
          <a:xfrm>
            <a:off x="7772400" y="5230368"/>
            <a:ext cx="2743200" cy="228600"/>
          </a:xfrm>
          <a:prstGeom prst="rect">
            <a:avLst/>
          </a:prstGeom>
          <a:noFill/>
          <a:ln/>
        </p:spPr>
        <p:txBody>
          <a:bodyPr wrap="square" lIns="0" tIns="0" rIns="0" bIns="0" rtlCol="0" anchor="t"/>
          <a:lstStyle/>
          <a:p>
            <a:pPr indent="0" marL="0">
              <a:buNone/>
            </a:pPr>
            <a:r>
              <a:rPr lang="en-US" sz="1000" b="1" spc="200" kern="0" dirty="0">
                <a:solidFill>
                  <a:srgbClr val="D4AF37"/>
                </a:solidFill>
              </a:rPr>
              <a:t>NEEDS YOUR INPUT</a:t>
            </a:r>
            <a:endParaRPr lang="en-US" sz="1000" dirty="0"/>
          </a:p>
        </p:txBody>
      </p:sp>
      <p:sp>
        <p:nvSpPr>
          <p:cNvPr id="40" name="Text 33"/>
          <p:cNvSpPr txBox="1"/>
          <p:nvPr/>
        </p:nvSpPr>
        <p:spPr>
          <a:xfrm>
            <a:off x="7772400" y="5486400"/>
            <a:ext cx="3733495" cy="777240"/>
          </a:xfrm>
          <a:prstGeom prst="rect">
            <a:avLst/>
          </a:prstGeom>
          <a:noFill/>
          <a:ln/>
        </p:spPr>
        <p:txBody>
          <a:bodyPr wrap="square" lIns="0" tIns="0" rIns="0" bIns="0" rtlCol="0" anchor="t"/>
          <a:lstStyle/>
          <a:p>
            <a:pPr indent="0" marL="0">
              <a:buNone/>
            </a:pPr>
            <a:r>
              <a:rPr lang="en-US" sz="1100" dirty="0">
                <a:solidFill>
                  <a:srgbClr val="FFFFFF"/>
                </a:solidFill>
              </a:rPr>
              <a:t>Tax rates, WhatsApp and SMS accounts, email, package prices, payment details, turnaround targets and the TY2026 deadline — listed on the last slide.</a:t>
            </a:r>
            <a:endParaRPr lang="en-US" sz="11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02920" y="502920"/>
            <a:ext cx="566928" cy="566928"/>
          </a:xfrm>
          <a:prstGeom prst="rect">
            <a:avLst/>
          </a:prstGeom>
        </p:spPr>
      </p:pic>
      <p:sp>
        <p:nvSpPr>
          <p:cNvPr id="3" name="Text 0"/>
          <p:cNvSpPr txBox="1"/>
          <p:nvPr/>
        </p:nvSpPr>
        <p:spPr>
          <a:xfrm>
            <a:off x="1216152" y="548640"/>
            <a:ext cx="4572000" cy="27432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Vision Vault Solutions</a:t>
            </a:r>
            <a:endParaRPr lang="en-US" sz="1400" dirty="0"/>
          </a:p>
        </p:txBody>
      </p:sp>
      <p:sp>
        <p:nvSpPr>
          <p:cNvPr id="4" name="Text 1"/>
          <p:cNvSpPr txBox="1"/>
          <p:nvPr/>
        </p:nvSpPr>
        <p:spPr>
          <a:xfrm>
            <a:off x="1216152" y="822960"/>
            <a:ext cx="4572000" cy="228600"/>
          </a:xfrm>
          <a:prstGeom prst="rect">
            <a:avLst/>
          </a:prstGeom>
          <a:noFill/>
          <a:ln/>
        </p:spPr>
        <p:txBody>
          <a:bodyPr wrap="square" lIns="0" tIns="0" rIns="0" bIns="0" rtlCol="0" anchor="t"/>
          <a:lstStyle/>
          <a:p>
            <a:pPr indent="0" marL="0">
              <a:buNone/>
            </a:pPr>
            <a:r>
              <a:rPr lang="en-US" sz="1000" dirty="0">
                <a:solidFill>
                  <a:srgbClr val="C9C3B3"/>
                </a:solidFill>
              </a:rPr>
              <a:t>VVS Consultants · Audit &amp; Taxation</a:t>
            </a:r>
            <a:endParaRPr lang="en-US" sz="1000" dirty="0"/>
          </a:p>
        </p:txBody>
      </p:sp>
      <p:sp>
        <p:nvSpPr>
          <p:cNvPr id="5" name="Text 2"/>
          <p:cNvSpPr txBox="1"/>
          <p:nvPr/>
        </p:nvSpPr>
        <p:spPr>
          <a:xfrm>
            <a:off x="502920" y="1600200"/>
            <a:ext cx="6583680" cy="274320"/>
          </a:xfrm>
          <a:prstGeom prst="rect">
            <a:avLst/>
          </a:prstGeom>
          <a:noFill/>
          <a:ln/>
        </p:spPr>
        <p:txBody>
          <a:bodyPr wrap="square" lIns="0" tIns="0" rIns="0" bIns="0" rtlCol="0" anchor="t"/>
          <a:lstStyle/>
          <a:p>
            <a:pPr indent="0" marL="0">
              <a:buNone/>
            </a:pPr>
            <a:r>
              <a:rPr lang="en-US" sz="1200" b="1" spc="200" kern="0" dirty="0">
                <a:solidFill>
                  <a:srgbClr val="D4AF37"/>
                </a:solidFill>
              </a:rPr>
              <a:t>FUNCTIONAL SPECIFICATION DOCUMENT  ·  VERSION 1.1</a:t>
            </a:r>
            <a:endParaRPr lang="en-US" sz="1200" dirty="0"/>
          </a:p>
        </p:txBody>
      </p:sp>
      <p:sp>
        <p:nvSpPr>
          <p:cNvPr id="6" name="Text 3"/>
          <p:cNvSpPr txBox="1"/>
          <p:nvPr/>
        </p:nvSpPr>
        <p:spPr>
          <a:xfrm>
            <a:off x="502920" y="1920240"/>
            <a:ext cx="6766560" cy="7772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Tax Consultancy Portal</a:t>
            </a:r>
            <a:endParaRPr lang="en-US" sz="4000" dirty="0"/>
          </a:p>
        </p:txBody>
      </p:sp>
      <p:sp>
        <p:nvSpPr>
          <p:cNvPr id="7" name="Text 4"/>
          <p:cNvSpPr txBox="1"/>
          <p:nvPr/>
        </p:nvSpPr>
        <p:spPr>
          <a:xfrm>
            <a:off x="502920" y="2743200"/>
            <a:ext cx="6217920" cy="1005840"/>
          </a:xfrm>
          <a:prstGeom prst="rect">
            <a:avLst/>
          </a:prstGeom>
          <a:noFill/>
          <a:ln/>
        </p:spPr>
        <p:txBody>
          <a:bodyPr wrap="square" lIns="0" tIns="0" rIns="0" bIns="0" rtlCol="0" anchor="t"/>
          <a:lstStyle/>
          <a:p>
            <a:pPr indent="0" marL="0">
              <a:buNone/>
            </a:pPr>
            <a:r>
              <a:rPr lang="en-US" sz="1500" dirty="0">
                <a:solidFill>
                  <a:srgbClr val="D8D2C2"/>
                </a:solidFill>
              </a:rPr>
              <a:t>Client portal, staff workspace and CRM for income tax returns on FBR IRIS — functional design, data flow diagrams (level 0 and 1), workflow, controls and live data, on ERPNext v16 with a React front end.</a:t>
            </a:r>
            <a:endParaRPr lang="en-US" sz="1500" dirty="0"/>
          </a:p>
        </p:txBody>
      </p:sp>
      <p:sp>
        <p:nvSpPr>
          <p:cNvPr id="8" name="Text 5"/>
          <p:cNvSpPr txBox="1"/>
          <p:nvPr/>
        </p:nvSpPr>
        <p:spPr>
          <a:xfrm>
            <a:off x="502920" y="4069080"/>
            <a:ext cx="3017520" cy="228600"/>
          </a:xfrm>
          <a:prstGeom prst="rect">
            <a:avLst/>
          </a:prstGeom>
          <a:noFill/>
          <a:ln/>
        </p:spPr>
        <p:txBody>
          <a:bodyPr wrap="square" lIns="0" tIns="0" rIns="0" bIns="0" rtlCol="0" anchor="t"/>
          <a:lstStyle/>
          <a:p>
            <a:pPr indent="0" marL="0">
              <a:buNone/>
            </a:pPr>
            <a:r>
              <a:rPr lang="en-US" sz="1000" b="1" spc="100" kern="0" dirty="0">
                <a:solidFill>
                  <a:srgbClr val="8C8677"/>
                </a:solidFill>
              </a:rPr>
              <a:t>FIRM</a:t>
            </a:r>
            <a:endParaRPr lang="en-US" sz="1000" dirty="0"/>
          </a:p>
        </p:txBody>
      </p:sp>
      <p:sp>
        <p:nvSpPr>
          <p:cNvPr id="9" name="Text 6"/>
          <p:cNvSpPr txBox="1"/>
          <p:nvPr/>
        </p:nvSpPr>
        <p:spPr>
          <a:xfrm>
            <a:off x="502920" y="4315968"/>
            <a:ext cx="3017520" cy="411480"/>
          </a:xfrm>
          <a:prstGeom prst="rect">
            <a:avLst/>
          </a:prstGeom>
          <a:noFill/>
          <a:ln/>
        </p:spPr>
        <p:txBody>
          <a:bodyPr wrap="square" lIns="0" tIns="0" rIns="0" bIns="0" rtlCol="0" anchor="t"/>
          <a:lstStyle/>
          <a:p>
            <a:pPr indent="0" marL="0">
              <a:buNone/>
            </a:pPr>
            <a:r>
              <a:rPr lang="en-US" sz="1300" dirty="0">
                <a:solidFill>
                  <a:srgbClr val="FFFFFF"/>
                </a:solidFill>
              </a:rPr>
              <a:t>Vision Vault Solutions, Faisalabad</a:t>
            </a:r>
            <a:endParaRPr lang="en-US" sz="1300" dirty="0"/>
          </a:p>
        </p:txBody>
      </p:sp>
      <p:sp>
        <p:nvSpPr>
          <p:cNvPr id="10" name="Text 7"/>
          <p:cNvSpPr txBox="1"/>
          <p:nvPr/>
        </p:nvSpPr>
        <p:spPr>
          <a:xfrm>
            <a:off x="3657600" y="4069080"/>
            <a:ext cx="3017520" cy="228600"/>
          </a:xfrm>
          <a:prstGeom prst="rect">
            <a:avLst/>
          </a:prstGeom>
          <a:noFill/>
          <a:ln/>
        </p:spPr>
        <p:txBody>
          <a:bodyPr wrap="square" lIns="0" tIns="0" rIns="0" bIns="0" rtlCol="0" anchor="t"/>
          <a:lstStyle/>
          <a:p>
            <a:pPr indent="0" marL="0">
              <a:buNone/>
            </a:pPr>
            <a:r>
              <a:rPr lang="en-US" sz="1000" b="1" spc="100" kern="0" dirty="0">
                <a:solidFill>
                  <a:srgbClr val="8C8677"/>
                </a:solidFill>
              </a:rPr>
              <a:t>SITE</a:t>
            </a:r>
            <a:endParaRPr lang="en-US" sz="1000" dirty="0"/>
          </a:p>
        </p:txBody>
      </p:sp>
      <p:sp>
        <p:nvSpPr>
          <p:cNvPr id="11" name="Text 8"/>
          <p:cNvSpPr txBox="1"/>
          <p:nvPr/>
        </p:nvSpPr>
        <p:spPr>
          <a:xfrm>
            <a:off x="3657600" y="4315968"/>
            <a:ext cx="3017520" cy="411480"/>
          </a:xfrm>
          <a:prstGeom prst="rect">
            <a:avLst/>
          </a:prstGeom>
          <a:noFill/>
          <a:ln/>
        </p:spPr>
        <p:txBody>
          <a:bodyPr wrap="square" lIns="0" tIns="0" rIns="0" bIns="0" rtlCol="0" anchor="t"/>
          <a:lstStyle/>
          <a:p>
            <a:pPr indent="0" marL="0">
              <a:buNone/>
            </a:pPr>
            <a:r>
              <a:rPr lang="en-US" sz="1300" dirty="0">
                <a:solidFill>
                  <a:srgbClr val="FFFFFF"/>
                </a:solidFill>
              </a:rPr>
              <a:t>consultant  ·  ERPNext v16 + React</a:t>
            </a:r>
            <a:endParaRPr lang="en-US" sz="1300" dirty="0"/>
          </a:p>
        </p:txBody>
      </p:sp>
      <p:sp>
        <p:nvSpPr>
          <p:cNvPr id="12" name="Text 9"/>
          <p:cNvSpPr txBox="1"/>
          <p:nvPr/>
        </p:nvSpPr>
        <p:spPr>
          <a:xfrm>
            <a:off x="502920" y="4846320"/>
            <a:ext cx="3017520" cy="228600"/>
          </a:xfrm>
          <a:prstGeom prst="rect">
            <a:avLst/>
          </a:prstGeom>
          <a:noFill/>
          <a:ln/>
        </p:spPr>
        <p:txBody>
          <a:bodyPr wrap="square" lIns="0" tIns="0" rIns="0" bIns="0" rtlCol="0" anchor="t"/>
          <a:lstStyle/>
          <a:p>
            <a:pPr indent="0" marL="0">
              <a:buNone/>
            </a:pPr>
            <a:r>
              <a:rPr lang="en-US" sz="1000" b="1" spc="100" kern="0" dirty="0">
                <a:solidFill>
                  <a:srgbClr val="8C8677"/>
                </a:solidFill>
              </a:rPr>
              <a:t>PARTNER</a:t>
            </a:r>
            <a:endParaRPr lang="en-US" sz="1000" dirty="0"/>
          </a:p>
        </p:txBody>
      </p:sp>
      <p:sp>
        <p:nvSpPr>
          <p:cNvPr id="13" name="Text 10"/>
          <p:cNvSpPr txBox="1"/>
          <p:nvPr/>
        </p:nvSpPr>
        <p:spPr>
          <a:xfrm>
            <a:off x="502920" y="5093208"/>
            <a:ext cx="3017520" cy="411480"/>
          </a:xfrm>
          <a:prstGeom prst="rect">
            <a:avLst/>
          </a:prstGeom>
          <a:noFill/>
          <a:ln/>
        </p:spPr>
        <p:txBody>
          <a:bodyPr wrap="square" lIns="0" tIns="0" rIns="0" bIns="0" rtlCol="0" anchor="t"/>
          <a:lstStyle/>
          <a:p>
            <a:pPr indent="0" marL="0">
              <a:buNone/>
            </a:pPr>
            <a:r>
              <a:rPr lang="en-US" sz="1300" dirty="0">
                <a:solidFill>
                  <a:srgbClr val="FFFFFF"/>
                </a:solidFill>
              </a:rPr>
              <a:t>Faizan Chaudhary — Audit &amp; Taxation</a:t>
            </a:r>
            <a:endParaRPr lang="en-US" sz="1300" dirty="0"/>
          </a:p>
        </p:txBody>
      </p:sp>
      <p:sp>
        <p:nvSpPr>
          <p:cNvPr id="14" name="Text 11"/>
          <p:cNvSpPr txBox="1"/>
          <p:nvPr/>
        </p:nvSpPr>
        <p:spPr>
          <a:xfrm>
            <a:off x="3657600" y="4846320"/>
            <a:ext cx="3017520" cy="228600"/>
          </a:xfrm>
          <a:prstGeom prst="rect">
            <a:avLst/>
          </a:prstGeom>
          <a:noFill/>
          <a:ln/>
        </p:spPr>
        <p:txBody>
          <a:bodyPr wrap="square" lIns="0" tIns="0" rIns="0" bIns="0" rtlCol="0" anchor="t"/>
          <a:lstStyle/>
          <a:p>
            <a:pPr indent="0" marL="0">
              <a:buNone/>
            </a:pPr>
            <a:r>
              <a:rPr lang="en-US" sz="1000" b="1" spc="100" kern="0" dirty="0">
                <a:solidFill>
                  <a:srgbClr val="8C8677"/>
                </a:solidFill>
              </a:rPr>
              <a:t>DATA AS OF</a:t>
            </a:r>
            <a:endParaRPr lang="en-US" sz="1000" dirty="0"/>
          </a:p>
        </p:txBody>
      </p:sp>
      <p:sp>
        <p:nvSpPr>
          <p:cNvPr id="15" name="Text 12"/>
          <p:cNvSpPr txBox="1"/>
          <p:nvPr/>
        </p:nvSpPr>
        <p:spPr>
          <a:xfrm>
            <a:off x="3657600" y="5093208"/>
            <a:ext cx="3017520" cy="411480"/>
          </a:xfrm>
          <a:prstGeom prst="rect">
            <a:avLst/>
          </a:prstGeom>
          <a:noFill/>
          <a:ln/>
        </p:spPr>
        <p:txBody>
          <a:bodyPr wrap="square" lIns="0" tIns="0" rIns="0" bIns="0" rtlCol="0" anchor="t"/>
          <a:lstStyle/>
          <a:p>
            <a:pPr indent="0" marL="0">
              <a:buNone/>
            </a:pPr>
            <a:r>
              <a:rPr lang="en-US" sz="1300" dirty="0">
                <a:solidFill>
                  <a:srgbClr val="FFFFFF"/>
                </a:solidFill>
              </a:rPr>
              <a:t>19 Oct 2026  ·  demo season, live entries</a:t>
            </a:r>
            <a:endParaRPr lang="en-US" sz="1300" dirty="0"/>
          </a:p>
        </p:txBody>
      </p:sp>
      <p:sp>
        <p:nvSpPr>
          <p:cNvPr id="16" name="Shape 13"/>
          <p:cNvSpPr/>
          <p:nvPr/>
        </p:nvSpPr>
        <p:spPr>
          <a:xfrm>
            <a:off x="7543800" y="685800"/>
            <a:ext cx="4114800" cy="749808"/>
          </a:xfrm>
          <a:prstGeom prst="roundRect">
            <a:avLst>
              <a:gd name="adj" fmla="val 9756"/>
            </a:avLst>
          </a:prstGeom>
          <a:solidFill>
            <a:srgbClr val="1F1E22"/>
          </a:solidFill>
          <a:ln w="9525">
            <a:solidFill>
              <a:srgbClr val="3A352A"/>
            </a:solidFill>
            <a:prstDash val="solid"/>
          </a:ln>
        </p:spPr>
      </p:sp>
      <p:sp>
        <p:nvSpPr>
          <p:cNvPr id="17" name="Shape 14"/>
          <p:cNvSpPr/>
          <p:nvPr/>
        </p:nvSpPr>
        <p:spPr>
          <a:xfrm>
            <a:off x="7699248" y="813816"/>
            <a:ext cx="493776" cy="493776"/>
          </a:xfrm>
          <a:prstGeom prst="ellipse">
            <a:avLst/>
          </a:prstGeom>
          <a:solidFill>
            <a:srgbClr val="D4AF37"/>
          </a:solidFill>
          <a:ln w="12700">
            <a:solidFill>
              <a:srgbClr val="D4AF37"/>
            </a:solidFill>
            <a:prstDash val="solid"/>
          </a:ln>
        </p:spPr>
      </p:sp>
      <p:pic>
        <p:nvPicPr>
          <p:cNvPr id="18" name="Image 1" descr="preencoded.png">    </p:cNvPr>
          <p:cNvPicPr>
            <a:picLocks noChangeAspect="1"/>
          </p:cNvPicPr>
          <p:nvPr/>
        </p:nvPicPr>
        <p:blipFill>
          <a:blip r:embed="rId2"/>
          <a:stretch>
            <a:fillRect/>
          </a:stretch>
        </p:blipFill>
        <p:spPr>
          <a:xfrm>
            <a:off x="7817754" y="932322"/>
            <a:ext cx="256764" cy="256764"/>
          </a:xfrm>
          <a:prstGeom prst="rect">
            <a:avLst/>
          </a:prstGeom>
        </p:spPr>
      </p:pic>
      <p:sp>
        <p:nvSpPr>
          <p:cNvPr id="19" name="Text 15"/>
          <p:cNvSpPr txBox="1"/>
          <p:nvPr/>
        </p:nvSpPr>
        <p:spPr>
          <a:xfrm>
            <a:off x="8321040" y="795528"/>
            <a:ext cx="365760" cy="228600"/>
          </a:xfrm>
          <a:prstGeom prst="rect">
            <a:avLst/>
          </a:prstGeom>
          <a:noFill/>
          <a:ln/>
        </p:spPr>
        <p:txBody>
          <a:bodyPr wrap="square" lIns="0" tIns="0" rIns="0" bIns="0" rtlCol="0" anchor="t"/>
          <a:lstStyle/>
          <a:p>
            <a:pPr indent="0" marL="0">
              <a:buNone/>
            </a:pPr>
            <a:r>
              <a:rPr lang="en-US" sz="1000" b="1" dirty="0">
                <a:solidFill>
                  <a:srgbClr val="D4AF37"/>
                </a:solidFill>
              </a:rPr>
              <a:t>01</a:t>
            </a:r>
            <a:endParaRPr lang="en-US" sz="1000" dirty="0"/>
          </a:p>
        </p:txBody>
      </p:sp>
      <p:sp>
        <p:nvSpPr>
          <p:cNvPr id="20" name="Text 16"/>
          <p:cNvSpPr txBox="1"/>
          <p:nvPr/>
        </p:nvSpPr>
        <p:spPr>
          <a:xfrm>
            <a:off x="8641080" y="777240"/>
            <a:ext cx="2926080" cy="274320"/>
          </a:xfrm>
          <a:prstGeom prst="rect">
            <a:avLst/>
          </a:prstGeom>
          <a:noFill/>
          <a:ln/>
        </p:spPr>
        <p:txBody>
          <a:bodyPr wrap="square" lIns="0" tIns="0" rIns="0" bIns="0" rtlCol="0" anchor="t"/>
          <a:lstStyle/>
          <a:p>
            <a:pPr indent="0" marL="0">
              <a:buNone/>
            </a:pPr>
            <a:r>
              <a:rPr lang="en-US" sz="1400" b="1" dirty="0">
                <a:solidFill>
                  <a:srgbClr val="FFFFFF"/>
                </a:solidFill>
              </a:rPr>
              <a:t>Client portal</a:t>
            </a:r>
            <a:endParaRPr lang="en-US" sz="1400" dirty="0"/>
          </a:p>
        </p:txBody>
      </p:sp>
      <p:sp>
        <p:nvSpPr>
          <p:cNvPr id="21" name="Text 17"/>
          <p:cNvSpPr txBox="1"/>
          <p:nvPr/>
        </p:nvSpPr>
        <p:spPr>
          <a:xfrm>
            <a:off x="8321040" y="1088136"/>
            <a:ext cx="3246120" cy="246888"/>
          </a:xfrm>
          <a:prstGeom prst="rect">
            <a:avLst/>
          </a:prstGeom>
          <a:noFill/>
          <a:ln/>
        </p:spPr>
        <p:txBody>
          <a:bodyPr wrap="square" lIns="0" tIns="0" rIns="0" bIns="0" rtlCol="0" anchor="t"/>
          <a:lstStyle/>
          <a:p>
            <a:pPr indent="0" marL="0">
              <a:buNone/>
            </a:pPr>
            <a:r>
              <a:rPr lang="en-US" sz="1100" dirty="0">
                <a:solidFill>
                  <a:srgbClr val="C9C3B3"/>
                </a:solidFill>
              </a:rPr>
              <a:t>Sign-up · OTP · documents · confirm</a:t>
            </a:r>
            <a:endParaRPr lang="en-US" sz="1100" dirty="0"/>
          </a:p>
        </p:txBody>
      </p:sp>
      <p:sp>
        <p:nvSpPr>
          <p:cNvPr id="22" name="Shape 18"/>
          <p:cNvSpPr/>
          <p:nvPr/>
        </p:nvSpPr>
        <p:spPr>
          <a:xfrm>
            <a:off x="7543800" y="1572768"/>
            <a:ext cx="4114800" cy="749808"/>
          </a:xfrm>
          <a:prstGeom prst="roundRect">
            <a:avLst>
              <a:gd name="adj" fmla="val 9756"/>
            </a:avLst>
          </a:prstGeom>
          <a:solidFill>
            <a:srgbClr val="1F1E22"/>
          </a:solidFill>
          <a:ln w="9525">
            <a:solidFill>
              <a:srgbClr val="3A352A"/>
            </a:solidFill>
            <a:prstDash val="solid"/>
          </a:ln>
        </p:spPr>
      </p:sp>
      <p:sp>
        <p:nvSpPr>
          <p:cNvPr id="23" name="Shape 19"/>
          <p:cNvSpPr/>
          <p:nvPr/>
        </p:nvSpPr>
        <p:spPr>
          <a:xfrm>
            <a:off x="7699248" y="1700784"/>
            <a:ext cx="493776" cy="493776"/>
          </a:xfrm>
          <a:prstGeom prst="ellipse">
            <a:avLst/>
          </a:prstGeom>
          <a:solidFill>
            <a:srgbClr val="A8811F"/>
          </a:solidFill>
          <a:ln w="12700">
            <a:solidFill>
              <a:srgbClr val="A8811F"/>
            </a:solidFill>
            <a:prstDash val="solid"/>
          </a:ln>
        </p:spPr>
      </p:sp>
      <p:pic>
        <p:nvPicPr>
          <p:cNvPr id="24" name="Image 2" descr="preencoded.png">    </p:cNvPr>
          <p:cNvPicPr>
            <a:picLocks noChangeAspect="1"/>
          </p:cNvPicPr>
          <p:nvPr/>
        </p:nvPicPr>
        <p:blipFill>
          <a:blip r:embed="rId3"/>
          <a:stretch>
            <a:fillRect/>
          </a:stretch>
        </p:blipFill>
        <p:spPr>
          <a:xfrm>
            <a:off x="7817754" y="1819290"/>
            <a:ext cx="256764" cy="256764"/>
          </a:xfrm>
          <a:prstGeom prst="rect">
            <a:avLst/>
          </a:prstGeom>
        </p:spPr>
      </p:pic>
      <p:sp>
        <p:nvSpPr>
          <p:cNvPr id="25" name="Text 20"/>
          <p:cNvSpPr txBox="1"/>
          <p:nvPr/>
        </p:nvSpPr>
        <p:spPr>
          <a:xfrm>
            <a:off x="8321040" y="1682496"/>
            <a:ext cx="365760" cy="228600"/>
          </a:xfrm>
          <a:prstGeom prst="rect">
            <a:avLst/>
          </a:prstGeom>
          <a:noFill/>
          <a:ln/>
        </p:spPr>
        <p:txBody>
          <a:bodyPr wrap="square" lIns="0" tIns="0" rIns="0" bIns="0" rtlCol="0" anchor="t"/>
          <a:lstStyle/>
          <a:p>
            <a:pPr indent="0" marL="0">
              <a:buNone/>
            </a:pPr>
            <a:r>
              <a:rPr lang="en-US" sz="1000" b="1" dirty="0">
                <a:solidFill>
                  <a:srgbClr val="D4AF37"/>
                </a:solidFill>
              </a:rPr>
              <a:t>02</a:t>
            </a:r>
            <a:endParaRPr lang="en-US" sz="1000" dirty="0"/>
          </a:p>
        </p:txBody>
      </p:sp>
      <p:sp>
        <p:nvSpPr>
          <p:cNvPr id="26" name="Text 21"/>
          <p:cNvSpPr txBox="1"/>
          <p:nvPr/>
        </p:nvSpPr>
        <p:spPr>
          <a:xfrm>
            <a:off x="8641080" y="1664208"/>
            <a:ext cx="2926080" cy="274320"/>
          </a:xfrm>
          <a:prstGeom prst="rect">
            <a:avLst/>
          </a:prstGeom>
          <a:noFill/>
          <a:ln/>
        </p:spPr>
        <p:txBody>
          <a:bodyPr wrap="square" lIns="0" tIns="0" rIns="0" bIns="0" rtlCol="0" anchor="t"/>
          <a:lstStyle/>
          <a:p>
            <a:pPr indent="0" marL="0">
              <a:buNone/>
            </a:pPr>
            <a:r>
              <a:rPr lang="en-US" sz="1400" b="1" dirty="0">
                <a:solidFill>
                  <a:srgbClr val="FFFFFF"/>
                </a:solidFill>
              </a:rPr>
              <a:t>Return workflow</a:t>
            </a:r>
            <a:endParaRPr lang="en-US" sz="1400" dirty="0"/>
          </a:p>
        </p:txBody>
      </p:sp>
      <p:sp>
        <p:nvSpPr>
          <p:cNvPr id="27" name="Text 22"/>
          <p:cNvSpPr txBox="1"/>
          <p:nvPr/>
        </p:nvSpPr>
        <p:spPr>
          <a:xfrm>
            <a:off x="8321040" y="1975104"/>
            <a:ext cx="3246120" cy="246888"/>
          </a:xfrm>
          <a:prstGeom prst="rect">
            <a:avLst/>
          </a:prstGeom>
          <a:noFill/>
          <a:ln/>
        </p:spPr>
        <p:txBody>
          <a:bodyPr wrap="square" lIns="0" tIns="0" rIns="0" bIns="0" rtlCol="0" anchor="t"/>
          <a:lstStyle/>
          <a:p>
            <a:pPr indent="0" marL="0">
              <a:buNone/>
            </a:pPr>
            <a:r>
              <a:rPr lang="en-US" sz="1100" dirty="0">
                <a:solidFill>
                  <a:srgbClr val="C9C3B3"/>
                </a:solidFill>
              </a:rPr>
              <a:t>12 states · four-eyes · IRIS evidence</a:t>
            </a:r>
            <a:endParaRPr lang="en-US" sz="1100" dirty="0"/>
          </a:p>
        </p:txBody>
      </p:sp>
      <p:sp>
        <p:nvSpPr>
          <p:cNvPr id="28" name="Shape 23"/>
          <p:cNvSpPr/>
          <p:nvPr/>
        </p:nvSpPr>
        <p:spPr>
          <a:xfrm>
            <a:off x="7543800" y="2459736"/>
            <a:ext cx="4114800" cy="749808"/>
          </a:xfrm>
          <a:prstGeom prst="roundRect">
            <a:avLst>
              <a:gd name="adj" fmla="val 9756"/>
            </a:avLst>
          </a:prstGeom>
          <a:solidFill>
            <a:srgbClr val="1F1E22"/>
          </a:solidFill>
          <a:ln w="9525">
            <a:solidFill>
              <a:srgbClr val="3A352A"/>
            </a:solidFill>
            <a:prstDash val="solid"/>
          </a:ln>
        </p:spPr>
      </p:sp>
      <p:sp>
        <p:nvSpPr>
          <p:cNvPr id="29" name="Shape 24"/>
          <p:cNvSpPr/>
          <p:nvPr/>
        </p:nvSpPr>
        <p:spPr>
          <a:xfrm>
            <a:off x="7699248" y="2587752"/>
            <a:ext cx="493776" cy="493776"/>
          </a:xfrm>
          <a:prstGeom prst="ellipse">
            <a:avLst/>
          </a:prstGeom>
          <a:solidFill>
            <a:srgbClr val="A8811F"/>
          </a:solidFill>
          <a:ln w="12700">
            <a:solidFill>
              <a:srgbClr val="A8811F"/>
            </a:solidFill>
            <a:prstDash val="solid"/>
          </a:ln>
        </p:spPr>
      </p:sp>
      <p:pic>
        <p:nvPicPr>
          <p:cNvPr id="30" name="Image 3" descr="preencoded.png">    </p:cNvPr>
          <p:cNvPicPr>
            <a:picLocks noChangeAspect="1"/>
          </p:cNvPicPr>
          <p:nvPr/>
        </p:nvPicPr>
        <p:blipFill>
          <a:blip r:embed="rId4"/>
          <a:stretch>
            <a:fillRect/>
          </a:stretch>
        </p:blipFill>
        <p:spPr>
          <a:xfrm>
            <a:off x="7817754" y="2706258"/>
            <a:ext cx="256764" cy="256764"/>
          </a:xfrm>
          <a:prstGeom prst="rect">
            <a:avLst/>
          </a:prstGeom>
        </p:spPr>
      </p:pic>
      <p:sp>
        <p:nvSpPr>
          <p:cNvPr id="31" name="Text 25"/>
          <p:cNvSpPr txBox="1"/>
          <p:nvPr/>
        </p:nvSpPr>
        <p:spPr>
          <a:xfrm>
            <a:off x="8321040" y="2569464"/>
            <a:ext cx="365760" cy="228600"/>
          </a:xfrm>
          <a:prstGeom prst="rect">
            <a:avLst/>
          </a:prstGeom>
          <a:noFill/>
          <a:ln/>
        </p:spPr>
        <p:txBody>
          <a:bodyPr wrap="square" lIns="0" tIns="0" rIns="0" bIns="0" rtlCol="0" anchor="t"/>
          <a:lstStyle/>
          <a:p>
            <a:pPr indent="0" marL="0">
              <a:buNone/>
            </a:pPr>
            <a:r>
              <a:rPr lang="en-US" sz="1000" b="1" dirty="0">
                <a:solidFill>
                  <a:srgbClr val="D4AF37"/>
                </a:solidFill>
              </a:rPr>
              <a:t>03</a:t>
            </a:r>
            <a:endParaRPr lang="en-US" sz="1000" dirty="0"/>
          </a:p>
        </p:txBody>
      </p:sp>
      <p:sp>
        <p:nvSpPr>
          <p:cNvPr id="32" name="Text 26"/>
          <p:cNvSpPr txBox="1"/>
          <p:nvPr/>
        </p:nvSpPr>
        <p:spPr>
          <a:xfrm>
            <a:off x="8641080" y="2551176"/>
            <a:ext cx="2926080" cy="274320"/>
          </a:xfrm>
          <a:prstGeom prst="rect">
            <a:avLst/>
          </a:prstGeom>
          <a:noFill/>
          <a:ln/>
        </p:spPr>
        <p:txBody>
          <a:bodyPr wrap="square" lIns="0" tIns="0" rIns="0" bIns="0" rtlCol="0" anchor="t"/>
          <a:lstStyle/>
          <a:p>
            <a:pPr indent="0" marL="0">
              <a:buNone/>
            </a:pPr>
            <a:r>
              <a:rPr lang="en-US" sz="1400" b="1" dirty="0">
                <a:solidFill>
                  <a:srgbClr val="FFFFFF"/>
                </a:solidFill>
              </a:rPr>
              <a:t>Tax engine &amp; simulator</a:t>
            </a:r>
            <a:endParaRPr lang="en-US" sz="1400" dirty="0"/>
          </a:p>
        </p:txBody>
      </p:sp>
      <p:sp>
        <p:nvSpPr>
          <p:cNvPr id="33" name="Text 27"/>
          <p:cNvSpPr txBox="1"/>
          <p:nvPr/>
        </p:nvSpPr>
        <p:spPr>
          <a:xfrm>
            <a:off x="8321040" y="2862072"/>
            <a:ext cx="3246120" cy="246888"/>
          </a:xfrm>
          <a:prstGeom prst="rect">
            <a:avLst/>
          </a:prstGeom>
          <a:noFill/>
          <a:ln/>
        </p:spPr>
        <p:txBody>
          <a:bodyPr wrap="square" lIns="0" tIns="0" rIns="0" bIns="0" rtlCol="0" anchor="t"/>
          <a:lstStyle/>
          <a:p>
            <a:pPr indent="0" marL="0">
              <a:buNone/>
            </a:pPr>
            <a:r>
              <a:rPr lang="en-US" sz="1100" dirty="0">
                <a:solidFill>
                  <a:srgbClr val="C9C3B3"/>
                </a:solidFill>
              </a:rPr>
              <a:t>Slabs from rules · what-if scenarios</a:t>
            </a:r>
            <a:endParaRPr lang="en-US" sz="1100" dirty="0"/>
          </a:p>
        </p:txBody>
      </p:sp>
      <p:sp>
        <p:nvSpPr>
          <p:cNvPr id="34" name="Shape 28"/>
          <p:cNvSpPr/>
          <p:nvPr/>
        </p:nvSpPr>
        <p:spPr>
          <a:xfrm>
            <a:off x="7543800" y="3346704"/>
            <a:ext cx="4114800" cy="749808"/>
          </a:xfrm>
          <a:prstGeom prst="roundRect">
            <a:avLst>
              <a:gd name="adj" fmla="val 9756"/>
            </a:avLst>
          </a:prstGeom>
          <a:solidFill>
            <a:srgbClr val="1F1E22"/>
          </a:solidFill>
          <a:ln w="9525">
            <a:solidFill>
              <a:srgbClr val="3A352A"/>
            </a:solidFill>
            <a:prstDash val="solid"/>
          </a:ln>
        </p:spPr>
      </p:sp>
      <p:sp>
        <p:nvSpPr>
          <p:cNvPr id="35" name="Shape 29"/>
          <p:cNvSpPr/>
          <p:nvPr/>
        </p:nvSpPr>
        <p:spPr>
          <a:xfrm>
            <a:off x="7699248" y="3474720"/>
            <a:ext cx="493776" cy="493776"/>
          </a:xfrm>
          <a:prstGeom prst="ellipse">
            <a:avLst/>
          </a:prstGeom>
          <a:solidFill>
            <a:srgbClr val="A8811F"/>
          </a:solidFill>
          <a:ln w="12700">
            <a:solidFill>
              <a:srgbClr val="A8811F"/>
            </a:solidFill>
            <a:prstDash val="solid"/>
          </a:ln>
        </p:spPr>
      </p:sp>
      <p:pic>
        <p:nvPicPr>
          <p:cNvPr id="36" name="Image 4" descr="preencoded.png">    </p:cNvPr>
          <p:cNvPicPr>
            <a:picLocks noChangeAspect="1"/>
          </p:cNvPicPr>
          <p:nvPr/>
        </p:nvPicPr>
        <p:blipFill>
          <a:blip r:embed="rId5"/>
          <a:stretch>
            <a:fillRect/>
          </a:stretch>
        </p:blipFill>
        <p:spPr>
          <a:xfrm>
            <a:off x="7817754" y="3593226"/>
            <a:ext cx="256764" cy="256764"/>
          </a:xfrm>
          <a:prstGeom prst="rect">
            <a:avLst/>
          </a:prstGeom>
        </p:spPr>
      </p:pic>
      <p:sp>
        <p:nvSpPr>
          <p:cNvPr id="37" name="Text 30"/>
          <p:cNvSpPr txBox="1"/>
          <p:nvPr/>
        </p:nvSpPr>
        <p:spPr>
          <a:xfrm>
            <a:off x="8321040" y="3456432"/>
            <a:ext cx="365760" cy="228600"/>
          </a:xfrm>
          <a:prstGeom prst="rect">
            <a:avLst/>
          </a:prstGeom>
          <a:noFill/>
          <a:ln/>
        </p:spPr>
        <p:txBody>
          <a:bodyPr wrap="square" lIns="0" tIns="0" rIns="0" bIns="0" rtlCol="0" anchor="t"/>
          <a:lstStyle/>
          <a:p>
            <a:pPr indent="0" marL="0">
              <a:buNone/>
            </a:pPr>
            <a:r>
              <a:rPr lang="en-US" sz="1000" b="1" dirty="0">
                <a:solidFill>
                  <a:srgbClr val="D4AF37"/>
                </a:solidFill>
              </a:rPr>
              <a:t>04</a:t>
            </a:r>
            <a:endParaRPr lang="en-US" sz="1000" dirty="0"/>
          </a:p>
        </p:txBody>
      </p:sp>
      <p:sp>
        <p:nvSpPr>
          <p:cNvPr id="38" name="Text 31"/>
          <p:cNvSpPr txBox="1"/>
          <p:nvPr/>
        </p:nvSpPr>
        <p:spPr>
          <a:xfrm>
            <a:off x="8641080" y="3438144"/>
            <a:ext cx="2926080" cy="274320"/>
          </a:xfrm>
          <a:prstGeom prst="rect">
            <a:avLst/>
          </a:prstGeom>
          <a:noFill/>
          <a:ln/>
        </p:spPr>
        <p:txBody>
          <a:bodyPr wrap="square" lIns="0" tIns="0" rIns="0" bIns="0" rtlCol="0" anchor="t"/>
          <a:lstStyle/>
          <a:p>
            <a:pPr indent="0" marL="0">
              <a:buNone/>
            </a:pPr>
            <a:r>
              <a:rPr lang="en-US" sz="1400" b="1" dirty="0">
                <a:solidFill>
                  <a:srgbClr val="FFFFFF"/>
                </a:solidFill>
              </a:rPr>
              <a:t>CRM &amp; outreach</a:t>
            </a:r>
            <a:endParaRPr lang="en-US" sz="1400" dirty="0"/>
          </a:p>
        </p:txBody>
      </p:sp>
      <p:sp>
        <p:nvSpPr>
          <p:cNvPr id="39" name="Text 32"/>
          <p:cNvSpPr txBox="1"/>
          <p:nvPr/>
        </p:nvSpPr>
        <p:spPr>
          <a:xfrm>
            <a:off x="8321040" y="3749040"/>
            <a:ext cx="3246120" cy="246888"/>
          </a:xfrm>
          <a:prstGeom prst="rect">
            <a:avLst/>
          </a:prstGeom>
          <a:noFill/>
          <a:ln/>
        </p:spPr>
        <p:txBody>
          <a:bodyPr wrap="square" lIns="0" tIns="0" rIns="0" bIns="0" rtlCol="0" anchor="t"/>
          <a:lstStyle/>
          <a:p>
            <a:pPr indent="0" marL="0">
              <a:buNone/>
            </a:pPr>
            <a:r>
              <a:rPr lang="en-US" sz="1100" dirty="0">
                <a:solidFill>
                  <a:srgbClr val="C9C3B3"/>
                </a:solidFill>
              </a:rPr>
              <a:t>Leads · pipeline · WhatsApp · Lead Finder</a:t>
            </a:r>
            <a:endParaRPr lang="en-US" sz="1100" dirty="0"/>
          </a:p>
        </p:txBody>
      </p:sp>
      <p:sp>
        <p:nvSpPr>
          <p:cNvPr id="40" name="Shape 33"/>
          <p:cNvSpPr/>
          <p:nvPr/>
        </p:nvSpPr>
        <p:spPr>
          <a:xfrm>
            <a:off x="7543800" y="4233672"/>
            <a:ext cx="4114800" cy="749808"/>
          </a:xfrm>
          <a:prstGeom prst="roundRect">
            <a:avLst>
              <a:gd name="adj" fmla="val 9756"/>
            </a:avLst>
          </a:prstGeom>
          <a:solidFill>
            <a:srgbClr val="1F1E22"/>
          </a:solidFill>
          <a:ln w="9525">
            <a:solidFill>
              <a:srgbClr val="3A352A"/>
            </a:solidFill>
            <a:prstDash val="solid"/>
          </a:ln>
        </p:spPr>
      </p:sp>
      <p:sp>
        <p:nvSpPr>
          <p:cNvPr id="41" name="Shape 34"/>
          <p:cNvSpPr/>
          <p:nvPr/>
        </p:nvSpPr>
        <p:spPr>
          <a:xfrm>
            <a:off x="7699248" y="4361688"/>
            <a:ext cx="493776" cy="493776"/>
          </a:xfrm>
          <a:prstGeom prst="ellipse">
            <a:avLst/>
          </a:prstGeom>
          <a:solidFill>
            <a:srgbClr val="A8811F"/>
          </a:solidFill>
          <a:ln w="12700">
            <a:solidFill>
              <a:srgbClr val="A8811F"/>
            </a:solidFill>
            <a:prstDash val="solid"/>
          </a:ln>
        </p:spPr>
      </p:sp>
      <p:pic>
        <p:nvPicPr>
          <p:cNvPr id="42" name="Image 5" descr="preencoded.png">    </p:cNvPr>
          <p:cNvPicPr>
            <a:picLocks noChangeAspect="1"/>
          </p:cNvPicPr>
          <p:nvPr/>
        </p:nvPicPr>
        <p:blipFill>
          <a:blip r:embed="rId6"/>
          <a:stretch>
            <a:fillRect/>
          </a:stretch>
        </p:blipFill>
        <p:spPr>
          <a:xfrm>
            <a:off x="7817754" y="4480194"/>
            <a:ext cx="256764" cy="256764"/>
          </a:xfrm>
          <a:prstGeom prst="rect">
            <a:avLst/>
          </a:prstGeom>
        </p:spPr>
      </p:pic>
      <p:sp>
        <p:nvSpPr>
          <p:cNvPr id="43" name="Text 35"/>
          <p:cNvSpPr txBox="1"/>
          <p:nvPr/>
        </p:nvSpPr>
        <p:spPr>
          <a:xfrm>
            <a:off x="8321040" y="4343400"/>
            <a:ext cx="365760" cy="228600"/>
          </a:xfrm>
          <a:prstGeom prst="rect">
            <a:avLst/>
          </a:prstGeom>
          <a:noFill/>
          <a:ln/>
        </p:spPr>
        <p:txBody>
          <a:bodyPr wrap="square" lIns="0" tIns="0" rIns="0" bIns="0" rtlCol="0" anchor="t"/>
          <a:lstStyle/>
          <a:p>
            <a:pPr indent="0" marL="0">
              <a:buNone/>
            </a:pPr>
            <a:r>
              <a:rPr lang="en-US" sz="1000" b="1" dirty="0">
                <a:solidFill>
                  <a:srgbClr val="D4AF37"/>
                </a:solidFill>
              </a:rPr>
              <a:t>05</a:t>
            </a:r>
            <a:endParaRPr lang="en-US" sz="1000" dirty="0"/>
          </a:p>
        </p:txBody>
      </p:sp>
      <p:sp>
        <p:nvSpPr>
          <p:cNvPr id="44" name="Text 36"/>
          <p:cNvSpPr txBox="1"/>
          <p:nvPr/>
        </p:nvSpPr>
        <p:spPr>
          <a:xfrm>
            <a:off x="8641080" y="4325112"/>
            <a:ext cx="2926080" cy="274320"/>
          </a:xfrm>
          <a:prstGeom prst="rect">
            <a:avLst/>
          </a:prstGeom>
          <a:noFill/>
          <a:ln/>
        </p:spPr>
        <p:txBody>
          <a:bodyPr wrap="square" lIns="0" tIns="0" rIns="0" bIns="0" rtlCol="0" anchor="t"/>
          <a:lstStyle/>
          <a:p>
            <a:pPr indent="0" marL="0">
              <a:buNone/>
            </a:pPr>
            <a:r>
              <a:rPr lang="en-US" sz="1400" b="1" dirty="0">
                <a:solidFill>
                  <a:srgbClr val="FFFFFF"/>
                </a:solidFill>
              </a:rPr>
              <a:t>Billing &amp; accounts</a:t>
            </a:r>
            <a:endParaRPr lang="en-US" sz="1400" dirty="0"/>
          </a:p>
        </p:txBody>
      </p:sp>
      <p:sp>
        <p:nvSpPr>
          <p:cNvPr id="45" name="Text 37"/>
          <p:cNvSpPr txBox="1"/>
          <p:nvPr/>
        </p:nvSpPr>
        <p:spPr>
          <a:xfrm>
            <a:off x="8321040" y="4636008"/>
            <a:ext cx="3246120" cy="246888"/>
          </a:xfrm>
          <a:prstGeom prst="rect">
            <a:avLst/>
          </a:prstGeom>
          <a:noFill/>
          <a:ln/>
        </p:spPr>
        <p:txBody>
          <a:bodyPr wrap="square" lIns="0" tIns="0" rIns="0" bIns="0" rtlCol="0" anchor="t"/>
          <a:lstStyle/>
          <a:p>
            <a:pPr indent="0" marL="0">
              <a:buNone/>
            </a:pPr>
            <a:r>
              <a:rPr lang="en-US" sz="1100" dirty="0">
                <a:solidFill>
                  <a:srgbClr val="C9C3B3"/>
                </a:solidFill>
              </a:rPr>
              <a:t>Packages · proofs → invoice + payment</a:t>
            </a:r>
            <a:endParaRPr lang="en-US" sz="1100" dirty="0"/>
          </a:p>
        </p:txBody>
      </p:sp>
      <p:sp>
        <p:nvSpPr>
          <p:cNvPr id="46" name="Shape 38"/>
          <p:cNvSpPr/>
          <p:nvPr/>
        </p:nvSpPr>
        <p:spPr>
          <a:xfrm>
            <a:off x="7543800" y="5120640"/>
            <a:ext cx="4114800" cy="749808"/>
          </a:xfrm>
          <a:prstGeom prst="roundRect">
            <a:avLst>
              <a:gd name="adj" fmla="val 9756"/>
            </a:avLst>
          </a:prstGeom>
          <a:solidFill>
            <a:srgbClr val="1F1E22"/>
          </a:solidFill>
          <a:ln w="9525">
            <a:solidFill>
              <a:srgbClr val="3A352A"/>
            </a:solidFill>
            <a:prstDash val="solid"/>
          </a:ln>
        </p:spPr>
      </p:sp>
      <p:sp>
        <p:nvSpPr>
          <p:cNvPr id="47" name="Shape 39"/>
          <p:cNvSpPr/>
          <p:nvPr/>
        </p:nvSpPr>
        <p:spPr>
          <a:xfrm>
            <a:off x="7699248" y="5248656"/>
            <a:ext cx="493776" cy="493776"/>
          </a:xfrm>
          <a:prstGeom prst="ellipse">
            <a:avLst/>
          </a:prstGeom>
          <a:solidFill>
            <a:srgbClr val="A8811F"/>
          </a:solidFill>
          <a:ln w="12700">
            <a:solidFill>
              <a:srgbClr val="A8811F"/>
            </a:solidFill>
            <a:prstDash val="solid"/>
          </a:ln>
        </p:spPr>
      </p:sp>
      <p:pic>
        <p:nvPicPr>
          <p:cNvPr id="48" name="Image 6" descr="preencoded.png">    </p:cNvPr>
          <p:cNvPicPr>
            <a:picLocks noChangeAspect="1"/>
          </p:cNvPicPr>
          <p:nvPr/>
        </p:nvPicPr>
        <p:blipFill>
          <a:blip r:embed="rId7"/>
          <a:stretch>
            <a:fillRect/>
          </a:stretch>
        </p:blipFill>
        <p:spPr>
          <a:xfrm>
            <a:off x="7817754" y="5367162"/>
            <a:ext cx="256764" cy="256764"/>
          </a:xfrm>
          <a:prstGeom prst="rect">
            <a:avLst/>
          </a:prstGeom>
        </p:spPr>
      </p:pic>
      <p:sp>
        <p:nvSpPr>
          <p:cNvPr id="49" name="Text 40"/>
          <p:cNvSpPr txBox="1"/>
          <p:nvPr/>
        </p:nvSpPr>
        <p:spPr>
          <a:xfrm>
            <a:off x="8321040" y="5230368"/>
            <a:ext cx="365760" cy="228600"/>
          </a:xfrm>
          <a:prstGeom prst="rect">
            <a:avLst/>
          </a:prstGeom>
          <a:noFill/>
          <a:ln/>
        </p:spPr>
        <p:txBody>
          <a:bodyPr wrap="square" lIns="0" tIns="0" rIns="0" bIns="0" rtlCol="0" anchor="t"/>
          <a:lstStyle/>
          <a:p>
            <a:pPr indent="0" marL="0">
              <a:buNone/>
            </a:pPr>
            <a:r>
              <a:rPr lang="en-US" sz="1000" b="1" dirty="0">
                <a:solidFill>
                  <a:srgbClr val="D4AF37"/>
                </a:solidFill>
              </a:rPr>
              <a:t>06</a:t>
            </a:r>
            <a:endParaRPr lang="en-US" sz="1000" dirty="0"/>
          </a:p>
        </p:txBody>
      </p:sp>
      <p:sp>
        <p:nvSpPr>
          <p:cNvPr id="50" name="Text 41"/>
          <p:cNvSpPr txBox="1"/>
          <p:nvPr/>
        </p:nvSpPr>
        <p:spPr>
          <a:xfrm>
            <a:off x="8641080" y="5212080"/>
            <a:ext cx="2926080" cy="274320"/>
          </a:xfrm>
          <a:prstGeom prst="rect">
            <a:avLst/>
          </a:prstGeom>
          <a:noFill/>
          <a:ln/>
        </p:spPr>
        <p:txBody>
          <a:bodyPr wrap="square" lIns="0" tIns="0" rIns="0" bIns="0" rtlCol="0" anchor="t"/>
          <a:lstStyle/>
          <a:p>
            <a:pPr indent="0" marL="0">
              <a:buNone/>
            </a:pPr>
            <a:r>
              <a:rPr lang="en-US" sz="1400" b="1" dirty="0">
                <a:solidFill>
                  <a:srgbClr val="FFFFFF"/>
                </a:solidFill>
              </a:rPr>
              <a:t>Insights &amp; control</a:t>
            </a:r>
            <a:endParaRPr lang="en-US" sz="1400" dirty="0"/>
          </a:p>
        </p:txBody>
      </p:sp>
      <p:sp>
        <p:nvSpPr>
          <p:cNvPr id="51" name="Text 42"/>
          <p:cNvSpPr txBox="1"/>
          <p:nvPr/>
        </p:nvSpPr>
        <p:spPr>
          <a:xfrm>
            <a:off x="8321040" y="5522976"/>
            <a:ext cx="3246120" cy="246888"/>
          </a:xfrm>
          <a:prstGeom prst="rect">
            <a:avLst/>
          </a:prstGeom>
          <a:noFill/>
          <a:ln/>
        </p:spPr>
        <p:txBody>
          <a:bodyPr wrap="square" lIns="0" tIns="0" rIns="0" bIns="0" rtlCol="0" anchor="t"/>
          <a:lstStyle/>
          <a:p>
            <a:pPr indent="0" marL="0">
              <a:buNone/>
            </a:pPr>
            <a:r>
              <a:rPr lang="en-US" sz="1100" dirty="0">
                <a:solidFill>
                  <a:srgbClr val="C9C3B3"/>
                </a:solidFill>
              </a:rPr>
              <a:t>Dashboards · reports · roles · audit</a:t>
            </a:r>
            <a:endParaRPr lang="en-US" sz="1100" dirty="0"/>
          </a:p>
        </p:txBody>
      </p:sp>
      <p:sp>
        <p:nvSpPr>
          <p:cNvPr id="52" name="Text 43"/>
          <p:cNvSpPr txBox="1"/>
          <p:nvPr/>
        </p:nvSpPr>
        <p:spPr>
          <a:xfrm>
            <a:off x="502920" y="6400800"/>
            <a:ext cx="10058400" cy="228600"/>
          </a:xfrm>
          <a:prstGeom prst="rect">
            <a:avLst/>
          </a:prstGeom>
          <a:noFill/>
          <a:ln/>
        </p:spPr>
        <p:txBody>
          <a:bodyPr wrap="square" lIns="0" tIns="0" rIns="0" bIns="0" rtlCol="0" anchor="t"/>
          <a:lstStyle/>
          <a:p>
            <a:pPr indent="0" marL="0">
              <a:buNone/>
            </a:pPr>
            <a:r>
              <a:rPr lang="en-US" sz="900" dirty="0">
                <a:solidFill>
                  <a:srgbClr val="8C8677"/>
                </a:solidFill>
              </a:rPr>
              <a:t>Prepared by MicroMax Erp Pvt Ltd  ·  Office P.442/D, Mezzanine Floor, Adjacent to Unze London, Hurrian Wala Chowk, Faisalabad 38000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DOCUMENT CONTROL</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About this document</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Scope, audience and how the specification is organised</a:t>
            </a:r>
            <a:endParaRPr lang="en-US" sz="1300" dirty="0"/>
          </a:p>
        </p:txBody>
      </p:sp>
      <p:sp>
        <p:nvSpPr>
          <p:cNvPr id="5" name="Shape 3"/>
          <p:cNvSpPr/>
          <p:nvPr/>
        </p:nvSpPr>
        <p:spPr>
          <a:xfrm>
            <a:off x="502920" y="1737360"/>
            <a:ext cx="5486400" cy="2377440"/>
          </a:xfrm>
          <a:prstGeom prst="roundRect">
            <a:avLst>
              <a:gd name="adj" fmla="val 3077"/>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6" name="Text 4"/>
          <p:cNvSpPr txBox="1"/>
          <p:nvPr/>
        </p:nvSpPr>
        <p:spPr>
          <a:xfrm>
            <a:off x="685800" y="1856232"/>
            <a:ext cx="5120640" cy="274320"/>
          </a:xfrm>
          <a:prstGeom prst="rect">
            <a:avLst/>
          </a:prstGeom>
          <a:noFill/>
          <a:ln/>
        </p:spPr>
        <p:txBody>
          <a:bodyPr wrap="square" lIns="0" tIns="0" rIns="0" bIns="0" rtlCol="0" anchor="t"/>
          <a:lstStyle/>
          <a:p>
            <a:pPr indent="0" marL="0">
              <a:buNone/>
            </a:pPr>
            <a:r>
              <a:rPr lang="en-US" sz="1400" b="1" dirty="0">
                <a:solidFill>
                  <a:schemeClr val="tx2"/>
                </a:solidFill>
              </a:rPr>
              <a:t>Document information</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85800" y="2194560"/>
          <a:ext cx="5120640" cy="914400"/>
        </p:xfrm>
        <a:graphic>
          <a:graphicData uri="http://schemas.openxmlformats.org/drawingml/2006/table">
            <a:tbl>
              <a:tblPr/>
              <a:tblGrid>
                <a:gridCol w="1325880"/>
                <a:gridCol w="3794760"/>
              </a:tblGrid>
              <a:tr h="0">
                <a:tc>
                  <a:txBody>
                    <a:bodyPr/>
                    <a:lstStyle/>
                    <a:p>
                      <a:pPr indent="0" marL="0">
                        <a:buNone/>
                      </a:pPr>
                      <a:r>
                        <a:rPr lang="en-US" sz="1100" b="1" dirty="0">
                          <a:solidFill>
                            <a:srgbClr val="D4AF37"/>
                          </a:solidFill>
                        </a:rPr>
                        <a:t>Item</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indent="0" marL="0">
                        <a:buNone/>
                      </a:pPr>
                      <a:r>
                        <a:rPr lang="en-US" sz="1100" b="1" dirty="0">
                          <a:solidFill>
                            <a:srgbClr val="D4AF37"/>
                          </a:solidFill>
                        </a:rPr>
                        <a:t>Detail</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r>
              <a:tr h="0">
                <a:tc>
                  <a:txBody>
                    <a:bodyPr/>
                    <a:lstStyle/>
                    <a:p>
                      <a:pPr indent="0" marL="0">
                        <a:buNone/>
                      </a:pPr>
                      <a:r>
                        <a:rPr lang="en-US" sz="1100" dirty="0">
                          <a:solidFill>
                            <a:schemeClr val="tx1"/>
                          </a:solidFill>
                        </a:rPr>
                        <a:t>Document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Functional Specification — VVS Tax Portal</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dirty="0">
                          <a:solidFill>
                            <a:schemeClr val="tx1"/>
                          </a:solidFill>
                        </a:rPr>
                        <a:t>Version / date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1.1  ·  19 Oct 2026</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dirty="0">
                          <a:solidFill>
                            <a:schemeClr val="tx1"/>
                          </a:solidFill>
                        </a:rPr>
                        <a:t>System</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ERPNext v16 · Frappe CRM · WhatsApp · React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dirty="0">
                          <a:solidFill>
                            <a:schemeClr val="tx1"/>
                          </a:solidFill>
                        </a:rPr>
                        <a:t>Audience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Partner, admin, consultants, implementers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dirty="0">
                          <a:solidFill>
                            <a:schemeClr val="tx1"/>
                          </a:solidFill>
                        </a:rPr>
                        <a:t>Data source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Live records, site 'consultant' (fake clients)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bl>
          </a:graphicData>
        </a:graphic>
      </p:graphicFrame>
      <p:sp>
        <p:nvSpPr>
          <p:cNvPr id="8" name="Shape 5"/>
          <p:cNvSpPr/>
          <p:nvPr/>
        </p:nvSpPr>
        <p:spPr>
          <a:xfrm>
            <a:off x="502920" y="4297680"/>
            <a:ext cx="5486400" cy="2011680"/>
          </a:xfrm>
          <a:prstGeom prst="roundRect">
            <a:avLst>
              <a:gd name="adj" fmla="val 3636"/>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9" name="Text 6"/>
          <p:cNvSpPr txBox="1"/>
          <p:nvPr/>
        </p:nvSpPr>
        <p:spPr>
          <a:xfrm>
            <a:off x="685800" y="4407408"/>
            <a:ext cx="5120640" cy="274320"/>
          </a:xfrm>
          <a:prstGeom prst="rect">
            <a:avLst/>
          </a:prstGeom>
          <a:noFill/>
          <a:ln/>
        </p:spPr>
        <p:txBody>
          <a:bodyPr wrap="square" lIns="0" tIns="0" rIns="0" bIns="0" rtlCol="0" anchor="t"/>
          <a:lstStyle/>
          <a:p>
            <a:pPr indent="0" marL="0">
              <a:buNone/>
            </a:pPr>
            <a:r>
              <a:rPr lang="en-US" sz="1400" b="1" dirty="0">
                <a:solidFill>
                  <a:schemeClr val="tx2"/>
                </a:solidFill>
              </a:rPr>
              <a:t>Contents</a:t>
            </a:r>
            <a:endParaRPr lang="en-US" sz="1400" dirty="0"/>
          </a:p>
        </p:txBody>
      </p:sp>
      <p:sp>
        <p:nvSpPr>
          <p:cNvPr id="10" name="Shape 7"/>
          <p:cNvSpPr/>
          <p:nvPr/>
        </p:nvSpPr>
        <p:spPr>
          <a:xfrm>
            <a:off x="685800" y="4773168"/>
            <a:ext cx="219456" cy="219456"/>
          </a:xfrm>
          <a:prstGeom prst="ellipse">
            <a:avLst/>
          </a:prstGeom>
          <a:solidFill>
            <a:srgbClr val="A8811F"/>
          </a:solidFill>
          <a:ln w="12700">
            <a:solidFill>
              <a:srgbClr val="A8811F"/>
            </a:solidFill>
            <a:prstDash val="solid"/>
          </a:ln>
        </p:spPr>
      </p:sp>
      <p:sp>
        <p:nvSpPr>
          <p:cNvPr id="11" name="Text 8"/>
          <p:cNvSpPr txBox="1"/>
          <p:nvPr/>
        </p:nvSpPr>
        <p:spPr>
          <a:xfrm>
            <a:off x="685800" y="4773168"/>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12" name="Text 9"/>
          <p:cNvSpPr txBox="1"/>
          <p:nvPr/>
        </p:nvSpPr>
        <p:spPr>
          <a:xfrm>
            <a:off x="978408" y="4754880"/>
            <a:ext cx="2286000" cy="256032"/>
          </a:xfrm>
          <a:prstGeom prst="rect">
            <a:avLst/>
          </a:prstGeom>
          <a:noFill/>
          <a:ln/>
        </p:spPr>
        <p:txBody>
          <a:bodyPr wrap="square" lIns="0" tIns="0" rIns="0" bIns="0" rtlCol="0" anchor="ctr"/>
          <a:lstStyle/>
          <a:p>
            <a:pPr indent="0" marL="0">
              <a:buNone/>
            </a:pPr>
            <a:r>
              <a:rPr lang="en-US" sz="1100" dirty="0">
                <a:solidFill>
                  <a:schemeClr val="tx1"/>
                </a:solidFill>
              </a:rPr>
              <a:t>System at a glance</a:t>
            </a:r>
            <a:endParaRPr lang="en-US" sz="1100" dirty="0"/>
          </a:p>
        </p:txBody>
      </p:sp>
      <p:sp>
        <p:nvSpPr>
          <p:cNvPr id="13" name="Shape 10"/>
          <p:cNvSpPr/>
          <p:nvPr/>
        </p:nvSpPr>
        <p:spPr>
          <a:xfrm>
            <a:off x="3291840" y="4773168"/>
            <a:ext cx="219456" cy="219456"/>
          </a:xfrm>
          <a:prstGeom prst="ellipse">
            <a:avLst/>
          </a:prstGeom>
          <a:solidFill>
            <a:srgbClr val="A8811F"/>
          </a:solidFill>
          <a:ln w="12700">
            <a:solidFill>
              <a:srgbClr val="A8811F"/>
            </a:solidFill>
            <a:prstDash val="solid"/>
          </a:ln>
        </p:spPr>
      </p:sp>
      <p:sp>
        <p:nvSpPr>
          <p:cNvPr id="14" name="Text 11"/>
          <p:cNvSpPr txBox="1"/>
          <p:nvPr/>
        </p:nvSpPr>
        <p:spPr>
          <a:xfrm>
            <a:off x="3291840" y="4773168"/>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5" name="Text 12"/>
          <p:cNvSpPr txBox="1"/>
          <p:nvPr/>
        </p:nvSpPr>
        <p:spPr>
          <a:xfrm>
            <a:off x="3584448" y="4754880"/>
            <a:ext cx="2286000" cy="256032"/>
          </a:xfrm>
          <a:prstGeom prst="rect">
            <a:avLst/>
          </a:prstGeom>
          <a:noFill/>
          <a:ln/>
        </p:spPr>
        <p:txBody>
          <a:bodyPr wrap="square" lIns="0" tIns="0" rIns="0" bIns="0" rtlCol="0" anchor="ctr"/>
          <a:lstStyle/>
          <a:p>
            <a:pPr indent="0" marL="0">
              <a:buNone/>
            </a:pPr>
            <a:r>
              <a:rPr lang="en-US" sz="1100" dirty="0">
                <a:solidFill>
                  <a:schemeClr val="tx1"/>
                </a:solidFill>
              </a:rPr>
              <a:t>Actors &amp; roles</a:t>
            </a:r>
            <a:endParaRPr lang="en-US" sz="1100" dirty="0"/>
          </a:p>
        </p:txBody>
      </p:sp>
      <p:sp>
        <p:nvSpPr>
          <p:cNvPr id="16" name="Shape 13"/>
          <p:cNvSpPr/>
          <p:nvPr/>
        </p:nvSpPr>
        <p:spPr>
          <a:xfrm>
            <a:off x="685800" y="5074920"/>
            <a:ext cx="219456" cy="219456"/>
          </a:xfrm>
          <a:prstGeom prst="ellipse">
            <a:avLst/>
          </a:prstGeom>
          <a:solidFill>
            <a:srgbClr val="A8811F"/>
          </a:solidFill>
          <a:ln w="12700">
            <a:solidFill>
              <a:srgbClr val="A8811F"/>
            </a:solidFill>
            <a:prstDash val="solid"/>
          </a:ln>
        </p:spPr>
      </p:sp>
      <p:sp>
        <p:nvSpPr>
          <p:cNvPr id="17" name="Text 14"/>
          <p:cNvSpPr txBox="1"/>
          <p:nvPr/>
        </p:nvSpPr>
        <p:spPr>
          <a:xfrm>
            <a:off x="685800" y="507492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8" name="Text 15"/>
          <p:cNvSpPr txBox="1"/>
          <p:nvPr/>
        </p:nvSpPr>
        <p:spPr>
          <a:xfrm>
            <a:off x="978408" y="5056632"/>
            <a:ext cx="2286000" cy="256032"/>
          </a:xfrm>
          <a:prstGeom prst="rect">
            <a:avLst/>
          </a:prstGeom>
          <a:noFill/>
          <a:ln/>
        </p:spPr>
        <p:txBody>
          <a:bodyPr wrap="square" lIns="0" tIns="0" rIns="0" bIns="0" rtlCol="0" anchor="ctr"/>
          <a:lstStyle/>
          <a:p>
            <a:pPr indent="0" marL="0">
              <a:buNone/>
            </a:pPr>
            <a:r>
              <a:rPr lang="en-US" sz="1100" dirty="0">
                <a:solidFill>
                  <a:schemeClr val="tx1"/>
                </a:solidFill>
              </a:rPr>
              <a:t>DFD level 0 — context</a:t>
            </a:r>
            <a:endParaRPr lang="en-US" sz="1100" dirty="0"/>
          </a:p>
        </p:txBody>
      </p:sp>
      <p:sp>
        <p:nvSpPr>
          <p:cNvPr id="19" name="Shape 16"/>
          <p:cNvSpPr/>
          <p:nvPr/>
        </p:nvSpPr>
        <p:spPr>
          <a:xfrm>
            <a:off x="3291840" y="5074920"/>
            <a:ext cx="219456" cy="219456"/>
          </a:xfrm>
          <a:prstGeom prst="ellipse">
            <a:avLst/>
          </a:prstGeom>
          <a:solidFill>
            <a:srgbClr val="A8811F"/>
          </a:solidFill>
          <a:ln w="12700">
            <a:solidFill>
              <a:srgbClr val="A8811F"/>
            </a:solidFill>
            <a:prstDash val="solid"/>
          </a:ln>
        </p:spPr>
      </p:sp>
      <p:sp>
        <p:nvSpPr>
          <p:cNvPr id="20" name="Text 17"/>
          <p:cNvSpPr txBox="1"/>
          <p:nvPr/>
        </p:nvSpPr>
        <p:spPr>
          <a:xfrm>
            <a:off x="3291840" y="507492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21" name="Text 18"/>
          <p:cNvSpPr txBox="1"/>
          <p:nvPr/>
        </p:nvSpPr>
        <p:spPr>
          <a:xfrm>
            <a:off x="3584448" y="5056632"/>
            <a:ext cx="2286000" cy="256032"/>
          </a:xfrm>
          <a:prstGeom prst="rect">
            <a:avLst/>
          </a:prstGeom>
          <a:noFill/>
          <a:ln/>
        </p:spPr>
        <p:txBody>
          <a:bodyPr wrap="square" lIns="0" tIns="0" rIns="0" bIns="0" rtlCol="0" anchor="ctr"/>
          <a:lstStyle/>
          <a:p>
            <a:pPr indent="0" marL="0">
              <a:buNone/>
            </a:pPr>
            <a:r>
              <a:rPr lang="en-US" sz="1100" dirty="0">
                <a:solidFill>
                  <a:schemeClr val="tx1"/>
                </a:solidFill>
              </a:rPr>
              <a:t>DFD level 1 — processes</a:t>
            </a:r>
            <a:endParaRPr lang="en-US" sz="1100" dirty="0"/>
          </a:p>
        </p:txBody>
      </p:sp>
      <p:sp>
        <p:nvSpPr>
          <p:cNvPr id="22" name="Shape 19"/>
          <p:cNvSpPr/>
          <p:nvPr/>
        </p:nvSpPr>
        <p:spPr>
          <a:xfrm>
            <a:off x="685800" y="5376672"/>
            <a:ext cx="219456" cy="219456"/>
          </a:xfrm>
          <a:prstGeom prst="ellipse">
            <a:avLst/>
          </a:prstGeom>
          <a:solidFill>
            <a:srgbClr val="A8811F"/>
          </a:solidFill>
          <a:ln w="12700">
            <a:solidFill>
              <a:srgbClr val="A8811F"/>
            </a:solidFill>
            <a:prstDash val="solid"/>
          </a:ln>
        </p:spPr>
      </p:sp>
      <p:sp>
        <p:nvSpPr>
          <p:cNvPr id="23" name="Text 20"/>
          <p:cNvSpPr txBox="1"/>
          <p:nvPr/>
        </p:nvSpPr>
        <p:spPr>
          <a:xfrm>
            <a:off x="685800" y="5376672"/>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24" name="Text 21"/>
          <p:cNvSpPr txBox="1"/>
          <p:nvPr/>
        </p:nvSpPr>
        <p:spPr>
          <a:xfrm>
            <a:off x="978408" y="5358384"/>
            <a:ext cx="2286000" cy="256032"/>
          </a:xfrm>
          <a:prstGeom prst="rect">
            <a:avLst/>
          </a:prstGeom>
          <a:noFill/>
          <a:ln/>
        </p:spPr>
        <p:txBody>
          <a:bodyPr wrap="square" lIns="0" tIns="0" rIns="0" bIns="0" rtlCol="0" anchor="ctr"/>
          <a:lstStyle/>
          <a:p>
            <a:pPr indent="0" marL="0">
              <a:buNone/>
            </a:pPr>
            <a:r>
              <a:rPr lang="en-US" sz="1100" dirty="0">
                <a:solidFill>
                  <a:schemeClr val="tx1"/>
                </a:solidFill>
              </a:rPr>
              <a:t>Two ways to file · workflow</a:t>
            </a:r>
            <a:endParaRPr lang="en-US" sz="1100" dirty="0"/>
          </a:p>
        </p:txBody>
      </p:sp>
      <p:sp>
        <p:nvSpPr>
          <p:cNvPr id="25" name="Shape 22"/>
          <p:cNvSpPr/>
          <p:nvPr/>
        </p:nvSpPr>
        <p:spPr>
          <a:xfrm>
            <a:off x="3291840" y="5376672"/>
            <a:ext cx="219456" cy="219456"/>
          </a:xfrm>
          <a:prstGeom prst="ellipse">
            <a:avLst/>
          </a:prstGeom>
          <a:solidFill>
            <a:srgbClr val="A8811F"/>
          </a:solidFill>
          <a:ln w="12700">
            <a:solidFill>
              <a:srgbClr val="A8811F"/>
            </a:solidFill>
            <a:prstDash val="solid"/>
          </a:ln>
        </p:spPr>
      </p:sp>
      <p:sp>
        <p:nvSpPr>
          <p:cNvPr id="26" name="Text 23"/>
          <p:cNvSpPr txBox="1"/>
          <p:nvPr/>
        </p:nvSpPr>
        <p:spPr>
          <a:xfrm>
            <a:off x="3291840" y="5376672"/>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rPr>
              <a:t>6</a:t>
            </a:r>
            <a:endParaRPr lang="en-US" sz="900" dirty="0"/>
          </a:p>
        </p:txBody>
      </p:sp>
      <p:sp>
        <p:nvSpPr>
          <p:cNvPr id="27" name="Text 24"/>
          <p:cNvSpPr txBox="1"/>
          <p:nvPr/>
        </p:nvSpPr>
        <p:spPr>
          <a:xfrm>
            <a:off x="3584448" y="5358384"/>
            <a:ext cx="2286000" cy="256032"/>
          </a:xfrm>
          <a:prstGeom prst="rect">
            <a:avLst/>
          </a:prstGeom>
          <a:noFill/>
          <a:ln/>
        </p:spPr>
        <p:txBody>
          <a:bodyPr wrap="square" lIns="0" tIns="0" rIns="0" bIns="0" rtlCol="0" anchor="ctr"/>
          <a:lstStyle/>
          <a:p>
            <a:pPr indent="0" marL="0">
              <a:buNone/>
            </a:pPr>
            <a:r>
              <a:rPr lang="en-US" sz="1100" dirty="0">
                <a:solidFill>
                  <a:schemeClr val="tx1"/>
                </a:solidFill>
              </a:rPr>
              <a:t>Onboarding &amp; verification codes</a:t>
            </a:r>
            <a:endParaRPr lang="en-US" sz="1100" dirty="0"/>
          </a:p>
        </p:txBody>
      </p:sp>
      <p:sp>
        <p:nvSpPr>
          <p:cNvPr id="28" name="Shape 25"/>
          <p:cNvSpPr/>
          <p:nvPr/>
        </p:nvSpPr>
        <p:spPr>
          <a:xfrm>
            <a:off x="685800" y="5678424"/>
            <a:ext cx="219456" cy="219456"/>
          </a:xfrm>
          <a:prstGeom prst="ellipse">
            <a:avLst/>
          </a:prstGeom>
          <a:solidFill>
            <a:srgbClr val="A8811F"/>
          </a:solidFill>
          <a:ln w="12700">
            <a:solidFill>
              <a:srgbClr val="A8811F"/>
            </a:solidFill>
            <a:prstDash val="solid"/>
          </a:ln>
        </p:spPr>
      </p:sp>
      <p:sp>
        <p:nvSpPr>
          <p:cNvPr id="29" name="Text 26"/>
          <p:cNvSpPr txBox="1"/>
          <p:nvPr/>
        </p:nvSpPr>
        <p:spPr>
          <a:xfrm>
            <a:off x="685800" y="5678424"/>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rPr>
              <a:t>7</a:t>
            </a:r>
            <a:endParaRPr lang="en-US" sz="900" dirty="0"/>
          </a:p>
        </p:txBody>
      </p:sp>
      <p:sp>
        <p:nvSpPr>
          <p:cNvPr id="30" name="Text 27"/>
          <p:cNvSpPr txBox="1"/>
          <p:nvPr/>
        </p:nvSpPr>
        <p:spPr>
          <a:xfrm>
            <a:off x="978408" y="5660136"/>
            <a:ext cx="2286000" cy="256032"/>
          </a:xfrm>
          <a:prstGeom prst="rect">
            <a:avLst/>
          </a:prstGeom>
          <a:noFill/>
          <a:ln/>
        </p:spPr>
        <p:txBody>
          <a:bodyPr wrap="square" lIns="0" tIns="0" rIns="0" bIns="0" rtlCol="0" anchor="ctr"/>
          <a:lstStyle/>
          <a:p>
            <a:pPr indent="0" marL="0">
              <a:buNone/>
            </a:pPr>
            <a:r>
              <a:rPr lang="en-US" sz="1100" dirty="0">
                <a:solidFill>
                  <a:schemeClr val="tx1"/>
                </a:solidFill>
              </a:rPr>
              <a:t>CRM &amp; lead generation</a:t>
            </a:r>
            <a:endParaRPr lang="en-US" sz="1100" dirty="0"/>
          </a:p>
        </p:txBody>
      </p:sp>
      <p:sp>
        <p:nvSpPr>
          <p:cNvPr id="31" name="Shape 28"/>
          <p:cNvSpPr/>
          <p:nvPr/>
        </p:nvSpPr>
        <p:spPr>
          <a:xfrm>
            <a:off x="3291840" y="5678424"/>
            <a:ext cx="219456" cy="219456"/>
          </a:xfrm>
          <a:prstGeom prst="ellipse">
            <a:avLst/>
          </a:prstGeom>
          <a:solidFill>
            <a:srgbClr val="A8811F"/>
          </a:solidFill>
          <a:ln w="12700">
            <a:solidFill>
              <a:srgbClr val="A8811F"/>
            </a:solidFill>
            <a:prstDash val="solid"/>
          </a:ln>
        </p:spPr>
      </p:sp>
      <p:sp>
        <p:nvSpPr>
          <p:cNvPr id="32" name="Text 29"/>
          <p:cNvSpPr txBox="1"/>
          <p:nvPr/>
        </p:nvSpPr>
        <p:spPr>
          <a:xfrm>
            <a:off x="3291840" y="5678424"/>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rPr>
              <a:t>8</a:t>
            </a:r>
            <a:endParaRPr lang="en-US" sz="900" dirty="0"/>
          </a:p>
        </p:txBody>
      </p:sp>
      <p:sp>
        <p:nvSpPr>
          <p:cNvPr id="33" name="Text 30"/>
          <p:cNvSpPr txBox="1"/>
          <p:nvPr/>
        </p:nvSpPr>
        <p:spPr>
          <a:xfrm>
            <a:off x="3584448" y="5660136"/>
            <a:ext cx="2286000" cy="256032"/>
          </a:xfrm>
          <a:prstGeom prst="rect">
            <a:avLst/>
          </a:prstGeom>
          <a:noFill/>
          <a:ln/>
        </p:spPr>
        <p:txBody>
          <a:bodyPr wrap="square" lIns="0" tIns="0" rIns="0" bIns="0" rtlCol="0" anchor="ctr"/>
          <a:lstStyle/>
          <a:p>
            <a:pPr indent="0" marL="0">
              <a:buNone/>
            </a:pPr>
            <a:r>
              <a:rPr lang="en-US" sz="1100" dirty="0">
                <a:solidFill>
                  <a:schemeClr val="tx1"/>
                </a:solidFill>
              </a:rPr>
              <a:t>Documents · tax · simulator</a:t>
            </a:r>
            <a:endParaRPr lang="en-US" sz="1100" dirty="0"/>
          </a:p>
        </p:txBody>
      </p:sp>
      <p:sp>
        <p:nvSpPr>
          <p:cNvPr id="34" name="Shape 31"/>
          <p:cNvSpPr/>
          <p:nvPr/>
        </p:nvSpPr>
        <p:spPr>
          <a:xfrm>
            <a:off x="685800" y="5980176"/>
            <a:ext cx="219456" cy="219456"/>
          </a:xfrm>
          <a:prstGeom prst="ellipse">
            <a:avLst/>
          </a:prstGeom>
          <a:solidFill>
            <a:srgbClr val="A8811F"/>
          </a:solidFill>
          <a:ln w="12700">
            <a:solidFill>
              <a:srgbClr val="A8811F"/>
            </a:solidFill>
            <a:prstDash val="solid"/>
          </a:ln>
        </p:spPr>
      </p:sp>
      <p:sp>
        <p:nvSpPr>
          <p:cNvPr id="35" name="Text 32"/>
          <p:cNvSpPr txBox="1"/>
          <p:nvPr/>
        </p:nvSpPr>
        <p:spPr>
          <a:xfrm>
            <a:off x="685800" y="598017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rPr>
              <a:t>9</a:t>
            </a:r>
            <a:endParaRPr lang="en-US" sz="900" dirty="0"/>
          </a:p>
        </p:txBody>
      </p:sp>
      <p:sp>
        <p:nvSpPr>
          <p:cNvPr id="36" name="Text 33"/>
          <p:cNvSpPr txBox="1"/>
          <p:nvPr/>
        </p:nvSpPr>
        <p:spPr>
          <a:xfrm>
            <a:off x="978408" y="5961888"/>
            <a:ext cx="2286000" cy="256032"/>
          </a:xfrm>
          <a:prstGeom prst="rect">
            <a:avLst/>
          </a:prstGeom>
          <a:noFill/>
          <a:ln/>
        </p:spPr>
        <p:txBody>
          <a:bodyPr wrap="square" lIns="0" tIns="0" rIns="0" bIns="0" rtlCol="0" anchor="ctr"/>
          <a:lstStyle/>
          <a:p>
            <a:pPr indent="0" marL="0">
              <a:buNone/>
            </a:pPr>
            <a:r>
              <a:rPr lang="en-US" sz="1100" dirty="0">
                <a:solidFill>
                  <a:schemeClr val="tx1"/>
                </a:solidFill>
              </a:rPr>
              <a:t>Controls · billing · insights</a:t>
            </a:r>
            <a:endParaRPr lang="en-US" sz="1100" dirty="0"/>
          </a:p>
        </p:txBody>
      </p:sp>
      <p:sp>
        <p:nvSpPr>
          <p:cNvPr id="37" name="Shape 34"/>
          <p:cNvSpPr/>
          <p:nvPr/>
        </p:nvSpPr>
        <p:spPr>
          <a:xfrm>
            <a:off x="3291840" y="5980176"/>
            <a:ext cx="219456" cy="219456"/>
          </a:xfrm>
          <a:prstGeom prst="ellipse">
            <a:avLst/>
          </a:prstGeom>
          <a:solidFill>
            <a:srgbClr val="A8811F"/>
          </a:solidFill>
          <a:ln w="12700">
            <a:solidFill>
              <a:srgbClr val="A8811F"/>
            </a:solidFill>
            <a:prstDash val="solid"/>
          </a:ln>
        </p:spPr>
      </p:sp>
      <p:sp>
        <p:nvSpPr>
          <p:cNvPr id="38" name="Text 35"/>
          <p:cNvSpPr txBox="1"/>
          <p:nvPr/>
        </p:nvSpPr>
        <p:spPr>
          <a:xfrm>
            <a:off x="3291840" y="598017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rPr>
              <a:t>10</a:t>
            </a:r>
            <a:endParaRPr lang="en-US" sz="900" dirty="0"/>
          </a:p>
        </p:txBody>
      </p:sp>
      <p:sp>
        <p:nvSpPr>
          <p:cNvPr id="39" name="Text 36"/>
          <p:cNvSpPr txBox="1"/>
          <p:nvPr/>
        </p:nvSpPr>
        <p:spPr>
          <a:xfrm>
            <a:off x="3584448" y="5961888"/>
            <a:ext cx="2286000" cy="256032"/>
          </a:xfrm>
          <a:prstGeom prst="rect">
            <a:avLst/>
          </a:prstGeom>
          <a:noFill/>
          <a:ln/>
        </p:spPr>
        <p:txBody>
          <a:bodyPr wrap="square" lIns="0" tIns="0" rIns="0" bIns="0" rtlCol="0" anchor="ctr"/>
          <a:lstStyle/>
          <a:p>
            <a:pPr indent="0" marL="0">
              <a:buNone/>
            </a:pPr>
            <a:r>
              <a:rPr lang="en-US" sz="1100" dirty="0">
                <a:solidFill>
                  <a:schemeClr val="tx1"/>
                </a:solidFill>
              </a:rPr>
              <a:t>Security · next steps</a:t>
            </a:r>
            <a:endParaRPr lang="en-US" sz="1100" dirty="0"/>
          </a:p>
        </p:txBody>
      </p:sp>
      <p:sp>
        <p:nvSpPr>
          <p:cNvPr id="40" name="Shape 37"/>
          <p:cNvSpPr/>
          <p:nvPr/>
        </p:nvSpPr>
        <p:spPr>
          <a:xfrm>
            <a:off x="6263640" y="1737360"/>
            <a:ext cx="5422392" cy="2377440"/>
          </a:xfrm>
          <a:prstGeom prst="roundRect">
            <a:avLst>
              <a:gd name="adj" fmla="val 3077"/>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41" name="Text 38"/>
          <p:cNvSpPr txBox="1"/>
          <p:nvPr/>
        </p:nvSpPr>
        <p:spPr>
          <a:xfrm>
            <a:off x="6446520" y="1856232"/>
            <a:ext cx="5029200" cy="274320"/>
          </a:xfrm>
          <a:prstGeom prst="rect">
            <a:avLst/>
          </a:prstGeom>
          <a:noFill/>
          <a:ln/>
        </p:spPr>
        <p:txBody>
          <a:bodyPr wrap="square" lIns="0" tIns="0" rIns="0" bIns="0" rtlCol="0" anchor="t"/>
          <a:lstStyle/>
          <a:p>
            <a:pPr indent="0" marL="0">
              <a:buNone/>
            </a:pPr>
            <a:r>
              <a:rPr lang="en-US" sz="1400" b="1" dirty="0">
                <a:solidFill>
                  <a:schemeClr val="tx2"/>
                </a:solidFill>
              </a:rPr>
              <a:t>Notation used in the diagrams</a:t>
            </a:r>
            <a:endParaRPr lang="en-US" sz="1400" dirty="0"/>
          </a:p>
        </p:txBody>
      </p:sp>
      <p:sp>
        <p:nvSpPr>
          <p:cNvPr id="42" name="Process 3.0"/>
          <p:cNvSpPr/>
          <p:nvPr/>
        </p:nvSpPr>
        <p:spPr>
          <a:xfrm>
            <a:off x="6446520" y="2240280"/>
            <a:ext cx="1463040" cy="777240"/>
          </a:xfrm>
          <a:prstGeom prst="roundRect">
            <a:avLst>
              <a:gd name="adj" fmla="val 14118"/>
            </a:avLst>
          </a:prstGeom>
          <a:solidFill>
            <a:schemeClr val="bg1"/>
          </a:solidFill>
          <a:ln w="19050">
            <a:solidFill>
              <a:srgbClr val="A8811F"/>
            </a:solidFill>
            <a:prstDash val="solid"/>
          </a:ln>
          <a:effectLst>
            <a:outerShdw sx="100000" sy="100000" kx="0" ky="0" algn="bl" rotWithShape="0" blurRad="76200" dist="25400" dir="5400000">
              <a:srgbClr val="141416">
                <a:alpha val="10000"/>
              </a:srgbClr>
            </a:outerShdw>
          </a:effectLst>
        </p:spPr>
      </p:sp>
      <p:sp>
        <p:nvSpPr>
          <p:cNvPr id="43" name="Shape 40"/>
          <p:cNvSpPr/>
          <p:nvPr/>
        </p:nvSpPr>
        <p:spPr>
          <a:xfrm>
            <a:off x="6519672" y="2514600"/>
            <a:ext cx="1316736" cy="0"/>
          </a:xfrm>
          <a:prstGeom prst="line">
            <a:avLst/>
          </a:prstGeom>
          <a:noFill/>
          <a:ln w="9525">
            <a:solidFill>
              <a:srgbClr val="D4AF37"/>
            </a:solidFill>
            <a:prstDash val="solid"/>
          </a:ln>
        </p:spPr>
      </p:sp>
      <p:sp>
        <p:nvSpPr>
          <p:cNvPr id="44" name="Text 41"/>
          <p:cNvSpPr txBox="1"/>
          <p:nvPr/>
        </p:nvSpPr>
        <p:spPr>
          <a:xfrm>
            <a:off x="6446520" y="2276856"/>
            <a:ext cx="1463040" cy="237744"/>
          </a:xfrm>
          <a:prstGeom prst="rect">
            <a:avLst/>
          </a:prstGeom>
          <a:noFill/>
          <a:ln/>
        </p:spPr>
        <p:txBody>
          <a:bodyPr wrap="square" lIns="0" tIns="0" rIns="0" bIns="0" rtlCol="0" anchor="ctr"/>
          <a:lstStyle/>
          <a:p>
            <a:pPr algn="ctr" indent="0" marL="0">
              <a:buNone/>
            </a:pPr>
            <a:r>
              <a:rPr lang="en-US" sz="1100" b="1" dirty="0">
                <a:solidFill>
                  <a:srgbClr val="A8811F"/>
                </a:solidFill>
              </a:rPr>
              <a:t>3.0</a:t>
            </a:r>
            <a:endParaRPr lang="en-US" sz="1100" dirty="0"/>
          </a:p>
        </p:txBody>
      </p:sp>
      <p:sp>
        <p:nvSpPr>
          <p:cNvPr id="45" name="Text 42"/>
          <p:cNvSpPr txBox="1"/>
          <p:nvPr/>
        </p:nvSpPr>
        <p:spPr>
          <a:xfrm>
            <a:off x="6501384" y="2551176"/>
            <a:ext cx="1353312" cy="429768"/>
          </a:xfrm>
          <a:prstGeom prst="rect">
            <a:avLst/>
          </a:prstGeom>
          <a:noFill/>
          <a:ln/>
        </p:spPr>
        <p:txBody>
          <a:bodyPr wrap="square" lIns="0" tIns="0" rIns="0" bIns="0" rtlCol="0" anchor="ctr"/>
          <a:lstStyle/>
          <a:p>
            <a:pPr algn="ctr" indent="0" marL="0">
              <a:buNone/>
            </a:pPr>
            <a:r>
              <a:rPr lang="en-US" sz="1100" b="1" dirty="0">
                <a:solidFill>
                  <a:schemeClr val="tx2"/>
                </a:solidFill>
              </a:rPr>
              <a:t>Process</a:t>
            </a:r>
            <a:endParaRPr lang="en-US" sz="1100" dirty="0"/>
          </a:p>
        </p:txBody>
      </p:sp>
      <p:sp>
        <p:nvSpPr>
          <p:cNvPr id="46" name="Entity External entity"/>
          <p:cNvSpPr/>
          <p:nvPr/>
        </p:nvSpPr>
        <p:spPr>
          <a:xfrm>
            <a:off x="8138160" y="2331720"/>
            <a:ext cx="1417320" cy="548640"/>
          </a:xfrm>
          <a:prstGeom prst="rect">
            <a:avLst/>
          </a:prstGeom>
          <a:solidFill>
            <a:srgbClr val="141416"/>
          </a:solidFill>
          <a:ln w="12700">
            <a:solidFill>
              <a:srgbClr val="141416"/>
            </a:solidFill>
            <a:prstDash val="solid"/>
          </a:ln>
        </p:spPr>
      </p:sp>
      <p:sp>
        <p:nvSpPr>
          <p:cNvPr id="47" name="Text 44"/>
          <p:cNvSpPr txBox="1"/>
          <p:nvPr/>
        </p:nvSpPr>
        <p:spPr>
          <a:xfrm>
            <a:off x="8211312" y="2331720"/>
            <a:ext cx="1271016" cy="548640"/>
          </a:xfrm>
          <a:prstGeom prst="rect">
            <a:avLst/>
          </a:prstGeom>
          <a:noFill/>
          <a:ln/>
        </p:spPr>
        <p:txBody>
          <a:bodyPr wrap="square" lIns="0" tIns="0" rIns="0" bIns="0" rtlCol="0" anchor="ctr"/>
          <a:lstStyle/>
          <a:p>
            <a:pPr algn="ctr" indent="0" marL="0">
              <a:buNone/>
            </a:pPr>
            <a:r>
              <a:rPr lang="en-US" sz="1200" b="1" dirty="0">
                <a:solidFill>
                  <a:srgbClr val="FFFFFF"/>
                </a:solidFill>
              </a:rPr>
              <a:t>External entity</a:t>
            </a:r>
            <a:endParaRPr lang="en-US" sz="1200" dirty="0"/>
          </a:p>
        </p:txBody>
      </p:sp>
      <p:sp>
        <p:nvSpPr>
          <p:cNvPr id="48" name="Store D4"/>
          <p:cNvSpPr/>
          <p:nvPr/>
        </p:nvSpPr>
        <p:spPr>
          <a:xfrm>
            <a:off x="9784080" y="2423160"/>
            <a:ext cx="1691640" cy="384048"/>
          </a:xfrm>
          <a:prstGeom prst="rect">
            <a:avLst/>
          </a:prstGeom>
          <a:solidFill>
            <a:srgbClr val="F3F1EA"/>
          </a:solidFill>
          <a:ln w="12700">
            <a:solidFill>
              <a:srgbClr val="F3F1EA"/>
            </a:solidFill>
            <a:prstDash val="solid"/>
          </a:ln>
        </p:spPr>
      </p:sp>
      <p:sp>
        <p:nvSpPr>
          <p:cNvPr id="49" name="Shape 46"/>
          <p:cNvSpPr/>
          <p:nvPr/>
        </p:nvSpPr>
        <p:spPr>
          <a:xfrm>
            <a:off x="9784080" y="2423160"/>
            <a:ext cx="1691640" cy="0"/>
          </a:xfrm>
          <a:prstGeom prst="line">
            <a:avLst/>
          </a:prstGeom>
          <a:noFill/>
          <a:ln w="12700">
            <a:solidFill>
              <a:srgbClr val="6B6455"/>
            </a:solidFill>
            <a:prstDash val="solid"/>
          </a:ln>
        </p:spPr>
      </p:sp>
      <p:sp>
        <p:nvSpPr>
          <p:cNvPr id="50" name="Shape 47"/>
          <p:cNvSpPr/>
          <p:nvPr/>
        </p:nvSpPr>
        <p:spPr>
          <a:xfrm>
            <a:off x="9784080" y="2807208"/>
            <a:ext cx="1691640" cy="0"/>
          </a:xfrm>
          <a:prstGeom prst="line">
            <a:avLst/>
          </a:prstGeom>
          <a:noFill/>
          <a:ln w="12700">
            <a:solidFill>
              <a:srgbClr val="6B6455"/>
            </a:solidFill>
            <a:prstDash val="solid"/>
          </a:ln>
        </p:spPr>
      </p:sp>
      <p:sp>
        <p:nvSpPr>
          <p:cNvPr id="51" name="Shape 48"/>
          <p:cNvSpPr/>
          <p:nvPr/>
        </p:nvSpPr>
        <p:spPr>
          <a:xfrm>
            <a:off x="9784080" y="2423160"/>
            <a:ext cx="0" cy="384048"/>
          </a:xfrm>
          <a:prstGeom prst="line">
            <a:avLst/>
          </a:prstGeom>
          <a:noFill/>
          <a:ln w="12700">
            <a:solidFill>
              <a:srgbClr val="6B6455"/>
            </a:solidFill>
            <a:prstDash val="solid"/>
          </a:ln>
        </p:spPr>
      </p:sp>
      <p:sp>
        <p:nvSpPr>
          <p:cNvPr id="52" name="Shape 49"/>
          <p:cNvSpPr/>
          <p:nvPr/>
        </p:nvSpPr>
        <p:spPr>
          <a:xfrm>
            <a:off x="10168128" y="2423160"/>
            <a:ext cx="0" cy="384048"/>
          </a:xfrm>
          <a:prstGeom prst="line">
            <a:avLst/>
          </a:prstGeom>
          <a:noFill/>
          <a:ln w="12700">
            <a:solidFill>
              <a:srgbClr val="6B6455"/>
            </a:solidFill>
            <a:prstDash val="solid"/>
          </a:ln>
        </p:spPr>
      </p:sp>
      <p:sp>
        <p:nvSpPr>
          <p:cNvPr id="53" name="Text 50"/>
          <p:cNvSpPr txBox="1"/>
          <p:nvPr/>
        </p:nvSpPr>
        <p:spPr>
          <a:xfrm>
            <a:off x="9784080" y="2423160"/>
            <a:ext cx="384048" cy="384048"/>
          </a:xfrm>
          <a:prstGeom prst="rect">
            <a:avLst/>
          </a:prstGeom>
          <a:noFill/>
          <a:ln/>
        </p:spPr>
        <p:txBody>
          <a:bodyPr wrap="square" lIns="0" tIns="0" rIns="0" bIns="0" rtlCol="0" anchor="ctr"/>
          <a:lstStyle/>
          <a:p>
            <a:pPr algn="ctr" indent="0" marL="0">
              <a:buNone/>
            </a:pPr>
            <a:r>
              <a:rPr lang="en-US" sz="1000" b="1" dirty="0">
                <a:solidFill>
                  <a:srgbClr val="A8811F"/>
                </a:solidFill>
              </a:rPr>
              <a:t>D4</a:t>
            </a:r>
            <a:endParaRPr lang="en-US" sz="1000" dirty="0"/>
          </a:p>
        </p:txBody>
      </p:sp>
      <p:sp>
        <p:nvSpPr>
          <p:cNvPr id="54" name="Text 51"/>
          <p:cNvSpPr txBox="1"/>
          <p:nvPr/>
        </p:nvSpPr>
        <p:spPr>
          <a:xfrm>
            <a:off x="10222992" y="2423160"/>
            <a:ext cx="1216152" cy="384048"/>
          </a:xfrm>
          <a:prstGeom prst="rect">
            <a:avLst/>
          </a:prstGeom>
          <a:noFill/>
          <a:ln/>
        </p:spPr>
        <p:txBody>
          <a:bodyPr wrap="square" lIns="0" tIns="0" rIns="0" bIns="0" rtlCol="0" anchor="ctr"/>
          <a:lstStyle/>
          <a:p>
            <a:pPr indent="0" marL="0">
              <a:buNone/>
            </a:pPr>
            <a:r>
              <a:rPr lang="en-US" sz="1000" b="1" dirty="0">
                <a:solidFill>
                  <a:schemeClr val="tx1"/>
                </a:solidFill>
              </a:rPr>
              <a:t>Data store</a:t>
            </a:r>
            <a:endParaRPr lang="en-US" sz="1000" dirty="0"/>
          </a:p>
        </p:txBody>
      </p:sp>
      <p:sp>
        <p:nvSpPr>
          <p:cNvPr id="55" name="Shape 52"/>
          <p:cNvSpPr/>
          <p:nvPr/>
        </p:nvSpPr>
        <p:spPr>
          <a:xfrm>
            <a:off x="6492240" y="3520440"/>
            <a:ext cx="1371600" cy="0"/>
          </a:xfrm>
          <a:prstGeom prst="line">
            <a:avLst/>
          </a:prstGeom>
          <a:noFill/>
          <a:ln w="15875">
            <a:solidFill>
              <a:srgbClr val="6B6455"/>
            </a:solidFill>
            <a:prstDash val="solid"/>
            <a:tailEnd type="triangle"/>
          </a:ln>
        </p:spPr>
      </p:sp>
      <p:sp>
        <p:nvSpPr>
          <p:cNvPr id="56" name="Text 53"/>
          <p:cNvSpPr txBox="1"/>
          <p:nvPr/>
        </p:nvSpPr>
        <p:spPr>
          <a:xfrm>
            <a:off x="8001000" y="3383280"/>
            <a:ext cx="3566160" cy="274320"/>
          </a:xfrm>
          <a:prstGeom prst="rect">
            <a:avLst/>
          </a:prstGeom>
          <a:noFill/>
          <a:ln/>
        </p:spPr>
        <p:txBody>
          <a:bodyPr wrap="square" lIns="0" tIns="0" rIns="0" bIns="0" rtlCol="0" anchor="ctr"/>
          <a:lstStyle/>
          <a:p>
            <a:pPr indent="0" marL="0">
              <a:buNone/>
            </a:pPr>
            <a:r>
              <a:rPr lang="en-US" sz="1100" dirty="0">
                <a:solidFill>
                  <a:srgbClr val="5F6470"/>
                </a:solidFill>
              </a:rPr>
              <a:t>Data flow (labelled with what moves)</a:t>
            </a:r>
            <a:endParaRPr lang="en-US" sz="1100" dirty="0"/>
          </a:p>
        </p:txBody>
      </p:sp>
      <p:sp>
        <p:nvSpPr>
          <p:cNvPr id="57" name="Shape 54"/>
          <p:cNvSpPr/>
          <p:nvPr/>
        </p:nvSpPr>
        <p:spPr>
          <a:xfrm>
            <a:off x="6263640" y="4297680"/>
            <a:ext cx="5422392" cy="2011680"/>
          </a:xfrm>
          <a:prstGeom prst="roundRect">
            <a:avLst>
              <a:gd name="adj" fmla="val 3636"/>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58" name="Text 55"/>
          <p:cNvSpPr txBox="1"/>
          <p:nvPr/>
        </p:nvSpPr>
        <p:spPr>
          <a:xfrm>
            <a:off x="6446520" y="4407408"/>
            <a:ext cx="5029200" cy="274320"/>
          </a:xfrm>
          <a:prstGeom prst="rect">
            <a:avLst/>
          </a:prstGeom>
          <a:noFill/>
          <a:ln/>
        </p:spPr>
        <p:txBody>
          <a:bodyPr wrap="square" lIns="0" tIns="0" rIns="0" bIns="0" rtlCol="0" anchor="t"/>
          <a:lstStyle/>
          <a:p>
            <a:pPr indent="0" marL="0">
              <a:buNone/>
            </a:pPr>
            <a:r>
              <a:rPr lang="en-US" sz="1400" b="1" dirty="0">
                <a:solidFill>
                  <a:schemeClr val="tx2"/>
                </a:solidFill>
              </a:rPr>
              <a:t>Principles the design follows</a:t>
            </a:r>
            <a:endParaRPr lang="en-US" sz="1400" dirty="0"/>
          </a:p>
        </p:txBody>
      </p:sp>
      <p:sp>
        <p:nvSpPr>
          <p:cNvPr id="59" name="Text 56"/>
          <p:cNvSpPr txBox="1"/>
          <p:nvPr/>
        </p:nvSpPr>
        <p:spPr>
          <a:xfrm>
            <a:off x="6446520" y="4754880"/>
            <a:ext cx="5074920" cy="14630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Rates never live in code — slabs, credits and final-tax rates come from rule records</a:t>
            </a:r>
            <a:endParaRPr lang="en-US" sz="1200" dirty="0"/>
          </a:p>
          <a:p>
            <a:pPr marL="342900" indent="-342900">
              <a:spcAft>
                <a:spcPts val="400"/>
              </a:spcAft>
              <a:buSzPct val="100000"/>
              <a:buChar char="•"/>
            </a:pPr>
            <a:r>
              <a:rPr lang="en-US" sz="1200" dirty="0">
                <a:solidFill>
                  <a:schemeClr val="tx1"/>
                </a:solidFill>
              </a:rPr>
              <a:t>Nothing is shown as filed without an IRIS acknowledgment and receipt</a:t>
            </a:r>
            <a:endParaRPr lang="en-US" sz="1200" dirty="0"/>
          </a:p>
          <a:p>
            <a:pPr marL="342900" indent="-342900">
              <a:spcAft>
                <a:spcPts val="400"/>
              </a:spcAft>
              <a:buSzPct val="100000"/>
              <a:buChar char="•"/>
            </a:pPr>
            <a:r>
              <a:rPr lang="en-US" sz="1200" dirty="0">
                <a:solidFill>
                  <a:schemeClr val="tx1"/>
                </a:solidFill>
              </a:rPr>
              <a:t>Four-eyes: whoever prepares a return cannot approve it</a:t>
            </a:r>
            <a:endParaRPr lang="en-US" sz="1200" dirty="0"/>
          </a:p>
          <a:p>
            <a:pPr marL="342900" indent="-342900">
              <a:spcAft>
                <a:spcPts val="400"/>
              </a:spcAft>
              <a:buSzPct val="100000"/>
              <a:buChar char="•"/>
            </a:pPr>
            <a:r>
              <a:rPr lang="en-US" sz="1200" dirty="0">
                <a:solidFill>
                  <a:schemeClr val="tx1"/>
                </a:solidFill>
              </a:rPr>
              <a:t>Calculators and simulators are labelled as estimates</a:t>
            </a:r>
            <a:endParaRPr lang="en-US" sz="12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SYSTEM AT A GLANCE</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Live volumes on site 'consultant'</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Record counts on 19 Oct 2026: a demo filing season (TY2026) walked through the real workflow by the team and the clients</a:t>
            </a:r>
            <a:endParaRPr lang="en-US" sz="1300" dirty="0"/>
          </a:p>
        </p:txBody>
      </p:sp>
      <p:sp>
        <p:nvSpPr>
          <p:cNvPr id="5" name="Shape 3"/>
          <p:cNvSpPr/>
          <p:nvPr/>
        </p:nvSpPr>
        <p:spPr>
          <a:xfrm>
            <a:off x="502920" y="1737360"/>
            <a:ext cx="2624328" cy="1143000"/>
          </a:xfrm>
          <a:prstGeom prst="roundRect">
            <a:avLst>
              <a:gd name="adj" fmla="val 6400"/>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6" name="Text 4"/>
          <p:cNvSpPr txBox="1"/>
          <p:nvPr/>
        </p:nvSpPr>
        <p:spPr>
          <a:xfrm>
            <a:off x="685800" y="1847088"/>
            <a:ext cx="2286000" cy="548640"/>
          </a:xfrm>
          <a:prstGeom prst="rect">
            <a:avLst/>
          </a:prstGeom>
          <a:noFill/>
          <a:ln/>
        </p:spPr>
        <p:txBody>
          <a:bodyPr wrap="square" lIns="0" tIns="0" rIns="0" bIns="0" rtlCol="0" anchor="t"/>
          <a:lstStyle/>
          <a:p>
            <a:pPr indent="0" marL="0">
              <a:buNone/>
            </a:pPr>
            <a:r>
              <a:rPr lang="en-US" sz="3600" b="1" dirty="0">
                <a:solidFill>
                  <a:srgbClr val="A8811F"/>
                </a:solidFill>
                <a:latin typeface="Cambria" pitchFamily="34" charset="0"/>
                <a:ea typeface="Cambria" pitchFamily="34" charset="-122"/>
                <a:cs typeface="Cambria" pitchFamily="34" charset="-120"/>
              </a:rPr>
              <a:t>56</a:t>
            </a:r>
            <a:endParaRPr lang="en-US" sz="3600" dirty="0"/>
          </a:p>
        </p:txBody>
      </p:sp>
      <p:sp>
        <p:nvSpPr>
          <p:cNvPr id="7" name="Text 5"/>
          <p:cNvSpPr txBox="1"/>
          <p:nvPr/>
        </p:nvSpPr>
        <p:spPr>
          <a:xfrm>
            <a:off x="685800" y="2395728"/>
            <a:ext cx="2286000" cy="219456"/>
          </a:xfrm>
          <a:prstGeom prst="rect">
            <a:avLst/>
          </a:prstGeom>
          <a:noFill/>
          <a:ln/>
        </p:spPr>
        <p:txBody>
          <a:bodyPr wrap="square" lIns="0" tIns="0" rIns="0" bIns="0" rtlCol="0" anchor="t"/>
          <a:lstStyle/>
          <a:p>
            <a:pPr indent="0" marL="0">
              <a:buNone/>
            </a:pPr>
            <a:r>
              <a:rPr lang="en-US" sz="1200" b="1" dirty="0">
                <a:solidFill>
                  <a:schemeClr val="tx2"/>
                </a:solidFill>
              </a:rPr>
              <a:t>Clients</a:t>
            </a:r>
            <a:endParaRPr lang="en-US" sz="1200" dirty="0"/>
          </a:p>
        </p:txBody>
      </p:sp>
      <p:sp>
        <p:nvSpPr>
          <p:cNvPr id="8" name="Text 6"/>
          <p:cNvSpPr txBox="1"/>
          <p:nvPr/>
        </p:nvSpPr>
        <p:spPr>
          <a:xfrm>
            <a:off x="685800" y="2615184"/>
            <a:ext cx="2377440" cy="219456"/>
          </a:xfrm>
          <a:prstGeom prst="rect">
            <a:avLst/>
          </a:prstGeom>
          <a:noFill/>
          <a:ln/>
        </p:spPr>
        <p:txBody>
          <a:bodyPr wrap="square" lIns="0" tIns="0" rIns="0" bIns="0" rtlCol="0" anchor="t"/>
          <a:lstStyle/>
          <a:p>
            <a:pPr indent="0" marL="0">
              <a:buNone/>
            </a:pPr>
            <a:r>
              <a:rPr lang="en-US" sz="1000" dirty="0">
                <a:solidFill>
                  <a:srgbClr val="5F6470"/>
                </a:solidFill>
              </a:rPr>
              <a:t>Taxpayers with masked identifiers</a:t>
            </a:r>
            <a:endParaRPr lang="en-US" sz="1000" dirty="0"/>
          </a:p>
        </p:txBody>
      </p:sp>
      <p:sp>
        <p:nvSpPr>
          <p:cNvPr id="9" name="Shape 7"/>
          <p:cNvSpPr/>
          <p:nvPr/>
        </p:nvSpPr>
        <p:spPr>
          <a:xfrm>
            <a:off x="3310128" y="1737360"/>
            <a:ext cx="2624328" cy="1143000"/>
          </a:xfrm>
          <a:prstGeom prst="roundRect">
            <a:avLst>
              <a:gd name="adj" fmla="val 6400"/>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10" name="Text 8"/>
          <p:cNvSpPr txBox="1"/>
          <p:nvPr/>
        </p:nvSpPr>
        <p:spPr>
          <a:xfrm>
            <a:off x="3493008" y="1847088"/>
            <a:ext cx="2286000" cy="548640"/>
          </a:xfrm>
          <a:prstGeom prst="rect">
            <a:avLst/>
          </a:prstGeom>
          <a:noFill/>
          <a:ln/>
        </p:spPr>
        <p:txBody>
          <a:bodyPr wrap="square" lIns="0" tIns="0" rIns="0" bIns="0" rtlCol="0" anchor="t"/>
          <a:lstStyle/>
          <a:p>
            <a:pPr indent="0" marL="0">
              <a:buNone/>
            </a:pPr>
            <a:r>
              <a:rPr lang="en-US" sz="3600" b="1" dirty="0">
                <a:solidFill>
                  <a:srgbClr val="A8811F"/>
                </a:solidFill>
                <a:latin typeface="Cambria" pitchFamily="34" charset="0"/>
                <a:ea typeface="Cambria" pitchFamily="34" charset="-122"/>
                <a:cs typeface="Cambria" pitchFamily="34" charset="-120"/>
              </a:rPr>
              <a:t>55</a:t>
            </a:r>
            <a:endParaRPr lang="en-US" sz="3600" dirty="0"/>
          </a:p>
        </p:txBody>
      </p:sp>
      <p:sp>
        <p:nvSpPr>
          <p:cNvPr id="11" name="Text 9"/>
          <p:cNvSpPr txBox="1"/>
          <p:nvPr/>
        </p:nvSpPr>
        <p:spPr>
          <a:xfrm>
            <a:off x="3493008" y="2395728"/>
            <a:ext cx="2286000" cy="219456"/>
          </a:xfrm>
          <a:prstGeom prst="rect">
            <a:avLst/>
          </a:prstGeom>
          <a:noFill/>
          <a:ln/>
        </p:spPr>
        <p:txBody>
          <a:bodyPr wrap="square" lIns="0" tIns="0" rIns="0" bIns="0" rtlCol="0" anchor="t"/>
          <a:lstStyle/>
          <a:p>
            <a:pPr indent="0" marL="0">
              <a:buNone/>
            </a:pPr>
            <a:r>
              <a:rPr lang="en-US" sz="1200" b="1" dirty="0">
                <a:solidFill>
                  <a:schemeClr val="tx2"/>
                </a:solidFill>
              </a:rPr>
              <a:t>Tax Returns</a:t>
            </a:r>
            <a:endParaRPr lang="en-US" sz="1200" dirty="0"/>
          </a:p>
        </p:txBody>
      </p:sp>
      <p:sp>
        <p:nvSpPr>
          <p:cNvPr id="12" name="Text 10"/>
          <p:cNvSpPr txBox="1"/>
          <p:nvPr/>
        </p:nvSpPr>
        <p:spPr>
          <a:xfrm>
            <a:off x="3493008" y="2615184"/>
            <a:ext cx="2377440" cy="219456"/>
          </a:xfrm>
          <a:prstGeom prst="rect">
            <a:avLst/>
          </a:prstGeom>
          <a:noFill/>
          <a:ln/>
        </p:spPr>
        <p:txBody>
          <a:bodyPr wrap="square" lIns="0" tIns="0" rIns="0" bIns="0" rtlCol="0" anchor="t"/>
          <a:lstStyle/>
          <a:p>
            <a:pPr indent="0" marL="0">
              <a:buNone/>
            </a:pPr>
            <a:r>
              <a:rPr lang="en-US" sz="1000" dirty="0">
                <a:solidFill>
                  <a:srgbClr val="5F6470"/>
                </a:solidFill>
              </a:rPr>
              <a:t>13 filed · 41 in progress</a:t>
            </a:r>
            <a:endParaRPr lang="en-US" sz="1000" dirty="0"/>
          </a:p>
        </p:txBody>
      </p:sp>
      <p:sp>
        <p:nvSpPr>
          <p:cNvPr id="13" name="Shape 11"/>
          <p:cNvSpPr/>
          <p:nvPr/>
        </p:nvSpPr>
        <p:spPr>
          <a:xfrm>
            <a:off x="6117336" y="1737360"/>
            <a:ext cx="2624328" cy="1143000"/>
          </a:xfrm>
          <a:prstGeom prst="roundRect">
            <a:avLst>
              <a:gd name="adj" fmla="val 6400"/>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14" name="Text 12"/>
          <p:cNvSpPr txBox="1"/>
          <p:nvPr/>
        </p:nvSpPr>
        <p:spPr>
          <a:xfrm>
            <a:off x="6300216" y="1847088"/>
            <a:ext cx="2286000" cy="548640"/>
          </a:xfrm>
          <a:prstGeom prst="rect">
            <a:avLst/>
          </a:prstGeom>
          <a:noFill/>
          <a:ln/>
        </p:spPr>
        <p:txBody>
          <a:bodyPr wrap="square" lIns="0" tIns="0" rIns="0" bIns="0" rtlCol="0" anchor="t"/>
          <a:lstStyle/>
          <a:p>
            <a:pPr indent="0" marL="0">
              <a:buNone/>
            </a:pPr>
            <a:r>
              <a:rPr lang="en-US" sz="3600" b="1" dirty="0">
                <a:solidFill>
                  <a:srgbClr val="A8811F"/>
                </a:solidFill>
                <a:latin typeface="Cambria" pitchFamily="34" charset="0"/>
                <a:ea typeface="Cambria" pitchFamily="34" charset="-122"/>
                <a:cs typeface="Cambria" pitchFamily="34" charset="-120"/>
              </a:rPr>
              <a:t>398</a:t>
            </a:r>
            <a:endParaRPr lang="en-US" sz="3600" dirty="0"/>
          </a:p>
        </p:txBody>
      </p:sp>
      <p:sp>
        <p:nvSpPr>
          <p:cNvPr id="15" name="Text 13"/>
          <p:cNvSpPr txBox="1"/>
          <p:nvPr/>
        </p:nvSpPr>
        <p:spPr>
          <a:xfrm>
            <a:off x="6300216" y="2395728"/>
            <a:ext cx="2286000" cy="219456"/>
          </a:xfrm>
          <a:prstGeom prst="rect">
            <a:avLst/>
          </a:prstGeom>
          <a:noFill/>
          <a:ln/>
        </p:spPr>
        <p:txBody>
          <a:bodyPr wrap="square" lIns="0" tIns="0" rIns="0" bIns="0" rtlCol="0" anchor="t"/>
          <a:lstStyle/>
          <a:p>
            <a:pPr indent="0" marL="0">
              <a:buNone/>
            </a:pPr>
            <a:r>
              <a:rPr lang="en-US" sz="1200" b="1" dirty="0">
                <a:solidFill>
                  <a:schemeClr val="tx2"/>
                </a:solidFill>
              </a:rPr>
              <a:t>Tax Documents</a:t>
            </a:r>
            <a:endParaRPr lang="en-US" sz="1200" dirty="0"/>
          </a:p>
        </p:txBody>
      </p:sp>
      <p:sp>
        <p:nvSpPr>
          <p:cNvPr id="16" name="Text 14"/>
          <p:cNvSpPr txBox="1"/>
          <p:nvPr/>
        </p:nvSpPr>
        <p:spPr>
          <a:xfrm>
            <a:off x="6300216" y="2615184"/>
            <a:ext cx="2377440" cy="219456"/>
          </a:xfrm>
          <a:prstGeom prst="rect">
            <a:avLst/>
          </a:prstGeom>
          <a:noFill/>
          <a:ln/>
        </p:spPr>
        <p:txBody>
          <a:bodyPr wrap="square" lIns="0" tIns="0" rIns="0" bIns="0" rtlCol="0" anchor="t"/>
          <a:lstStyle/>
          <a:p>
            <a:pPr indent="0" marL="0">
              <a:buNone/>
            </a:pPr>
            <a:r>
              <a:rPr lang="en-US" sz="1000" dirty="0">
                <a:solidFill>
                  <a:srgbClr val="5F6470"/>
                </a:solidFill>
              </a:rPr>
              <a:t>Checklist items, private files</a:t>
            </a:r>
            <a:endParaRPr lang="en-US" sz="1000" dirty="0"/>
          </a:p>
        </p:txBody>
      </p:sp>
      <p:sp>
        <p:nvSpPr>
          <p:cNvPr id="17" name="Shape 15"/>
          <p:cNvSpPr/>
          <p:nvPr/>
        </p:nvSpPr>
        <p:spPr>
          <a:xfrm>
            <a:off x="8924544" y="1737360"/>
            <a:ext cx="2624328" cy="1143000"/>
          </a:xfrm>
          <a:prstGeom prst="roundRect">
            <a:avLst>
              <a:gd name="adj" fmla="val 6400"/>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18" name="Text 16"/>
          <p:cNvSpPr txBox="1"/>
          <p:nvPr/>
        </p:nvSpPr>
        <p:spPr>
          <a:xfrm>
            <a:off x="9107424" y="1847088"/>
            <a:ext cx="2286000" cy="548640"/>
          </a:xfrm>
          <a:prstGeom prst="rect">
            <a:avLst/>
          </a:prstGeom>
          <a:noFill/>
          <a:ln/>
        </p:spPr>
        <p:txBody>
          <a:bodyPr wrap="square" lIns="0" tIns="0" rIns="0" bIns="0" rtlCol="0" anchor="t"/>
          <a:lstStyle/>
          <a:p>
            <a:pPr indent="0" marL="0">
              <a:buNone/>
            </a:pPr>
            <a:r>
              <a:rPr lang="en-US" sz="3600" b="1" dirty="0">
                <a:solidFill>
                  <a:srgbClr val="A8811F"/>
                </a:solidFill>
                <a:latin typeface="Cambria" pitchFamily="34" charset="0"/>
                <a:ea typeface="Cambria" pitchFamily="34" charset="-122"/>
                <a:cs typeface="Cambria" pitchFamily="34" charset="-120"/>
              </a:rPr>
              <a:t>790</a:t>
            </a:r>
            <a:endParaRPr lang="en-US" sz="3600" dirty="0"/>
          </a:p>
        </p:txBody>
      </p:sp>
      <p:sp>
        <p:nvSpPr>
          <p:cNvPr id="19" name="Text 17"/>
          <p:cNvSpPr txBox="1"/>
          <p:nvPr/>
        </p:nvSpPr>
        <p:spPr>
          <a:xfrm>
            <a:off x="9107424" y="2395728"/>
            <a:ext cx="2286000" cy="219456"/>
          </a:xfrm>
          <a:prstGeom prst="rect">
            <a:avLst/>
          </a:prstGeom>
          <a:noFill/>
          <a:ln/>
        </p:spPr>
        <p:txBody>
          <a:bodyPr wrap="square" lIns="0" tIns="0" rIns="0" bIns="0" rtlCol="0" anchor="t"/>
          <a:lstStyle/>
          <a:p>
            <a:pPr indent="0" marL="0">
              <a:buNone/>
            </a:pPr>
            <a:r>
              <a:rPr lang="en-US" sz="1200" b="1" dirty="0">
                <a:solidFill>
                  <a:schemeClr val="tx2"/>
                </a:solidFill>
              </a:rPr>
              <a:t>Audit Events</a:t>
            </a:r>
            <a:endParaRPr lang="en-US" sz="1200" dirty="0"/>
          </a:p>
        </p:txBody>
      </p:sp>
      <p:sp>
        <p:nvSpPr>
          <p:cNvPr id="20" name="Text 18"/>
          <p:cNvSpPr txBox="1"/>
          <p:nvPr/>
        </p:nvSpPr>
        <p:spPr>
          <a:xfrm>
            <a:off x="9107424" y="2615184"/>
            <a:ext cx="2377440" cy="219456"/>
          </a:xfrm>
          <a:prstGeom prst="rect">
            <a:avLst/>
          </a:prstGeom>
          <a:noFill/>
          <a:ln/>
        </p:spPr>
        <p:txBody>
          <a:bodyPr wrap="square" lIns="0" tIns="0" rIns="0" bIns="0" rtlCol="0" anchor="t"/>
          <a:lstStyle/>
          <a:p>
            <a:pPr indent="0" marL="0">
              <a:buNone/>
            </a:pPr>
            <a:r>
              <a:rPr lang="en-US" sz="1000" dirty="0">
                <a:solidFill>
                  <a:srgbClr val="5F6470"/>
                </a:solidFill>
              </a:rPr>
              <a:t>Every create / move / approve</a:t>
            </a:r>
            <a:endParaRPr lang="en-US" sz="1000" dirty="0"/>
          </a:p>
        </p:txBody>
      </p:sp>
      <p:sp>
        <p:nvSpPr>
          <p:cNvPr id="21" name="Shape 19"/>
          <p:cNvSpPr/>
          <p:nvPr/>
        </p:nvSpPr>
        <p:spPr>
          <a:xfrm>
            <a:off x="502920" y="3035808"/>
            <a:ext cx="2624328" cy="1143000"/>
          </a:xfrm>
          <a:prstGeom prst="roundRect">
            <a:avLst>
              <a:gd name="adj" fmla="val 6400"/>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22" name="Text 20"/>
          <p:cNvSpPr txBox="1"/>
          <p:nvPr/>
        </p:nvSpPr>
        <p:spPr>
          <a:xfrm>
            <a:off x="685800" y="3145536"/>
            <a:ext cx="2286000" cy="548640"/>
          </a:xfrm>
          <a:prstGeom prst="rect">
            <a:avLst/>
          </a:prstGeom>
          <a:noFill/>
          <a:ln/>
        </p:spPr>
        <p:txBody>
          <a:bodyPr wrap="square" lIns="0" tIns="0" rIns="0" bIns="0" rtlCol="0" anchor="t"/>
          <a:lstStyle/>
          <a:p>
            <a:pPr indent="0" marL="0">
              <a:buNone/>
            </a:pPr>
            <a:r>
              <a:rPr lang="en-US" sz="3600" b="1" dirty="0">
                <a:solidFill>
                  <a:srgbClr val="2A78D6"/>
                </a:solidFill>
                <a:latin typeface="Cambria" pitchFamily="34" charset="0"/>
                <a:ea typeface="Cambria" pitchFamily="34" charset="-122"/>
                <a:cs typeface="Cambria" pitchFamily="34" charset="-120"/>
              </a:rPr>
              <a:t>48</a:t>
            </a:r>
            <a:endParaRPr lang="en-US" sz="3600" dirty="0"/>
          </a:p>
        </p:txBody>
      </p:sp>
      <p:sp>
        <p:nvSpPr>
          <p:cNvPr id="23" name="Text 21"/>
          <p:cNvSpPr txBox="1"/>
          <p:nvPr/>
        </p:nvSpPr>
        <p:spPr>
          <a:xfrm>
            <a:off x="685800" y="3694176"/>
            <a:ext cx="2286000" cy="219456"/>
          </a:xfrm>
          <a:prstGeom prst="rect">
            <a:avLst/>
          </a:prstGeom>
          <a:noFill/>
          <a:ln/>
        </p:spPr>
        <p:txBody>
          <a:bodyPr wrap="square" lIns="0" tIns="0" rIns="0" bIns="0" rtlCol="0" anchor="t"/>
          <a:lstStyle/>
          <a:p>
            <a:pPr indent="0" marL="0">
              <a:buNone/>
            </a:pPr>
            <a:r>
              <a:rPr lang="en-US" sz="1200" b="1" dirty="0">
                <a:solidFill>
                  <a:schemeClr val="tx2"/>
                </a:solidFill>
              </a:rPr>
              <a:t>Engagements</a:t>
            </a:r>
            <a:endParaRPr lang="en-US" sz="1200" dirty="0"/>
          </a:p>
        </p:txBody>
      </p:sp>
      <p:sp>
        <p:nvSpPr>
          <p:cNvPr id="24" name="Text 22"/>
          <p:cNvSpPr txBox="1"/>
          <p:nvPr/>
        </p:nvSpPr>
        <p:spPr>
          <a:xfrm>
            <a:off x="685800" y="3913632"/>
            <a:ext cx="2377440" cy="219456"/>
          </a:xfrm>
          <a:prstGeom prst="rect">
            <a:avLst/>
          </a:prstGeom>
          <a:noFill/>
          <a:ln/>
        </p:spPr>
        <p:txBody>
          <a:bodyPr wrap="square" lIns="0" tIns="0" rIns="0" bIns="0" rtlCol="0" anchor="t"/>
          <a:lstStyle/>
          <a:p>
            <a:pPr indent="0" marL="0">
              <a:buNone/>
            </a:pPr>
            <a:r>
              <a:rPr lang="en-US" sz="1000" dirty="0">
                <a:solidFill>
                  <a:srgbClr val="5F6470"/>
                </a:solidFill>
              </a:rPr>
              <a:t>Packages sold this season</a:t>
            </a:r>
            <a:endParaRPr lang="en-US" sz="1000" dirty="0"/>
          </a:p>
        </p:txBody>
      </p:sp>
      <p:sp>
        <p:nvSpPr>
          <p:cNvPr id="25" name="Shape 23"/>
          <p:cNvSpPr/>
          <p:nvPr/>
        </p:nvSpPr>
        <p:spPr>
          <a:xfrm>
            <a:off x="3310128" y="3035808"/>
            <a:ext cx="2624328" cy="1143000"/>
          </a:xfrm>
          <a:prstGeom prst="roundRect">
            <a:avLst>
              <a:gd name="adj" fmla="val 6400"/>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26" name="Text 24"/>
          <p:cNvSpPr txBox="1"/>
          <p:nvPr/>
        </p:nvSpPr>
        <p:spPr>
          <a:xfrm>
            <a:off x="3493008" y="3145536"/>
            <a:ext cx="2286000" cy="548640"/>
          </a:xfrm>
          <a:prstGeom prst="rect">
            <a:avLst/>
          </a:prstGeom>
          <a:noFill/>
          <a:ln/>
        </p:spPr>
        <p:txBody>
          <a:bodyPr wrap="square" lIns="0" tIns="0" rIns="0" bIns="0" rtlCol="0" anchor="t"/>
          <a:lstStyle/>
          <a:p>
            <a:pPr indent="0" marL="0">
              <a:buNone/>
            </a:pPr>
            <a:r>
              <a:rPr lang="en-US" sz="3600" b="1" dirty="0">
                <a:solidFill>
                  <a:srgbClr val="2A78D6"/>
                </a:solidFill>
                <a:latin typeface="Cambria" pitchFamily="34" charset="0"/>
                <a:ea typeface="Cambria" pitchFamily="34" charset="-122"/>
                <a:cs typeface="Cambria" pitchFamily="34" charset="-120"/>
              </a:rPr>
              <a:t>30</a:t>
            </a:r>
            <a:endParaRPr lang="en-US" sz="3600" dirty="0"/>
          </a:p>
        </p:txBody>
      </p:sp>
      <p:sp>
        <p:nvSpPr>
          <p:cNvPr id="27" name="Text 25"/>
          <p:cNvSpPr txBox="1"/>
          <p:nvPr/>
        </p:nvSpPr>
        <p:spPr>
          <a:xfrm>
            <a:off x="3493008" y="3694176"/>
            <a:ext cx="2286000" cy="219456"/>
          </a:xfrm>
          <a:prstGeom prst="rect">
            <a:avLst/>
          </a:prstGeom>
          <a:noFill/>
          <a:ln/>
        </p:spPr>
        <p:txBody>
          <a:bodyPr wrap="square" lIns="0" tIns="0" rIns="0" bIns="0" rtlCol="0" anchor="t"/>
          <a:lstStyle/>
          <a:p>
            <a:pPr indent="0" marL="0">
              <a:buNone/>
            </a:pPr>
            <a:r>
              <a:rPr lang="en-US" sz="1200" b="1" dirty="0">
                <a:solidFill>
                  <a:schemeClr val="tx2"/>
                </a:solidFill>
              </a:rPr>
              <a:t>Sales Invoices</a:t>
            </a:r>
            <a:endParaRPr lang="en-US" sz="1200" dirty="0"/>
          </a:p>
        </p:txBody>
      </p:sp>
      <p:sp>
        <p:nvSpPr>
          <p:cNvPr id="28" name="Text 26"/>
          <p:cNvSpPr txBox="1"/>
          <p:nvPr/>
        </p:nvSpPr>
        <p:spPr>
          <a:xfrm>
            <a:off x="3493008" y="3913632"/>
            <a:ext cx="2377440" cy="219456"/>
          </a:xfrm>
          <a:prstGeom prst="rect">
            <a:avLst/>
          </a:prstGeom>
          <a:noFill/>
          <a:ln/>
        </p:spPr>
        <p:txBody>
          <a:bodyPr wrap="square" lIns="0" tIns="0" rIns="0" bIns="0" rtlCol="0" anchor="t"/>
          <a:lstStyle/>
          <a:p>
            <a:pPr indent="0" marL="0">
              <a:buNone/>
            </a:pPr>
            <a:r>
              <a:rPr lang="en-US" sz="1000" dirty="0">
                <a:solidFill>
                  <a:srgbClr val="5F6470"/>
                </a:solidFill>
              </a:rPr>
              <a:t>Posted from verified proofs</a:t>
            </a:r>
            <a:endParaRPr lang="en-US" sz="1000" dirty="0"/>
          </a:p>
        </p:txBody>
      </p:sp>
      <p:sp>
        <p:nvSpPr>
          <p:cNvPr id="29" name="Shape 27"/>
          <p:cNvSpPr/>
          <p:nvPr/>
        </p:nvSpPr>
        <p:spPr>
          <a:xfrm>
            <a:off x="6117336" y="3035808"/>
            <a:ext cx="2624328" cy="1143000"/>
          </a:xfrm>
          <a:prstGeom prst="roundRect">
            <a:avLst>
              <a:gd name="adj" fmla="val 6400"/>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30" name="Text 28"/>
          <p:cNvSpPr txBox="1"/>
          <p:nvPr/>
        </p:nvSpPr>
        <p:spPr>
          <a:xfrm>
            <a:off x="6300216" y="3145536"/>
            <a:ext cx="2286000" cy="548640"/>
          </a:xfrm>
          <a:prstGeom prst="rect">
            <a:avLst/>
          </a:prstGeom>
          <a:noFill/>
          <a:ln/>
        </p:spPr>
        <p:txBody>
          <a:bodyPr wrap="square" lIns="0" tIns="0" rIns="0" bIns="0" rtlCol="0" anchor="t"/>
          <a:lstStyle/>
          <a:p>
            <a:pPr indent="0" marL="0">
              <a:buNone/>
            </a:pPr>
            <a:r>
              <a:rPr lang="en-US" sz="3600" b="1" dirty="0">
                <a:solidFill>
                  <a:srgbClr val="2A78D6"/>
                </a:solidFill>
                <a:latin typeface="Cambria" pitchFamily="34" charset="0"/>
                <a:ea typeface="Cambria" pitchFamily="34" charset="-122"/>
                <a:cs typeface="Cambria" pitchFamily="34" charset="-120"/>
              </a:rPr>
              <a:t>43</a:t>
            </a:r>
            <a:endParaRPr lang="en-US" sz="3600" dirty="0"/>
          </a:p>
        </p:txBody>
      </p:sp>
      <p:sp>
        <p:nvSpPr>
          <p:cNvPr id="31" name="Text 29"/>
          <p:cNvSpPr txBox="1"/>
          <p:nvPr/>
        </p:nvSpPr>
        <p:spPr>
          <a:xfrm>
            <a:off x="6300216" y="3694176"/>
            <a:ext cx="2286000" cy="219456"/>
          </a:xfrm>
          <a:prstGeom prst="rect">
            <a:avLst/>
          </a:prstGeom>
          <a:noFill/>
          <a:ln/>
        </p:spPr>
        <p:txBody>
          <a:bodyPr wrap="square" lIns="0" tIns="0" rIns="0" bIns="0" rtlCol="0" anchor="t"/>
          <a:lstStyle/>
          <a:p>
            <a:pPr indent="0" marL="0">
              <a:buNone/>
            </a:pPr>
            <a:r>
              <a:rPr lang="en-US" sz="1200" b="1" dirty="0">
                <a:solidFill>
                  <a:schemeClr val="tx2"/>
                </a:solidFill>
              </a:rPr>
              <a:t>Site Visits</a:t>
            </a:r>
            <a:endParaRPr lang="en-US" sz="1200" dirty="0"/>
          </a:p>
        </p:txBody>
      </p:sp>
      <p:sp>
        <p:nvSpPr>
          <p:cNvPr id="32" name="Text 30"/>
          <p:cNvSpPr txBox="1"/>
          <p:nvPr/>
        </p:nvSpPr>
        <p:spPr>
          <a:xfrm>
            <a:off x="6300216" y="3913632"/>
            <a:ext cx="2377440" cy="219456"/>
          </a:xfrm>
          <a:prstGeom prst="rect">
            <a:avLst/>
          </a:prstGeom>
          <a:noFill/>
          <a:ln/>
        </p:spPr>
        <p:txBody>
          <a:bodyPr wrap="square" lIns="0" tIns="0" rIns="0" bIns="0" rtlCol="0" anchor="t"/>
          <a:lstStyle/>
          <a:p>
            <a:pPr indent="0" marL="0">
              <a:buNone/>
            </a:pPr>
            <a:r>
              <a:rPr lang="en-US" sz="1000" dirty="0">
                <a:solidFill>
                  <a:srgbClr val="5F6470"/>
                </a:solidFill>
              </a:rPr>
              <a:t>Field prospects</a:t>
            </a:r>
            <a:endParaRPr lang="en-US" sz="1000" dirty="0"/>
          </a:p>
        </p:txBody>
      </p:sp>
      <p:sp>
        <p:nvSpPr>
          <p:cNvPr id="33" name="Shape 31"/>
          <p:cNvSpPr/>
          <p:nvPr/>
        </p:nvSpPr>
        <p:spPr>
          <a:xfrm>
            <a:off x="8924544" y="3035808"/>
            <a:ext cx="2624328" cy="1143000"/>
          </a:xfrm>
          <a:prstGeom prst="roundRect">
            <a:avLst>
              <a:gd name="adj" fmla="val 6400"/>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34" name="Text 32"/>
          <p:cNvSpPr txBox="1"/>
          <p:nvPr/>
        </p:nvSpPr>
        <p:spPr>
          <a:xfrm>
            <a:off x="9107424" y="3145536"/>
            <a:ext cx="2286000" cy="548640"/>
          </a:xfrm>
          <a:prstGeom prst="rect">
            <a:avLst/>
          </a:prstGeom>
          <a:noFill/>
          <a:ln/>
        </p:spPr>
        <p:txBody>
          <a:bodyPr wrap="square" lIns="0" tIns="0" rIns="0" bIns="0" rtlCol="0" anchor="t"/>
          <a:lstStyle/>
          <a:p>
            <a:pPr indent="0" marL="0">
              <a:buNone/>
            </a:pPr>
            <a:r>
              <a:rPr lang="en-US" sz="3600" b="1" dirty="0">
                <a:solidFill>
                  <a:srgbClr val="2A78D6"/>
                </a:solidFill>
                <a:latin typeface="Cambria" pitchFamily="34" charset="0"/>
                <a:ea typeface="Cambria" pitchFamily="34" charset="-122"/>
                <a:cs typeface="Cambria" pitchFamily="34" charset="-120"/>
              </a:rPr>
              <a:t>55</a:t>
            </a:r>
            <a:endParaRPr lang="en-US" sz="3600" dirty="0"/>
          </a:p>
        </p:txBody>
      </p:sp>
      <p:sp>
        <p:nvSpPr>
          <p:cNvPr id="35" name="Text 33"/>
          <p:cNvSpPr txBox="1"/>
          <p:nvPr/>
        </p:nvSpPr>
        <p:spPr>
          <a:xfrm>
            <a:off x="9107424" y="3694176"/>
            <a:ext cx="2286000" cy="219456"/>
          </a:xfrm>
          <a:prstGeom prst="rect">
            <a:avLst/>
          </a:prstGeom>
          <a:noFill/>
          <a:ln/>
        </p:spPr>
        <p:txBody>
          <a:bodyPr wrap="square" lIns="0" tIns="0" rIns="0" bIns="0" rtlCol="0" anchor="t"/>
          <a:lstStyle/>
          <a:p>
            <a:pPr indent="0" marL="0">
              <a:buNone/>
            </a:pPr>
            <a:r>
              <a:rPr lang="en-US" sz="1200" b="1" dirty="0">
                <a:solidFill>
                  <a:schemeClr val="tx2"/>
                </a:solidFill>
              </a:rPr>
              <a:t>CRM Leads</a:t>
            </a:r>
            <a:endParaRPr lang="en-US" sz="1200" dirty="0"/>
          </a:p>
        </p:txBody>
      </p:sp>
      <p:sp>
        <p:nvSpPr>
          <p:cNvPr id="36" name="Text 34"/>
          <p:cNvSpPr txBox="1"/>
          <p:nvPr/>
        </p:nvSpPr>
        <p:spPr>
          <a:xfrm>
            <a:off x="9107424" y="3913632"/>
            <a:ext cx="2377440" cy="219456"/>
          </a:xfrm>
          <a:prstGeom prst="rect">
            <a:avLst/>
          </a:prstGeom>
          <a:noFill/>
          <a:ln/>
        </p:spPr>
        <p:txBody>
          <a:bodyPr wrap="square" lIns="0" tIns="0" rIns="0" bIns="0" rtlCol="0" anchor="t"/>
          <a:lstStyle/>
          <a:p>
            <a:pPr indent="0" marL="0">
              <a:buNone/>
            </a:pPr>
            <a:r>
              <a:rPr lang="en-US" sz="1000" dirty="0">
                <a:solidFill>
                  <a:srgbClr val="5F6470"/>
                </a:solidFill>
              </a:rPr>
              <a:t>Website, WhatsApp, visits, finder</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4434840"/>
          <a:ext cx="11185855" cy="914400"/>
        </p:xfrm>
        <a:graphic>
          <a:graphicData uri="http://schemas.openxmlformats.org/drawingml/2006/table">
            <a:tbl>
              <a:tblPr/>
              <a:tblGrid>
                <a:gridCol w="1700784"/>
                <a:gridCol w="640080"/>
                <a:gridCol w="1700784"/>
                <a:gridCol w="640080"/>
                <a:gridCol w="1700784"/>
                <a:gridCol w="640080"/>
                <a:gridCol w="1700784"/>
                <a:gridCol w="630936"/>
              </a:tblGrid>
              <a:tr h="0">
                <a:tc>
                  <a:txBody>
                    <a:bodyPr/>
                    <a:lstStyle/>
                    <a:p>
                      <a:pPr indent="0" marL="0">
                        <a:buNone/>
                      </a:pPr>
                      <a:r>
                        <a:rPr lang="en-US" sz="1100" b="1" dirty="0">
                          <a:solidFill>
                            <a:srgbClr val="D4AF37"/>
                          </a:solidFill>
                        </a:rPr>
                        <a:t>Record</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algn="r" indent="0" marL="0">
                        <a:buNone/>
                      </a:pPr>
                      <a:r>
                        <a:rPr lang="en-US" sz="1100" b="1" dirty="0">
                          <a:solidFill>
                            <a:srgbClr val="D4AF37"/>
                          </a:solidFill>
                        </a:rPr>
                        <a:t>Count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indent="0" marL="0">
                        <a:buNone/>
                      </a:pPr>
                      <a:r>
                        <a:rPr lang="en-US" sz="1100" b="1" dirty="0">
                          <a:solidFill>
                            <a:srgbClr val="D4AF37"/>
                          </a:solidFill>
                        </a:rPr>
                        <a:t>Record</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algn="r" indent="0" marL="0">
                        <a:buNone/>
                      </a:pPr>
                      <a:r>
                        <a:rPr lang="en-US" sz="1100" b="1" dirty="0">
                          <a:solidFill>
                            <a:srgbClr val="D4AF37"/>
                          </a:solidFill>
                        </a:rPr>
                        <a:t>Count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indent="0" marL="0">
                        <a:buNone/>
                      </a:pPr>
                      <a:r>
                        <a:rPr lang="en-US" sz="1100" b="1" dirty="0">
                          <a:solidFill>
                            <a:srgbClr val="D4AF37"/>
                          </a:solidFill>
                        </a:rPr>
                        <a:t>Record</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algn="r" indent="0" marL="0">
                        <a:buNone/>
                      </a:pPr>
                      <a:r>
                        <a:rPr lang="en-US" sz="1100" b="1" dirty="0">
                          <a:solidFill>
                            <a:srgbClr val="D4AF37"/>
                          </a:solidFill>
                        </a:rPr>
                        <a:t>Count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indent="0" marL="0">
                        <a:buNone/>
                      </a:pPr>
                      <a:r>
                        <a:rPr lang="en-US" sz="1100" b="1" dirty="0">
                          <a:solidFill>
                            <a:srgbClr val="D4AF37"/>
                          </a:solidFill>
                        </a:rPr>
                        <a:t>Record</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algn="r" indent="0" marL="0">
                        <a:buNone/>
                      </a:pPr>
                      <a:r>
                        <a:rPr lang="en-US" sz="1100" b="1" dirty="0">
                          <a:solidFill>
                            <a:srgbClr val="D4AF37"/>
                          </a:solidFill>
                        </a:rPr>
                        <a:t>Count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r>
              <a:tr h="0">
                <a:tc>
                  <a:txBody>
                    <a:bodyPr/>
                    <a:lstStyle/>
                    <a:p>
                      <a:pPr indent="0" marL="0">
                        <a:buNone/>
                      </a:pPr>
                      <a:r>
                        <a:rPr lang="en-US" sz="1100" dirty="0">
                          <a:solidFill>
                            <a:schemeClr val="tx1"/>
                          </a:solidFill>
                        </a:rPr>
                        <a:t>Generated PDFs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b="1" dirty="0">
                          <a:solidFill>
                            <a:schemeClr val="tx1"/>
                          </a:solidFill>
                        </a:rPr>
                        <a:t>19</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Payment Entries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b="1" dirty="0">
                          <a:solidFill>
                            <a:schemeClr val="tx1"/>
                          </a:solidFill>
                        </a:rPr>
                        <a:t>30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WhatsApp Messages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b="1" dirty="0">
                          <a:solidFill>
                            <a:schemeClr val="tx1"/>
                          </a:solidFill>
                        </a:rPr>
                        <a:t>44</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Document Types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b="1" dirty="0">
                          <a:solidFill>
                            <a:schemeClr val="tx1"/>
                          </a:solidFill>
                        </a:rPr>
                        <a:t>18</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dirty="0">
                          <a:solidFill>
                            <a:schemeClr val="tx1"/>
                          </a:solidFill>
                        </a:rPr>
                        <a:t>Tax Calculations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b="1" dirty="0">
                          <a:solidFill>
                            <a:schemeClr val="tx1"/>
                          </a:solidFill>
                        </a:rPr>
                        <a:t>48</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Consultations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b="1" dirty="0">
                          <a:solidFill>
                            <a:schemeClr val="tx1"/>
                          </a:solidFill>
                        </a:rPr>
                        <a:t>13</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WhatsApp Templates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b="1" dirty="0">
                          <a:solidFill>
                            <a:schemeClr val="tx1"/>
                          </a:solidFill>
                        </a:rPr>
                        <a:t>4</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Tax Years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b="1" dirty="0">
                          <a:solidFill>
                            <a:schemeClr val="tx1"/>
                          </a:solidFill>
                        </a:rPr>
                        <a:t>2</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dirty="0">
                          <a:solidFill>
                            <a:schemeClr val="tx1"/>
                          </a:solidFill>
                        </a:rPr>
                        <a:t>Scenarios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b="1" dirty="0">
                          <a:solidFill>
                            <a:schemeClr val="tx1"/>
                          </a:solidFill>
                        </a:rPr>
                        <a:t>5</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CRM Deals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b="1" dirty="0">
                          <a:solidFill>
                            <a:schemeClr val="tx1"/>
                          </a:solidFill>
                        </a:rPr>
                        <a:t>9</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Services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b="1" dirty="0">
                          <a:solidFill>
                            <a:schemeClr val="tx1"/>
                          </a:solidFill>
                        </a:rPr>
                        <a:t>6</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Slab Settings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b="1" dirty="0">
                          <a:solidFill>
                            <a:schemeClr val="tx1"/>
                          </a:solidFill>
                        </a:rPr>
                        <a:t>8</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dirty="0">
                          <a:solidFill>
                            <a:schemeClr val="tx1"/>
                          </a:solidFill>
                        </a:rPr>
                        <a:t>Payment Proofs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b="1" dirty="0">
                          <a:solidFill>
                            <a:schemeClr val="tx1"/>
                          </a:solidFill>
                        </a:rPr>
                        <a:t>35</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Lead Prospects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b="1" dirty="0">
                          <a:solidFill>
                            <a:schemeClr val="tx1"/>
                          </a:solidFill>
                        </a:rPr>
                        <a:t>15</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Packages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b="1" dirty="0">
                          <a:solidFill>
                            <a:schemeClr val="tx1"/>
                          </a:solidFill>
                        </a:rPr>
                        <a:t>4</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Staff users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b="1" dirty="0">
                          <a:solidFill>
                            <a:schemeClr val="tx1"/>
                          </a:solidFill>
                        </a:rPr>
                        <a:t>13</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ACTORS &amp; ROLES</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Who uses the system — and whose records they see</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Role decides what kind of access; scope decides which records (enforced on the server for every list and document)</a:t>
            </a:r>
            <a:endParaRPr lang="en-US" sz="1300" dirty="0"/>
          </a:p>
        </p:txBody>
      </p:sp>
      <p:sp>
        <p:nvSpPr>
          <p:cNvPr id="5" name="Shape 3"/>
          <p:cNvSpPr/>
          <p:nvPr/>
        </p:nvSpPr>
        <p:spPr>
          <a:xfrm>
            <a:off x="502920" y="1737360"/>
            <a:ext cx="2624328" cy="2103120"/>
          </a:xfrm>
          <a:prstGeom prst="roundRect">
            <a:avLst>
              <a:gd name="adj" fmla="val 3478"/>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6" name="Shape 4"/>
          <p:cNvSpPr/>
          <p:nvPr/>
        </p:nvSpPr>
        <p:spPr>
          <a:xfrm>
            <a:off x="685800" y="1920240"/>
            <a:ext cx="548640" cy="548640"/>
          </a:xfrm>
          <a:prstGeom prst="ellipse">
            <a:avLst/>
          </a:prstGeom>
          <a:solidFill>
            <a:srgbClr val="D4AF37"/>
          </a:solidFill>
          <a:ln w="12700">
            <a:solidFill>
              <a:srgbClr val="D4AF37"/>
            </a:solidFill>
            <a:prstDash val="solid"/>
          </a:ln>
        </p:spPr>
      </p:sp>
      <p:pic>
        <p:nvPicPr>
          <p:cNvPr id="7" name="Image 0" descr="preencoded.png">    </p:cNvPr>
          <p:cNvPicPr>
            <a:picLocks noChangeAspect="1"/>
          </p:cNvPicPr>
          <p:nvPr/>
        </p:nvPicPr>
        <p:blipFill>
          <a:blip r:embed="rId1"/>
          <a:stretch>
            <a:fillRect/>
          </a:stretch>
        </p:blipFill>
        <p:spPr>
          <a:xfrm>
            <a:off x="817474" y="2051914"/>
            <a:ext cx="285293" cy="285293"/>
          </a:xfrm>
          <a:prstGeom prst="rect">
            <a:avLst/>
          </a:prstGeom>
        </p:spPr>
      </p:pic>
      <p:sp>
        <p:nvSpPr>
          <p:cNvPr id="8" name="Text 5"/>
          <p:cNvSpPr txBox="1"/>
          <p:nvPr/>
        </p:nvSpPr>
        <p:spPr>
          <a:xfrm>
            <a:off x="1371600" y="1938528"/>
            <a:ext cx="1691640" cy="274320"/>
          </a:xfrm>
          <a:prstGeom prst="rect">
            <a:avLst/>
          </a:prstGeom>
          <a:noFill/>
          <a:ln/>
        </p:spPr>
        <p:txBody>
          <a:bodyPr wrap="square" lIns="0" tIns="0" rIns="0" bIns="0" rtlCol="0" anchor="t"/>
          <a:lstStyle/>
          <a:p>
            <a:pPr indent="0" marL="0">
              <a:buNone/>
            </a:pPr>
            <a:r>
              <a:rPr lang="en-US" sz="1400" b="1" dirty="0">
                <a:solidFill>
                  <a:schemeClr val="tx2"/>
                </a:solidFill>
              </a:rPr>
              <a:t>Tax Admin</a:t>
            </a:r>
            <a:endParaRPr lang="en-US" sz="1400" dirty="0"/>
          </a:p>
        </p:txBody>
      </p:sp>
      <p:sp>
        <p:nvSpPr>
          <p:cNvPr id="9" name="Text 6"/>
          <p:cNvSpPr txBox="1"/>
          <p:nvPr/>
        </p:nvSpPr>
        <p:spPr>
          <a:xfrm>
            <a:off x="1371600" y="2212848"/>
            <a:ext cx="1691640" cy="228600"/>
          </a:xfrm>
          <a:prstGeom prst="rect">
            <a:avLst/>
          </a:prstGeom>
          <a:noFill/>
          <a:ln/>
        </p:spPr>
        <p:txBody>
          <a:bodyPr wrap="square" lIns="0" tIns="0" rIns="0" bIns="0" rtlCol="0" anchor="t"/>
          <a:lstStyle/>
          <a:p>
            <a:pPr indent="0" marL="0">
              <a:buNone/>
            </a:pPr>
            <a:r>
              <a:rPr lang="en-US" sz="1000" dirty="0">
                <a:solidFill>
                  <a:srgbClr val="5F6470"/>
                </a:solidFill>
              </a:rPr>
              <a:t>1 user</a:t>
            </a:r>
            <a:endParaRPr lang="en-US" sz="1000" dirty="0"/>
          </a:p>
        </p:txBody>
      </p:sp>
      <p:sp>
        <p:nvSpPr>
          <p:cNvPr id="10" name="Text 7"/>
          <p:cNvSpPr txBox="1"/>
          <p:nvPr/>
        </p:nvSpPr>
        <p:spPr>
          <a:xfrm>
            <a:off x="685800" y="2606040"/>
            <a:ext cx="2286000" cy="731520"/>
          </a:xfrm>
          <a:prstGeom prst="rect">
            <a:avLst/>
          </a:prstGeom>
          <a:noFill/>
          <a:ln/>
        </p:spPr>
        <p:txBody>
          <a:bodyPr wrap="square" lIns="0" tIns="0" rIns="0" bIns="0" rtlCol="0" anchor="t"/>
          <a:lstStyle/>
          <a:p>
            <a:pPr indent="0" marL="0">
              <a:buNone/>
            </a:pPr>
            <a:r>
              <a:rPr lang="en-US" sz="1100" dirty="0">
                <a:solidFill>
                  <a:schemeClr val="tx1"/>
                </a:solidFill>
              </a:rPr>
              <a:t>Runs the firm: settings, team, payments, every client and return.</a:t>
            </a:r>
            <a:endParaRPr lang="en-US" sz="1100" dirty="0"/>
          </a:p>
        </p:txBody>
      </p:sp>
      <p:sp>
        <p:nvSpPr>
          <p:cNvPr id="11" name="Shape 8"/>
          <p:cNvSpPr/>
          <p:nvPr/>
        </p:nvSpPr>
        <p:spPr>
          <a:xfrm>
            <a:off x="685800" y="3429000"/>
            <a:ext cx="1600200" cy="256032"/>
          </a:xfrm>
          <a:prstGeom prst="roundRect">
            <a:avLst>
              <a:gd name="adj" fmla="val 50000"/>
            </a:avLst>
          </a:prstGeom>
          <a:solidFill>
            <a:srgbClr val="1BAF7A"/>
          </a:solidFill>
          <a:ln w="12700">
            <a:solidFill>
              <a:srgbClr val="1BAF7A"/>
            </a:solidFill>
            <a:prstDash val="solid"/>
          </a:ln>
        </p:spPr>
      </p:sp>
      <p:sp>
        <p:nvSpPr>
          <p:cNvPr id="12" name="Text 9"/>
          <p:cNvSpPr txBox="1"/>
          <p:nvPr/>
        </p:nvSpPr>
        <p:spPr>
          <a:xfrm>
            <a:off x="685800" y="3429000"/>
            <a:ext cx="1600200" cy="256032"/>
          </a:xfrm>
          <a:prstGeom prst="rect">
            <a:avLst/>
          </a:prstGeom>
          <a:noFill/>
          <a:ln/>
        </p:spPr>
        <p:txBody>
          <a:bodyPr wrap="square" lIns="0" tIns="0" rIns="0" bIns="0" rtlCol="0" anchor="ctr"/>
          <a:lstStyle/>
          <a:p>
            <a:pPr algn="ctr" indent="0" marL="0">
              <a:buNone/>
            </a:pPr>
            <a:r>
              <a:rPr lang="en-US" sz="1000" b="1" dirty="0">
                <a:solidFill>
                  <a:srgbClr val="FFFFFF"/>
                </a:solidFill>
              </a:rPr>
              <a:t>All clients</a:t>
            </a:r>
            <a:endParaRPr lang="en-US" sz="1000" dirty="0"/>
          </a:p>
        </p:txBody>
      </p:sp>
      <p:sp>
        <p:nvSpPr>
          <p:cNvPr id="13" name="Shape 10"/>
          <p:cNvSpPr/>
          <p:nvPr/>
        </p:nvSpPr>
        <p:spPr>
          <a:xfrm>
            <a:off x="3310128" y="1737360"/>
            <a:ext cx="2624328" cy="2103120"/>
          </a:xfrm>
          <a:prstGeom prst="roundRect">
            <a:avLst>
              <a:gd name="adj" fmla="val 3478"/>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14" name="Shape 11"/>
          <p:cNvSpPr/>
          <p:nvPr/>
        </p:nvSpPr>
        <p:spPr>
          <a:xfrm>
            <a:off x="3493008" y="1920240"/>
            <a:ext cx="548640" cy="548640"/>
          </a:xfrm>
          <a:prstGeom prst="ellipse">
            <a:avLst/>
          </a:prstGeom>
          <a:solidFill>
            <a:srgbClr val="141416"/>
          </a:solidFill>
          <a:ln w="12700">
            <a:solidFill>
              <a:srgbClr val="141416"/>
            </a:solidFill>
            <a:prstDash val="solid"/>
          </a:ln>
        </p:spPr>
      </p:sp>
      <p:pic>
        <p:nvPicPr>
          <p:cNvPr id="15" name="Image 1" descr="preencoded.png">    </p:cNvPr>
          <p:cNvPicPr>
            <a:picLocks noChangeAspect="1"/>
          </p:cNvPicPr>
          <p:nvPr/>
        </p:nvPicPr>
        <p:blipFill>
          <a:blip r:embed="rId2"/>
          <a:stretch>
            <a:fillRect/>
          </a:stretch>
        </p:blipFill>
        <p:spPr>
          <a:xfrm>
            <a:off x="3624682" y="2051914"/>
            <a:ext cx="285293" cy="285293"/>
          </a:xfrm>
          <a:prstGeom prst="rect">
            <a:avLst/>
          </a:prstGeom>
        </p:spPr>
      </p:pic>
      <p:sp>
        <p:nvSpPr>
          <p:cNvPr id="16" name="Text 12"/>
          <p:cNvSpPr txBox="1"/>
          <p:nvPr/>
        </p:nvSpPr>
        <p:spPr>
          <a:xfrm>
            <a:off x="4178808" y="1938528"/>
            <a:ext cx="1691640" cy="274320"/>
          </a:xfrm>
          <a:prstGeom prst="rect">
            <a:avLst/>
          </a:prstGeom>
          <a:noFill/>
          <a:ln/>
        </p:spPr>
        <p:txBody>
          <a:bodyPr wrap="square" lIns="0" tIns="0" rIns="0" bIns="0" rtlCol="0" anchor="t"/>
          <a:lstStyle/>
          <a:p>
            <a:pPr indent="0" marL="0">
              <a:buNone/>
            </a:pPr>
            <a:r>
              <a:rPr lang="en-US" sz="1400" b="1" dirty="0">
                <a:solidFill>
                  <a:schemeClr val="tx2"/>
                </a:solidFill>
              </a:rPr>
              <a:t>Tax Consultant</a:t>
            </a:r>
            <a:endParaRPr lang="en-US" sz="1400" dirty="0"/>
          </a:p>
        </p:txBody>
      </p:sp>
      <p:sp>
        <p:nvSpPr>
          <p:cNvPr id="17" name="Text 13"/>
          <p:cNvSpPr txBox="1"/>
          <p:nvPr/>
        </p:nvSpPr>
        <p:spPr>
          <a:xfrm>
            <a:off x="4178808" y="2212848"/>
            <a:ext cx="1691640" cy="228600"/>
          </a:xfrm>
          <a:prstGeom prst="rect">
            <a:avLst/>
          </a:prstGeom>
          <a:noFill/>
          <a:ln/>
        </p:spPr>
        <p:txBody>
          <a:bodyPr wrap="square" lIns="0" tIns="0" rIns="0" bIns="0" rtlCol="0" anchor="t"/>
          <a:lstStyle/>
          <a:p>
            <a:pPr indent="0" marL="0">
              <a:buNone/>
            </a:pPr>
            <a:r>
              <a:rPr lang="en-US" sz="1000" dirty="0">
                <a:solidFill>
                  <a:srgbClr val="5F6470"/>
                </a:solidFill>
              </a:rPr>
              <a:t>2 users</a:t>
            </a:r>
            <a:endParaRPr lang="en-US" sz="1000" dirty="0"/>
          </a:p>
        </p:txBody>
      </p:sp>
      <p:sp>
        <p:nvSpPr>
          <p:cNvPr id="18" name="Text 14"/>
          <p:cNvSpPr txBox="1"/>
          <p:nvPr/>
        </p:nvSpPr>
        <p:spPr>
          <a:xfrm>
            <a:off x="3493008" y="2606040"/>
            <a:ext cx="2286000" cy="731520"/>
          </a:xfrm>
          <a:prstGeom prst="rect">
            <a:avLst/>
          </a:prstGeom>
          <a:noFill/>
          <a:ln/>
        </p:spPr>
        <p:txBody>
          <a:bodyPr wrap="square" lIns="0" tIns="0" rIns="0" bIns="0" rtlCol="0" anchor="t"/>
          <a:lstStyle/>
          <a:p>
            <a:pPr indent="0" marL="0">
              <a:buNone/>
            </a:pPr>
            <a:r>
              <a:rPr lang="en-US" sz="1100" dirty="0">
                <a:solidFill>
                  <a:schemeClr val="tx1"/>
                </a:solidFill>
              </a:rPr>
              <a:t>Prepares returns for the clients assigned to them.</a:t>
            </a:r>
            <a:endParaRPr lang="en-US" sz="1100" dirty="0"/>
          </a:p>
        </p:txBody>
      </p:sp>
      <p:sp>
        <p:nvSpPr>
          <p:cNvPr id="19" name="Shape 15"/>
          <p:cNvSpPr/>
          <p:nvPr/>
        </p:nvSpPr>
        <p:spPr>
          <a:xfrm>
            <a:off x="3493008" y="3429000"/>
            <a:ext cx="1600200" cy="256032"/>
          </a:xfrm>
          <a:prstGeom prst="roundRect">
            <a:avLst>
              <a:gd name="adj" fmla="val 50000"/>
            </a:avLst>
          </a:prstGeom>
          <a:solidFill>
            <a:srgbClr val="2A78D6"/>
          </a:solidFill>
          <a:ln w="12700">
            <a:solidFill>
              <a:srgbClr val="2A78D6"/>
            </a:solidFill>
            <a:prstDash val="solid"/>
          </a:ln>
        </p:spPr>
      </p:sp>
      <p:sp>
        <p:nvSpPr>
          <p:cNvPr id="20" name="Text 16"/>
          <p:cNvSpPr txBox="1"/>
          <p:nvPr/>
        </p:nvSpPr>
        <p:spPr>
          <a:xfrm>
            <a:off x="3493008" y="3429000"/>
            <a:ext cx="1600200" cy="256032"/>
          </a:xfrm>
          <a:prstGeom prst="rect">
            <a:avLst/>
          </a:prstGeom>
          <a:noFill/>
          <a:ln/>
        </p:spPr>
        <p:txBody>
          <a:bodyPr wrap="square" lIns="0" tIns="0" rIns="0" bIns="0" rtlCol="0" anchor="ctr"/>
          <a:lstStyle/>
          <a:p>
            <a:pPr algn="ctr" indent="0" marL="0">
              <a:buNone/>
            </a:pPr>
            <a:r>
              <a:rPr lang="en-US" sz="1000" b="1" dirty="0">
                <a:solidFill>
                  <a:srgbClr val="FFFFFF"/>
                </a:solidFill>
              </a:rPr>
              <a:t>Assigned clients</a:t>
            </a:r>
            <a:endParaRPr lang="en-US" sz="1000" dirty="0"/>
          </a:p>
        </p:txBody>
      </p:sp>
      <p:sp>
        <p:nvSpPr>
          <p:cNvPr id="21" name="Shape 17"/>
          <p:cNvSpPr/>
          <p:nvPr/>
        </p:nvSpPr>
        <p:spPr>
          <a:xfrm>
            <a:off x="6117336" y="1737360"/>
            <a:ext cx="2624328" cy="2103120"/>
          </a:xfrm>
          <a:prstGeom prst="roundRect">
            <a:avLst>
              <a:gd name="adj" fmla="val 3478"/>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22" name="Shape 18"/>
          <p:cNvSpPr/>
          <p:nvPr/>
        </p:nvSpPr>
        <p:spPr>
          <a:xfrm>
            <a:off x="6300216" y="1920240"/>
            <a:ext cx="548640" cy="548640"/>
          </a:xfrm>
          <a:prstGeom prst="ellipse">
            <a:avLst/>
          </a:prstGeom>
          <a:solidFill>
            <a:srgbClr val="141416"/>
          </a:solidFill>
          <a:ln w="12700">
            <a:solidFill>
              <a:srgbClr val="141416"/>
            </a:solidFill>
            <a:prstDash val="solid"/>
          </a:ln>
        </p:spPr>
      </p:sp>
      <p:pic>
        <p:nvPicPr>
          <p:cNvPr id="23" name="Image 2" descr="preencoded.png">    </p:cNvPr>
          <p:cNvPicPr>
            <a:picLocks noChangeAspect="1"/>
          </p:cNvPicPr>
          <p:nvPr/>
        </p:nvPicPr>
        <p:blipFill>
          <a:blip r:embed="rId3"/>
          <a:stretch>
            <a:fillRect/>
          </a:stretch>
        </p:blipFill>
        <p:spPr>
          <a:xfrm>
            <a:off x="6431890" y="2051914"/>
            <a:ext cx="285293" cy="285293"/>
          </a:xfrm>
          <a:prstGeom prst="rect">
            <a:avLst/>
          </a:prstGeom>
        </p:spPr>
      </p:pic>
      <p:sp>
        <p:nvSpPr>
          <p:cNvPr id="24" name="Text 19"/>
          <p:cNvSpPr txBox="1"/>
          <p:nvPr/>
        </p:nvSpPr>
        <p:spPr>
          <a:xfrm>
            <a:off x="6986016" y="1938528"/>
            <a:ext cx="1691640" cy="274320"/>
          </a:xfrm>
          <a:prstGeom prst="rect">
            <a:avLst/>
          </a:prstGeom>
          <a:noFill/>
          <a:ln/>
        </p:spPr>
        <p:txBody>
          <a:bodyPr wrap="square" lIns="0" tIns="0" rIns="0" bIns="0" rtlCol="0" anchor="t"/>
          <a:lstStyle/>
          <a:p>
            <a:pPr indent="0" marL="0">
              <a:buNone/>
            </a:pPr>
            <a:r>
              <a:rPr lang="en-US" sz="1400" b="1" dirty="0">
                <a:solidFill>
                  <a:schemeClr val="tx2"/>
                </a:solidFill>
              </a:rPr>
              <a:t>Tax Reviewer</a:t>
            </a:r>
            <a:endParaRPr lang="en-US" sz="1400" dirty="0"/>
          </a:p>
        </p:txBody>
      </p:sp>
      <p:sp>
        <p:nvSpPr>
          <p:cNvPr id="25" name="Text 20"/>
          <p:cNvSpPr txBox="1"/>
          <p:nvPr/>
        </p:nvSpPr>
        <p:spPr>
          <a:xfrm>
            <a:off x="6986016" y="2212848"/>
            <a:ext cx="1691640" cy="228600"/>
          </a:xfrm>
          <a:prstGeom prst="rect">
            <a:avLst/>
          </a:prstGeom>
          <a:noFill/>
          <a:ln/>
        </p:spPr>
        <p:txBody>
          <a:bodyPr wrap="square" lIns="0" tIns="0" rIns="0" bIns="0" rtlCol="0" anchor="t"/>
          <a:lstStyle/>
          <a:p>
            <a:pPr indent="0" marL="0">
              <a:buNone/>
            </a:pPr>
            <a:r>
              <a:rPr lang="en-US" sz="1000" dirty="0">
                <a:solidFill>
                  <a:srgbClr val="5F6470"/>
                </a:solidFill>
              </a:rPr>
              <a:t>1 user</a:t>
            </a:r>
            <a:endParaRPr lang="en-US" sz="1000" dirty="0"/>
          </a:p>
        </p:txBody>
      </p:sp>
      <p:sp>
        <p:nvSpPr>
          <p:cNvPr id="26" name="Text 21"/>
          <p:cNvSpPr txBox="1"/>
          <p:nvPr/>
        </p:nvSpPr>
        <p:spPr>
          <a:xfrm>
            <a:off x="6300216" y="2606040"/>
            <a:ext cx="2286000" cy="731520"/>
          </a:xfrm>
          <a:prstGeom prst="rect">
            <a:avLst/>
          </a:prstGeom>
          <a:noFill/>
          <a:ln/>
        </p:spPr>
        <p:txBody>
          <a:bodyPr wrap="square" lIns="0" tIns="0" rIns="0" bIns="0" rtlCol="0" anchor="t"/>
          <a:lstStyle/>
          <a:p>
            <a:pPr indent="0" marL="0">
              <a:buNone/>
            </a:pPr>
            <a:r>
              <a:rPr lang="en-US" sz="1100" dirty="0">
                <a:solidFill>
                  <a:schemeClr val="tx1"/>
                </a:solidFill>
              </a:rPr>
              <a:t>Checks prepared returns and sends them back or on for approval.</a:t>
            </a:r>
            <a:endParaRPr lang="en-US" sz="1100" dirty="0"/>
          </a:p>
        </p:txBody>
      </p:sp>
      <p:sp>
        <p:nvSpPr>
          <p:cNvPr id="27" name="Shape 22"/>
          <p:cNvSpPr/>
          <p:nvPr/>
        </p:nvSpPr>
        <p:spPr>
          <a:xfrm>
            <a:off x="6300216" y="3429000"/>
            <a:ext cx="1600200" cy="256032"/>
          </a:xfrm>
          <a:prstGeom prst="roundRect">
            <a:avLst>
              <a:gd name="adj" fmla="val 50000"/>
            </a:avLst>
          </a:prstGeom>
          <a:solidFill>
            <a:srgbClr val="1BAF7A"/>
          </a:solidFill>
          <a:ln w="12700">
            <a:solidFill>
              <a:srgbClr val="1BAF7A"/>
            </a:solidFill>
            <a:prstDash val="solid"/>
          </a:ln>
        </p:spPr>
      </p:sp>
      <p:sp>
        <p:nvSpPr>
          <p:cNvPr id="28" name="Text 23"/>
          <p:cNvSpPr txBox="1"/>
          <p:nvPr/>
        </p:nvSpPr>
        <p:spPr>
          <a:xfrm>
            <a:off x="6300216" y="3429000"/>
            <a:ext cx="1600200" cy="256032"/>
          </a:xfrm>
          <a:prstGeom prst="rect">
            <a:avLst/>
          </a:prstGeom>
          <a:noFill/>
          <a:ln/>
        </p:spPr>
        <p:txBody>
          <a:bodyPr wrap="square" lIns="0" tIns="0" rIns="0" bIns="0" rtlCol="0" anchor="ctr"/>
          <a:lstStyle/>
          <a:p>
            <a:pPr algn="ctr" indent="0" marL="0">
              <a:buNone/>
            </a:pPr>
            <a:r>
              <a:rPr lang="en-US" sz="1000" b="1" dirty="0">
                <a:solidFill>
                  <a:srgbClr val="FFFFFF"/>
                </a:solidFill>
              </a:rPr>
              <a:t>All clients</a:t>
            </a:r>
            <a:endParaRPr lang="en-US" sz="1000" dirty="0"/>
          </a:p>
        </p:txBody>
      </p:sp>
      <p:sp>
        <p:nvSpPr>
          <p:cNvPr id="29" name="Shape 24"/>
          <p:cNvSpPr/>
          <p:nvPr/>
        </p:nvSpPr>
        <p:spPr>
          <a:xfrm>
            <a:off x="8924544" y="1737360"/>
            <a:ext cx="2624328" cy="2103120"/>
          </a:xfrm>
          <a:prstGeom prst="roundRect">
            <a:avLst>
              <a:gd name="adj" fmla="val 3478"/>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30" name="Shape 25"/>
          <p:cNvSpPr/>
          <p:nvPr/>
        </p:nvSpPr>
        <p:spPr>
          <a:xfrm>
            <a:off x="9107424" y="1920240"/>
            <a:ext cx="548640" cy="548640"/>
          </a:xfrm>
          <a:prstGeom prst="ellipse">
            <a:avLst/>
          </a:prstGeom>
          <a:solidFill>
            <a:srgbClr val="141416"/>
          </a:solidFill>
          <a:ln w="12700">
            <a:solidFill>
              <a:srgbClr val="141416"/>
            </a:solidFill>
            <a:prstDash val="solid"/>
          </a:ln>
        </p:spPr>
      </p:sp>
      <p:pic>
        <p:nvPicPr>
          <p:cNvPr id="31" name="Image 3" descr="preencoded.png">    </p:cNvPr>
          <p:cNvPicPr>
            <a:picLocks noChangeAspect="1"/>
          </p:cNvPicPr>
          <p:nvPr/>
        </p:nvPicPr>
        <p:blipFill>
          <a:blip r:embed="rId4"/>
          <a:stretch>
            <a:fillRect/>
          </a:stretch>
        </p:blipFill>
        <p:spPr>
          <a:xfrm>
            <a:off x="9239098" y="2051914"/>
            <a:ext cx="285293" cy="285293"/>
          </a:xfrm>
          <a:prstGeom prst="rect">
            <a:avLst/>
          </a:prstGeom>
        </p:spPr>
      </p:pic>
      <p:sp>
        <p:nvSpPr>
          <p:cNvPr id="32" name="Text 26"/>
          <p:cNvSpPr txBox="1"/>
          <p:nvPr/>
        </p:nvSpPr>
        <p:spPr>
          <a:xfrm>
            <a:off x="9793224" y="1938528"/>
            <a:ext cx="1691640" cy="274320"/>
          </a:xfrm>
          <a:prstGeom prst="rect">
            <a:avLst/>
          </a:prstGeom>
          <a:noFill/>
          <a:ln/>
        </p:spPr>
        <p:txBody>
          <a:bodyPr wrap="square" lIns="0" tIns="0" rIns="0" bIns="0" rtlCol="0" anchor="t"/>
          <a:lstStyle/>
          <a:p>
            <a:pPr indent="0" marL="0">
              <a:buNone/>
            </a:pPr>
            <a:r>
              <a:rPr lang="en-US" sz="1400" b="1" dirty="0">
                <a:solidFill>
                  <a:schemeClr val="tx2"/>
                </a:solidFill>
              </a:rPr>
              <a:t>Tax Approver</a:t>
            </a:r>
            <a:endParaRPr lang="en-US" sz="1400" dirty="0"/>
          </a:p>
        </p:txBody>
      </p:sp>
      <p:sp>
        <p:nvSpPr>
          <p:cNvPr id="33" name="Text 27"/>
          <p:cNvSpPr txBox="1"/>
          <p:nvPr/>
        </p:nvSpPr>
        <p:spPr>
          <a:xfrm>
            <a:off x="9793224" y="2212848"/>
            <a:ext cx="1691640" cy="228600"/>
          </a:xfrm>
          <a:prstGeom prst="rect">
            <a:avLst/>
          </a:prstGeom>
          <a:noFill/>
          <a:ln/>
        </p:spPr>
        <p:txBody>
          <a:bodyPr wrap="square" lIns="0" tIns="0" rIns="0" bIns="0" rtlCol="0" anchor="t"/>
          <a:lstStyle/>
          <a:p>
            <a:pPr indent="0" marL="0">
              <a:buNone/>
            </a:pPr>
            <a:r>
              <a:rPr lang="en-US" sz="1000" dirty="0">
                <a:solidFill>
                  <a:srgbClr val="5F6470"/>
                </a:solidFill>
              </a:rPr>
              <a:t>1 user</a:t>
            </a:r>
            <a:endParaRPr lang="en-US" sz="1000" dirty="0"/>
          </a:p>
        </p:txBody>
      </p:sp>
      <p:sp>
        <p:nvSpPr>
          <p:cNvPr id="34" name="Text 28"/>
          <p:cNvSpPr txBox="1"/>
          <p:nvPr/>
        </p:nvSpPr>
        <p:spPr>
          <a:xfrm>
            <a:off x="9107424" y="2606040"/>
            <a:ext cx="2286000" cy="731520"/>
          </a:xfrm>
          <a:prstGeom prst="rect">
            <a:avLst/>
          </a:prstGeom>
          <a:noFill/>
          <a:ln/>
        </p:spPr>
        <p:txBody>
          <a:bodyPr wrap="square" lIns="0" tIns="0" rIns="0" bIns="0" rtlCol="0" anchor="t"/>
          <a:lstStyle/>
          <a:p>
            <a:pPr indent="0" marL="0">
              <a:buNone/>
            </a:pPr>
            <a:r>
              <a:rPr lang="en-US" sz="1100" dirty="0">
                <a:solidFill>
                  <a:schemeClr val="tx1"/>
                </a:solidFill>
              </a:rPr>
              <a:t>Gives the final approval before filing (never their own work).</a:t>
            </a:r>
            <a:endParaRPr lang="en-US" sz="1100" dirty="0"/>
          </a:p>
        </p:txBody>
      </p:sp>
      <p:sp>
        <p:nvSpPr>
          <p:cNvPr id="35" name="Shape 29"/>
          <p:cNvSpPr/>
          <p:nvPr/>
        </p:nvSpPr>
        <p:spPr>
          <a:xfrm>
            <a:off x="9107424" y="3429000"/>
            <a:ext cx="1600200" cy="256032"/>
          </a:xfrm>
          <a:prstGeom prst="roundRect">
            <a:avLst>
              <a:gd name="adj" fmla="val 50000"/>
            </a:avLst>
          </a:prstGeom>
          <a:solidFill>
            <a:srgbClr val="1BAF7A"/>
          </a:solidFill>
          <a:ln w="12700">
            <a:solidFill>
              <a:srgbClr val="1BAF7A"/>
            </a:solidFill>
            <a:prstDash val="solid"/>
          </a:ln>
        </p:spPr>
      </p:sp>
      <p:sp>
        <p:nvSpPr>
          <p:cNvPr id="36" name="Text 30"/>
          <p:cNvSpPr txBox="1"/>
          <p:nvPr/>
        </p:nvSpPr>
        <p:spPr>
          <a:xfrm>
            <a:off x="9107424" y="3429000"/>
            <a:ext cx="1600200" cy="256032"/>
          </a:xfrm>
          <a:prstGeom prst="rect">
            <a:avLst/>
          </a:prstGeom>
          <a:noFill/>
          <a:ln/>
        </p:spPr>
        <p:txBody>
          <a:bodyPr wrap="square" lIns="0" tIns="0" rIns="0" bIns="0" rtlCol="0" anchor="ctr"/>
          <a:lstStyle/>
          <a:p>
            <a:pPr algn="ctr" indent="0" marL="0">
              <a:buNone/>
            </a:pPr>
            <a:r>
              <a:rPr lang="en-US" sz="1000" b="1" dirty="0">
                <a:solidFill>
                  <a:srgbClr val="FFFFFF"/>
                </a:solidFill>
              </a:rPr>
              <a:t>All clients</a:t>
            </a:r>
            <a:endParaRPr lang="en-US" sz="1000" dirty="0"/>
          </a:p>
        </p:txBody>
      </p:sp>
      <p:sp>
        <p:nvSpPr>
          <p:cNvPr id="37" name="Shape 31"/>
          <p:cNvSpPr/>
          <p:nvPr/>
        </p:nvSpPr>
        <p:spPr>
          <a:xfrm>
            <a:off x="502920" y="4023360"/>
            <a:ext cx="2624328" cy="2103120"/>
          </a:xfrm>
          <a:prstGeom prst="roundRect">
            <a:avLst>
              <a:gd name="adj" fmla="val 3478"/>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38" name="Shape 32"/>
          <p:cNvSpPr/>
          <p:nvPr/>
        </p:nvSpPr>
        <p:spPr>
          <a:xfrm>
            <a:off x="685800" y="4206240"/>
            <a:ext cx="548640" cy="548640"/>
          </a:xfrm>
          <a:prstGeom prst="ellipse">
            <a:avLst/>
          </a:prstGeom>
          <a:solidFill>
            <a:srgbClr val="141416"/>
          </a:solidFill>
          <a:ln w="12700">
            <a:solidFill>
              <a:srgbClr val="141416"/>
            </a:solidFill>
            <a:prstDash val="solid"/>
          </a:ln>
        </p:spPr>
      </p:sp>
      <p:pic>
        <p:nvPicPr>
          <p:cNvPr id="39" name="Image 4" descr="preencoded.png">    </p:cNvPr>
          <p:cNvPicPr>
            <a:picLocks noChangeAspect="1"/>
          </p:cNvPicPr>
          <p:nvPr/>
        </p:nvPicPr>
        <p:blipFill>
          <a:blip r:embed="rId5"/>
          <a:stretch>
            <a:fillRect/>
          </a:stretch>
        </p:blipFill>
        <p:spPr>
          <a:xfrm>
            <a:off x="817474" y="4337914"/>
            <a:ext cx="285293" cy="285293"/>
          </a:xfrm>
          <a:prstGeom prst="rect">
            <a:avLst/>
          </a:prstGeom>
        </p:spPr>
      </p:pic>
      <p:sp>
        <p:nvSpPr>
          <p:cNvPr id="40" name="Text 33"/>
          <p:cNvSpPr txBox="1"/>
          <p:nvPr/>
        </p:nvSpPr>
        <p:spPr>
          <a:xfrm>
            <a:off x="1371600" y="4224528"/>
            <a:ext cx="1691640" cy="274320"/>
          </a:xfrm>
          <a:prstGeom prst="rect">
            <a:avLst/>
          </a:prstGeom>
          <a:noFill/>
          <a:ln/>
        </p:spPr>
        <p:txBody>
          <a:bodyPr wrap="square" lIns="0" tIns="0" rIns="0" bIns="0" rtlCol="0" anchor="t"/>
          <a:lstStyle/>
          <a:p>
            <a:pPr indent="0" marL="0">
              <a:buNone/>
            </a:pPr>
            <a:r>
              <a:rPr lang="en-US" sz="1400" b="1" dirty="0">
                <a:solidFill>
                  <a:schemeClr val="tx2"/>
                </a:solidFill>
              </a:rPr>
              <a:t>Filing Officer</a:t>
            </a:r>
            <a:endParaRPr lang="en-US" sz="1400" dirty="0"/>
          </a:p>
        </p:txBody>
      </p:sp>
      <p:sp>
        <p:nvSpPr>
          <p:cNvPr id="41" name="Text 34"/>
          <p:cNvSpPr txBox="1"/>
          <p:nvPr/>
        </p:nvSpPr>
        <p:spPr>
          <a:xfrm>
            <a:off x="1371600" y="4498848"/>
            <a:ext cx="1691640" cy="228600"/>
          </a:xfrm>
          <a:prstGeom prst="rect">
            <a:avLst/>
          </a:prstGeom>
          <a:noFill/>
          <a:ln/>
        </p:spPr>
        <p:txBody>
          <a:bodyPr wrap="square" lIns="0" tIns="0" rIns="0" bIns="0" rtlCol="0" anchor="t"/>
          <a:lstStyle/>
          <a:p>
            <a:pPr indent="0" marL="0">
              <a:buNone/>
            </a:pPr>
            <a:r>
              <a:rPr lang="en-US" sz="1000" dirty="0">
                <a:solidFill>
                  <a:srgbClr val="5F6470"/>
                </a:solidFill>
              </a:rPr>
              <a:t>1 user</a:t>
            </a:r>
            <a:endParaRPr lang="en-US" sz="1000" dirty="0"/>
          </a:p>
        </p:txBody>
      </p:sp>
      <p:sp>
        <p:nvSpPr>
          <p:cNvPr id="42" name="Text 35"/>
          <p:cNvSpPr txBox="1"/>
          <p:nvPr/>
        </p:nvSpPr>
        <p:spPr>
          <a:xfrm>
            <a:off x="685800" y="4892040"/>
            <a:ext cx="2286000" cy="731520"/>
          </a:xfrm>
          <a:prstGeom prst="rect">
            <a:avLst/>
          </a:prstGeom>
          <a:noFill/>
          <a:ln/>
        </p:spPr>
        <p:txBody>
          <a:bodyPr wrap="square" lIns="0" tIns="0" rIns="0" bIns="0" rtlCol="0" anchor="t"/>
          <a:lstStyle/>
          <a:p>
            <a:pPr indent="0" marL="0">
              <a:buNone/>
            </a:pPr>
            <a:r>
              <a:rPr lang="en-US" sz="1100" dirty="0">
                <a:solidFill>
                  <a:schemeClr val="tx1"/>
                </a:solidFill>
              </a:rPr>
              <a:t>Files approved returns on FBR IRIS and records the acknowledgment.</a:t>
            </a:r>
            <a:endParaRPr lang="en-US" sz="1100" dirty="0"/>
          </a:p>
        </p:txBody>
      </p:sp>
      <p:sp>
        <p:nvSpPr>
          <p:cNvPr id="43" name="Shape 36"/>
          <p:cNvSpPr/>
          <p:nvPr/>
        </p:nvSpPr>
        <p:spPr>
          <a:xfrm>
            <a:off x="685800" y="5715000"/>
            <a:ext cx="1600200" cy="256032"/>
          </a:xfrm>
          <a:prstGeom prst="roundRect">
            <a:avLst>
              <a:gd name="adj" fmla="val 50000"/>
            </a:avLst>
          </a:prstGeom>
          <a:solidFill>
            <a:srgbClr val="1BAF7A"/>
          </a:solidFill>
          <a:ln w="12700">
            <a:solidFill>
              <a:srgbClr val="1BAF7A"/>
            </a:solidFill>
            <a:prstDash val="solid"/>
          </a:ln>
        </p:spPr>
      </p:sp>
      <p:sp>
        <p:nvSpPr>
          <p:cNvPr id="44" name="Text 37"/>
          <p:cNvSpPr txBox="1"/>
          <p:nvPr/>
        </p:nvSpPr>
        <p:spPr>
          <a:xfrm>
            <a:off x="685800" y="5715000"/>
            <a:ext cx="1600200" cy="256032"/>
          </a:xfrm>
          <a:prstGeom prst="rect">
            <a:avLst/>
          </a:prstGeom>
          <a:noFill/>
          <a:ln/>
        </p:spPr>
        <p:txBody>
          <a:bodyPr wrap="square" lIns="0" tIns="0" rIns="0" bIns="0" rtlCol="0" anchor="ctr"/>
          <a:lstStyle/>
          <a:p>
            <a:pPr algn="ctr" indent="0" marL="0">
              <a:buNone/>
            </a:pPr>
            <a:r>
              <a:rPr lang="en-US" sz="1000" b="1" dirty="0">
                <a:solidFill>
                  <a:srgbClr val="FFFFFF"/>
                </a:solidFill>
              </a:rPr>
              <a:t>All clients</a:t>
            </a:r>
            <a:endParaRPr lang="en-US" sz="1000" dirty="0"/>
          </a:p>
        </p:txBody>
      </p:sp>
      <p:sp>
        <p:nvSpPr>
          <p:cNvPr id="45" name="Shape 38"/>
          <p:cNvSpPr/>
          <p:nvPr/>
        </p:nvSpPr>
        <p:spPr>
          <a:xfrm>
            <a:off x="3310128" y="4023360"/>
            <a:ext cx="2624328" cy="2103120"/>
          </a:xfrm>
          <a:prstGeom prst="roundRect">
            <a:avLst>
              <a:gd name="adj" fmla="val 3478"/>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46" name="Shape 39"/>
          <p:cNvSpPr/>
          <p:nvPr/>
        </p:nvSpPr>
        <p:spPr>
          <a:xfrm>
            <a:off x="3493008" y="4206240"/>
            <a:ext cx="548640" cy="548640"/>
          </a:xfrm>
          <a:prstGeom prst="ellipse">
            <a:avLst/>
          </a:prstGeom>
          <a:solidFill>
            <a:srgbClr val="141416"/>
          </a:solidFill>
          <a:ln w="12700">
            <a:solidFill>
              <a:srgbClr val="141416"/>
            </a:solidFill>
            <a:prstDash val="solid"/>
          </a:ln>
        </p:spPr>
      </p:sp>
      <p:pic>
        <p:nvPicPr>
          <p:cNvPr id="47" name="Image 5" descr="preencoded.png">    </p:cNvPr>
          <p:cNvPicPr>
            <a:picLocks noChangeAspect="1"/>
          </p:cNvPicPr>
          <p:nvPr/>
        </p:nvPicPr>
        <p:blipFill>
          <a:blip r:embed="rId6"/>
          <a:stretch>
            <a:fillRect/>
          </a:stretch>
        </p:blipFill>
        <p:spPr>
          <a:xfrm>
            <a:off x="3624682" y="4337914"/>
            <a:ext cx="285293" cy="285293"/>
          </a:xfrm>
          <a:prstGeom prst="rect">
            <a:avLst/>
          </a:prstGeom>
        </p:spPr>
      </p:pic>
      <p:sp>
        <p:nvSpPr>
          <p:cNvPr id="48" name="Text 40"/>
          <p:cNvSpPr txBox="1"/>
          <p:nvPr/>
        </p:nvSpPr>
        <p:spPr>
          <a:xfrm>
            <a:off x="4178808" y="4224528"/>
            <a:ext cx="1691640" cy="274320"/>
          </a:xfrm>
          <a:prstGeom prst="rect">
            <a:avLst/>
          </a:prstGeom>
          <a:noFill/>
          <a:ln/>
        </p:spPr>
        <p:txBody>
          <a:bodyPr wrap="square" lIns="0" tIns="0" rIns="0" bIns="0" rtlCol="0" anchor="t"/>
          <a:lstStyle/>
          <a:p>
            <a:pPr indent="0" marL="0">
              <a:buNone/>
            </a:pPr>
            <a:r>
              <a:rPr lang="en-US" sz="1400" b="1" dirty="0">
                <a:solidFill>
                  <a:schemeClr val="tx2"/>
                </a:solidFill>
              </a:rPr>
              <a:t>Field Officer</a:t>
            </a:r>
            <a:endParaRPr lang="en-US" sz="1400" dirty="0"/>
          </a:p>
        </p:txBody>
      </p:sp>
      <p:sp>
        <p:nvSpPr>
          <p:cNvPr id="49" name="Text 41"/>
          <p:cNvSpPr txBox="1"/>
          <p:nvPr/>
        </p:nvSpPr>
        <p:spPr>
          <a:xfrm>
            <a:off x="4178808" y="4498848"/>
            <a:ext cx="1691640" cy="228600"/>
          </a:xfrm>
          <a:prstGeom prst="rect">
            <a:avLst/>
          </a:prstGeom>
          <a:noFill/>
          <a:ln/>
        </p:spPr>
        <p:txBody>
          <a:bodyPr wrap="square" lIns="0" tIns="0" rIns="0" bIns="0" rtlCol="0" anchor="t"/>
          <a:lstStyle/>
          <a:p>
            <a:pPr indent="0" marL="0">
              <a:buNone/>
            </a:pPr>
            <a:r>
              <a:rPr lang="en-US" sz="1000" dirty="0">
                <a:solidFill>
                  <a:srgbClr val="5F6470"/>
                </a:solidFill>
              </a:rPr>
              <a:t>1 user</a:t>
            </a:r>
            <a:endParaRPr lang="en-US" sz="1000" dirty="0"/>
          </a:p>
        </p:txBody>
      </p:sp>
      <p:sp>
        <p:nvSpPr>
          <p:cNvPr id="50" name="Text 42"/>
          <p:cNvSpPr txBox="1"/>
          <p:nvPr/>
        </p:nvSpPr>
        <p:spPr>
          <a:xfrm>
            <a:off x="3493008" y="4892040"/>
            <a:ext cx="2286000" cy="731520"/>
          </a:xfrm>
          <a:prstGeom prst="rect">
            <a:avLst/>
          </a:prstGeom>
          <a:noFill/>
          <a:ln/>
        </p:spPr>
        <p:txBody>
          <a:bodyPr wrap="square" lIns="0" tIns="0" rIns="0" bIns="0" rtlCol="0" anchor="t"/>
          <a:lstStyle/>
          <a:p>
            <a:pPr indent="0" marL="0">
              <a:buNone/>
            </a:pPr>
            <a:r>
              <a:rPr lang="en-US" sz="1100" dirty="0">
                <a:solidFill>
                  <a:schemeClr val="tx1"/>
                </a:solidFill>
              </a:rPr>
              <a:t>Registers prospects and clients met in the field.</a:t>
            </a:r>
            <a:endParaRPr lang="en-US" sz="1100" dirty="0"/>
          </a:p>
        </p:txBody>
      </p:sp>
      <p:sp>
        <p:nvSpPr>
          <p:cNvPr id="51" name="Shape 43"/>
          <p:cNvSpPr/>
          <p:nvPr/>
        </p:nvSpPr>
        <p:spPr>
          <a:xfrm>
            <a:off x="3493008" y="5715000"/>
            <a:ext cx="1600200" cy="256032"/>
          </a:xfrm>
          <a:prstGeom prst="roundRect">
            <a:avLst>
              <a:gd name="adj" fmla="val 50000"/>
            </a:avLst>
          </a:prstGeom>
          <a:solidFill>
            <a:srgbClr val="EB6834"/>
          </a:solidFill>
          <a:ln w="12700">
            <a:solidFill>
              <a:srgbClr val="EB6834"/>
            </a:solidFill>
            <a:prstDash val="solid"/>
          </a:ln>
        </p:spPr>
      </p:sp>
      <p:sp>
        <p:nvSpPr>
          <p:cNvPr id="52" name="Text 44"/>
          <p:cNvSpPr txBox="1"/>
          <p:nvPr/>
        </p:nvSpPr>
        <p:spPr>
          <a:xfrm>
            <a:off x="3493008" y="5715000"/>
            <a:ext cx="1600200" cy="256032"/>
          </a:xfrm>
          <a:prstGeom prst="rect">
            <a:avLst/>
          </a:prstGeom>
          <a:noFill/>
          <a:ln/>
        </p:spPr>
        <p:txBody>
          <a:bodyPr wrap="square" lIns="0" tIns="0" rIns="0" bIns="0" rtlCol="0" anchor="ctr"/>
          <a:lstStyle/>
          <a:p>
            <a:pPr algn="ctr" indent="0" marL="0">
              <a:buNone/>
            </a:pPr>
            <a:r>
              <a:rPr lang="en-US" sz="1000" b="1" dirty="0">
                <a:solidFill>
                  <a:srgbClr val="FFFFFF"/>
                </a:solidFill>
              </a:rPr>
              <a:t>Own registrations</a:t>
            </a:r>
            <a:endParaRPr lang="en-US" sz="1000" dirty="0"/>
          </a:p>
        </p:txBody>
      </p:sp>
      <p:sp>
        <p:nvSpPr>
          <p:cNvPr id="53" name="Shape 45"/>
          <p:cNvSpPr/>
          <p:nvPr/>
        </p:nvSpPr>
        <p:spPr>
          <a:xfrm>
            <a:off x="6117336" y="4023360"/>
            <a:ext cx="2624328" cy="2103120"/>
          </a:xfrm>
          <a:prstGeom prst="roundRect">
            <a:avLst>
              <a:gd name="adj" fmla="val 3478"/>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54" name="Shape 46"/>
          <p:cNvSpPr/>
          <p:nvPr/>
        </p:nvSpPr>
        <p:spPr>
          <a:xfrm>
            <a:off x="6300216" y="4206240"/>
            <a:ext cx="548640" cy="548640"/>
          </a:xfrm>
          <a:prstGeom prst="ellipse">
            <a:avLst/>
          </a:prstGeom>
          <a:solidFill>
            <a:srgbClr val="141416"/>
          </a:solidFill>
          <a:ln w="12700">
            <a:solidFill>
              <a:srgbClr val="141416"/>
            </a:solidFill>
            <a:prstDash val="solid"/>
          </a:ln>
        </p:spPr>
      </p:sp>
      <p:pic>
        <p:nvPicPr>
          <p:cNvPr id="55" name="Image 6" descr="preencoded.png">    </p:cNvPr>
          <p:cNvPicPr>
            <a:picLocks noChangeAspect="1"/>
          </p:cNvPicPr>
          <p:nvPr/>
        </p:nvPicPr>
        <p:blipFill>
          <a:blip r:embed="rId7"/>
          <a:stretch>
            <a:fillRect/>
          </a:stretch>
        </p:blipFill>
        <p:spPr>
          <a:xfrm>
            <a:off x="6431890" y="4337914"/>
            <a:ext cx="285293" cy="285293"/>
          </a:xfrm>
          <a:prstGeom prst="rect">
            <a:avLst/>
          </a:prstGeom>
        </p:spPr>
      </p:pic>
      <p:sp>
        <p:nvSpPr>
          <p:cNvPr id="56" name="Text 47"/>
          <p:cNvSpPr txBox="1"/>
          <p:nvPr/>
        </p:nvSpPr>
        <p:spPr>
          <a:xfrm>
            <a:off x="6986016" y="4224528"/>
            <a:ext cx="1691640" cy="274320"/>
          </a:xfrm>
          <a:prstGeom prst="rect">
            <a:avLst/>
          </a:prstGeom>
          <a:noFill/>
          <a:ln/>
        </p:spPr>
        <p:txBody>
          <a:bodyPr wrap="square" lIns="0" tIns="0" rIns="0" bIns="0" rtlCol="0" anchor="t"/>
          <a:lstStyle/>
          <a:p>
            <a:pPr indent="0" marL="0">
              <a:buNone/>
            </a:pPr>
            <a:r>
              <a:rPr lang="en-US" sz="1400" b="1" dirty="0">
                <a:solidFill>
                  <a:schemeClr val="tx2"/>
                </a:solidFill>
              </a:rPr>
              <a:t>Data Entry</a:t>
            </a:r>
            <a:endParaRPr lang="en-US" sz="1400" dirty="0"/>
          </a:p>
        </p:txBody>
      </p:sp>
      <p:sp>
        <p:nvSpPr>
          <p:cNvPr id="57" name="Text 48"/>
          <p:cNvSpPr txBox="1"/>
          <p:nvPr/>
        </p:nvSpPr>
        <p:spPr>
          <a:xfrm>
            <a:off x="6986016" y="4498848"/>
            <a:ext cx="1691640" cy="228600"/>
          </a:xfrm>
          <a:prstGeom prst="rect">
            <a:avLst/>
          </a:prstGeom>
          <a:noFill/>
          <a:ln/>
        </p:spPr>
        <p:txBody>
          <a:bodyPr wrap="square" lIns="0" tIns="0" rIns="0" bIns="0" rtlCol="0" anchor="t"/>
          <a:lstStyle/>
          <a:p>
            <a:pPr indent="0" marL="0">
              <a:buNone/>
            </a:pPr>
            <a:r>
              <a:rPr lang="en-US" sz="1000" dirty="0">
                <a:solidFill>
                  <a:srgbClr val="5F6470"/>
                </a:solidFill>
              </a:rPr>
              <a:t>1 user</a:t>
            </a:r>
            <a:endParaRPr lang="en-US" sz="1000" dirty="0"/>
          </a:p>
        </p:txBody>
      </p:sp>
      <p:sp>
        <p:nvSpPr>
          <p:cNvPr id="58" name="Text 49"/>
          <p:cNvSpPr txBox="1"/>
          <p:nvPr/>
        </p:nvSpPr>
        <p:spPr>
          <a:xfrm>
            <a:off x="6300216" y="4892040"/>
            <a:ext cx="2286000" cy="731520"/>
          </a:xfrm>
          <a:prstGeom prst="rect">
            <a:avLst/>
          </a:prstGeom>
          <a:noFill/>
          <a:ln/>
        </p:spPr>
        <p:txBody>
          <a:bodyPr wrap="square" lIns="0" tIns="0" rIns="0" bIns="0" rtlCol="0" anchor="t"/>
          <a:lstStyle/>
          <a:p>
            <a:pPr indent="0" marL="0">
              <a:buNone/>
            </a:pPr>
            <a:r>
              <a:rPr lang="en-US" sz="1100" dirty="0">
                <a:solidFill>
                  <a:schemeClr val="tx1"/>
                </a:solidFill>
              </a:rPr>
              <a:t>Only enters what the client told us and records the client's approval (every team member can also do this).</a:t>
            </a:r>
            <a:endParaRPr lang="en-US" sz="1100" dirty="0"/>
          </a:p>
        </p:txBody>
      </p:sp>
      <p:sp>
        <p:nvSpPr>
          <p:cNvPr id="59" name="Shape 50"/>
          <p:cNvSpPr/>
          <p:nvPr/>
        </p:nvSpPr>
        <p:spPr>
          <a:xfrm>
            <a:off x="6300216" y="5715000"/>
            <a:ext cx="1600200" cy="256032"/>
          </a:xfrm>
          <a:prstGeom prst="roundRect">
            <a:avLst>
              <a:gd name="adj" fmla="val 50000"/>
            </a:avLst>
          </a:prstGeom>
          <a:solidFill>
            <a:srgbClr val="1BAF7A"/>
          </a:solidFill>
          <a:ln w="12700">
            <a:solidFill>
              <a:srgbClr val="1BAF7A"/>
            </a:solidFill>
            <a:prstDash val="solid"/>
          </a:ln>
        </p:spPr>
      </p:sp>
      <p:sp>
        <p:nvSpPr>
          <p:cNvPr id="60" name="Text 51"/>
          <p:cNvSpPr txBox="1"/>
          <p:nvPr/>
        </p:nvSpPr>
        <p:spPr>
          <a:xfrm>
            <a:off x="6300216" y="5715000"/>
            <a:ext cx="1600200" cy="256032"/>
          </a:xfrm>
          <a:prstGeom prst="rect">
            <a:avLst/>
          </a:prstGeom>
          <a:noFill/>
          <a:ln/>
        </p:spPr>
        <p:txBody>
          <a:bodyPr wrap="square" lIns="0" tIns="0" rIns="0" bIns="0" rtlCol="0" anchor="ctr"/>
          <a:lstStyle/>
          <a:p>
            <a:pPr algn="ctr" indent="0" marL="0">
              <a:buNone/>
            </a:pPr>
            <a:r>
              <a:rPr lang="en-US" sz="1000" b="1" dirty="0">
                <a:solidFill>
                  <a:srgbClr val="FFFFFF"/>
                </a:solidFill>
              </a:rPr>
              <a:t>All clients</a:t>
            </a:r>
            <a:endParaRPr lang="en-US" sz="1000" dirty="0"/>
          </a:p>
        </p:txBody>
      </p:sp>
      <p:sp>
        <p:nvSpPr>
          <p:cNvPr id="61" name="Shape 52"/>
          <p:cNvSpPr/>
          <p:nvPr/>
        </p:nvSpPr>
        <p:spPr>
          <a:xfrm>
            <a:off x="8924544" y="4023360"/>
            <a:ext cx="2624328" cy="2103120"/>
          </a:xfrm>
          <a:prstGeom prst="roundRect">
            <a:avLst>
              <a:gd name="adj" fmla="val 3478"/>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62" name="Shape 53"/>
          <p:cNvSpPr/>
          <p:nvPr/>
        </p:nvSpPr>
        <p:spPr>
          <a:xfrm>
            <a:off x="9107424" y="4206240"/>
            <a:ext cx="548640" cy="548640"/>
          </a:xfrm>
          <a:prstGeom prst="ellipse">
            <a:avLst/>
          </a:prstGeom>
          <a:solidFill>
            <a:srgbClr val="141416"/>
          </a:solidFill>
          <a:ln w="12700">
            <a:solidFill>
              <a:srgbClr val="141416"/>
            </a:solidFill>
            <a:prstDash val="solid"/>
          </a:ln>
        </p:spPr>
      </p:sp>
      <p:pic>
        <p:nvPicPr>
          <p:cNvPr id="63" name="Image 7" descr="preencoded.png">    </p:cNvPr>
          <p:cNvPicPr>
            <a:picLocks noChangeAspect="1"/>
          </p:cNvPicPr>
          <p:nvPr/>
        </p:nvPicPr>
        <p:blipFill>
          <a:blip r:embed="rId8"/>
          <a:stretch>
            <a:fillRect/>
          </a:stretch>
        </p:blipFill>
        <p:spPr>
          <a:xfrm>
            <a:off x="9239098" y="4337914"/>
            <a:ext cx="285293" cy="285293"/>
          </a:xfrm>
          <a:prstGeom prst="rect">
            <a:avLst/>
          </a:prstGeom>
        </p:spPr>
      </p:pic>
      <p:sp>
        <p:nvSpPr>
          <p:cNvPr id="64" name="Text 54"/>
          <p:cNvSpPr txBox="1"/>
          <p:nvPr/>
        </p:nvSpPr>
        <p:spPr>
          <a:xfrm>
            <a:off x="9793224" y="4224528"/>
            <a:ext cx="1691640" cy="274320"/>
          </a:xfrm>
          <a:prstGeom prst="rect">
            <a:avLst/>
          </a:prstGeom>
          <a:noFill/>
          <a:ln/>
        </p:spPr>
        <p:txBody>
          <a:bodyPr wrap="square" lIns="0" tIns="0" rIns="0" bIns="0" rtlCol="0" anchor="t"/>
          <a:lstStyle/>
          <a:p>
            <a:pPr indent="0" marL="0">
              <a:buNone/>
            </a:pPr>
            <a:r>
              <a:rPr lang="en-US" sz="1400" b="1" dirty="0">
                <a:solidFill>
                  <a:schemeClr val="tx2"/>
                </a:solidFill>
              </a:rPr>
              <a:t>Client</a:t>
            </a:r>
            <a:endParaRPr lang="en-US" sz="1400" dirty="0"/>
          </a:p>
        </p:txBody>
      </p:sp>
      <p:sp>
        <p:nvSpPr>
          <p:cNvPr id="65" name="Text 55"/>
          <p:cNvSpPr txBox="1"/>
          <p:nvPr/>
        </p:nvSpPr>
        <p:spPr>
          <a:xfrm>
            <a:off x="9793224" y="4498848"/>
            <a:ext cx="1691640" cy="228600"/>
          </a:xfrm>
          <a:prstGeom prst="rect">
            <a:avLst/>
          </a:prstGeom>
          <a:noFill/>
          <a:ln/>
        </p:spPr>
        <p:txBody>
          <a:bodyPr wrap="square" lIns="0" tIns="0" rIns="0" bIns="0" rtlCol="0" anchor="t"/>
          <a:lstStyle/>
          <a:p>
            <a:pPr indent="0" marL="0">
              <a:buNone/>
            </a:pPr>
            <a:r>
              <a:rPr lang="en-US" sz="1000" dirty="0">
                <a:solidFill>
                  <a:srgbClr val="5F6470"/>
                </a:solidFill>
              </a:rPr>
              <a:t>51 portal logins</a:t>
            </a:r>
            <a:endParaRPr lang="en-US" sz="1000" dirty="0"/>
          </a:p>
        </p:txBody>
      </p:sp>
      <p:sp>
        <p:nvSpPr>
          <p:cNvPr id="66" name="Text 56"/>
          <p:cNvSpPr txBox="1"/>
          <p:nvPr/>
        </p:nvSpPr>
        <p:spPr>
          <a:xfrm>
            <a:off x="9107424" y="4892040"/>
            <a:ext cx="2286000" cy="731520"/>
          </a:xfrm>
          <a:prstGeom prst="rect">
            <a:avLst/>
          </a:prstGeom>
          <a:noFill/>
          <a:ln/>
        </p:spPr>
        <p:txBody>
          <a:bodyPr wrap="square" lIns="0" tIns="0" rIns="0" bIns="0" rtlCol="0" anchor="t"/>
          <a:lstStyle/>
          <a:p>
            <a:pPr indent="0" marL="0">
              <a:buNone/>
            </a:pPr>
            <a:r>
              <a:rPr lang="en-US" sz="1100" dirty="0">
                <a:solidFill>
                  <a:schemeClr val="tx1"/>
                </a:solidFill>
              </a:rPr>
              <a:t>A taxpayer using the client portal.</a:t>
            </a:r>
            <a:endParaRPr lang="en-US" sz="1100" dirty="0"/>
          </a:p>
        </p:txBody>
      </p:sp>
      <p:sp>
        <p:nvSpPr>
          <p:cNvPr id="67" name="Shape 57"/>
          <p:cNvSpPr/>
          <p:nvPr/>
        </p:nvSpPr>
        <p:spPr>
          <a:xfrm>
            <a:off x="9107424" y="5715000"/>
            <a:ext cx="1600200" cy="256032"/>
          </a:xfrm>
          <a:prstGeom prst="roundRect">
            <a:avLst>
              <a:gd name="adj" fmla="val 50000"/>
            </a:avLst>
          </a:prstGeom>
          <a:solidFill>
            <a:srgbClr val="DC2626"/>
          </a:solidFill>
          <a:ln w="12700">
            <a:solidFill>
              <a:srgbClr val="DC2626"/>
            </a:solidFill>
            <a:prstDash val="solid"/>
          </a:ln>
        </p:spPr>
      </p:sp>
      <p:sp>
        <p:nvSpPr>
          <p:cNvPr id="68" name="Text 58"/>
          <p:cNvSpPr txBox="1"/>
          <p:nvPr/>
        </p:nvSpPr>
        <p:spPr>
          <a:xfrm>
            <a:off x="9107424" y="5715000"/>
            <a:ext cx="1600200" cy="256032"/>
          </a:xfrm>
          <a:prstGeom prst="rect">
            <a:avLst/>
          </a:prstGeom>
          <a:noFill/>
          <a:ln/>
        </p:spPr>
        <p:txBody>
          <a:bodyPr wrap="square" lIns="0" tIns="0" rIns="0" bIns="0" rtlCol="0" anchor="ctr"/>
          <a:lstStyle/>
          <a:p>
            <a:pPr algn="ctr" indent="0" marL="0">
              <a:buNone/>
            </a:pPr>
            <a:r>
              <a:rPr lang="en-US" sz="1000" b="1" dirty="0">
                <a:solidFill>
                  <a:srgbClr val="FFFFFF"/>
                </a:solidFill>
              </a:rPr>
              <a:t>Own records only</a:t>
            </a:r>
            <a:endParaRPr lang="en-US" sz="10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DFD LEVEL 0  ·  CONTEXT DIAGRAM</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The portal and everything it exchanges data with</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One process (the whole system), eight external entities and the data flowing between them</a:t>
            </a:r>
            <a:endParaRPr lang="en-US" sz="1300" dirty="0"/>
          </a:p>
        </p:txBody>
      </p:sp>
      <p:sp>
        <p:nvSpPr>
          <p:cNvPr id="6" name="Process 0"/>
          <p:cNvSpPr/>
          <p:nvPr/>
        </p:nvSpPr>
        <p:spPr>
          <a:xfrm>
            <a:off x="4754880" y="3291840"/>
            <a:ext cx="2679192" cy="1325880"/>
          </a:xfrm>
          <a:prstGeom prst="roundRect">
            <a:avLst>
              <a:gd name="adj" fmla="val 8276"/>
            </a:avLst>
          </a:prstGeom>
          <a:solidFill>
            <a:schemeClr val="bg1"/>
          </a:solidFill>
          <a:ln w="25400">
            <a:solidFill>
              <a:srgbClr val="A8811F"/>
            </a:solidFill>
            <a:prstDash val="solid"/>
          </a:ln>
          <a:effectLst>
            <a:outerShdw sx="100000" sy="100000" kx="0" ky="0" algn="bl" rotWithShape="0" blurRad="76200" dist="25400" dir="5400000">
              <a:srgbClr val="141416">
                <a:alpha val="10000"/>
              </a:srgbClr>
            </a:outerShdw>
          </a:effectLst>
        </p:spPr>
      </p:sp>
      <p:sp>
        <p:nvSpPr>
          <p:cNvPr id="7" name="Shape 4"/>
          <p:cNvSpPr/>
          <p:nvPr/>
        </p:nvSpPr>
        <p:spPr>
          <a:xfrm>
            <a:off x="4828032" y="3675888"/>
            <a:ext cx="2532888" cy="0"/>
          </a:xfrm>
          <a:prstGeom prst="line">
            <a:avLst/>
          </a:prstGeom>
          <a:noFill/>
          <a:ln w="9525">
            <a:solidFill>
              <a:srgbClr val="D4AF37"/>
            </a:solidFill>
            <a:prstDash val="solid"/>
          </a:ln>
        </p:spPr>
      </p:sp>
      <p:sp>
        <p:nvSpPr>
          <p:cNvPr id="8" name="Text 5"/>
          <p:cNvSpPr txBox="1"/>
          <p:nvPr/>
        </p:nvSpPr>
        <p:spPr>
          <a:xfrm>
            <a:off x="4754880" y="3328416"/>
            <a:ext cx="2679192" cy="329184"/>
          </a:xfrm>
          <a:prstGeom prst="rect">
            <a:avLst/>
          </a:prstGeom>
          <a:noFill/>
          <a:ln/>
        </p:spPr>
        <p:txBody>
          <a:bodyPr wrap="square" lIns="0" tIns="0" rIns="0" bIns="0" rtlCol="0" anchor="ctr"/>
          <a:lstStyle/>
          <a:p>
            <a:pPr algn="ctr" indent="0" marL="0">
              <a:buNone/>
            </a:pPr>
            <a:r>
              <a:rPr lang="en-US" sz="1400" b="1" dirty="0">
                <a:solidFill>
                  <a:srgbClr val="A8811F"/>
                </a:solidFill>
              </a:rPr>
              <a:t>0</a:t>
            </a:r>
            <a:endParaRPr lang="en-US" sz="1400" dirty="0"/>
          </a:p>
        </p:txBody>
      </p:sp>
      <p:sp>
        <p:nvSpPr>
          <p:cNvPr id="9" name="Text 6"/>
          <p:cNvSpPr txBox="1"/>
          <p:nvPr/>
        </p:nvSpPr>
        <p:spPr>
          <a:xfrm>
            <a:off x="4809744" y="3730752"/>
            <a:ext cx="2569464" cy="850392"/>
          </a:xfrm>
          <a:prstGeom prst="rect">
            <a:avLst/>
          </a:prstGeom>
          <a:noFill/>
          <a:ln/>
        </p:spPr>
        <p:txBody>
          <a:bodyPr wrap="square" lIns="0" tIns="0" rIns="0" bIns="0" rtlCol="0" anchor="ctr"/>
          <a:lstStyle/>
          <a:p>
            <a:pPr algn="ctr" indent="0" marL="0">
              <a:buNone/>
            </a:pPr>
            <a:r>
              <a:rPr lang="en-US" sz="1600" b="1" dirty="0">
                <a:solidFill>
                  <a:schemeClr val="tx2"/>
                </a:solidFill>
                <a:latin typeface="Cambria" pitchFamily="34" charset="0"/>
                <a:ea typeface="Cambria" pitchFamily="34" charset="-122"/>
                <a:cs typeface="Cambria" pitchFamily="34" charset="-120"/>
              </a:rPr>
              <a:t>VVS Tax Consultancy Portal</a:t>
            </a:r>
            <a:endParaRPr lang="en-US" sz="1600" dirty="0"/>
          </a:p>
        </p:txBody>
      </p:sp>
      <p:sp>
        <p:nvSpPr>
          <p:cNvPr id="10" name="Shape 7"/>
          <p:cNvSpPr/>
          <p:nvPr/>
        </p:nvSpPr>
        <p:spPr>
          <a:xfrm>
            <a:off x="2606040" y="2139696"/>
            <a:ext cx="2148840" cy="1380744"/>
          </a:xfrm>
          <a:prstGeom prst="line">
            <a:avLst/>
          </a:prstGeom>
          <a:noFill/>
          <a:ln w="15875">
            <a:solidFill>
              <a:srgbClr val="A8811F"/>
            </a:solidFill>
            <a:prstDash val="solid"/>
            <a:headEnd type="triangle"/>
            <a:tailEnd type="triangle"/>
          </a:ln>
        </p:spPr>
      </p:sp>
      <p:sp>
        <p:nvSpPr>
          <p:cNvPr id="11" name="Shape 8"/>
          <p:cNvSpPr/>
          <p:nvPr/>
        </p:nvSpPr>
        <p:spPr>
          <a:xfrm flipV="1">
            <a:off x="2606040" y="3954780"/>
            <a:ext cx="2148840" cy="4572"/>
          </a:xfrm>
          <a:prstGeom prst="line">
            <a:avLst/>
          </a:prstGeom>
          <a:noFill/>
          <a:ln w="15875">
            <a:solidFill>
              <a:srgbClr val="A8811F"/>
            </a:solidFill>
            <a:prstDash val="solid"/>
            <a:headEnd type="triangle"/>
            <a:tailEnd type="triangle"/>
          </a:ln>
        </p:spPr>
      </p:sp>
      <p:sp>
        <p:nvSpPr>
          <p:cNvPr id="12" name="Shape 9"/>
          <p:cNvSpPr/>
          <p:nvPr/>
        </p:nvSpPr>
        <p:spPr>
          <a:xfrm flipV="1">
            <a:off x="2606040" y="4389120"/>
            <a:ext cx="2148840" cy="1362456"/>
          </a:xfrm>
          <a:prstGeom prst="line">
            <a:avLst/>
          </a:prstGeom>
          <a:noFill/>
          <a:ln w="15875">
            <a:solidFill>
              <a:srgbClr val="A8811F"/>
            </a:solidFill>
            <a:prstDash val="solid"/>
            <a:headEnd type="triangle"/>
            <a:tailEnd type="triangle"/>
          </a:ln>
        </p:spPr>
      </p:sp>
      <p:sp>
        <p:nvSpPr>
          <p:cNvPr id="13" name="Shape 10"/>
          <p:cNvSpPr/>
          <p:nvPr/>
        </p:nvSpPr>
        <p:spPr>
          <a:xfrm flipH="1">
            <a:off x="7434072" y="2139696"/>
            <a:ext cx="2151583" cy="1380744"/>
          </a:xfrm>
          <a:prstGeom prst="line">
            <a:avLst/>
          </a:prstGeom>
          <a:noFill/>
          <a:ln w="15875">
            <a:solidFill>
              <a:srgbClr val="A8811F"/>
            </a:solidFill>
            <a:prstDash val="solid"/>
            <a:headEnd type="triangle"/>
            <a:tailEnd type="triangle"/>
          </a:ln>
        </p:spPr>
      </p:sp>
      <p:sp>
        <p:nvSpPr>
          <p:cNvPr id="14" name="Shape 11"/>
          <p:cNvSpPr/>
          <p:nvPr/>
        </p:nvSpPr>
        <p:spPr>
          <a:xfrm flipH="1" flipV="1">
            <a:off x="7434072" y="3954780"/>
            <a:ext cx="2151583" cy="4572"/>
          </a:xfrm>
          <a:prstGeom prst="line">
            <a:avLst/>
          </a:prstGeom>
          <a:noFill/>
          <a:ln w="15875">
            <a:solidFill>
              <a:srgbClr val="A8811F"/>
            </a:solidFill>
            <a:prstDash val="solid"/>
            <a:headEnd type="triangle"/>
            <a:tailEnd type="triangle"/>
          </a:ln>
        </p:spPr>
      </p:sp>
      <p:sp>
        <p:nvSpPr>
          <p:cNvPr id="15" name="Shape 12"/>
          <p:cNvSpPr/>
          <p:nvPr/>
        </p:nvSpPr>
        <p:spPr>
          <a:xfrm flipH="1" flipV="1">
            <a:off x="7434072" y="4389120"/>
            <a:ext cx="2151583" cy="1362456"/>
          </a:xfrm>
          <a:prstGeom prst="line">
            <a:avLst/>
          </a:prstGeom>
          <a:noFill/>
          <a:ln w="15875">
            <a:solidFill>
              <a:srgbClr val="A8811F"/>
            </a:solidFill>
            <a:prstDash val="solid"/>
            <a:headEnd type="triangle"/>
            <a:tailEnd type="triangle"/>
          </a:ln>
        </p:spPr>
      </p:sp>
      <p:sp>
        <p:nvSpPr>
          <p:cNvPr id="16" name="Shape 13"/>
          <p:cNvSpPr/>
          <p:nvPr/>
        </p:nvSpPr>
        <p:spPr>
          <a:xfrm flipH="1">
            <a:off x="6094476" y="2496312"/>
            <a:ext cx="0" cy="795528"/>
          </a:xfrm>
          <a:prstGeom prst="line">
            <a:avLst/>
          </a:prstGeom>
          <a:noFill/>
          <a:ln w="15875">
            <a:solidFill>
              <a:srgbClr val="A8811F"/>
            </a:solidFill>
            <a:prstDash val="solid"/>
            <a:headEnd type="triangle"/>
            <a:tailEnd type="triangle"/>
          </a:ln>
        </p:spPr>
      </p:sp>
      <p:sp>
        <p:nvSpPr>
          <p:cNvPr id="17" name="Shape 14"/>
          <p:cNvSpPr/>
          <p:nvPr/>
        </p:nvSpPr>
        <p:spPr>
          <a:xfrm flipH="1" flipV="1">
            <a:off x="6094476" y="4617720"/>
            <a:ext cx="0" cy="777240"/>
          </a:xfrm>
          <a:prstGeom prst="line">
            <a:avLst/>
          </a:prstGeom>
          <a:noFill/>
          <a:ln w="15875">
            <a:solidFill>
              <a:srgbClr val="A8811F"/>
            </a:solidFill>
            <a:prstDash val="solid"/>
            <a:headEnd type="triangle"/>
            <a:tailEnd type="triangle"/>
          </a:ln>
        </p:spPr>
      </p:sp>
      <p:sp>
        <p:nvSpPr>
          <p:cNvPr id="18" name="Entity Client (taxpayer)"/>
          <p:cNvSpPr/>
          <p:nvPr/>
        </p:nvSpPr>
        <p:spPr>
          <a:xfrm>
            <a:off x="502920" y="1783080"/>
            <a:ext cx="2103120" cy="713232"/>
          </a:xfrm>
          <a:prstGeom prst="rect">
            <a:avLst/>
          </a:prstGeom>
          <a:solidFill>
            <a:srgbClr val="141416"/>
          </a:solidFill>
          <a:ln w="12700">
            <a:solidFill>
              <a:srgbClr val="141416"/>
            </a:solidFill>
            <a:prstDash val="solid"/>
          </a:ln>
        </p:spPr>
      </p:sp>
      <p:sp>
        <p:nvSpPr>
          <p:cNvPr id="19" name="Text 16"/>
          <p:cNvSpPr txBox="1"/>
          <p:nvPr/>
        </p:nvSpPr>
        <p:spPr>
          <a:xfrm>
            <a:off x="576072" y="1837944"/>
            <a:ext cx="1956816" cy="274320"/>
          </a:xfrm>
          <a:prstGeom prst="rect">
            <a:avLst/>
          </a:prstGeom>
          <a:noFill/>
          <a:ln/>
        </p:spPr>
        <p:txBody>
          <a:bodyPr wrap="square" lIns="0" tIns="0" rIns="0" bIns="0" rtlCol="0" anchor="ctr"/>
          <a:lstStyle/>
          <a:p>
            <a:pPr algn="ctr" indent="0" marL="0">
              <a:buNone/>
            </a:pPr>
            <a:r>
              <a:rPr lang="en-US" sz="1200" b="1" dirty="0">
                <a:solidFill>
                  <a:srgbClr val="FFFFFF"/>
                </a:solidFill>
              </a:rPr>
              <a:t>Client (taxpayer)</a:t>
            </a:r>
            <a:endParaRPr lang="en-US" sz="1200" dirty="0"/>
          </a:p>
        </p:txBody>
      </p:sp>
      <p:sp>
        <p:nvSpPr>
          <p:cNvPr id="20" name="Text 17"/>
          <p:cNvSpPr txBox="1"/>
          <p:nvPr/>
        </p:nvSpPr>
        <p:spPr>
          <a:xfrm>
            <a:off x="576072" y="2112264"/>
            <a:ext cx="1956816" cy="329184"/>
          </a:xfrm>
          <a:prstGeom prst="rect">
            <a:avLst/>
          </a:prstGeom>
          <a:noFill/>
          <a:ln/>
        </p:spPr>
        <p:txBody>
          <a:bodyPr wrap="square" lIns="0" tIns="0" rIns="0" bIns="0" rtlCol="0" anchor="t"/>
          <a:lstStyle/>
          <a:p>
            <a:pPr algn="ctr" indent="0" marL="0">
              <a:buNone/>
            </a:pPr>
            <a:r>
              <a:rPr lang="en-US" sz="1000" dirty="0">
                <a:solidFill>
                  <a:srgbClr val="C9C3B3"/>
                </a:solidFill>
              </a:rPr>
              <a:t>portal · WhatsApp</a:t>
            </a:r>
            <a:endParaRPr lang="en-US" sz="1000" dirty="0"/>
          </a:p>
        </p:txBody>
      </p:sp>
      <p:sp>
        <p:nvSpPr>
          <p:cNvPr id="21" name="Shape 18"/>
          <p:cNvSpPr/>
          <p:nvPr/>
        </p:nvSpPr>
        <p:spPr>
          <a:xfrm>
            <a:off x="1965960" y="2606040"/>
            <a:ext cx="2560320" cy="585216"/>
          </a:xfrm>
          <a:prstGeom prst="roundRect">
            <a:avLst>
              <a:gd name="adj" fmla="val 7813"/>
            </a:avLst>
          </a:prstGeom>
          <a:solidFill>
            <a:schemeClr val="bg1"/>
          </a:solidFill>
          <a:ln w="6350">
            <a:solidFill>
              <a:srgbClr val="E2DED2"/>
            </a:solidFill>
            <a:prstDash val="solid"/>
          </a:ln>
        </p:spPr>
      </p:sp>
      <p:sp>
        <p:nvSpPr>
          <p:cNvPr id="22" name="Text 19"/>
          <p:cNvSpPr txBox="1"/>
          <p:nvPr/>
        </p:nvSpPr>
        <p:spPr>
          <a:xfrm>
            <a:off x="2011680" y="2606040"/>
            <a:ext cx="2468880" cy="585216"/>
          </a:xfrm>
          <a:prstGeom prst="rect">
            <a:avLst/>
          </a:prstGeom>
          <a:noFill/>
          <a:ln/>
        </p:spPr>
        <p:txBody>
          <a:bodyPr wrap="square" lIns="0" tIns="0" rIns="0" bIns="0" rtlCol="0" anchor="ctr"/>
          <a:lstStyle/>
          <a:p>
            <a:pPr algn="l" indent="0" marL="0">
              <a:buNone/>
            </a:pPr>
            <a:r>
              <a:rPr lang="en-US" sz="1000" dirty="0">
                <a:solidFill>
                  <a:schemeClr val="tx1"/>
                </a:solidFill>
              </a:rPr>
              <a:t>▸ sign-up, answers, documents, fee proof, confirmation</a:t>
            </a:r>
            <a:endParaRPr lang="en-US" sz="1000" dirty="0"/>
          </a:p>
          <a:p>
            <a:pPr algn="l" indent="0" marL="0">
              <a:buNone/>
            </a:pPr>
            <a:r>
              <a:rPr lang="en-US" sz="1000" dirty="0">
                <a:solidFill>
                  <a:schemeClr val="tx1"/>
                </a:solidFill>
              </a:rPr>
              <a:t>◂ codes, checklist, return summary, IRIS receipt, letters</a:t>
            </a:r>
            <a:endParaRPr lang="en-US" sz="1000" dirty="0"/>
          </a:p>
        </p:txBody>
      </p:sp>
      <p:sp>
        <p:nvSpPr>
          <p:cNvPr id="23" name="Entity Prospect / visitor"/>
          <p:cNvSpPr/>
          <p:nvPr/>
        </p:nvSpPr>
        <p:spPr>
          <a:xfrm>
            <a:off x="502920" y="3602736"/>
            <a:ext cx="2103120" cy="713232"/>
          </a:xfrm>
          <a:prstGeom prst="rect">
            <a:avLst/>
          </a:prstGeom>
          <a:solidFill>
            <a:srgbClr val="141416"/>
          </a:solidFill>
          <a:ln w="12700">
            <a:solidFill>
              <a:srgbClr val="141416"/>
            </a:solidFill>
            <a:prstDash val="solid"/>
          </a:ln>
        </p:spPr>
      </p:sp>
      <p:sp>
        <p:nvSpPr>
          <p:cNvPr id="24" name="Text 21"/>
          <p:cNvSpPr txBox="1"/>
          <p:nvPr/>
        </p:nvSpPr>
        <p:spPr>
          <a:xfrm>
            <a:off x="576072" y="3657600"/>
            <a:ext cx="1956816" cy="274320"/>
          </a:xfrm>
          <a:prstGeom prst="rect">
            <a:avLst/>
          </a:prstGeom>
          <a:noFill/>
          <a:ln/>
        </p:spPr>
        <p:txBody>
          <a:bodyPr wrap="square" lIns="0" tIns="0" rIns="0" bIns="0" rtlCol="0" anchor="ctr"/>
          <a:lstStyle/>
          <a:p>
            <a:pPr algn="ctr" indent="0" marL="0">
              <a:buNone/>
            </a:pPr>
            <a:r>
              <a:rPr lang="en-US" sz="1200" b="1" dirty="0">
                <a:solidFill>
                  <a:srgbClr val="FFFFFF"/>
                </a:solidFill>
              </a:rPr>
              <a:t>Prospect / visitor</a:t>
            </a:r>
            <a:endParaRPr lang="en-US" sz="1200" dirty="0"/>
          </a:p>
        </p:txBody>
      </p:sp>
      <p:sp>
        <p:nvSpPr>
          <p:cNvPr id="25" name="Text 22"/>
          <p:cNvSpPr txBox="1"/>
          <p:nvPr/>
        </p:nvSpPr>
        <p:spPr>
          <a:xfrm>
            <a:off x="576072" y="3931920"/>
            <a:ext cx="1956816" cy="329184"/>
          </a:xfrm>
          <a:prstGeom prst="rect">
            <a:avLst/>
          </a:prstGeom>
          <a:noFill/>
          <a:ln/>
        </p:spPr>
        <p:txBody>
          <a:bodyPr wrap="square" lIns="0" tIns="0" rIns="0" bIns="0" rtlCol="0" anchor="t"/>
          <a:lstStyle/>
          <a:p>
            <a:pPr algn="ctr" indent="0" marL="0">
              <a:buNone/>
            </a:pPr>
            <a:r>
              <a:rPr lang="en-US" sz="1000" dirty="0">
                <a:solidFill>
                  <a:srgbClr val="C9C3B3"/>
                </a:solidFill>
              </a:rPr>
              <a:t>website · walk-in</a:t>
            </a:r>
            <a:endParaRPr lang="en-US" sz="1000" dirty="0"/>
          </a:p>
        </p:txBody>
      </p:sp>
      <p:sp>
        <p:nvSpPr>
          <p:cNvPr id="26" name="Shape 23"/>
          <p:cNvSpPr/>
          <p:nvPr/>
        </p:nvSpPr>
        <p:spPr>
          <a:xfrm>
            <a:off x="2697480" y="3639312"/>
            <a:ext cx="1965960" cy="585216"/>
          </a:xfrm>
          <a:prstGeom prst="roundRect">
            <a:avLst>
              <a:gd name="adj" fmla="val 7813"/>
            </a:avLst>
          </a:prstGeom>
          <a:solidFill>
            <a:schemeClr val="bg1"/>
          </a:solidFill>
          <a:ln w="6350">
            <a:solidFill>
              <a:srgbClr val="E2DED2"/>
            </a:solidFill>
            <a:prstDash val="solid"/>
          </a:ln>
        </p:spPr>
      </p:sp>
      <p:sp>
        <p:nvSpPr>
          <p:cNvPr id="27" name="Text 24"/>
          <p:cNvSpPr txBox="1"/>
          <p:nvPr/>
        </p:nvSpPr>
        <p:spPr>
          <a:xfrm>
            <a:off x="2743200" y="3639312"/>
            <a:ext cx="1874520" cy="585216"/>
          </a:xfrm>
          <a:prstGeom prst="rect">
            <a:avLst/>
          </a:prstGeom>
          <a:noFill/>
          <a:ln/>
        </p:spPr>
        <p:txBody>
          <a:bodyPr wrap="square" lIns="0" tIns="0" rIns="0" bIns="0" rtlCol="0" anchor="ctr"/>
          <a:lstStyle/>
          <a:p>
            <a:pPr algn="l" indent="0" marL="0">
              <a:buNone/>
            </a:pPr>
            <a:r>
              <a:rPr lang="en-US" sz="1000" dirty="0">
                <a:solidFill>
                  <a:schemeClr val="tx1"/>
                </a:solidFill>
              </a:rPr>
              <a:t>▸ enquiry, booking, calculator</a:t>
            </a:r>
            <a:endParaRPr lang="en-US" sz="1000" dirty="0"/>
          </a:p>
          <a:p>
            <a:pPr algn="l" indent="0" marL="0">
              <a:buNone/>
            </a:pPr>
            <a:r>
              <a:rPr lang="en-US" sz="1000" dirty="0">
                <a:solidFill>
                  <a:schemeClr val="tx1"/>
                </a:solidFill>
              </a:rPr>
              <a:t>◂ estimate, follow-up</a:t>
            </a:r>
            <a:endParaRPr lang="en-US" sz="1000" dirty="0"/>
          </a:p>
        </p:txBody>
      </p:sp>
      <p:sp>
        <p:nvSpPr>
          <p:cNvPr id="28" name="Entity Apify (Google Maps)"/>
          <p:cNvSpPr/>
          <p:nvPr/>
        </p:nvSpPr>
        <p:spPr>
          <a:xfrm>
            <a:off x="502920" y="5394960"/>
            <a:ext cx="2103120" cy="713232"/>
          </a:xfrm>
          <a:prstGeom prst="rect">
            <a:avLst/>
          </a:prstGeom>
          <a:solidFill>
            <a:srgbClr val="141416"/>
          </a:solidFill>
          <a:ln w="12700">
            <a:solidFill>
              <a:srgbClr val="141416"/>
            </a:solidFill>
            <a:prstDash val="solid"/>
          </a:ln>
        </p:spPr>
      </p:sp>
      <p:sp>
        <p:nvSpPr>
          <p:cNvPr id="29" name="Text 26"/>
          <p:cNvSpPr txBox="1"/>
          <p:nvPr/>
        </p:nvSpPr>
        <p:spPr>
          <a:xfrm>
            <a:off x="576072" y="5449824"/>
            <a:ext cx="1956816" cy="274320"/>
          </a:xfrm>
          <a:prstGeom prst="rect">
            <a:avLst/>
          </a:prstGeom>
          <a:noFill/>
          <a:ln/>
        </p:spPr>
        <p:txBody>
          <a:bodyPr wrap="square" lIns="0" tIns="0" rIns="0" bIns="0" rtlCol="0" anchor="ctr"/>
          <a:lstStyle/>
          <a:p>
            <a:pPr algn="ctr" indent="0" marL="0">
              <a:buNone/>
            </a:pPr>
            <a:r>
              <a:rPr lang="en-US" sz="1200" b="1" dirty="0">
                <a:solidFill>
                  <a:srgbClr val="FFFFFF"/>
                </a:solidFill>
              </a:rPr>
              <a:t>Apify (Google Maps)</a:t>
            </a:r>
            <a:endParaRPr lang="en-US" sz="1200" dirty="0"/>
          </a:p>
        </p:txBody>
      </p:sp>
      <p:sp>
        <p:nvSpPr>
          <p:cNvPr id="30" name="Text 27"/>
          <p:cNvSpPr txBox="1"/>
          <p:nvPr/>
        </p:nvSpPr>
        <p:spPr>
          <a:xfrm>
            <a:off x="576072" y="5724144"/>
            <a:ext cx="1956816" cy="329184"/>
          </a:xfrm>
          <a:prstGeom prst="rect">
            <a:avLst/>
          </a:prstGeom>
          <a:noFill/>
          <a:ln/>
        </p:spPr>
        <p:txBody>
          <a:bodyPr wrap="square" lIns="0" tIns="0" rIns="0" bIns="0" rtlCol="0" anchor="t"/>
          <a:lstStyle/>
          <a:p>
            <a:pPr algn="ctr" indent="0" marL="0">
              <a:buNone/>
            </a:pPr>
            <a:r>
              <a:rPr lang="en-US" sz="1000" dirty="0">
                <a:solidFill>
                  <a:srgbClr val="C9C3B3"/>
                </a:solidFill>
              </a:rPr>
              <a:t>external service</a:t>
            </a:r>
            <a:endParaRPr lang="en-US" sz="1000" dirty="0"/>
          </a:p>
        </p:txBody>
      </p:sp>
      <p:sp>
        <p:nvSpPr>
          <p:cNvPr id="31" name="Shape 28"/>
          <p:cNvSpPr/>
          <p:nvPr/>
        </p:nvSpPr>
        <p:spPr>
          <a:xfrm>
            <a:off x="2011680" y="4846320"/>
            <a:ext cx="2011680" cy="585216"/>
          </a:xfrm>
          <a:prstGeom prst="roundRect">
            <a:avLst>
              <a:gd name="adj" fmla="val 7813"/>
            </a:avLst>
          </a:prstGeom>
          <a:solidFill>
            <a:schemeClr val="bg1"/>
          </a:solidFill>
          <a:ln w="6350">
            <a:solidFill>
              <a:srgbClr val="E2DED2"/>
            </a:solidFill>
            <a:prstDash val="solid"/>
          </a:ln>
        </p:spPr>
      </p:sp>
      <p:sp>
        <p:nvSpPr>
          <p:cNvPr id="32" name="Text 29"/>
          <p:cNvSpPr txBox="1"/>
          <p:nvPr/>
        </p:nvSpPr>
        <p:spPr>
          <a:xfrm>
            <a:off x="2057400" y="4846320"/>
            <a:ext cx="1920240" cy="585216"/>
          </a:xfrm>
          <a:prstGeom prst="rect">
            <a:avLst/>
          </a:prstGeom>
          <a:noFill/>
          <a:ln/>
        </p:spPr>
        <p:txBody>
          <a:bodyPr wrap="square" lIns="0" tIns="0" rIns="0" bIns="0" rtlCol="0" anchor="ctr"/>
          <a:lstStyle/>
          <a:p>
            <a:pPr algn="l" indent="0" marL="0">
              <a:buNone/>
            </a:pPr>
            <a:r>
              <a:rPr lang="en-US" sz="1000" dirty="0">
                <a:solidFill>
                  <a:schemeClr val="tx1"/>
                </a:solidFill>
              </a:rPr>
              <a:t>▸ business listings</a:t>
            </a:r>
            <a:endParaRPr lang="en-US" sz="1000" dirty="0"/>
          </a:p>
          <a:p>
            <a:pPr algn="l" indent="0" marL="0">
              <a:buNone/>
            </a:pPr>
            <a:r>
              <a:rPr lang="en-US" sz="1000" dirty="0">
                <a:solidFill>
                  <a:schemeClr val="tx1"/>
                </a:solidFill>
              </a:rPr>
              <a:t>◂ search (type + city)</a:t>
            </a:r>
            <a:endParaRPr lang="en-US" sz="1000" dirty="0"/>
          </a:p>
        </p:txBody>
      </p:sp>
      <p:sp>
        <p:nvSpPr>
          <p:cNvPr id="33" name="Entity Firm staff"/>
          <p:cNvSpPr/>
          <p:nvPr/>
        </p:nvSpPr>
        <p:spPr>
          <a:xfrm>
            <a:off x="9585655" y="1783080"/>
            <a:ext cx="2103120" cy="713232"/>
          </a:xfrm>
          <a:prstGeom prst="rect">
            <a:avLst/>
          </a:prstGeom>
          <a:solidFill>
            <a:srgbClr val="141416"/>
          </a:solidFill>
          <a:ln w="12700">
            <a:solidFill>
              <a:srgbClr val="141416"/>
            </a:solidFill>
            <a:prstDash val="solid"/>
          </a:ln>
        </p:spPr>
      </p:sp>
      <p:sp>
        <p:nvSpPr>
          <p:cNvPr id="34" name="Text 31"/>
          <p:cNvSpPr txBox="1"/>
          <p:nvPr/>
        </p:nvSpPr>
        <p:spPr>
          <a:xfrm>
            <a:off x="9658807" y="1837944"/>
            <a:ext cx="1956816" cy="274320"/>
          </a:xfrm>
          <a:prstGeom prst="rect">
            <a:avLst/>
          </a:prstGeom>
          <a:noFill/>
          <a:ln/>
        </p:spPr>
        <p:txBody>
          <a:bodyPr wrap="square" lIns="0" tIns="0" rIns="0" bIns="0" rtlCol="0" anchor="ctr"/>
          <a:lstStyle/>
          <a:p>
            <a:pPr algn="ctr" indent="0" marL="0">
              <a:buNone/>
            </a:pPr>
            <a:r>
              <a:rPr lang="en-US" sz="1200" b="1" dirty="0">
                <a:solidFill>
                  <a:srgbClr val="FFFFFF"/>
                </a:solidFill>
              </a:rPr>
              <a:t>Firm staff</a:t>
            </a:r>
            <a:endParaRPr lang="en-US" sz="1200" dirty="0"/>
          </a:p>
        </p:txBody>
      </p:sp>
      <p:sp>
        <p:nvSpPr>
          <p:cNvPr id="35" name="Text 32"/>
          <p:cNvSpPr txBox="1"/>
          <p:nvPr/>
        </p:nvSpPr>
        <p:spPr>
          <a:xfrm>
            <a:off x="9658807" y="2112264"/>
            <a:ext cx="1956816" cy="329184"/>
          </a:xfrm>
          <a:prstGeom prst="rect">
            <a:avLst/>
          </a:prstGeom>
          <a:noFill/>
          <a:ln/>
        </p:spPr>
        <p:txBody>
          <a:bodyPr wrap="square" lIns="0" tIns="0" rIns="0" bIns="0" rtlCol="0" anchor="t"/>
          <a:lstStyle/>
          <a:p>
            <a:pPr algn="ctr" indent="0" marL="0">
              <a:buNone/>
            </a:pPr>
            <a:r>
              <a:rPr lang="en-US" sz="1000" dirty="0">
                <a:solidFill>
                  <a:srgbClr val="C9C3B3"/>
                </a:solidFill>
              </a:rPr>
              <a:t>consultant · reviewer · approver · filing · admin</a:t>
            </a:r>
            <a:endParaRPr lang="en-US" sz="1000" dirty="0"/>
          </a:p>
        </p:txBody>
      </p:sp>
      <p:sp>
        <p:nvSpPr>
          <p:cNvPr id="36" name="Shape 33"/>
          <p:cNvSpPr/>
          <p:nvPr/>
        </p:nvSpPr>
        <p:spPr>
          <a:xfrm>
            <a:off x="7882128" y="2606040"/>
            <a:ext cx="2423160" cy="585216"/>
          </a:xfrm>
          <a:prstGeom prst="roundRect">
            <a:avLst>
              <a:gd name="adj" fmla="val 7813"/>
            </a:avLst>
          </a:prstGeom>
          <a:solidFill>
            <a:schemeClr val="bg1"/>
          </a:solidFill>
          <a:ln w="6350">
            <a:solidFill>
              <a:srgbClr val="E2DED2"/>
            </a:solidFill>
            <a:prstDash val="solid"/>
          </a:ln>
        </p:spPr>
      </p:sp>
      <p:sp>
        <p:nvSpPr>
          <p:cNvPr id="37" name="Text 34"/>
          <p:cNvSpPr txBox="1"/>
          <p:nvPr/>
        </p:nvSpPr>
        <p:spPr>
          <a:xfrm>
            <a:off x="7927848" y="2606040"/>
            <a:ext cx="2331720" cy="585216"/>
          </a:xfrm>
          <a:prstGeom prst="rect">
            <a:avLst/>
          </a:prstGeom>
          <a:noFill/>
          <a:ln/>
        </p:spPr>
        <p:txBody>
          <a:bodyPr wrap="square" lIns="0" tIns="0" rIns="0" bIns="0" rtlCol="0" anchor="ctr"/>
          <a:lstStyle/>
          <a:p>
            <a:pPr algn="l" indent="0" marL="0">
              <a:buNone/>
            </a:pPr>
            <a:r>
              <a:rPr lang="en-US" sz="1000" dirty="0">
                <a:solidFill>
                  <a:schemeClr val="tx1"/>
                </a:solidFill>
              </a:rPr>
              <a:t>▸ preparation, reviews, approvals, filing</a:t>
            </a:r>
            <a:endParaRPr lang="en-US" sz="1000" dirty="0"/>
          </a:p>
          <a:p>
            <a:pPr algn="l" indent="0" marL="0">
              <a:buNone/>
            </a:pPr>
            <a:r>
              <a:rPr lang="en-US" sz="1000" dirty="0">
                <a:solidFill>
                  <a:schemeClr val="tx1"/>
                </a:solidFill>
              </a:rPr>
              <a:t>◂ queues, inbox, dashboards, reports</a:t>
            </a:r>
            <a:endParaRPr lang="en-US" sz="1000" dirty="0"/>
          </a:p>
        </p:txBody>
      </p:sp>
      <p:sp>
        <p:nvSpPr>
          <p:cNvPr id="38" name="Entity FBR IRIS"/>
          <p:cNvSpPr/>
          <p:nvPr/>
        </p:nvSpPr>
        <p:spPr>
          <a:xfrm>
            <a:off x="9585655" y="3602736"/>
            <a:ext cx="2103120" cy="713232"/>
          </a:xfrm>
          <a:prstGeom prst="rect">
            <a:avLst/>
          </a:prstGeom>
          <a:solidFill>
            <a:srgbClr val="141416"/>
          </a:solidFill>
          <a:ln w="12700">
            <a:solidFill>
              <a:srgbClr val="141416"/>
            </a:solidFill>
            <a:prstDash val="solid"/>
          </a:ln>
        </p:spPr>
      </p:sp>
      <p:sp>
        <p:nvSpPr>
          <p:cNvPr id="39" name="Text 36"/>
          <p:cNvSpPr txBox="1"/>
          <p:nvPr/>
        </p:nvSpPr>
        <p:spPr>
          <a:xfrm>
            <a:off x="9658807" y="3657600"/>
            <a:ext cx="1956816" cy="274320"/>
          </a:xfrm>
          <a:prstGeom prst="rect">
            <a:avLst/>
          </a:prstGeom>
          <a:noFill/>
          <a:ln/>
        </p:spPr>
        <p:txBody>
          <a:bodyPr wrap="square" lIns="0" tIns="0" rIns="0" bIns="0" rtlCol="0" anchor="ctr"/>
          <a:lstStyle/>
          <a:p>
            <a:pPr algn="ctr" indent="0" marL="0">
              <a:buNone/>
            </a:pPr>
            <a:r>
              <a:rPr lang="en-US" sz="1200" b="1" dirty="0">
                <a:solidFill>
                  <a:srgbClr val="FFFFFF"/>
                </a:solidFill>
              </a:rPr>
              <a:t>FBR IRIS</a:t>
            </a:r>
            <a:endParaRPr lang="en-US" sz="1200" dirty="0"/>
          </a:p>
        </p:txBody>
      </p:sp>
      <p:sp>
        <p:nvSpPr>
          <p:cNvPr id="40" name="Text 37"/>
          <p:cNvSpPr txBox="1"/>
          <p:nvPr/>
        </p:nvSpPr>
        <p:spPr>
          <a:xfrm>
            <a:off x="9658807" y="3931920"/>
            <a:ext cx="1956816" cy="329184"/>
          </a:xfrm>
          <a:prstGeom prst="rect">
            <a:avLst/>
          </a:prstGeom>
          <a:noFill/>
          <a:ln/>
        </p:spPr>
        <p:txBody>
          <a:bodyPr wrap="square" lIns="0" tIns="0" rIns="0" bIns="0" rtlCol="0" anchor="t"/>
          <a:lstStyle/>
          <a:p>
            <a:pPr algn="ctr" indent="0" marL="0">
              <a:buNone/>
            </a:pPr>
            <a:r>
              <a:rPr lang="en-US" sz="1000" dirty="0">
                <a:solidFill>
                  <a:srgbClr val="C9C3B3"/>
                </a:solidFill>
              </a:rPr>
              <a:t>filed manually by the filing officer</a:t>
            </a:r>
            <a:endParaRPr lang="en-US" sz="1000" dirty="0"/>
          </a:p>
        </p:txBody>
      </p:sp>
      <p:sp>
        <p:nvSpPr>
          <p:cNvPr id="41" name="Shape 38"/>
          <p:cNvSpPr/>
          <p:nvPr/>
        </p:nvSpPr>
        <p:spPr>
          <a:xfrm>
            <a:off x="7589520" y="3639312"/>
            <a:ext cx="1965960" cy="585216"/>
          </a:xfrm>
          <a:prstGeom prst="roundRect">
            <a:avLst>
              <a:gd name="adj" fmla="val 7813"/>
            </a:avLst>
          </a:prstGeom>
          <a:solidFill>
            <a:schemeClr val="bg1"/>
          </a:solidFill>
          <a:ln w="6350">
            <a:solidFill>
              <a:srgbClr val="E2DED2"/>
            </a:solidFill>
            <a:prstDash val="solid"/>
          </a:ln>
        </p:spPr>
      </p:sp>
      <p:sp>
        <p:nvSpPr>
          <p:cNvPr id="42" name="Text 39"/>
          <p:cNvSpPr txBox="1"/>
          <p:nvPr/>
        </p:nvSpPr>
        <p:spPr>
          <a:xfrm>
            <a:off x="7635240" y="3639312"/>
            <a:ext cx="1874520" cy="585216"/>
          </a:xfrm>
          <a:prstGeom prst="rect">
            <a:avLst/>
          </a:prstGeom>
          <a:noFill/>
          <a:ln/>
        </p:spPr>
        <p:txBody>
          <a:bodyPr wrap="square" lIns="0" tIns="0" rIns="0" bIns="0" rtlCol="0" anchor="ctr"/>
          <a:lstStyle/>
          <a:p>
            <a:pPr algn="l" indent="0" marL="0">
              <a:buNone/>
            </a:pPr>
            <a:r>
              <a:rPr lang="en-US" sz="1000" dirty="0">
                <a:solidFill>
                  <a:schemeClr val="tx1"/>
                </a:solidFill>
              </a:rPr>
              <a:t>◂ approved return figures</a:t>
            </a:r>
            <a:endParaRPr lang="en-US" sz="1000" dirty="0"/>
          </a:p>
          <a:p>
            <a:pPr algn="l" indent="0" marL="0">
              <a:buNone/>
            </a:pPr>
            <a:r>
              <a:rPr lang="en-US" sz="1000" dirty="0">
                <a:solidFill>
                  <a:schemeClr val="tx1"/>
                </a:solidFill>
              </a:rPr>
              <a:t>▸ acknowledgment no. + receipt</a:t>
            </a:r>
            <a:endParaRPr lang="en-US" sz="1000" dirty="0"/>
          </a:p>
        </p:txBody>
      </p:sp>
      <p:sp>
        <p:nvSpPr>
          <p:cNvPr id="43" name="Entity Email server"/>
          <p:cNvSpPr/>
          <p:nvPr/>
        </p:nvSpPr>
        <p:spPr>
          <a:xfrm>
            <a:off x="9585655" y="5394960"/>
            <a:ext cx="2103120" cy="713232"/>
          </a:xfrm>
          <a:prstGeom prst="rect">
            <a:avLst/>
          </a:prstGeom>
          <a:solidFill>
            <a:srgbClr val="141416"/>
          </a:solidFill>
          <a:ln w="12700">
            <a:solidFill>
              <a:srgbClr val="141416"/>
            </a:solidFill>
            <a:prstDash val="solid"/>
          </a:ln>
        </p:spPr>
      </p:sp>
      <p:sp>
        <p:nvSpPr>
          <p:cNvPr id="44" name="Text 41"/>
          <p:cNvSpPr txBox="1"/>
          <p:nvPr/>
        </p:nvSpPr>
        <p:spPr>
          <a:xfrm>
            <a:off x="9658807" y="5449824"/>
            <a:ext cx="1956816" cy="274320"/>
          </a:xfrm>
          <a:prstGeom prst="rect">
            <a:avLst/>
          </a:prstGeom>
          <a:noFill/>
          <a:ln/>
        </p:spPr>
        <p:txBody>
          <a:bodyPr wrap="square" lIns="0" tIns="0" rIns="0" bIns="0" rtlCol="0" anchor="ctr"/>
          <a:lstStyle/>
          <a:p>
            <a:pPr algn="ctr" indent="0" marL="0">
              <a:buNone/>
            </a:pPr>
            <a:r>
              <a:rPr lang="en-US" sz="1200" b="1" dirty="0">
                <a:solidFill>
                  <a:srgbClr val="FFFFFF"/>
                </a:solidFill>
              </a:rPr>
              <a:t>Email server</a:t>
            </a:r>
            <a:endParaRPr lang="en-US" sz="1200" dirty="0"/>
          </a:p>
        </p:txBody>
      </p:sp>
      <p:sp>
        <p:nvSpPr>
          <p:cNvPr id="45" name="Text 42"/>
          <p:cNvSpPr txBox="1"/>
          <p:nvPr/>
        </p:nvSpPr>
        <p:spPr>
          <a:xfrm>
            <a:off x="9658807" y="5724144"/>
            <a:ext cx="1956816" cy="329184"/>
          </a:xfrm>
          <a:prstGeom prst="rect">
            <a:avLst/>
          </a:prstGeom>
          <a:noFill/>
          <a:ln/>
        </p:spPr>
        <p:txBody>
          <a:bodyPr wrap="square" lIns="0" tIns="0" rIns="0" bIns="0" rtlCol="0" anchor="t"/>
          <a:lstStyle/>
          <a:p>
            <a:pPr algn="ctr" indent="0" marL="0">
              <a:buNone/>
            </a:pPr>
            <a:r>
              <a:rPr lang="en-US" sz="1000" dirty="0">
                <a:solidFill>
                  <a:srgbClr val="C9C3B3"/>
                </a:solidFill>
              </a:rPr>
              <a:t>outgoing SMTP</a:t>
            </a:r>
            <a:endParaRPr lang="en-US" sz="1000" dirty="0"/>
          </a:p>
        </p:txBody>
      </p:sp>
      <p:sp>
        <p:nvSpPr>
          <p:cNvPr id="46" name="Shape 43"/>
          <p:cNvSpPr/>
          <p:nvPr/>
        </p:nvSpPr>
        <p:spPr>
          <a:xfrm>
            <a:off x="8001000" y="4846320"/>
            <a:ext cx="2148840" cy="402336"/>
          </a:xfrm>
          <a:prstGeom prst="roundRect">
            <a:avLst>
              <a:gd name="adj" fmla="val 11364"/>
            </a:avLst>
          </a:prstGeom>
          <a:solidFill>
            <a:schemeClr val="bg1"/>
          </a:solidFill>
          <a:ln w="6350">
            <a:solidFill>
              <a:srgbClr val="E2DED2"/>
            </a:solidFill>
            <a:prstDash val="solid"/>
          </a:ln>
        </p:spPr>
      </p:sp>
      <p:sp>
        <p:nvSpPr>
          <p:cNvPr id="47" name="Text 44"/>
          <p:cNvSpPr txBox="1"/>
          <p:nvPr/>
        </p:nvSpPr>
        <p:spPr>
          <a:xfrm>
            <a:off x="8046720" y="4846320"/>
            <a:ext cx="2057400" cy="402336"/>
          </a:xfrm>
          <a:prstGeom prst="rect">
            <a:avLst/>
          </a:prstGeom>
          <a:noFill/>
          <a:ln/>
        </p:spPr>
        <p:txBody>
          <a:bodyPr wrap="square" lIns="0" tIns="0" rIns="0" bIns="0" rtlCol="0" anchor="ctr"/>
          <a:lstStyle/>
          <a:p>
            <a:pPr algn="l" indent="0" marL="0">
              <a:buNone/>
            </a:pPr>
            <a:r>
              <a:rPr lang="en-US" sz="1000" dirty="0">
                <a:solidFill>
                  <a:schemeClr val="tx1"/>
                </a:solidFill>
              </a:rPr>
              <a:t>◂ notices, portal invites, reports</a:t>
            </a:r>
            <a:endParaRPr lang="en-US" sz="1000" dirty="0"/>
          </a:p>
        </p:txBody>
      </p:sp>
      <p:sp>
        <p:nvSpPr>
          <p:cNvPr id="48" name="Entity WhatsApp Cloud API"/>
          <p:cNvSpPr/>
          <p:nvPr/>
        </p:nvSpPr>
        <p:spPr>
          <a:xfrm>
            <a:off x="5042916" y="1783080"/>
            <a:ext cx="2103120" cy="713232"/>
          </a:xfrm>
          <a:prstGeom prst="rect">
            <a:avLst/>
          </a:prstGeom>
          <a:solidFill>
            <a:srgbClr val="141416"/>
          </a:solidFill>
          <a:ln w="12700">
            <a:solidFill>
              <a:srgbClr val="141416"/>
            </a:solidFill>
            <a:prstDash val="solid"/>
          </a:ln>
        </p:spPr>
      </p:sp>
      <p:sp>
        <p:nvSpPr>
          <p:cNvPr id="49" name="Text 46"/>
          <p:cNvSpPr txBox="1"/>
          <p:nvPr/>
        </p:nvSpPr>
        <p:spPr>
          <a:xfrm>
            <a:off x="5116068" y="1837944"/>
            <a:ext cx="1956816" cy="274320"/>
          </a:xfrm>
          <a:prstGeom prst="rect">
            <a:avLst/>
          </a:prstGeom>
          <a:noFill/>
          <a:ln/>
        </p:spPr>
        <p:txBody>
          <a:bodyPr wrap="square" lIns="0" tIns="0" rIns="0" bIns="0" rtlCol="0" anchor="ctr"/>
          <a:lstStyle/>
          <a:p>
            <a:pPr algn="ctr" indent="0" marL="0">
              <a:buNone/>
            </a:pPr>
            <a:r>
              <a:rPr lang="en-US" sz="1200" b="1" dirty="0">
                <a:solidFill>
                  <a:srgbClr val="FFFFFF"/>
                </a:solidFill>
              </a:rPr>
              <a:t>WhatsApp Cloud API</a:t>
            </a:r>
            <a:endParaRPr lang="en-US" sz="1200" dirty="0"/>
          </a:p>
        </p:txBody>
      </p:sp>
      <p:sp>
        <p:nvSpPr>
          <p:cNvPr id="50" name="Text 47"/>
          <p:cNvSpPr txBox="1"/>
          <p:nvPr/>
        </p:nvSpPr>
        <p:spPr>
          <a:xfrm>
            <a:off x="5116068" y="2112264"/>
            <a:ext cx="1956816" cy="329184"/>
          </a:xfrm>
          <a:prstGeom prst="rect">
            <a:avLst/>
          </a:prstGeom>
          <a:noFill/>
          <a:ln/>
        </p:spPr>
        <p:txBody>
          <a:bodyPr wrap="square" lIns="0" tIns="0" rIns="0" bIns="0" rtlCol="0" anchor="t"/>
          <a:lstStyle/>
          <a:p>
            <a:pPr algn="ctr" indent="0" marL="0">
              <a:buNone/>
            </a:pPr>
            <a:r>
              <a:rPr lang="en-US" sz="1000" dirty="0">
                <a:solidFill>
                  <a:srgbClr val="C9C3B3"/>
                </a:solidFill>
              </a:rPr>
              <a:t>Meta</a:t>
            </a:r>
            <a:endParaRPr lang="en-US" sz="1000" dirty="0"/>
          </a:p>
        </p:txBody>
      </p:sp>
      <p:sp>
        <p:nvSpPr>
          <p:cNvPr id="51" name="Shape 48"/>
          <p:cNvSpPr/>
          <p:nvPr/>
        </p:nvSpPr>
        <p:spPr>
          <a:xfrm>
            <a:off x="6204204" y="2578608"/>
            <a:ext cx="1645920" cy="585216"/>
          </a:xfrm>
          <a:prstGeom prst="roundRect">
            <a:avLst>
              <a:gd name="adj" fmla="val 7813"/>
            </a:avLst>
          </a:prstGeom>
          <a:solidFill>
            <a:schemeClr val="bg1"/>
          </a:solidFill>
          <a:ln w="6350">
            <a:solidFill>
              <a:srgbClr val="E2DED2"/>
            </a:solidFill>
            <a:prstDash val="solid"/>
          </a:ln>
        </p:spPr>
      </p:sp>
      <p:sp>
        <p:nvSpPr>
          <p:cNvPr id="52" name="Text 49"/>
          <p:cNvSpPr txBox="1"/>
          <p:nvPr/>
        </p:nvSpPr>
        <p:spPr>
          <a:xfrm>
            <a:off x="6249924" y="2578608"/>
            <a:ext cx="1554480" cy="585216"/>
          </a:xfrm>
          <a:prstGeom prst="rect">
            <a:avLst/>
          </a:prstGeom>
          <a:noFill/>
          <a:ln/>
        </p:spPr>
        <p:txBody>
          <a:bodyPr wrap="square" lIns="0" tIns="0" rIns="0" bIns="0" rtlCol="0" anchor="ctr"/>
          <a:lstStyle/>
          <a:p>
            <a:pPr algn="l" indent="0" marL="0">
              <a:buNone/>
            </a:pPr>
            <a:r>
              <a:rPr lang="en-US" sz="1000" dirty="0">
                <a:solidFill>
                  <a:schemeClr val="tx1"/>
                </a:solidFill>
              </a:rPr>
              <a:t>◂ messages, templates, codes</a:t>
            </a:r>
            <a:endParaRPr lang="en-US" sz="1000" dirty="0"/>
          </a:p>
          <a:p>
            <a:pPr algn="l" indent="0" marL="0">
              <a:buNone/>
            </a:pPr>
            <a:r>
              <a:rPr lang="en-US" sz="1000" dirty="0">
                <a:solidFill>
                  <a:schemeClr val="tx1"/>
                </a:solidFill>
              </a:rPr>
              <a:t>▸ replies, delivery status</a:t>
            </a:r>
            <a:endParaRPr lang="en-US" sz="1000" dirty="0"/>
          </a:p>
        </p:txBody>
      </p:sp>
      <p:sp>
        <p:nvSpPr>
          <p:cNvPr id="53" name="Entity SMS gateway"/>
          <p:cNvSpPr/>
          <p:nvPr/>
        </p:nvSpPr>
        <p:spPr>
          <a:xfrm>
            <a:off x="5042916" y="5394960"/>
            <a:ext cx="2103120" cy="713232"/>
          </a:xfrm>
          <a:prstGeom prst="rect">
            <a:avLst/>
          </a:prstGeom>
          <a:solidFill>
            <a:srgbClr val="141416"/>
          </a:solidFill>
          <a:ln w="12700">
            <a:solidFill>
              <a:srgbClr val="141416"/>
            </a:solidFill>
            <a:prstDash val="solid"/>
          </a:ln>
        </p:spPr>
      </p:sp>
      <p:sp>
        <p:nvSpPr>
          <p:cNvPr id="54" name="Text 51"/>
          <p:cNvSpPr txBox="1"/>
          <p:nvPr/>
        </p:nvSpPr>
        <p:spPr>
          <a:xfrm>
            <a:off x="5116068" y="5449824"/>
            <a:ext cx="1956816" cy="274320"/>
          </a:xfrm>
          <a:prstGeom prst="rect">
            <a:avLst/>
          </a:prstGeom>
          <a:noFill/>
          <a:ln/>
        </p:spPr>
        <p:txBody>
          <a:bodyPr wrap="square" lIns="0" tIns="0" rIns="0" bIns="0" rtlCol="0" anchor="ctr"/>
          <a:lstStyle/>
          <a:p>
            <a:pPr algn="ctr" indent="0" marL="0">
              <a:buNone/>
            </a:pPr>
            <a:r>
              <a:rPr lang="en-US" sz="1200" b="1" dirty="0">
                <a:solidFill>
                  <a:srgbClr val="FFFFFF"/>
                </a:solidFill>
              </a:rPr>
              <a:t>SMS gateway</a:t>
            </a:r>
            <a:endParaRPr lang="en-US" sz="1200" dirty="0"/>
          </a:p>
        </p:txBody>
      </p:sp>
      <p:sp>
        <p:nvSpPr>
          <p:cNvPr id="55" name="Text 52"/>
          <p:cNvSpPr txBox="1"/>
          <p:nvPr/>
        </p:nvSpPr>
        <p:spPr>
          <a:xfrm>
            <a:off x="5116068" y="5724144"/>
            <a:ext cx="1956816" cy="329184"/>
          </a:xfrm>
          <a:prstGeom prst="rect">
            <a:avLst/>
          </a:prstGeom>
          <a:noFill/>
          <a:ln/>
        </p:spPr>
        <p:txBody>
          <a:bodyPr wrap="square" lIns="0" tIns="0" rIns="0" bIns="0" rtlCol="0" anchor="t"/>
          <a:lstStyle/>
          <a:p>
            <a:pPr algn="ctr" indent="0" marL="0">
              <a:buNone/>
            </a:pPr>
            <a:r>
              <a:rPr lang="en-US" sz="1000" dirty="0">
                <a:solidFill>
                  <a:srgbClr val="C9C3B3"/>
                </a:solidFill>
              </a:rPr>
              <a:t>Twilio / bulk SMS</a:t>
            </a:r>
            <a:endParaRPr lang="en-US" sz="1000" dirty="0"/>
          </a:p>
        </p:txBody>
      </p:sp>
      <p:sp>
        <p:nvSpPr>
          <p:cNvPr id="56" name="Shape 53"/>
          <p:cNvSpPr/>
          <p:nvPr/>
        </p:nvSpPr>
        <p:spPr>
          <a:xfrm>
            <a:off x="6204204" y="4754880"/>
            <a:ext cx="1645920" cy="402336"/>
          </a:xfrm>
          <a:prstGeom prst="roundRect">
            <a:avLst>
              <a:gd name="adj" fmla="val 11364"/>
            </a:avLst>
          </a:prstGeom>
          <a:solidFill>
            <a:schemeClr val="bg1"/>
          </a:solidFill>
          <a:ln w="6350">
            <a:solidFill>
              <a:srgbClr val="E2DED2"/>
            </a:solidFill>
            <a:prstDash val="solid"/>
          </a:ln>
        </p:spPr>
      </p:sp>
      <p:sp>
        <p:nvSpPr>
          <p:cNvPr id="57" name="Text 54"/>
          <p:cNvSpPr txBox="1"/>
          <p:nvPr/>
        </p:nvSpPr>
        <p:spPr>
          <a:xfrm>
            <a:off x="6249924" y="4754880"/>
            <a:ext cx="1554480" cy="402336"/>
          </a:xfrm>
          <a:prstGeom prst="rect">
            <a:avLst/>
          </a:prstGeom>
          <a:noFill/>
          <a:ln/>
        </p:spPr>
        <p:txBody>
          <a:bodyPr wrap="square" lIns="0" tIns="0" rIns="0" bIns="0" rtlCol="0" anchor="ctr"/>
          <a:lstStyle/>
          <a:p>
            <a:pPr algn="l" indent="0" marL="0">
              <a:buNone/>
            </a:pPr>
            <a:r>
              <a:rPr lang="en-US" sz="1000" dirty="0">
                <a:solidFill>
                  <a:schemeClr val="tx1"/>
                </a:solidFill>
              </a:rPr>
              <a:t>◂ verification codes (backup)</a:t>
            </a:r>
            <a:endParaRPr lang="en-US" sz="1000" dirty="0"/>
          </a:p>
        </p:txBody>
      </p:sp>
      <p:sp>
        <p:nvSpPr>
          <p:cNvPr id="58" name="Text 55"/>
          <p:cNvSpPr txBox="1"/>
          <p:nvPr/>
        </p:nvSpPr>
        <p:spPr>
          <a:xfrm>
            <a:off x="502920" y="6199632"/>
            <a:ext cx="4572000" cy="228600"/>
          </a:xfrm>
          <a:prstGeom prst="rect">
            <a:avLst/>
          </a:prstGeom>
          <a:noFill/>
          <a:ln/>
        </p:spPr>
        <p:txBody>
          <a:bodyPr wrap="square" lIns="0" tIns="0" rIns="0" bIns="0" rtlCol="0" anchor="t"/>
          <a:lstStyle/>
          <a:p>
            <a:pPr indent="0" marL="0">
              <a:buNone/>
            </a:pPr>
            <a:r>
              <a:rPr lang="en-US" sz="1000" dirty="0">
                <a:solidFill>
                  <a:srgbClr val="5F6470"/>
                </a:solidFill>
              </a:rPr>
              <a:t>▸ into the portal   ◂ out of the portal</a:t>
            </a:r>
            <a:endParaRPr lang="en-US" sz="10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DFD LEVEL 1  ·  PROCESSES &amp; DATA STORES</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Inside the portal: nine processes, eight data stores</a:t>
            </a:r>
            <a:endParaRPr lang="en-US" sz="2800" dirty="0"/>
          </a:p>
        </p:txBody>
      </p:sp>
      <p:sp>
        <p:nvSpPr>
          <p:cNvPr id="5" name="Entity Prospect · Apify"/>
          <p:cNvSpPr/>
          <p:nvPr/>
        </p:nvSpPr>
        <p:spPr>
          <a:xfrm>
            <a:off x="502920" y="1280160"/>
            <a:ext cx="1417320" cy="457200"/>
          </a:xfrm>
          <a:prstGeom prst="rect">
            <a:avLst/>
          </a:prstGeom>
          <a:solidFill>
            <a:srgbClr val="141416"/>
          </a:solidFill>
          <a:ln w="12700">
            <a:solidFill>
              <a:srgbClr val="141416"/>
            </a:solidFill>
            <a:prstDash val="solid"/>
          </a:ln>
        </p:spPr>
      </p:sp>
      <p:sp>
        <p:nvSpPr>
          <p:cNvPr id="6" name="Text 3"/>
          <p:cNvSpPr txBox="1"/>
          <p:nvPr/>
        </p:nvSpPr>
        <p:spPr>
          <a:xfrm>
            <a:off x="576072" y="1280160"/>
            <a:ext cx="1271016" cy="457200"/>
          </a:xfrm>
          <a:prstGeom prst="rect">
            <a:avLst/>
          </a:prstGeom>
          <a:noFill/>
          <a:ln/>
        </p:spPr>
        <p:txBody>
          <a:bodyPr wrap="square" lIns="0" tIns="0" rIns="0" bIns="0" rtlCol="0" anchor="ctr"/>
          <a:lstStyle/>
          <a:p>
            <a:pPr algn="ctr" indent="0" marL="0">
              <a:buNone/>
            </a:pPr>
            <a:r>
              <a:rPr lang="en-US" sz="1200" b="1" dirty="0">
                <a:solidFill>
                  <a:srgbClr val="FFFFFF"/>
                </a:solidFill>
              </a:rPr>
              <a:t>Prospect · Apify</a:t>
            </a:r>
            <a:endParaRPr lang="en-US" sz="1200" dirty="0"/>
          </a:p>
        </p:txBody>
      </p:sp>
      <p:sp>
        <p:nvSpPr>
          <p:cNvPr id="7" name="Entity Client (taxpayer)"/>
          <p:cNvSpPr/>
          <p:nvPr/>
        </p:nvSpPr>
        <p:spPr>
          <a:xfrm>
            <a:off x="2131009" y="1280160"/>
            <a:ext cx="4673498" cy="457200"/>
          </a:xfrm>
          <a:prstGeom prst="rect">
            <a:avLst/>
          </a:prstGeom>
          <a:solidFill>
            <a:srgbClr val="141416"/>
          </a:solidFill>
          <a:ln w="12700">
            <a:solidFill>
              <a:srgbClr val="141416"/>
            </a:solidFill>
            <a:prstDash val="solid"/>
          </a:ln>
        </p:spPr>
      </p:sp>
      <p:sp>
        <p:nvSpPr>
          <p:cNvPr id="8" name="Text 5"/>
          <p:cNvSpPr txBox="1"/>
          <p:nvPr/>
        </p:nvSpPr>
        <p:spPr>
          <a:xfrm>
            <a:off x="2204161" y="1280160"/>
            <a:ext cx="4527194" cy="457200"/>
          </a:xfrm>
          <a:prstGeom prst="rect">
            <a:avLst/>
          </a:prstGeom>
          <a:noFill/>
          <a:ln/>
        </p:spPr>
        <p:txBody>
          <a:bodyPr wrap="square" lIns="0" tIns="0" rIns="0" bIns="0" rtlCol="0" anchor="ctr"/>
          <a:lstStyle/>
          <a:p>
            <a:pPr algn="ctr" indent="0" marL="0">
              <a:buNone/>
            </a:pPr>
            <a:r>
              <a:rPr lang="en-US" sz="1200" b="1" dirty="0">
                <a:solidFill>
                  <a:srgbClr val="FFFFFF"/>
                </a:solidFill>
              </a:rPr>
              <a:t>Client (taxpayer)</a:t>
            </a:r>
            <a:endParaRPr lang="en-US" sz="1200" dirty="0"/>
          </a:p>
        </p:txBody>
      </p:sp>
      <p:sp>
        <p:nvSpPr>
          <p:cNvPr id="9" name="Entity Firm staff"/>
          <p:cNvSpPr/>
          <p:nvPr/>
        </p:nvSpPr>
        <p:spPr>
          <a:xfrm>
            <a:off x="7015277" y="1280160"/>
            <a:ext cx="3045409" cy="457200"/>
          </a:xfrm>
          <a:prstGeom prst="rect">
            <a:avLst/>
          </a:prstGeom>
          <a:solidFill>
            <a:srgbClr val="141416"/>
          </a:solidFill>
          <a:ln w="12700">
            <a:solidFill>
              <a:srgbClr val="141416"/>
            </a:solidFill>
            <a:prstDash val="solid"/>
          </a:ln>
        </p:spPr>
      </p:sp>
      <p:sp>
        <p:nvSpPr>
          <p:cNvPr id="10" name="Text 7"/>
          <p:cNvSpPr txBox="1"/>
          <p:nvPr/>
        </p:nvSpPr>
        <p:spPr>
          <a:xfrm>
            <a:off x="7088429" y="1280160"/>
            <a:ext cx="2899105" cy="457200"/>
          </a:xfrm>
          <a:prstGeom prst="rect">
            <a:avLst/>
          </a:prstGeom>
          <a:noFill/>
          <a:ln/>
        </p:spPr>
        <p:txBody>
          <a:bodyPr wrap="square" lIns="0" tIns="0" rIns="0" bIns="0" rtlCol="0" anchor="ctr"/>
          <a:lstStyle/>
          <a:p>
            <a:pPr algn="ctr" indent="0" marL="0">
              <a:buNone/>
            </a:pPr>
            <a:r>
              <a:rPr lang="en-US" sz="1200" b="1" dirty="0">
                <a:solidFill>
                  <a:srgbClr val="FFFFFF"/>
                </a:solidFill>
              </a:rPr>
              <a:t>Firm staff</a:t>
            </a:r>
            <a:endParaRPr lang="en-US" sz="1200" dirty="0"/>
          </a:p>
        </p:txBody>
      </p:sp>
      <p:sp>
        <p:nvSpPr>
          <p:cNvPr id="11" name="Entity FBR IRIS"/>
          <p:cNvSpPr/>
          <p:nvPr/>
        </p:nvSpPr>
        <p:spPr>
          <a:xfrm>
            <a:off x="10271455" y="1280160"/>
            <a:ext cx="1417320" cy="457200"/>
          </a:xfrm>
          <a:prstGeom prst="rect">
            <a:avLst/>
          </a:prstGeom>
          <a:solidFill>
            <a:srgbClr val="141416"/>
          </a:solidFill>
          <a:ln w="12700">
            <a:solidFill>
              <a:srgbClr val="141416"/>
            </a:solidFill>
            <a:prstDash val="solid"/>
          </a:ln>
        </p:spPr>
      </p:sp>
      <p:sp>
        <p:nvSpPr>
          <p:cNvPr id="12" name="Text 9"/>
          <p:cNvSpPr txBox="1"/>
          <p:nvPr/>
        </p:nvSpPr>
        <p:spPr>
          <a:xfrm>
            <a:off x="10344607" y="1280160"/>
            <a:ext cx="1271016" cy="457200"/>
          </a:xfrm>
          <a:prstGeom prst="rect">
            <a:avLst/>
          </a:prstGeom>
          <a:noFill/>
          <a:ln/>
        </p:spPr>
        <p:txBody>
          <a:bodyPr wrap="square" lIns="0" tIns="0" rIns="0" bIns="0" rtlCol="0" anchor="ctr"/>
          <a:lstStyle/>
          <a:p>
            <a:pPr algn="ctr" indent="0" marL="0">
              <a:buNone/>
            </a:pPr>
            <a:r>
              <a:rPr lang="en-US" sz="1200" b="1" dirty="0">
                <a:solidFill>
                  <a:srgbClr val="FFFFFF"/>
                </a:solidFill>
              </a:rPr>
              <a:t>FBR IRIS</a:t>
            </a:r>
            <a:endParaRPr lang="en-US" sz="1200" dirty="0"/>
          </a:p>
        </p:txBody>
      </p:sp>
      <p:sp>
        <p:nvSpPr>
          <p:cNvPr id="13" name="Shape 10"/>
          <p:cNvSpPr/>
          <p:nvPr/>
        </p:nvSpPr>
        <p:spPr>
          <a:xfrm>
            <a:off x="1211580" y="1737360"/>
            <a:ext cx="0" cy="594360"/>
          </a:xfrm>
          <a:prstGeom prst="line">
            <a:avLst/>
          </a:prstGeom>
          <a:noFill/>
          <a:ln w="15875">
            <a:solidFill>
              <a:srgbClr val="A8811F"/>
            </a:solidFill>
            <a:prstDash val="solid"/>
            <a:tailEnd type="triangle"/>
          </a:ln>
        </p:spPr>
      </p:sp>
      <p:sp>
        <p:nvSpPr>
          <p:cNvPr id="14" name="Text 11"/>
          <p:cNvSpPr txBox="1"/>
          <p:nvPr/>
        </p:nvSpPr>
        <p:spPr>
          <a:xfrm>
            <a:off x="1266444" y="1801368"/>
            <a:ext cx="882853" cy="457200"/>
          </a:xfrm>
          <a:prstGeom prst="rect">
            <a:avLst/>
          </a:prstGeom>
          <a:noFill/>
          <a:ln/>
        </p:spPr>
        <p:txBody>
          <a:bodyPr wrap="square" lIns="0" tIns="0" rIns="0" bIns="0" rtlCol="0" anchor="t"/>
          <a:lstStyle/>
          <a:p>
            <a:pPr indent="0" marL="0">
              <a:buNone/>
            </a:pPr>
            <a:r>
              <a:rPr lang="en-US" sz="900" dirty="0">
                <a:solidFill>
                  <a:srgbClr val="5F6470"/>
                </a:solidFill>
              </a:rPr>
              <a:t>enquiry · listings</a:t>
            </a:r>
            <a:endParaRPr lang="en-US" sz="900" dirty="0"/>
          </a:p>
        </p:txBody>
      </p:sp>
      <p:sp>
        <p:nvSpPr>
          <p:cNvPr id="15" name="Shape 12"/>
          <p:cNvSpPr/>
          <p:nvPr/>
        </p:nvSpPr>
        <p:spPr>
          <a:xfrm>
            <a:off x="2839669" y="1737360"/>
            <a:ext cx="0" cy="594360"/>
          </a:xfrm>
          <a:prstGeom prst="line">
            <a:avLst/>
          </a:prstGeom>
          <a:noFill/>
          <a:ln w="15875">
            <a:solidFill>
              <a:srgbClr val="A8811F"/>
            </a:solidFill>
            <a:prstDash val="solid"/>
            <a:tailEnd type="triangle"/>
          </a:ln>
        </p:spPr>
      </p:sp>
      <p:sp>
        <p:nvSpPr>
          <p:cNvPr id="16" name="Text 13"/>
          <p:cNvSpPr txBox="1"/>
          <p:nvPr/>
        </p:nvSpPr>
        <p:spPr>
          <a:xfrm>
            <a:off x="2894533" y="1801368"/>
            <a:ext cx="882853" cy="457200"/>
          </a:xfrm>
          <a:prstGeom prst="rect">
            <a:avLst/>
          </a:prstGeom>
          <a:noFill/>
          <a:ln/>
        </p:spPr>
        <p:txBody>
          <a:bodyPr wrap="square" lIns="0" tIns="0" rIns="0" bIns="0" rtlCol="0" anchor="t"/>
          <a:lstStyle/>
          <a:p>
            <a:pPr indent="0" marL="0">
              <a:buNone/>
            </a:pPr>
            <a:r>
              <a:rPr lang="en-US" sz="900" dirty="0">
                <a:solidFill>
                  <a:srgbClr val="5F6470"/>
                </a:solidFill>
              </a:rPr>
              <a:t>sign-up · code</a:t>
            </a:r>
            <a:endParaRPr lang="en-US" sz="900" dirty="0"/>
          </a:p>
        </p:txBody>
      </p:sp>
      <p:sp>
        <p:nvSpPr>
          <p:cNvPr id="17" name="Shape 14"/>
          <p:cNvSpPr/>
          <p:nvPr/>
        </p:nvSpPr>
        <p:spPr>
          <a:xfrm>
            <a:off x="4467758" y="1737360"/>
            <a:ext cx="0" cy="594360"/>
          </a:xfrm>
          <a:prstGeom prst="line">
            <a:avLst/>
          </a:prstGeom>
          <a:noFill/>
          <a:ln w="15875">
            <a:solidFill>
              <a:srgbClr val="A8811F"/>
            </a:solidFill>
            <a:prstDash val="solid"/>
            <a:tailEnd type="triangle"/>
          </a:ln>
        </p:spPr>
      </p:sp>
      <p:sp>
        <p:nvSpPr>
          <p:cNvPr id="18" name="Text 15"/>
          <p:cNvSpPr txBox="1"/>
          <p:nvPr/>
        </p:nvSpPr>
        <p:spPr>
          <a:xfrm>
            <a:off x="4522622" y="1801368"/>
            <a:ext cx="882853" cy="457200"/>
          </a:xfrm>
          <a:prstGeom prst="rect">
            <a:avLst/>
          </a:prstGeom>
          <a:noFill/>
          <a:ln/>
        </p:spPr>
        <p:txBody>
          <a:bodyPr wrap="square" lIns="0" tIns="0" rIns="0" bIns="0" rtlCol="0" anchor="t"/>
          <a:lstStyle/>
          <a:p>
            <a:pPr indent="0" marL="0">
              <a:buNone/>
            </a:pPr>
            <a:r>
              <a:rPr lang="en-US" sz="900" dirty="0">
                <a:solidFill>
                  <a:srgbClr val="5F6470"/>
                </a:solidFill>
              </a:rPr>
              <a:t>package · fee proof</a:t>
            </a:r>
            <a:endParaRPr lang="en-US" sz="900" dirty="0"/>
          </a:p>
        </p:txBody>
      </p:sp>
      <p:sp>
        <p:nvSpPr>
          <p:cNvPr id="19" name="Shape 16"/>
          <p:cNvSpPr/>
          <p:nvPr/>
        </p:nvSpPr>
        <p:spPr>
          <a:xfrm>
            <a:off x="6095848" y="1737360"/>
            <a:ext cx="0" cy="594360"/>
          </a:xfrm>
          <a:prstGeom prst="line">
            <a:avLst/>
          </a:prstGeom>
          <a:noFill/>
          <a:ln w="15875">
            <a:solidFill>
              <a:srgbClr val="A8811F"/>
            </a:solidFill>
            <a:prstDash val="solid"/>
            <a:tailEnd type="triangle"/>
          </a:ln>
        </p:spPr>
      </p:sp>
      <p:sp>
        <p:nvSpPr>
          <p:cNvPr id="20" name="Text 17"/>
          <p:cNvSpPr txBox="1"/>
          <p:nvPr/>
        </p:nvSpPr>
        <p:spPr>
          <a:xfrm>
            <a:off x="6150712" y="1801368"/>
            <a:ext cx="882853" cy="457200"/>
          </a:xfrm>
          <a:prstGeom prst="rect">
            <a:avLst/>
          </a:prstGeom>
          <a:noFill/>
          <a:ln/>
        </p:spPr>
        <p:txBody>
          <a:bodyPr wrap="square" lIns="0" tIns="0" rIns="0" bIns="0" rtlCol="0" anchor="t"/>
          <a:lstStyle/>
          <a:p>
            <a:pPr indent="0" marL="0">
              <a:buNone/>
            </a:pPr>
            <a:r>
              <a:rPr lang="en-US" sz="900" dirty="0">
                <a:solidFill>
                  <a:srgbClr val="5F6470"/>
                </a:solidFill>
              </a:rPr>
              <a:t>answers · uploads</a:t>
            </a:r>
            <a:endParaRPr lang="en-US" sz="900" dirty="0"/>
          </a:p>
        </p:txBody>
      </p:sp>
      <p:sp>
        <p:nvSpPr>
          <p:cNvPr id="21" name="Shape 18"/>
          <p:cNvSpPr/>
          <p:nvPr/>
        </p:nvSpPr>
        <p:spPr>
          <a:xfrm>
            <a:off x="7723937" y="1737360"/>
            <a:ext cx="0" cy="594360"/>
          </a:xfrm>
          <a:prstGeom prst="line">
            <a:avLst/>
          </a:prstGeom>
          <a:noFill/>
          <a:ln w="15875">
            <a:solidFill>
              <a:srgbClr val="A8811F"/>
            </a:solidFill>
            <a:prstDash val="solid"/>
            <a:tailEnd type="triangle"/>
          </a:ln>
        </p:spPr>
      </p:sp>
      <p:sp>
        <p:nvSpPr>
          <p:cNvPr id="22" name="Text 19"/>
          <p:cNvSpPr txBox="1"/>
          <p:nvPr/>
        </p:nvSpPr>
        <p:spPr>
          <a:xfrm>
            <a:off x="7778801" y="1801368"/>
            <a:ext cx="882853" cy="457200"/>
          </a:xfrm>
          <a:prstGeom prst="rect">
            <a:avLst/>
          </a:prstGeom>
          <a:noFill/>
          <a:ln/>
        </p:spPr>
        <p:txBody>
          <a:bodyPr wrap="square" lIns="0" tIns="0" rIns="0" bIns="0" rtlCol="0" anchor="t"/>
          <a:lstStyle/>
          <a:p>
            <a:pPr indent="0" marL="0">
              <a:buNone/>
            </a:pPr>
            <a:r>
              <a:rPr lang="en-US" sz="900" dirty="0">
                <a:solidFill>
                  <a:srgbClr val="5F6470"/>
                </a:solidFill>
              </a:rPr>
              <a:t>line entries</a:t>
            </a:r>
            <a:endParaRPr lang="en-US" sz="900" dirty="0"/>
          </a:p>
        </p:txBody>
      </p:sp>
      <p:sp>
        <p:nvSpPr>
          <p:cNvPr id="23" name="Shape 20"/>
          <p:cNvSpPr/>
          <p:nvPr/>
        </p:nvSpPr>
        <p:spPr>
          <a:xfrm>
            <a:off x="9352026" y="1737360"/>
            <a:ext cx="0" cy="594360"/>
          </a:xfrm>
          <a:prstGeom prst="line">
            <a:avLst/>
          </a:prstGeom>
          <a:noFill/>
          <a:ln w="15875">
            <a:solidFill>
              <a:srgbClr val="A8811F"/>
            </a:solidFill>
            <a:prstDash val="solid"/>
            <a:headEnd type="triangle"/>
            <a:tailEnd type="triangle"/>
          </a:ln>
        </p:spPr>
      </p:sp>
      <p:sp>
        <p:nvSpPr>
          <p:cNvPr id="24" name="Text 21"/>
          <p:cNvSpPr txBox="1"/>
          <p:nvPr/>
        </p:nvSpPr>
        <p:spPr>
          <a:xfrm>
            <a:off x="9406890" y="1801368"/>
            <a:ext cx="882853" cy="457200"/>
          </a:xfrm>
          <a:prstGeom prst="rect">
            <a:avLst/>
          </a:prstGeom>
          <a:noFill/>
          <a:ln/>
        </p:spPr>
        <p:txBody>
          <a:bodyPr wrap="square" lIns="0" tIns="0" rIns="0" bIns="0" rtlCol="0" anchor="t"/>
          <a:lstStyle/>
          <a:p>
            <a:pPr indent="0" marL="0">
              <a:buNone/>
            </a:pPr>
            <a:r>
              <a:rPr lang="en-US" sz="900" dirty="0">
                <a:solidFill>
                  <a:srgbClr val="5F6470"/>
                </a:solidFill>
              </a:rPr>
              <a:t>review · approve</a:t>
            </a:r>
            <a:endParaRPr lang="en-US" sz="900" dirty="0"/>
          </a:p>
        </p:txBody>
      </p:sp>
      <p:sp>
        <p:nvSpPr>
          <p:cNvPr id="25" name="Shape 22"/>
          <p:cNvSpPr/>
          <p:nvPr/>
        </p:nvSpPr>
        <p:spPr>
          <a:xfrm>
            <a:off x="10980115" y="1737360"/>
            <a:ext cx="0" cy="594360"/>
          </a:xfrm>
          <a:prstGeom prst="line">
            <a:avLst/>
          </a:prstGeom>
          <a:noFill/>
          <a:ln w="15875">
            <a:solidFill>
              <a:srgbClr val="A8811F"/>
            </a:solidFill>
            <a:prstDash val="solid"/>
            <a:headEnd type="triangle"/>
            <a:tailEnd type="triangle"/>
          </a:ln>
        </p:spPr>
      </p:sp>
      <p:sp>
        <p:nvSpPr>
          <p:cNvPr id="26" name="Text 23"/>
          <p:cNvSpPr txBox="1"/>
          <p:nvPr/>
        </p:nvSpPr>
        <p:spPr>
          <a:xfrm>
            <a:off x="11034979" y="1801368"/>
            <a:ext cx="882853" cy="457200"/>
          </a:xfrm>
          <a:prstGeom prst="rect">
            <a:avLst/>
          </a:prstGeom>
          <a:noFill/>
          <a:ln/>
        </p:spPr>
        <p:txBody>
          <a:bodyPr wrap="square" lIns="0" tIns="0" rIns="0" bIns="0" rtlCol="0" anchor="t"/>
          <a:lstStyle/>
          <a:p>
            <a:pPr indent="0" marL="0">
              <a:buNone/>
            </a:pPr>
            <a:r>
              <a:rPr lang="en-US" sz="900" dirty="0">
                <a:solidFill>
                  <a:srgbClr val="5F6470"/>
                </a:solidFill>
              </a:rPr>
              <a:t>ack no. · receipt</a:t>
            </a:r>
            <a:endParaRPr lang="en-US" sz="900" dirty="0"/>
          </a:p>
        </p:txBody>
      </p:sp>
      <p:sp>
        <p:nvSpPr>
          <p:cNvPr id="27" name="Process 1.0"/>
          <p:cNvSpPr/>
          <p:nvPr/>
        </p:nvSpPr>
        <p:spPr>
          <a:xfrm>
            <a:off x="502920" y="2331720"/>
            <a:ext cx="1417320" cy="868680"/>
          </a:xfrm>
          <a:prstGeom prst="roundRect">
            <a:avLst>
              <a:gd name="adj" fmla="val 12632"/>
            </a:avLst>
          </a:prstGeom>
          <a:solidFill>
            <a:schemeClr val="bg1"/>
          </a:solidFill>
          <a:ln w="19050">
            <a:solidFill>
              <a:srgbClr val="A8811F"/>
            </a:solidFill>
            <a:prstDash val="solid"/>
          </a:ln>
          <a:effectLst>
            <a:outerShdw sx="100000" sy="100000" kx="0" ky="0" algn="bl" rotWithShape="0" blurRad="76200" dist="25400" dir="5400000">
              <a:srgbClr val="141416">
                <a:alpha val="10000"/>
              </a:srgbClr>
            </a:outerShdw>
          </a:effectLst>
        </p:spPr>
      </p:sp>
      <p:sp>
        <p:nvSpPr>
          <p:cNvPr id="28" name="Shape 25"/>
          <p:cNvSpPr/>
          <p:nvPr/>
        </p:nvSpPr>
        <p:spPr>
          <a:xfrm>
            <a:off x="576072" y="2606040"/>
            <a:ext cx="1271016" cy="0"/>
          </a:xfrm>
          <a:prstGeom prst="line">
            <a:avLst/>
          </a:prstGeom>
          <a:noFill/>
          <a:ln w="9525">
            <a:solidFill>
              <a:srgbClr val="D4AF37"/>
            </a:solidFill>
            <a:prstDash val="solid"/>
          </a:ln>
        </p:spPr>
      </p:sp>
      <p:sp>
        <p:nvSpPr>
          <p:cNvPr id="29" name="Text 26"/>
          <p:cNvSpPr txBox="1"/>
          <p:nvPr/>
        </p:nvSpPr>
        <p:spPr>
          <a:xfrm>
            <a:off x="502920" y="2368296"/>
            <a:ext cx="1417320" cy="237744"/>
          </a:xfrm>
          <a:prstGeom prst="rect">
            <a:avLst/>
          </a:prstGeom>
          <a:noFill/>
          <a:ln/>
        </p:spPr>
        <p:txBody>
          <a:bodyPr wrap="square" lIns="0" tIns="0" rIns="0" bIns="0" rtlCol="0" anchor="ctr"/>
          <a:lstStyle/>
          <a:p>
            <a:pPr algn="ctr" indent="0" marL="0">
              <a:buNone/>
            </a:pPr>
            <a:r>
              <a:rPr lang="en-US" sz="1100" b="1" dirty="0">
                <a:solidFill>
                  <a:srgbClr val="A8811F"/>
                </a:solidFill>
              </a:rPr>
              <a:t>1.0</a:t>
            </a:r>
            <a:endParaRPr lang="en-US" sz="1100" dirty="0"/>
          </a:p>
        </p:txBody>
      </p:sp>
      <p:sp>
        <p:nvSpPr>
          <p:cNvPr id="30" name="Text 27"/>
          <p:cNvSpPr txBox="1"/>
          <p:nvPr/>
        </p:nvSpPr>
        <p:spPr>
          <a:xfrm>
            <a:off x="557784" y="2642616"/>
            <a:ext cx="1307592" cy="521208"/>
          </a:xfrm>
          <a:prstGeom prst="rect">
            <a:avLst/>
          </a:prstGeom>
          <a:noFill/>
          <a:ln/>
        </p:spPr>
        <p:txBody>
          <a:bodyPr wrap="square" lIns="0" tIns="0" rIns="0" bIns="0" rtlCol="0" anchor="ctr"/>
          <a:lstStyle/>
          <a:p>
            <a:pPr algn="ctr" indent="0" marL="0">
              <a:buNone/>
            </a:pPr>
            <a:r>
              <a:rPr lang="en-US" sz="1100" b="1" dirty="0">
                <a:solidFill>
                  <a:schemeClr val="tx2"/>
                </a:solidFill>
              </a:rPr>
              <a:t>Capture &amp; convert leads</a:t>
            </a:r>
            <a:endParaRPr lang="en-US" sz="1100" dirty="0"/>
          </a:p>
        </p:txBody>
      </p:sp>
      <p:sp>
        <p:nvSpPr>
          <p:cNvPr id="31" name="Process 2.0"/>
          <p:cNvSpPr/>
          <p:nvPr/>
        </p:nvSpPr>
        <p:spPr>
          <a:xfrm>
            <a:off x="2131009" y="2331720"/>
            <a:ext cx="1417320" cy="868680"/>
          </a:xfrm>
          <a:prstGeom prst="roundRect">
            <a:avLst>
              <a:gd name="adj" fmla="val 12632"/>
            </a:avLst>
          </a:prstGeom>
          <a:solidFill>
            <a:schemeClr val="bg1"/>
          </a:solidFill>
          <a:ln w="19050">
            <a:solidFill>
              <a:srgbClr val="A8811F"/>
            </a:solidFill>
            <a:prstDash val="solid"/>
          </a:ln>
          <a:effectLst>
            <a:outerShdw sx="100000" sy="100000" kx="0" ky="0" algn="bl" rotWithShape="0" blurRad="76200" dist="25400" dir="5400000">
              <a:srgbClr val="141416">
                <a:alpha val="10000"/>
              </a:srgbClr>
            </a:outerShdw>
          </a:effectLst>
        </p:spPr>
      </p:sp>
      <p:sp>
        <p:nvSpPr>
          <p:cNvPr id="32" name="Shape 29"/>
          <p:cNvSpPr/>
          <p:nvPr/>
        </p:nvSpPr>
        <p:spPr>
          <a:xfrm>
            <a:off x="2204161" y="2606040"/>
            <a:ext cx="1271016" cy="0"/>
          </a:xfrm>
          <a:prstGeom prst="line">
            <a:avLst/>
          </a:prstGeom>
          <a:noFill/>
          <a:ln w="9525">
            <a:solidFill>
              <a:srgbClr val="D4AF37"/>
            </a:solidFill>
            <a:prstDash val="solid"/>
          </a:ln>
        </p:spPr>
      </p:sp>
      <p:sp>
        <p:nvSpPr>
          <p:cNvPr id="33" name="Text 30"/>
          <p:cNvSpPr txBox="1"/>
          <p:nvPr/>
        </p:nvSpPr>
        <p:spPr>
          <a:xfrm>
            <a:off x="2131009" y="2368296"/>
            <a:ext cx="1417320" cy="237744"/>
          </a:xfrm>
          <a:prstGeom prst="rect">
            <a:avLst/>
          </a:prstGeom>
          <a:noFill/>
          <a:ln/>
        </p:spPr>
        <p:txBody>
          <a:bodyPr wrap="square" lIns="0" tIns="0" rIns="0" bIns="0" rtlCol="0" anchor="ctr"/>
          <a:lstStyle/>
          <a:p>
            <a:pPr algn="ctr" indent="0" marL="0">
              <a:buNone/>
            </a:pPr>
            <a:r>
              <a:rPr lang="en-US" sz="1100" b="1" dirty="0">
                <a:solidFill>
                  <a:srgbClr val="A8811F"/>
                </a:solidFill>
              </a:rPr>
              <a:t>2.0</a:t>
            </a:r>
            <a:endParaRPr lang="en-US" sz="1100" dirty="0"/>
          </a:p>
        </p:txBody>
      </p:sp>
      <p:sp>
        <p:nvSpPr>
          <p:cNvPr id="34" name="Text 31"/>
          <p:cNvSpPr txBox="1"/>
          <p:nvPr/>
        </p:nvSpPr>
        <p:spPr>
          <a:xfrm>
            <a:off x="2185873" y="2642616"/>
            <a:ext cx="1307592" cy="521208"/>
          </a:xfrm>
          <a:prstGeom prst="rect">
            <a:avLst/>
          </a:prstGeom>
          <a:noFill/>
          <a:ln/>
        </p:spPr>
        <p:txBody>
          <a:bodyPr wrap="square" lIns="0" tIns="0" rIns="0" bIns="0" rtlCol="0" anchor="ctr"/>
          <a:lstStyle/>
          <a:p>
            <a:pPr algn="ctr" indent="0" marL="0">
              <a:buNone/>
            </a:pPr>
            <a:r>
              <a:rPr lang="en-US" sz="1100" b="1" dirty="0">
                <a:solidFill>
                  <a:schemeClr val="tx2"/>
                </a:solidFill>
              </a:rPr>
              <a:t>Onboard &amp; verify client</a:t>
            </a:r>
            <a:endParaRPr lang="en-US" sz="1100" dirty="0"/>
          </a:p>
        </p:txBody>
      </p:sp>
      <p:sp>
        <p:nvSpPr>
          <p:cNvPr id="35" name="Process 3.0"/>
          <p:cNvSpPr/>
          <p:nvPr/>
        </p:nvSpPr>
        <p:spPr>
          <a:xfrm>
            <a:off x="3759098" y="2331720"/>
            <a:ext cx="1417320" cy="868680"/>
          </a:xfrm>
          <a:prstGeom prst="roundRect">
            <a:avLst>
              <a:gd name="adj" fmla="val 12632"/>
            </a:avLst>
          </a:prstGeom>
          <a:solidFill>
            <a:schemeClr val="bg1"/>
          </a:solidFill>
          <a:ln w="19050">
            <a:solidFill>
              <a:srgbClr val="A8811F"/>
            </a:solidFill>
            <a:prstDash val="solid"/>
          </a:ln>
          <a:effectLst>
            <a:outerShdw sx="100000" sy="100000" kx="0" ky="0" algn="bl" rotWithShape="0" blurRad="76200" dist="25400" dir="5400000">
              <a:srgbClr val="141416">
                <a:alpha val="10000"/>
              </a:srgbClr>
            </a:outerShdw>
          </a:effectLst>
        </p:spPr>
      </p:sp>
      <p:sp>
        <p:nvSpPr>
          <p:cNvPr id="36" name="Shape 33"/>
          <p:cNvSpPr/>
          <p:nvPr/>
        </p:nvSpPr>
        <p:spPr>
          <a:xfrm>
            <a:off x="3832250" y="2606040"/>
            <a:ext cx="1271016" cy="0"/>
          </a:xfrm>
          <a:prstGeom prst="line">
            <a:avLst/>
          </a:prstGeom>
          <a:noFill/>
          <a:ln w="9525">
            <a:solidFill>
              <a:srgbClr val="D4AF37"/>
            </a:solidFill>
            <a:prstDash val="solid"/>
          </a:ln>
        </p:spPr>
      </p:sp>
      <p:sp>
        <p:nvSpPr>
          <p:cNvPr id="37" name="Text 34"/>
          <p:cNvSpPr txBox="1"/>
          <p:nvPr/>
        </p:nvSpPr>
        <p:spPr>
          <a:xfrm>
            <a:off x="3759098" y="2368296"/>
            <a:ext cx="1417320" cy="237744"/>
          </a:xfrm>
          <a:prstGeom prst="rect">
            <a:avLst/>
          </a:prstGeom>
          <a:noFill/>
          <a:ln/>
        </p:spPr>
        <p:txBody>
          <a:bodyPr wrap="square" lIns="0" tIns="0" rIns="0" bIns="0" rtlCol="0" anchor="ctr"/>
          <a:lstStyle/>
          <a:p>
            <a:pPr algn="ctr" indent="0" marL="0">
              <a:buNone/>
            </a:pPr>
            <a:r>
              <a:rPr lang="en-US" sz="1100" b="1" dirty="0">
                <a:solidFill>
                  <a:srgbClr val="A8811F"/>
                </a:solidFill>
              </a:rPr>
              <a:t>3.0</a:t>
            </a:r>
            <a:endParaRPr lang="en-US" sz="1100" dirty="0"/>
          </a:p>
        </p:txBody>
      </p:sp>
      <p:sp>
        <p:nvSpPr>
          <p:cNvPr id="38" name="Text 35"/>
          <p:cNvSpPr txBox="1"/>
          <p:nvPr/>
        </p:nvSpPr>
        <p:spPr>
          <a:xfrm>
            <a:off x="3813962" y="2642616"/>
            <a:ext cx="1307592" cy="521208"/>
          </a:xfrm>
          <a:prstGeom prst="rect">
            <a:avLst/>
          </a:prstGeom>
          <a:noFill/>
          <a:ln/>
        </p:spPr>
        <p:txBody>
          <a:bodyPr wrap="square" lIns="0" tIns="0" rIns="0" bIns="0" rtlCol="0" anchor="ctr"/>
          <a:lstStyle/>
          <a:p>
            <a:pPr algn="ctr" indent="0" marL="0">
              <a:buNone/>
            </a:pPr>
            <a:r>
              <a:rPr lang="en-US" sz="1100" b="1" dirty="0">
                <a:solidFill>
                  <a:schemeClr val="tx2"/>
                </a:solidFill>
              </a:rPr>
              <a:t>Engage &amp; bill</a:t>
            </a:r>
            <a:endParaRPr lang="en-US" sz="1100" dirty="0"/>
          </a:p>
        </p:txBody>
      </p:sp>
      <p:sp>
        <p:nvSpPr>
          <p:cNvPr id="39" name="Process 4.0"/>
          <p:cNvSpPr/>
          <p:nvPr/>
        </p:nvSpPr>
        <p:spPr>
          <a:xfrm>
            <a:off x="5387188" y="2331720"/>
            <a:ext cx="1417320" cy="868680"/>
          </a:xfrm>
          <a:prstGeom prst="roundRect">
            <a:avLst>
              <a:gd name="adj" fmla="val 12632"/>
            </a:avLst>
          </a:prstGeom>
          <a:solidFill>
            <a:schemeClr val="bg1"/>
          </a:solidFill>
          <a:ln w="19050">
            <a:solidFill>
              <a:srgbClr val="A8811F"/>
            </a:solidFill>
            <a:prstDash val="solid"/>
          </a:ln>
          <a:effectLst>
            <a:outerShdw sx="100000" sy="100000" kx="0" ky="0" algn="bl" rotWithShape="0" blurRad="76200" dist="25400" dir="5400000">
              <a:srgbClr val="141416">
                <a:alpha val="10000"/>
              </a:srgbClr>
            </a:outerShdw>
          </a:effectLst>
        </p:spPr>
      </p:sp>
      <p:sp>
        <p:nvSpPr>
          <p:cNvPr id="40" name="Shape 37"/>
          <p:cNvSpPr/>
          <p:nvPr/>
        </p:nvSpPr>
        <p:spPr>
          <a:xfrm>
            <a:off x="5460340" y="2606040"/>
            <a:ext cx="1271016" cy="0"/>
          </a:xfrm>
          <a:prstGeom prst="line">
            <a:avLst/>
          </a:prstGeom>
          <a:noFill/>
          <a:ln w="9525">
            <a:solidFill>
              <a:srgbClr val="D4AF37"/>
            </a:solidFill>
            <a:prstDash val="solid"/>
          </a:ln>
        </p:spPr>
      </p:sp>
      <p:sp>
        <p:nvSpPr>
          <p:cNvPr id="41" name="Text 38"/>
          <p:cNvSpPr txBox="1"/>
          <p:nvPr/>
        </p:nvSpPr>
        <p:spPr>
          <a:xfrm>
            <a:off x="5387188" y="2368296"/>
            <a:ext cx="1417320" cy="237744"/>
          </a:xfrm>
          <a:prstGeom prst="rect">
            <a:avLst/>
          </a:prstGeom>
          <a:noFill/>
          <a:ln/>
        </p:spPr>
        <p:txBody>
          <a:bodyPr wrap="square" lIns="0" tIns="0" rIns="0" bIns="0" rtlCol="0" anchor="ctr"/>
          <a:lstStyle/>
          <a:p>
            <a:pPr algn="ctr" indent="0" marL="0">
              <a:buNone/>
            </a:pPr>
            <a:r>
              <a:rPr lang="en-US" sz="1100" b="1" dirty="0">
                <a:solidFill>
                  <a:srgbClr val="A8811F"/>
                </a:solidFill>
              </a:rPr>
              <a:t>4.0</a:t>
            </a:r>
            <a:endParaRPr lang="en-US" sz="1100" dirty="0"/>
          </a:p>
        </p:txBody>
      </p:sp>
      <p:sp>
        <p:nvSpPr>
          <p:cNvPr id="42" name="Text 39"/>
          <p:cNvSpPr txBox="1"/>
          <p:nvPr/>
        </p:nvSpPr>
        <p:spPr>
          <a:xfrm>
            <a:off x="5442052" y="2642616"/>
            <a:ext cx="1307592" cy="521208"/>
          </a:xfrm>
          <a:prstGeom prst="rect">
            <a:avLst/>
          </a:prstGeom>
          <a:noFill/>
          <a:ln/>
        </p:spPr>
        <p:txBody>
          <a:bodyPr wrap="square" lIns="0" tIns="0" rIns="0" bIns="0" rtlCol="0" anchor="ctr"/>
          <a:lstStyle/>
          <a:p>
            <a:pPr algn="ctr" indent="0" marL="0">
              <a:buNone/>
            </a:pPr>
            <a:r>
              <a:rPr lang="en-US" sz="1100" b="1" dirty="0">
                <a:solidFill>
                  <a:schemeClr val="tx2"/>
                </a:solidFill>
              </a:rPr>
              <a:t>Collect &amp; verify documents</a:t>
            </a:r>
            <a:endParaRPr lang="en-US" sz="1100" dirty="0"/>
          </a:p>
        </p:txBody>
      </p:sp>
      <p:sp>
        <p:nvSpPr>
          <p:cNvPr id="43" name="Process 5.0"/>
          <p:cNvSpPr/>
          <p:nvPr/>
        </p:nvSpPr>
        <p:spPr>
          <a:xfrm>
            <a:off x="7015277" y="2331720"/>
            <a:ext cx="1417320" cy="868680"/>
          </a:xfrm>
          <a:prstGeom prst="roundRect">
            <a:avLst>
              <a:gd name="adj" fmla="val 12632"/>
            </a:avLst>
          </a:prstGeom>
          <a:solidFill>
            <a:schemeClr val="bg1"/>
          </a:solidFill>
          <a:ln w="19050">
            <a:solidFill>
              <a:srgbClr val="A8811F"/>
            </a:solidFill>
            <a:prstDash val="solid"/>
          </a:ln>
          <a:effectLst>
            <a:outerShdw sx="100000" sy="100000" kx="0" ky="0" algn="bl" rotWithShape="0" blurRad="76200" dist="25400" dir="5400000">
              <a:srgbClr val="141416">
                <a:alpha val="10000"/>
              </a:srgbClr>
            </a:outerShdw>
          </a:effectLst>
        </p:spPr>
      </p:sp>
      <p:sp>
        <p:nvSpPr>
          <p:cNvPr id="44" name="Shape 41"/>
          <p:cNvSpPr/>
          <p:nvPr/>
        </p:nvSpPr>
        <p:spPr>
          <a:xfrm>
            <a:off x="7088429" y="2606040"/>
            <a:ext cx="1271016" cy="0"/>
          </a:xfrm>
          <a:prstGeom prst="line">
            <a:avLst/>
          </a:prstGeom>
          <a:noFill/>
          <a:ln w="9525">
            <a:solidFill>
              <a:srgbClr val="D4AF37"/>
            </a:solidFill>
            <a:prstDash val="solid"/>
          </a:ln>
        </p:spPr>
      </p:sp>
      <p:sp>
        <p:nvSpPr>
          <p:cNvPr id="45" name="Text 42"/>
          <p:cNvSpPr txBox="1"/>
          <p:nvPr/>
        </p:nvSpPr>
        <p:spPr>
          <a:xfrm>
            <a:off x="7015277" y="2368296"/>
            <a:ext cx="1417320" cy="237744"/>
          </a:xfrm>
          <a:prstGeom prst="rect">
            <a:avLst/>
          </a:prstGeom>
          <a:noFill/>
          <a:ln/>
        </p:spPr>
        <p:txBody>
          <a:bodyPr wrap="square" lIns="0" tIns="0" rIns="0" bIns="0" rtlCol="0" anchor="ctr"/>
          <a:lstStyle/>
          <a:p>
            <a:pPr algn="ctr" indent="0" marL="0">
              <a:buNone/>
            </a:pPr>
            <a:r>
              <a:rPr lang="en-US" sz="1100" b="1" dirty="0">
                <a:solidFill>
                  <a:srgbClr val="A8811F"/>
                </a:solidFill>
              </a:rPr>
              <a:t>5.0</a:t>
            </a:r>
            <a:endParaRPr lang="en-US" sz="1100" dirty="0"/>
          </a:p>
        </p:txBody>
      </p:sp>
      <p:sp>
        <p:nvSpPr>
          <p:cNvPr id="46" name="Text 43"/>
          <p:cNvSpPr txBox="1"/>
          <p:nvPr/>
        </p:nvSpPr>
        <p:spPr>
          <a:xfrm>
            <a:off x="7070141" y="2642616"/>
            <a:ext cx="1307592" cy="521208"/>
          </a:xfrm>
          <a:prstGeom prst="rect">
            <a:avLst/>
          </a:prstGeom>
          <a:noFill/>
          <a:ln/>
        </p:spPr>
        <p:txBody>
          <a:bodyPr wrap="square" lIns="0" tIns="0" rIns="0" bIns="0" rtlCol="0" anchor="ctr"/>
          <a:lstStyle/>
          <a:p>
            <a:pPr algn="ctr" indent="0" marL="0">
              <a:buNone/>
            </a:pPr>
            <a:r>
              <a:rPr lang="en-US" sz="1100" b="1" dirty="0">
                <a:solidFill>
                  <a:schemeClr val="tx2"/>
                </a:solidFill>
              </a:rPr>
              <a:t>Prepare return &amp; calculate tax</a:t>
            </a:r>
            <a:endParaRPr lang="en-US" sz="1100" dirty="0"/>
          </a:p>
        </p:txBody>
      </p:sp>
      <p:sp>
        <p:nvSpPr>
          <p:cNvPr id="47" name="Process 6.0"/>
          <p:cNvSpPr/>
          <p:nvPr/>
        </p:nvSpPr>
        <p:spPr>
          <a:xfrm>
            <a:off x="8643366" y="2331720"/>
            <a:ext cx="1417320" cy="868680"/>
          </a:xfrm>
          <a:prstGeom prst="roundRect">
            <a:avLst>
              <a:gd name="adj" fmla="val 12632"/>
            </a:avLst>
          </a:prstGeom>
          <a:solidFill>
            <a:schemeClr val="bg1"/>
          </a:solidFill>
          <a:ln w="19050">
            <a:solidFill>
              <a:srgbClr val="A8811F"/>
            </a:solidFill>
            <a:prstDash val="solid"/>
          </a:ln>
          <a:effectLst>
            <a:outerShdw sx="100000" sy="100000" kx="0" ky="0" algn="bl" rotWithShape="0" blurRad="76200" dist="25400" dir="5400000">
              <a:srgbClr val="141416">
                <a:alpha val="10000"/>
              </a:srgbClr>
            </a:outerShdw>
          </a:effectLst>
        </p:spPr>
      </p:sp>
      <p:sp>
        <p:nvSpPr>
          <p:cNvPr id="48" name="Shape 45"/>
          <p:cNvSpPr/>
          <p:nvPr/>
        </p:nvSpPr>
        <p:spPr>
          <a:xfrm>
            <a:off x="8716518" y="2606040"/>
            <a:ext cx="1271016" cy="0"/>
          </a:xfrm>
          <a:prstGeom prst="line">
            <a:avLst/>
          </a:prstGeom>
          <a:noFill/>
          <a:ln w="9525">
            <a:solidFill>
              <a:srgbClr val="D4AF37"/>
            </a:solidFill>
            <a:prstDash val="solid"/>
          </a:ln>
        </p:spPr>
      </p:sp>
      <p:sp>
        <p:nvSpPr>
          <p:cNvPr id="49" name="Text 46"/>
          <p:cNvSpPr txBox="1"/>
          <p:nvPr/>
        </p:nvSpPr>
        <p:spPr>
          <a:xfrm>
            <a:off x="8643366" y="2368296"/>
            <a:ext cx="1417320" cy="237744"/>
          </a:xfrm>
          <a:prstGeom prst="rect">
            <a:avLst/>
          </a:prstGeom>
          <a:noFill/>
          <a:ln/>
        </p:spPr>
        <p:txBody>
          <a:bodyPr wrap="square" lIns="0" tIns="0" rIns="0" bIns="0" rtlCol="0" anchor="ctr"/>
          <a:lstStyle/>
          <a:p>
            <a:pPr algn="ctr" indent="0" marL="0">
              <a:buNone/>
            </a:pPr>
            <a:r>
              <a:rPr lang="en-US" sz="1100" b="1" dirty="0">
                <a:solidFill>
                  <a:srgbClr val="A8811F"/>
                </a:solidFill>
              </a:rPr>
              <a:t>6.0</a:t>
            </a:r>
            <a:endParaRPr lang="en-US" sz="1100" dirty="0"/>
          </a:p>
        </p:txBody>
      </p:sp>
      <p:sp>
        <p:nvSpPr>
          <p:cNvPr id="50" name="Text 47"/>
          <p:cNvSpPr txBox="1"/>
          <p:nvPr/>
        </p:nvSpPr>
        <p:spPr>
          <a:xfrm>
            <a:off x="8698230" y="2642616"/>
            <a:ext cx="1307592" cy="521208"/>
          </a:xfrm>
          <a:prstGeom prst="rect">
            <a:avLst/>
          </a:prstGeom>
          <a:noFill/>
          <a:ln/>
        </p:spPr>
        <p:txBody>
          <a:bodyPr wrap="square" lIns="0" tIns="0" rIns="0" bIns="0" rtlCol="0" anchor="ctr"/>
          <a:lstStyle/>
          <a:p>
            <a:pPr algn="ctr" indent="0" marL="0">
              <a:buNone/>
            </a:pPr>
            <a:r>
              <a:rPr lang="en-US" sz="1100" b="1" dirty="0">
                <a:solidFill>
                  <a:schemeClr val="tx2"/>
                </a:solidFill>
              </a:rPr>
              <a:t>Review, confirm &amp; approve</a:t>
            </a:r>
            <a:endParaRPr lang="en-US" sz="1100" dirty="0"/>
          </a:p>
        </p:txBody>
      </p:sp>
      <p:sp>
        <p:nvSpPr>
          <p:cNvPr id="51" name="Process 7.0"/>
          <p:cNvSpPr/>
          <p:nvPr/>
        </p:nvSpPr>
        <p:spPr>
          <a:xfrm>
            <a:off x="10271455" y="2331720"/>
            <a:ext cx="1417320" cy="868680"/>
          </a:xfrm>
          <a:prstGeom prst="roundRect">
            <a:avLst>
              <a:gd name="adj" fmla="val 12632"/>
            </a:avLst>
          </a:prstGeom>
          <a:solidFill>
            <a:schemeClr val="bg1"/>
          </a:solidFill>
          <a:ln w="19050">
            <a:solidFill>
              <a:srgbClr val="A8811F"/>
            </a:solidFill>
            <a:prstDash val="solid"/>
          </a:ln>
          <a:effectLst>
            <a:outerShdw sx="100000" sy="100000" kx="0" ky="0" algn="bl" rotWithShape="0" blurRad="76200" dist="25400" dir="5400000">
              <a:srgbClr val="141416">
                <a:alpha val="10000"/>
              </a:srgbClr>
            </a:outerShdw>
          </a:effectLst>
        </p:spPr>
      </p:sp>
      <p:sp>
        <p:nvSpPr>
          <p:cNvPr id="52" name="Shape 49"/>
          <p:cNvSpPr/>
          <p:nvPr/>
        </p:nvSpPr>
        <p:spPr>
          <a:xfrm>
            <a:off x="10344607" y="2606040"/>
            <a:ext cx="1271016" cy="0"/>
          </a:xfrm>
          <a:prstGeom prst="line">
            <a:avLst/>
          </a:prstGeom>
          <a:noFill/>
          <a:ln w="9525">
            <a:solidFill>
              <a:srgbClr val="D4AF37"/>
            </a:solidFill>
            <a:prstDash val="solid"/>
          </a:ln>
        </p:spPr>
      </p:sp>
      <p:sp>
        <p:nvSpPr>
          <p:cNvPr id="53" name="Text 50"/>
          <p:cNvSpPr txBox="1"/>
          <p:nvPr/>
        </p:nvSpPr>
        <p:spPr>
          <a:xfrm>
            <a:off x="10271455" y="2368296"/>
            <a:ext cx="1417320" cy="237744"/>
          </a:xfrm>
          <a:prstGeom prst="rect">
            <a:avLst/>
          </a:prstGeom>
          <a:noFill/>
          <a:ln/>
        </p:spPr>
        <p:txBody>
          <a:bodyPr wrap="square" lIns="0" tIns="0" rIns="0" bIns="0" rtlCol="0" anchor="ctr"/>
          <a:lstStyle/>
          <a:p>
            <a:pPr algn="ctr" indent="0" marL="0">
              <a:buNone/>
            </a:pPr>
            <a:r>
              <a:rPr lang="en-US" sz="1100" b="1" dirty="0">
                <a:solidFill>
                  <a:srgbClr val="A8811F"/>
                </a:solidFill>
              </a:rPr>
              <a:t>7.0</a:t>
            </a:r>
            <a:endParaRPr lang="en-US" sz="1100" dirty="0"/>
          </a:p>
        </p:txBody>
      </p:sp>
      <p:sp>
        <p:nvSpPr>
          <p:cNvPr id="54" name="Text 51"/>
          <p:cNvSpPr txBox="1"/>
          <p:nvPr/>
        </p:nvSpPr>
        <p:spPr>
          <a:xfrm>
            <a:off x="10326319" y="2642616"/>
            <a:ext cx="1307592" cy="521208"/>
          </a:xfrm>
          <a:prstGeom prst="rect">
            <a:avLst/>
          </a:prstGeom>
          <a:noFill/>
          <a:ln/>
        </p:spPr>
        <p:txBody>
          <a:bodyPr wrap="square" lIns="0" tIns="0" rIns="0" bIns="0" rtlCol="0" anchor="ctr"/>
          <a:lstStyle/>
          <a:p>
            <a:pPr algn="ctr" indent="0" marL="0">
              <a:buNone/>
            </a:pPr>
            <a:r>
              <a:rPr lang="en-US" sz="1100" b="1" dirty="0">
                <a:solidFill>
                  <a:schemeClr val="tx2"/>
                </a:solidFill>
              </a:rPr>
              <a:t>File &amp; acknowledge</a:t>
            </a:r>
            <a:endParaRPr lang="en-US" sz="1100" dirty="0"/>
          </a:p>
        </p:txBody>
      </p:sp>
      <p:sp>
        <p:nvSpPr>
          <p:cNvPr id="55" name="Shape 52"/>
          <p:cNvSpPr/>
          <p:nvPr/>
        </p:nvSpPr>
        <p:spPr>
          <a:xfrm>
            <a:off x="1920240" y="2766060"/>
            <a:ext cx="210769" cy="0"/>
          </a:xfrm>
          <a:prstGeom prst="line">
            <a:avLst/>
          </a:prstGeom>
          <a:noFill/>
          <a:ln w="22225">
            <a:solidFill>
              <a:srgbClr val="141416"/>
            </a:solidFill>
            <a:prstDash val="solid"/>
            <a:tailEnd type="triangle"/>
          </a:ln>
        </p:spPr>
      </p:sp>
      <p:sp>
        <p:nvSpPr>
          <p:cNvPr id="56" name="Shape 53"/>
          <p:cNvSpPr/>
          <p:nvPr/>
        </p:nvSpPr>
        <p:spPr>
          <a:xfrm>
            <a:off x="3548329" y="2766060"/>
            <a:ext cx="210769" cy="0"/>
          </a:xfrm>
          <a:prstGeom prst="line">
            <a:avLst/>
          </a:prstGeom>
          <a:noFill/>
          <a:ln w="22225">
            <a:solidFill>
              <a:srgbClr val="141416"/>
            </a:solidFill>
            <a:prstDash val="solid"/>
            <a:tailEnd type="triangle"/>
          </a:ln>
        </p:spPr>
      </p:sp>
      <p:sp>
        <p:nvSpPr>
          <p:cNvPr id="57" name="Shape 54"/>
          <p:cNvSpPr/>
          <p:nvPr/>
        </p:nvSpPr>
        <p:spPr>
          <a:xfrm>
            <a:off x="5176418" y="2766060"/>
            <a:ext cx="210769" cy="0"/>
          </a:xfrm>
          <a:prstGeom prst="line">
            <a:avLst/>
          </a:prstGeom>
          <a:noFill/>
          <a:ln w="22225">
            <a:solidFill>
              <a:srgbClr val="141416"/>
            </a:solidFill>
            <a:prstDash val="solid"/>
            <a:tailEnd type="triangle"/>
          </a:ln>
        </p:spPr>
      </p:sp>
      <p:sp>
        <p:nvSpPr>
          <p:cNvPr id="58" name="Shape 55"/>
          <p:cNvSpPr/>
          <p:nvPr/>
        </p:nvSpPr>
        <p:spPr>
          <a:xfrm>
            <a:off x="6804508" y="2766060"/>
            <a:ext cx="210769" cy="0"/>
          </a:xfrm>
          <a:prstGeom prst="line">
            <a:avLst/>
          </a:prstGeom>
          <a:noFill/>
          <a:ln w="22225">
            <a:solidFill>
              <a:srgbClr val="141416"/>
            </a:solidFill>
            <a:prstDash val="solid"/>
            <a:tailEnd type="triangle"/>
          </a:ln>
        </p:spPr>
      </p:sp>
      <p:sp>
        <p:nvSpPr>
          <p:cNvPr id="59" name="Shape 56"/>
          <p:cNvSpPr/>
          <p:nvPr/>
        </p:nvSpPr>
        <p:spPr>
          <a:xfrm>
            <a:off x="8432597" y="2766060"/>
            <a:ext cx="210769" cy="0"/>
          </a:xfrm>
          <a:prstGeom prst="line">
            <a:avLst/>
          </a:prstGeom>
          <a:noFill/>
          <a:ln w="22225">
            <a:solidFill>
              <a:srgbClr val="141416"/>
            </a:solidFill>
            <a:prstDash val="solid"/>
            <a:tailEnd type="triangle"/>
          </a:ln>
        </p:spPr>
      </p:sp>
      <p:sp>
        <p:nvSpPr>
          <p:cNvPr id="60" name="Shape 57"/>
          <p:cNvSpPr/>
          <p:nvPr/>
        </p:nvSpPr>
        <p:spPr>
          <a:xfrm>
            <a:off x="10060686" y="2766060"/>
            <a:ext cx="210769" cy="0"/>
          </a:xfrm>
          <a:prstGeom prst="line">
            <a:avLst/>
          </a:prstGeom>
          <a:noFill/>
          <a:ln w="22225">
            <a:solidFill>
              <a:srgbClr val="141416"/>
            </a:solidFill>
            <a:prstDash val="solid"/>
            <a:tailEnd type="triangle"/>
          </a:ln>
        </p:spPr>
      </p:sp>
      <p:sp>
        <p:nvSpPr>
          <p:cNvPr id="61" name="Store D2"/>
          <p:cNvSpPr/>
          <p:nvPr/>
        </p:nvSpPr>
        <p:spPr>
          <a:xfrm>
            <a:off x="502920" y="3794760"/>
            <a:ext cx="1417320" cy="384048"/>
          </a:xfrm>
          <a:prstGeom prst="rect">
            <a:avLst/>
          </a:prstGeom>
          <a:solidFill>
            <a:srgbClr val="F3F1EA"/>
          </a:solidFill>
          <a:ln w="12700">
            <a:solidFill>
              <a:srgbClr val="F3F1EA"/>
            </a:solidFill>
            <a:prstDash val="solid"/>
          </a:ln>
        </p:spPr>
      </p:sp>
      <p:sp>
        <p:nvSpPr>
          <p:cNvPr id="62" name="Shape 59"/>
          <p:cNvSpPr/>
          <p:nvPr/>
        </p:nvSpPr>
        <p:spPr>
          <a:xfrm>
            <a:off x="502920" y="3794760"/>
            <a:ext cx="1417320" cy="0"/>
          </a:xfrm>
          <a:prstGeom prst="line">
            <a:avLst/>
          </a:prstGeom>
          <a:noFill/>
          <a:ln w="12700">
            <a:solidFill>
              <a:srgbClr val="6B6455"/>
            </a:solidFill>
            <a:prstDash val="solid"/>
          </a:ln>
        </p:spPr>
      </p:sp>
      <p:sp>
        <p:nvSpPr>
          <p:cNvPr id="63" name="Shape 60"/>
          <p:cNvSpPr/>
          <p:nvPr/>
        </p:nvSpPr>
        <p:spPr>
          <a:xfrm>
            <a:off x="502920" y="4178808"/>
            <a:ext cx="1417320" cy="0"/>
          </a:xfrm>
          <a:prstGeom prst="line">
            <a:avLst/>
          </a:prstGeom>
          <a:noFill/>
          <a:ln w="12700">
            <a:solidFill>
              <a:srgbClr val="6B6455"/>
            </a:solidFill>
            <a:prstDash val="solid"/>
          </a:ln>
        </p:spPr>
      </p:sp>
      <p:sp>
        <p:nvSpPr>
          <p:cNvPr id="64" name="Shape 61"/>
          <p:cNvSpPr/>
          <p:nvPr/>
        </p:nvSpPr>
        <p:spPr>
          <a:xfrm>
            <a:off x="502920" y="3794760"/>
            <a:ext cx="0" cy="384048"/>
          </a:xfrm>
          <a:prstGeom prst="line">
            <a:avLst/>
          </a:prstGeom>
          <a:noFill/>
          <a:ln w="12700">
            <a:solidFill>
              <a:srgbClr val="6B6455"/>
            </a:solidFill>
            <a:prstDash val="solid"/>
          </a:ln>
        </p:spPr>
      </p:sp>
      <p:sp>
        <p:nvSpPr>
          <p:cNvPr id="65" name="Shape 62"/>
          <p:cNvSpPr/>
          <p:nvPr/>
        </p:nvSpPr>
        <p:spPr>
          <a:xfrm>
            <a:off x="886968" y="3794760"/>
            <a:ext cx="0" cy="384048"/>
          </a:xfrm>
          <a:prstGeom prst="line">
            <a:avLst/>
          </a:prstGeom>
          <a:noFill/>
          <a:ln w="12700">
            <a:solidFill>
              <a:srgbClr val="6B6455"/>
            </a:solidFill>
            <a:prstDash val="solid"/>
          </a:ln>
        </p:spPr>
      </p:sp>
      <p:sp>
        <p:nvSpPr>
          <p:cNvPr id="66" name="Text 63"/>
          <p:cNvSpPr txBox="1"/>
          <p:nvPr/>
        </p:nvSpPr>
        <p:spPr>
          <a:xfrm>
            <a:off x="502920" y="3794760"/>
            <a:ext cx="384048" cy="384048"/>
          </a:xfrm>
          <a:prstGeom prst="rect">
            <a:avLst/>
          </a:prstGeom>
          <a:noFill/>
          <a:ln/>
        </p:spPr>
        <p:txBody>
          <a:bodyPr wrap="square" lIns="0" tIns="0" rIns="0" bIns="0" rtlCol="0" anchor="ctr"/>
          <a:lstStyle/>
          <a:p>
            <a:pPr algn="ctr" indent="0" marL="0">
              <a:buNone/>
            </a:pPr>
            <a:r>
              <a:rPr lang="en-US" sz="1000" b="1" dirty="0">
                <a:solidFill>
                  <a:srgbClr val="A8811F"/>
                </a:solidFill>
              </a:rPr>
              <a:t>D2</a:t>
            </a:r>
            <a:endParaRPr lang="en-US" sz="1000" dirty="0"/>
          </a:p>
        </p:txBody>
      </p:sp>
      <p:sp>
        <p:nvSpPr>
          <p:cNvPr id="67" name="Text 64"/>
          <p:cNvSpPr txBox="1"/>
          <p:nvPr/>
        </p:nvSpPr>
        <p:spPr>
          <a:xfrm>
            <a:off x="941832" y="3794760"/>
            <a:ext cx="941832" cy="384048"/>
          </a:xfrm>
          <a:prstGeom prst="rect">
            <a:avLst/>
          </a:prstGeom>
          <a:noFill/>
          <a:ln/>
        </p:spPr>
        <p:txBody>
          <a:bodyPr wrap="square" lIns="0" tIns="0" rIns="0" bIns="0" rtlCol="0" anchor="ctr"/>
          <a:lstStyle/>
          <a:p>
            <a:pPr indent="0" marL="0">
              <a:buNone/>
            </a:pPr>
            <a:r>
              <a:rPr lang="en-US" sz="1000" b="1" dirty="0">
                <a:solidFill>
                  <a:schemeClr val="tx1"/>
                </a:solidFill>
              </a:rPr>
              <a:t>Leads, deals</a:t>
            </a:r>
            <a:endParaRPr lang="en-US" sz="1000" dirty="0"/>
          </a:p>
        </p:txBody>
      </p:sp>
      <p:sp>
        <p:nvSpPr>
          <p:cNvPr id="68" name="Shape 65"/>
          <p:cNvSpPr/>
          <p:nvPr/>
        </p:nvSpPr>
        <p:spPr>
          <a:xfrm>
            <a:off x="1211580" y="3200400"/>
            <a:ext cx="0" cy="594360"/>
          </a:xfrm>
          <a:prstGeom prst="line">
            <a:avLst/>
          </a:prstGeom>
          <a:noFill/>
          <a:ln w="12700">
            <a:solidFill>
              <a:srgbClr val="8C8677"/>
            </a:solidFill>
            <a:prstDash val="solid"/>
            <a:headEnd type="triangle"/>
            <a:tailEnd type="triangle"/>
          </a:ln>
        </p:spPr>
      </p:sp>
      <p:sp>
        <p:nvSpPr>
          <p:cNvPr id="69" name="Store D1"/>
          <p:cNvSpPr/>
          <p:nvPr/>
        </p:nvSpPr>
        <p:spPr>
          <a:xfrm>
            <a:off x="2131009" y="3794760"/>
            <a:ext cx="1417320" cy="384048"/>
          </a:xfrm>
          <a:prstGeom prst="rect">
            <a:avLst/>
          </a:prstGeom>
          <a:solidFill>
            <a:srgbClr val="F3F1EA"/>
          </a:solidFill>
          <a:ln w="12700">
            <a:solidFill>
              <a:srgbClr val="F3F1EA"/>
            </a:solidFill>
            <a:prstDash val="solid"/>
          </a:ln>
        </p:spPr>
      </p:sp>
      <p:sp>
        <p:nvSpPr>
          <p:cNvPr id="70" name="Shape 67"/>
          <p:cNvSpPr/>
          <p:nvPr/>
        </p:nvSpPr>
        <p:spPr>
          <a:xfrm>
            <a:off x="2131009" y="3794760"/>
            <a:ext cx="1417320" cy="0"/>
          </a:xfrm>
          <a:prstGeom prst="line">
            <a:avLst/>
          </a:prstGeom>
          <a:noFill/>
          <a:ln w="12700">
            <a:solidFill>
              <a:srgbClr val="6B6455"/>
            </a:solidFill>
            <a:prstDash val="solid"/>
          </a:ln>
        </p:spPr>
      </p:sp>
      <p:sp>
        <p:nvSpPr>
          <p:cNvPr id="71" name="Shape 68"/>
          <p:cNvSpPr/>
          <p:nvPr/>
        </p:nvSpPr>
        <p:spPr>
          <a:xfrm>
            <a:off x="2131009" y="4178808"/>
            <a:ext cx="1417320" cy="0"/>
          </a:xfrm>
          <a:prstGeom prst="line">
            <a:avLst/>
          </a:prstGeom>
          <a:noFill/>
          <a:ln w="12700">
            <a:solidFill>
              <a:srgbClr val="6B6455"/>
            </a:solidFill>
            <a:prstDash val="solid"/>
          </a:ln>
        </p:spPr>
      </p:sp>
      <p:sp>
        <p:nvSpPr>
          <p:cNvPr id="72" name="Shape 69"/>
          <p:cNvSpPr/>
          <p:nvPr/>
        </p:nvSpPr>
        <p:spPr>
          <a:xfrm>
            <a:off x="2131009" y="3794760"/>
            <a:ext cx="0" cy="384048"/>
          </a:xfrm>
          <a:prstGeom prst="line">
            <a:avLst/>
          </a:prstGeom>
          <a:noFill/>
          <a:ln w="12700">
            <a:solidFill>
              <a:srgbClr val="6B6455"/>
            </a:solidFill>
            <a:prstDash val="solid"/>
          </a:ln>
        </p:spPr>
      </p:sp>
      <p:sp>
        <p:nvSpPr>
          <p:cNvPr id="73" name="Shape 70"/>
          <p:cNvSpPr/>
          <p:nvPr/>
        </p:nvSpPr>
        <p:spPr>
          <a:xfrm>
            <a:off x="2515057" y="3794760"/>
            <a:ext cx="0" cy="384048"/>
          </a:xfrm>
          <a:prstGeom prst="line">
            <a:avLst/>
          </a:prstGeom>
          <a:noFill/>
          <a:ln w="12700">
            <a:solidFill>
              <a:srgbClr val="6B6455"/>
            </a:solidFill>
            <a:prstDash val="solid"/>
          </a:ln>
        </p:spPr>
      </p:sp>
      <p:sp>
        <p:nvSpPr>
          <p:cNvPr id="74" name="Text 71"/>
          <p:cNvSpPr txBox="1"/>
          <p:nvPr/>
        </p:nvSpPr>
        <p:spPr>
          <a:xfrm>
            <a:off x="2131009" y="3794760"/>
            <a:ext cx="384048" cy="384048"/>
          </a:xfrm>
          <a:prstGeom prst="rect">
            <a:avLst/>
          </a:prstGeom>
          <a:noFill/>
          <a:ln/>
        </p:spPr>
        <p:txBody>
          <a:bodyPr wrap="square" lIns="0" tIns="0" rIns="0" bIns="0" rtlCol="0" anchor="ctr"/>
          <a:lstStyle/>
          <a:p>
            <a:pPr algn="ctr" indent="0" marL="0">
              <a:buNone/>
            </a:pPr>
            <a:r>
              <a:rPr lang="en-US" sz="1000" b="1" dirty="0">
                <a:solidFill>
                  <a:srgbClr val="A8811F"/>
                </a:solidFill>
              </a:rPr>
              <a:t>D1</a:t>
            </a:r>
            <a:endParaRPr lang="en-US" sz="1000" dirty="0"/>
          </a:p>
        </p:txBody>
      </p:sp>
      <p:sp>
        <p:nvSpPr>
          <p:cNvPr id="75" name="Text 72"/>
          <p:cNvSpPr txBox="1"/>
          <p:nvPr/>
        </p:nvSpPr>
        <p:spPr>
          <a:xfrm>
            <a:off x="2569921" y="3794760"/>
            <a:ext cx="941832" cy="384048"/>
          </a:xfrm>
          <a:prstGeom prst="rect">
            <a:avLst/>
          </a:prstGeom>
          <a:noFill/>
          <a:ln/>
        </p:spPr>
        <p:txBody>
          <a:bodyPr wrap="square" lIns="0" tIns="0" rIns="0" bIns="0" rtlCol="0" anchor="ctr"/>
          <a:lstStyle/>
          <a:p>
            <a:pPr indent="0" marL="0">
              <a:buNone/>
            </a:pPr>
            <a:r>
              <a:rPr lang="en-US" sz="1000" b="1" dirty="0">
                <a:solidFill>
                  <a:schemeClr val="tx1"/>
                </a:solidFill>
              </a:rPr>
              <a:t>Tax clients</a:t>
            </a:r>
            <a:endParaRPr lang="en-US" sz="1000" dirty="0"/>
          </a:p>
        </p:txBody>
      </p:sp>
      <p:sp>
        <p:nvSpPr>
          <p:cNvPr id="76" name="Shape 73"/>
          <p:cNvSpPr/>
          <p:nvPr/>
        </p:nvSpPr>
        <p:spPr>
          <a:xfrm>
            <a:off x="2839669" y="3200400"/>
            <a:ext cx="0" cy="594360"/>
          </a:xfrm>
          <a:prstGeom prst="line">
            <a:avLst/>
          </a:prstGeom>
          <a:noFill/>
          <a:ln w="12700">
            <a:solidFill>
              <a:srgbClr val="8C8677"/>
            </a:solidFill>
            <a:prstDash val="solid"/>
            <a:headEnd type="triangle"/>
            <a:tailEnd type="triangle"/>
          </a:ln>
        </p:spPr>
      </p:sp>
      <p:sp>
        <p:nvSpPr>
          <p:cNvPr id="77" name="Store D3"/>
          <p:cNvSpPr/>
          <p:nvPr/>
        </p:nvSpPr>
        <p:spPr>
          <a:xfrm>
            <a:off x="3759098" y="3794760"/>
            <a:ext cx="1417320" cy="384048"/>
          </a:xfrm>
          <a:prstGeom prst="rect">
            <a:avLst/>
          </a:prstGeom>
          <a:solidFill>
            <a:srgbClr val="F3F1EA"/>
          </a:solidFill>
          <a:ln w="12700">
            <a:solidFill>
              <a:srgbClr val="F3F1EA"/>
            </a:solidFill>
            <a:prstDash val="solid"/>
          </a:ln>
        </p:spPr>
      </p:sp>
      <p:sp>
        <p:nvSpPr>
          <p:cNvPr id="78" name="Shape 75"/>
          <p:cNvSpPr/>
          <p:nvPr/>
        </p:nvSpPr>
        <p:spPr>
          <a:xfrm>
            <a:off x="3759098" y="3794760"/>
            <a:ext cx="1417320" cy="0"/>
          </a:xfrm>
          <a:prstGeom prst="line">
            <a:avLst/>
          </a:prstGeom>
          <a:noFill/>
          <a:ln w="12700">
            <a:solidFill>
              <a:srgbClr val="6B6455"/>
            </a:solidFill>
            <a:prstDash val="solid"/>
          </a:ln>
        </p:spPr>
      </p:sp>
      <p:sp>
        <p:nvSpPr>
          <p:cNvPr id="79" name="Shape 76"/>
          <p:cNvSpPr/>
          <p:nvPr/>
        </p:nvSpPr>
        <p:spPr>
          <a:xfrm>
            <a:off x="3759098" y="4178808"/>
            <a:ext cx="1417320" cy="0"/>
          </a:xfrm>
          <a:prstGeom prst="line">
            <a:avLst/>
          </a:prstGeom>
          <a:noFill/>
          <a:ln w="12700">
            <a:solidFill>
              <a:srgbClr val="6B6455"/>
            </a:solidFill>
            <a:prstDash val="solid"/>
          </a:ln>
        </p:spPr>
      </p:sp>
      <p:sp>
        <p:nvSpPr>
          <p:cNvPr id="80" name="Shape 77"/>
          <p:cNvSpPr/>
          <p:nvPr/>
        </p:nvSpPr>
        <p:spPr>
          <a:xfrm>
            <a:off x="3759098" y="3794760"/>
            <a:ext cx="0" cy="384048"/>
          </a:xfrm>
          <a:prstGeom prst="line">
            <a:avLst/>
          </a:prstGeom>
          <a:noFill/>
          <a:ln w="12700">
            <a:solidFill>
              <a:srgbClr val="6B6455"/>
            </a:solidFill>
            <a:prstDash val="solid"/>
          </a:ln>
        </p:spPr>
      </p:sp>
      <p:sp>
        <p:nvSpPr>
          <p:cNvPr id="81" name="Shape 78"/>
          <p:cNvSpPr/>
          <p:nvPr/>
        </p:nvSpPr>
        <p:spPr>
          <a:xfrm>
            <a:off x="4143146" y="3794760"/>
            <a:ext cx="0" cy="384048"/>
          </a:xfrm>
          <a:prstGeom prst="line">
            <a:avLst/>
          </a:prstGeom>
          <a:noFill/>
          <a:ln w="12700">
            <a:solidFill>
              <a:srgbClr val="6B6455"/>
            </a:solidFill>
            <a:prstDash val="solid"/>
          </a:ln>
        </p:spPr>
      </p:sp>
      <p:sp>
        <p:nvSpPr>
          <p:cNvPr id="82" name="Text 79"/>
          <p:cNvSpPr txBox="1"/>
          <p:nvPr/>
        </p:nvSpPr>
        <p:spPr>
          <a:xfrm>
            <a:off x="3759098" y="3794760"/>
            <a:ext cx="384048" cy="384048"/>
          </a:xfrm>
          <a:prstGeom prst="rect">
            <a:avLst/>
          </a:prstGeom>
          <a:noFill/>
          <a:ln/>
        </p:spPr>
        <p:txBody>
          <a:bodyPr wrap="square" lIns="0" tIns="0" rIns="0" bIns="0" rtlCol="0" anchor="ctr"/>
          <a:lstStyle/>
          <a:p>
            <a:pPr algn="ctr" indent="0" marL="0">
              <a:buNone/>
            </a:pPr>
            <a:r>
              <a:rPr lang="en-US" sz="1000" b="1" dirty="0">
                <a:solidFill>
                  <a:srgbClr val="A8811F"/>
                </a:solidFill>
              </a:rPr>
              <a:t>D3</a:t>
            </a:r>
            <a:endParaRPr lang="en-US" sz="1000" dirty="0"/>
          </a:p>
        </p:txBody>
      </p:sp>
      <p:sp>
        <p:nvSpPr>
          <p:cNvPr id="83" name="Text 80"/>
          <p:cNvSpPr txBox="1"/>
          <p:nvPr/>
        </p:nvSpPr>
        <p:spPr>
          <a:xfrm>
            <a:off x="4198010" y="3794760"/>
            <a:ext cx="941832" cy="384048"/>
          </a:xfrm>
          <a:prstGeom prst="rect">
            <a:avLst/>
          </a:prstGeom>
          <a:noFill/>
          <a:ln/>
        </p:spPr>
        <p:txBody>
          <a:bodyPr wrap="square" lIns="0" tIns="0" rIns="0" bIns="0" rtlCol="0" anchor="ctr"/>
          <a:lstStyle/>
          <a:p>
            <a:pPr indent="0" marL="0">
              <a:buNone/>
            </a:pPr>
            <a:r>
              <a:rPr lang="en-US" sz="1000" b="1" dirty="0">
                <a:solidFill>
                  <a:schemeClr val="tx1"/>
                </a:solidFill>
              </a:rPr>
              <a:t>Fees, payments</a:t>
            </a:r>
            <a:endParaRPr lang="en-US" sz="1000" dirty="0"/>
          </a:p>
        </p:txBody>
      </p:sp>
      <p:sp>
        <p:nvSpPr>
          <p:cNvPr id="84" name="Shape 81"/>
          <p:cNvSpPr/>
          <p:nvPr/>
        </p:nvSpPr>
        <p:spPr>
          <a:xfrm>
            <a:off x="4467758" y="3200400"/>
            <a:ext cx="0" cy="594360"/>
          </a:xfrm>
          <a:prstGeom prst="line">
            <a:avLst/>
          </a:prstGeom>
          <a:noFill/>
          <a:ln w="12700">
            <a:solidFill>
              <a:srgbClr val="8C8677"/>
            </a:solidFill>
            <a:prstDash val="solid"/>
            <a:headEnd type="triangle"/>
            <a:tailEnd type="triangle"/>
          </a:ln>
        </p:spPr>
      </p:sp>
      <p:sp>
        <p:nvSpPr>
          <p:cNvPr id="85" name="Store D4"/>
          <p:cNvSpPr/>
          <p:nvPr/>
        </p:nvSpPr>
        <p:spPr>
          <a:xfrm>
            <a:off x="5387188" y="3794760"/>
            <a:ext cx="1417320" cy="384048"/>
          </a:xfrm>
          <a:prstGeom prst="rect">
            <a:avLst/>
          </a:prstGeom>
          <a:solidFill>
            <a:srgbClr val="F3F1EA"/>
          </a:solidFill>
          <a:ln w="12700">
            <a:solidFill>
              <a:srgbClr val="F3F1EA"/>
            </a:solidFill>
            <a:prstDash val="solid"/>
          </a:ln>
        </p:spPr>
      </p:sp>
      <p:sp>
        <p:nvSpPr>
          <p:cNvPr id="86" name="Shape 83"/>
          <p:cNvSpPr/>
          <p:nvPr/>
        </p:nvSpPr>
        <p:spPr>
          <a:xfrm>
            <a:off x="5387188" y="3794760"/>
            <a:ext cx="1417320" cy="0"/>
          </a:xfrm>
          <a:prstGeom prst="line">
            <a:avLst/>
          </a:prstGeom>
          <a:noFill/>
          <a:ln w="12700">
            <a:solidFill>
              <a:srgbClr val="6B6455"/>
            </a:solidFill>
            <a:prstDash val="solid"/>
          </a:ln>
        </p:spPr>
      </p:sp>
      <p:sp>
        <p:nvSpPr>
          <p:cNvPr id="87" name="Shape 84"/>
          <p:cNvSpPr/>
          <p:nvPr/>
        </p:nvSpPr>
        <p:spPr>
          <a:xfrm>
            <a:off x="5387188" y="4178808"/>
            <a:ext cx="1417320" cy="0"/>
          </a:xfrm>
          <a:prstGeom prst="line">
            <a:avLst/>
          </a:prstGeom>
          <a:noFill/>
          <a:ln w="12700">
            <a:solidFill>
              <a:srgbClr val="6B6455"/>
            </a:solidFill>
            <a:prstDash val="solid"/>
          </a:ln>
        </p:spPr>
      </p:sp>
      <p:sp>
        <p:nvSpPr>
          <p:cNvPr id="88" name="Shape 85"/>
          <p:cNvSpPr/>
          <p:nvPr/>
        </p:nvSpPr>
        <p:spPr>
          <a:xfrm>
            <a:off x="5387188" y="3794760"/>
            <a:ext cx="0" cy="384048"/>
          </a:xfrm>
          <a:prstGeom prst="line">
            <a:avLst/>
          </a:prstGeom>
          <a:noFill/>
          <a:ln w="12700">
            <a:solidFill>
              <a:srgbClr val="6B6455"/>
            </a:solidFill>
            <a:prstDash val="solid"/>
          </a:ln>
        </p:spPr>
      </p:sp>
      <p:sp>
        <p:nvSpPr>
          <p:cNvPr id="89" name="Shape 86"/>
          <p:cNvSpPr/>
          <p:nvPr/>
        </p:nvSpPr>
        <p:spPr>
          <a:xfrm>
            <a:off x="5771236" y="3794760"/>
            <a:ext cx="0" cy="384048"/>
          </a:xfrm>
          <a:prstGeom prst="line">
            <a:avLst/>
          </a:prstGeom>
          <a:noFill/>
          <a:ln w="12700">
            <a:solidFill>
              <a:srgbClr val="6B6455"/>
            </a:solidFill>
            <a:prstDash val="solid"/>
          </a:ln>
        </p:spPr>
      </p:sp>
      <p:sp>
        <p:nvSpPr>
          <p:cNvPr id="90" name="Text 87"/>
          <p:cNvSpPr txBox="1"/>
          <p:nvPr/>
        </p:nvSpPr>
        <p:spPr>
          <a:xfrm>
            <a:off x="5387188" y="3794760"/>
            <a:ext cx="384048" cy="384048"/>
          </a:xfrm>
          <a:prstGeom prst="rect">
            <a:avLst/>
          </a:prstGeom>
          <a:noFill/>
          <a:ln/>
        </p:spPr>
        <p:txBody>
          <a:bodyPr wrap="square" lIns="0" tIns="0" rIns="0" bIns="0" rtlCol="0" anchor="ctr"/>
          <a:lstStyle/>
          <a:p>
            <a:pPr algn="ctr" indent="0" marL="0">
              <a:buNone/>
            </a:pPr>
            <a:r>
              <a:rPr lang="en-US" sz="1000" b="1" dirty="0">
                <a:solidFill>
                  <a:srgbClr val="A8811F"/>
                </a:solidFill>
              </a:rPr>
              <a:t>D4</a:t>
            </a:r>
            <a:endParaRPr lang="en-US" sz="1000" dirty="0"/>
          </a:p>
        </p:txBody>
      </p:sp>
      <p:sp>
        <p:nvSpPr>
          <p:cNvPr id="91" name="Text 88"/>
          <p:cNvSpPr txBox="1"/>
          <p:nvPr/>
        </p:nvSpPr>
        <p:spPr>
          <a:xfrm>
            <a:off x="5826100" y="3794760"/>
            <a:ext cx="941832" cy="384048"/>
          </a:xfrm>
          <a:prstGeom prst="rect">
            <a:avLst/>
          </a:prstGeom>
          <a:noFill/>
          <a:ln/>
        </p:spPr>
        <p:txBody>
          <a:bodyPr wrap="square" lIns="0" tIns="0" rIns="0" bIns="0" rtlCol="0" anchor="ctr"/>
          <a:lstStyle/>
          <a:p>
            <a:pPr indent="0" marL="0">
              <a:buNone/>
            </a:pPr>
            <a:r>
              <a:rPr lang="en-US" sz="1000" b="1" dirty="0">
                <a:solidFill>
                  <a:schemeClr val="tx1"/>
                </a:solidFill>
              </a:rPr>
              <a:t>Documents</a:t>
            </a:r>
            <a:endParaRPr lang="en-US" sz="1000" dirty="0"/>
          </a:p>
        </p:txBody>
      </p:sp>
      <p:sp>
        <p:nvSpPr>
          <p:cNvPr id="92" name="Shape 89"/>
          <p:cNvSpPr/>
          <p:nvPr/>
        </p:nvSpPr>
        <p:spPr>
          <a:xfrm>
            <a:off x="6095848" y="3200400"/>
            <a:ext cx="0" cy="594360"/>
          </a:xfrm>
          <a:prstGeom prst="line">
            <a:avLst/>
          </a:prstGeom>
          <a:noFill/>
          <a:ln w="12700">
            <a:solidFill>
              <a:srgbClr val="8C8677"/>
            </a:solidFill>
            <a:prstDash val="solid"/>
            <a:headEnd type="triangle"/>
            <a:tailEnd type="triangle"/>
          </a:ln>
        </p:spPr>
      </p:sp>
      <p:sp>
        <p:nvSpPr>
          <p:cNvPr id="93" name="Store D6"/>
          <p:cNvSpPr/>
          <p:nvPr/>
        </p:nvSpPr>
        <p:spPr>
          <a:xfrm>
            <a:off x="7015277" y="3794760"/>
            <a:ext cx="1417320" cy="384048"/>
          </a:xfrm>
          <a:prstGeom prst="rect">
            <a:avLst/>
          </a:prstGeom>
          <a:solidFill>
            <a:srgbClr val="F3F1EA"/>
          </a:solidFill>
          <a:ln w="12700">
            <a:solidFill>
              <a:srgbClr val="F3F1EA"/>
            </a:solidFill>
            <a:prstDash val="solid"/>
          </a:ln>
        </p:spPr>
      </p:sp>
      <p:sp>
        <p:nvSpPr>
          <p:cNvPr id="94" name="Shape 91"/>
          <p:cNvSpPr/>
          <p:nvPr/>
        </p:nvSpPr>
        <p:spPr>
          <a:xfrm>
            <a:off x="7015277" y="3794760"/>
            <a:ext cx="1417320" cy="0"/>
          </a:xfrm>
          <a:prstGeom prst="line">
            <a:avLst/>
          </a:prstGeom>
          <a:noFill/>
          <a:ln w="12700">
            <a:solidFill>
              <a:srgbClr val="6B6455"/>
            </a:solidFill>
            <a:prstDash val="solid"/>
          </a:ln>
        </p:spPr>
      </p:sp>
      <p:sp>
        <p:nvSpPr>
          <p:cNvPr id="95" name="Shape 92"/>
          <p:cNvSpPr/>
          <p:nvPr/>
        </p:nvSpPr>
        <p:spPr>
          <a:xfrm>
            <a:off x="7015277" y="4178808"/>
            <a:ext cx="1417320" cy="0"/>
          </a:xfrm>
          <a:prstGeom prst="line">
            <a:avLst/>
          </a:prstGeom>
          <a:noFill/>
          <a:ln w="12700">
            <a:solidFill>
              <a:srgbClr val="6B6455"/>
            </a:solidFill>
            <a:prstDash val="solid"/>
          </a:ln>
        </p:spPr>
      </p:sp>
      <p:sp>
        <p:nvSpPr>
          <p:cNvPr id="96" name="Shape 93"/>
          <p:cNvSpPr/>
          <p:nvPr/>
        </p:nvSpPr>
        <p:spPr>
          <a:xfrm>
            <a:off x="7015277" y="3794760"/>
            <a:ext cx="0" cy="384048"/>
          </a:xfrm>
          <a:prstGeom prst="line">
            <a:avLst/>
          </a:prstGeom>
          <a:noFill/>
          <a:ln w="12700">
            <a:solidFill>
              <a:srgbClr val="6B6455"/>
            </a:solidFill>
            <a:prstDash val="solid"/>
          </a:ln>
        </p:spPr>
      </p:sp>
      <p:sp>
        <p:nvSpPr>
          <p:cNvPr id="97" name="Shape 94"/>
          <p:cNvSpPr/>
          <p:nvPr/>
        </p:nvSpPr>
        <p:spPr>
          <a:xfrm>
            <a:off x="7399325" y="3794760"/>
            <a:ext cx="0" cy="384048"/>
          </a:xfrm>
          <a:prstGeom prst="line">
            <a:avLst/>
          </a:prstGeom>
          <a:noFill/>
          <a:ln w="12700">
            <a:solidFill>
              <a:srgbClr val="6B6455"/>
            </a:solidFill>
            <a:prstDash val="solid"/>
          </a:ln>
        </p:spPr>
      </p:sp>
      <p:sp>
        <p:nvSpPr>
          <p:cNvPr id="98" name="Text 95"/>
          <p:cNvSpPr txBox="1"/>
          <p:nvPr/>
        </p:nvSpPr>
        <p:spPr>
          <a:xfrm>
            <a:off x="7015277" y="3794760"/>
            <a:ext cx="384048" cy="384048"/>
          </a:xfrm>
          <a:prstGeom prst="rect">
            <a:avLst/>
          </a:prstGeom>
          <a:noFill/>
          <a:ln/>
        </p:spPr>
        <p:txBody>
          <a:bodyPr wrap="square" lIns="0" tIns="0" rIns="0" bIns="0" rtlCol="0" anchor="ctr"/>
          <a:lstStyle/>
          <a:p>
            <a:pPr algn="ctr" indent="0" marL="0">
              <a:buNone/>
            </a:pPr>
            <a:r>
              <a:rPr lang="en-US" sz="1000" b="1" dirty="0">
                <a:solidFill>
                  <a:srgbClr val="A8811F"/>
                </a:solidFill>
              </a:rPr>
              <a:t>D6</a:t>
            </a:r>
            <a:endParaRPr lang="en-US" sz="1000" dirty="0"/>
          </a:p>
        </p:txBody>
      </p:sp>
      <p:sp>
        <p:nvSpPr>
          <p:cNvPr id="99" name="Text 96"/>
          <p:cNvSpPr txBox="1"/>
          <p:nvPr/>
        </p:nvSpPr>
        <p:spPr>
          <a:xfrm>
            <a:off x="7454189" y="3794760"/>
            <a:ext cx="941832" cy="384048"/>
          </a:xfrm>
          <a:prstGeom prst="rect">
            <a:avLst/>
          </a:prstGeom>
          <a:noFill/>
          <a:ln/>
        </p:spPr>
        <p:txBody>
          <a:bodyPr wrap="square" lIns="0" tIns="0" rIns="0" bIns="0" rtlCol="0" anchor="ctr"/>
          <a:lstStyle/>
          <a:p>
            <a:pPr indent="0" marL="0">
              <a:buNone/>
            </a:pPr>
            <a:r>
              <a:rPr lang="en-US" sz="1000" b="1" dirty="0">
                <a:solidFill>
                  <a:schemeClr val="tx1"/>
                </a:solidFill>
              </a:rPr>
              <a:t>Tax rules</a:t>
            </a:r>
            <a:endParaRPr lang="en-US" sz="1000" dirty="0"/>
          </a:p>
        </p:txBody>
      </p:sp>
      <p:sp>
        <p:nvSpPr>
          <p:cNvPr id="100" name="Shape 97"/>
          <p:cNvSpPr/>
          <p:nvPr/>
        </p:nvSpPr>
        <p:spPr>
          <a:xfrm>
            <a:off x="7723937" y="3200400"/>
            <a:ext cx="0" cy="594360"/>
          </a:xfrm>
          <a:prstGeom prst="line">
            <a:avLst/>
          </a:prstGeom>
          <a:noFill/>
          <a:ln w="12700">
            <a:solidFill>
              <a:srgbClr val="8C8677"/>
            </a:solidFill>
            <a:prstDash val="solid"/>
            <a:tailEnd type="triangle"/>
          </a:ln>
        </p:spPr>
      </p:sp>
      <p:sp>
        <p:nvSpPr>
          <p:cNvPr id="101" name="Store D5"/>
          <p:cNvSpPr/>
          <p:nvPr/>
        </p:nvSpPr>
        <p:spPr>
          <a:xfrm>
            <a:off x="8643366" y="3794760"/>
            <a:ext cx="1417320" cy="384048"/>
          </a:xfrm>
          <a:prstGeom prst="rect">
            <a:avLst/>
          </a:prstGeom>
          <a:solidFill>
            <a:srgbClr val="F3F1EA"/>
          </a:solidFill>
          <a:ln w="12700">
            <a:solidFill>
              <a:srgbClr val="F3F1EA"/>
            </a:solidFill>
            <a:prstDash val="solid"/>
          </a:ln>
        </p:spPr>
      </p:sp>
      <p:sp>
        <p:nvSpPr>
          <p:cNvPr id="102" name="Shape 99"/>
          <p:cNvSpPr/>
          <p:nvPr/>
        </p:nvSpPr>
        <p:spPr>
          <a:xfrm>
            <a:off x="8643366" y="3794760"/>
            <a:ext cx="1417320" cy="0"/>
          </a:xfrm>
          <a:prstGeom prst="line">
            <a:avLst/>
          </a:prstGeom>
          <a:noFill/>
          <a:ln w="12700">
            <a:solidFill>
              <a:srgbClr val="6B6455"/>
            </a:solidFill>
            <a:prstDash val="solid"/>
          </a:ln>
        </p:spPr>
      </p:sp>
      <p:sp>
        <p:nvSpPr>
          <p:cNvPr id="103" name="Shape 100"/>
          <p:cNvSpPr/>
          <p:nvPr/>
        </p:nvSpPr>
        <p:spPr>
          <a:xfrm>
            <a:off x="8643366" y="4178808"/>
            <a:ext cx="1417320" cy="0"/>
          </a:xfrm>
          <a:prstGeom prst="line">
            <a:avLst/>
          </a:prstGeom>
          <a:noFill/>
          <a:ln w="12700">
            <a:solidFill>
              <a:srgbClr val="6B6455"/>
            </a:solidFill>
            <a:prstDash val="solid"/>
          </a:ln>
        </p:spPr>
      </p:sp>
      <p:sp>
        <p:nvSpPr>
          <p:cNvPr id="104" name="Shape 101"/>
          <p:cNvSpPr/>
          <p:nvPr/>
        </p:nvSpPr>
        <p:spPr>
          <a:xfrm>
            <a:off x="8643366" y="3794760"/>
            <a:ext cx="0" cy="384048"/>
          </a:xfrm>
          <a:prstGeom prst="line">
            <a:avLst/>
          </a:prstGeom>
          <a:noFill/>
          <a:ln w="12700">
            <a:solidFill>
              <a:srgbClr val="6B6455"/>
            </a:solidFill>
            <a:prstDash val="solid"/>
          </a:ln>
        </p:spPr>
      </p:sp>
      <p:sp>
        <p:nvSpPr>
          <p:cNvPr id="105" name="Shape 102"/>
          <p:cNvSpPr/>
          <p:nvPr/>
        </p:nvSpPr>
        <p:spPr>
          <a:xfrm>
            <a:off x="9027414" y="3794760"/>
            <a:ext cx="0" cy="384048"/>
          </a:xfrm>
          <a:prstGeom prst="line">
            <a:avLst/>
          </a:prstGeom>
          <a:noFill/>
          <a:ln w="12700">
            <a:solidFill>
              <a:srgbClr val="6B6455"/>
            </a:solidFill>
            <a:prstDash val="solid"/>
          </a:ln>
        </p:spPr>
      </p:sp>
      <p:sp>
        <p:nvSpPr>
          <p:cNvPr id="106" name="Text 103"/>
          <p:cNvSpPr txBox="1"/>
          <p:nvPr/>
        </p:nvSpPr>
        <p:spPr>
          <a:xfrm>
            <a:off x="8643366" y="3794760"/>
            <a:ext cx="384048" cy="384048"/>
          </a:xfrm>
          <a:prstGeom prst="rect">
            <a:avLst/>
          </a:prstGeom>
          <a:noFill/>
          <a:ln/>
        </p:spPr>
        <p:txBody>
          <a:bodyPr wrap="square" lIns="0" tIns="0" rIns="0" bIns="0" rtlCol="0" anchor="ctr"/>
          <a:lstStyle/>
          <a:p>
            <a:pPr algn="ctr" indent="0" marL="0">
              <a:buNone/>
            </a:pPr>
            <a:r>
              <a:rPr lang="en-US" sz="1000" b="1" dirty="0">
                <a:solidFill>
                  <a:srgbClr val="A8811F"/>
                </a:solidFill>
              </a:rPr>
              <a:t>D5</a:t>
            </a:r>
            <a:endParaRPr lang="en-US" sz="1000" dirty="0"/>
          </a:p>
        </p:txBody>
      </p:sp>
      <p:sp>
        <p:nvSpPr>
          <p:cNvPr id="107" name="Text 104"/>
          <p:cNvSpPr txBox="1"/>
          <p:nvPr/>
        </p:nvSpPr>
        <p:spPr>
          <a:xfrm>
            <a:off x="9082278" y="3794760"/>
            <a:ext cx="941832" cy="384048"/>
          </a:xfrm>
          <a:prstGeom prst="rect">
            <a:avLst/>
          </a:prstGeom>
          <a:noFill/>
          <a:ln/>
        </p:spPr>
        <p:txBody>
          <a:bodyPr wrap="square" lIns="0" tIns="0" rIns="0" bIns="0" rtlCol="0" anchor="ctr"/>
          <a:lstStyle/>
          <a:p>
            <a:pPr indent="0" marL="0">
              <a:buNone/>
            </a:pPr>
            <a:r>
              <a:rPr lang="en-US" sz="1000" b="1" dirty="0">
                <a:solidFill>
                  <a:schemeClr val="tx1"/>
                </a:solidFill>
              </a:rPr>
              <a:t>Returns, calcs</a:t>
            </a:r>
            <a:endParaRPr lang="en-US" sz="1000" dirty="0"/>
          </a:p>
        </p:txBody>
      </p:sp>
      <p:sp>
        <p:nvSpPr>
          <p:cNvPr id="108" name="Shape 105"/>
          <p:cNvSpPr/>
          <p:nvPr/>
        </p:nvSpPr>
        <p:spPr>
          <a:xfrm>
            <a:off x="9352026" y="3200400"/>
            <a:ext cx="0" cy="594360"/>
          </a:xfrm>
          <a:prstGeom prst="line">
            <a:avLst/>
          </a:prstGeom>
          <a:noFill/>
          <a:ln w="12700">
            <a:solidFill>
              <a:srgbClr val="8C8677"/>
            </a:solidFill>
            <a:prstDash val="solid"/>
            <a:headEnd type="triangle"/>
            <a:tailEnd type="triangle"/>
          </a:ln>
        </p:spPr>
      </p:sp>
      <p:sp>
        <p:nvSpPr>
          <p:cNvPr id="109" name="Store D7"/>
          <p:cNvSpPr/>
          <p:nvPr/>
        </p:nvSpPr>
        <p:spPr>
          <a:xfrm>
            <a:off x="10271455" y="3794760"/>
            <a:ext cx="1417320" cy="384048"/>
          </a:xfrm>
          <a:prstGeom prst="rect">
            <a:avLst/>
          </a:prstGeom>
          <a:solidFill>
            <a:srgbClr val="F3F1EA"/>
          </a:solidFill>
          <a:ln w="12700">
            <a:solidFill>
              <a:srgbClr val="F3F1EA"/>
            </a:solidFill>
            <a:prstDash val="solid"/>
          </a:ln>
        </p:spPr>
      </p:sp>
      <p:sp>
        <p:nvSpPr>
          <p:cNvPr id="110" name="Shape 107"/>
          <p:cNvSpPr/>
          <p:nvPr/>
        </p:nvSpPr>
        <p:spPr>
          <a:xfrm>
            <a:off x="10271455" y="3794760"/>
            <a:ext cx="1417320" cy="0"/>
          </a:xfrm>
          <a:prstGeom prst="line">
            <a:avLst/>
          </a:prstGeom>
          <a:noFill/>
          <a:ln w="12700">
            <a:solidFill>
              <a:srgbClr val="6B6455"/>
            </a:solidFill>
            <a:prstDash val="solid"/>
          </a:ln>
        </p:spPr>
      </p:sp>
      <p:sp>
        <p:nvSpPr>
          <p:cNvPr id="111" name="Shape 108"/>
          <p:cNvSpPr/>
          <p:nvPr/>
        </p:nvSpPr>
        <p:spPr>
          <a:xfrm>
            <a:off x="10271455" y="4178808"/>
            <a:ext cx="1417320" cy="0"/>
          </a:xfrm>
          <a:prstGeom prst="line">
            <a:avLst/>
          </a:prstGeom>
          <a:noFill/>
          <a:ln w="12700">
            <a:solidFill>
              <a:srgbClr val="6B6455"/>
            </a:solidFill>
            <a:prstDash val="solid"/>
          </a:ln>
        </p:spPr>
      </p:sp>
      <p:sp>
        <p:nvSpPr>
          <p:cNvPr id="112" name="Shape 109"/>
          <p:cNvSpPr/>
          <p:nvPr/>
        </p:nvSpPr>
        <p:spPr>
          <a:xfrm>
            <a:off x="10271455" y="3794760"/>
            <a:ext cx="0" cy="384048"/>
          </a:xfrm>
          <a:prstGeom prst="line">
            <a:avLst/>
          </a:prstGeom>
          <a:noFill/>
          <a:ln w="12700">
            <a:solidFill>
              <a:srgbClr val="6B6455"/>
            </a:solidFill>
            <a:prstDash val="solid"/>
          </a:ln>
        </p:spPr>
      </p:sp>
      <p:sp>
        <p:nvSpPr>
          <p:cNvPr id="113" name="Shape 110"/>
          <p:cNvSpPr/>
          <p:nvPr/>
        </p:nvSpPr>
        <p:spPr>
          <a:xfrm>
            <a:off x="10655503" y="3794760"/>
            <a:ext cx="0" cy="384048"/>
          </a:xfrm>
          <a:prstGeom prst="line">
            <a:avLst/>
          </a:prstGeom>
          <a:noFill/>
          <a:ln w="12700">
            <a:solidFill>
              <a:srgbClr val="6B6455"/>
            </a:solidFill>
            <a:prstDash val="solid"/>
          </a:ln>
        </p:spPr>
      </p:sp>
      <p:sp>
        <p:nvSpPr>
          <p:cNvPr id="114" name="Text 111"/>
          <p:cNvSpPr txBox="1"/>
          <p:nvPr/>
        </p:nvSpPr>
        <p:spPr>
          <a:xfrm>
            <a:off x="10271455" y="3794760"/>
            <a:ext cx="384048" cy="384048"/>
          </a:xfrm>
          <a:prstGeom prst="rect">
            <a:avLst/>
          </a:prstGeom>
          <a:noFill/>
          <a:ln/>
        </p:spPr>
        <p:txBody>
          <a:bodyPr wrap="square" lIns="0" tIns="0" rIns="0" bIns="0" rtlCol="0" anchor="ctr"/>
          <a:lstStyle/>
          <a:p>
            <a:pPr algn="ctr" indent="0" marL="0">
              <a:buNone/>
            </a:pPr>
            <a:r>
              <a:rPr lang="en-US" sz="1000" b="1" dirty="0">
                <a:solidFill>
                  <a:srgbClr val="A8811F"/>
                </a:solidFill>
              </a:rPr>
              <a:t>D7</a:t>
            </a:r>
            <a:endParaRPr lang="en-US" sz="1000" dirty="0"/>
          </a:p>
        </p:txBody>
      </p:sp>
      <p:sp>
        <p:nvSpPr>
          <p:cNvPr id="115" name="Text 112"/>
          <p:cNvSpPr txBox="1"/>
          <p:nvPr/>
        </p:nvSpPr>
        <p:spPr>
          <a:xfrm>
            <a:off x="10710367" y="3794760"/>
            <a:ext cx="941832" cy="384048"/>
          </a:xfrm>
          <a:prstGeom prst="rect">
            <a:avLst/>
          </a:prstGeom>
          <a:noFill/>
          <a:ln/>
        </p:spPr>
        <p:txBody>
          <a:bodyPr wrap="square" lIns="0" tIns="0" rIns="0" bIns="0" rtlCol="0" anchor="ctr"/>
          <a:lstStyle/>
          <a:p>
            <a:pPr indent="0" marL="0">
              <a:buNone/>
            </a:pPr>
            <a:r>
              <a:rPr lang="en-US" sz="1000" b="1" dirty="0">
                <a:solidFill>
                  <a:schemeClr val="tx1"/>
                </a:solidFill>
              </a:rPr>
              <a:t>Filing records</a:t>
            </a:r>
            <a:endParaRPr lang="en-US" sz="1000" dirty="0"/>
          </a:p>
        </p:txBody>
      </p:sp>
      <p:sp>
        <p:nvSpPr>
          <p:cNvPr id="116" name="Shape 113"/>
          <p:cNvSpPr/>
          <p:nvPr/>
        </p:nvSpPr>
        <p:spPr>
          <a:xfrm>
            <a:off x="10980115" y="3200400"/>
            <a:ext cx="0" cy="594360"/>
          </a:xfrm>
          <a:prstGeom prst="line">
            <a:avLst/>
          </a:prstGeom>
          <a:noFill/>
          <a:ln w="12700">
            <a:solidFill>
              <a:srgbClr val="8C8677"/>
            </a:solidFill>
            <a:prstDash val="solid"/>
            <a:headEnd type="triangle"/>
            <a:tailEnd type="triangle"/>
          </a:ln>
        </p:spPr>
      </p:sp>
      <p:sp>
        <p:nvSpPr>
          <p:cNvPr id="117" name="Shape 114"/>
          <p:cNvSpPr/>
          <p:nvPr/>
        </p:nvSpPr>
        <p:spPr>
          <a:xfrm>
            <a:off x="8341157" y="3200400"/>
            <a:ext cx="485089" cy="594360"/>
          </a:xfrm>
          <a:prstGeom prst="line">
            <a:avLst/>
          </a:prstGeom>
          <a:noFill/>
          <a:ln w="12700">
            <a:solidFill>
              <a:srgbClr val="8C8677"/>
            </a:solidFill>
            <a:prstDash val="solid"/>
            <a:tailEnd type="triangle"/>
          </a:ln>
        </p:spPr>
      </p:sp>
      <p:sp>
        <p:nvSpPr>
          <p:cNvPr id="118" name="Process 8.0"/>
          <p:cNvSpPr/>
          <p:nvPr/>
        </p:nvSpPr>
        <p:spPr>
          <a:xfrm>
            <a:off x="502920" y="4526280"/>
            <a:ext cx="2103120" cy="822960"/>
          </a:xfrm>
          <a:prstGeom prst="roundRect">
            <a:avLst>
              <a:gd name="adj" fmla="val 13333"/>
            </a:avLst>
          </a:prstGeom>
          <a:solidFill>
            <a:schemeClr val="bg1"/>
          </a:solidFill>
          <a:ln w="19050">
            <a:solidFill>
              <a:srgbClr val="A8811F"/>
            </a:solidFill>
            <a:prstDash val="solid"/>
          </a:ln>
          <a:effectLst>
            <a:outerShdw sx="100000" sy="100000" kx="0" ky="0" algn="bl" rotWithShape="0" blurRad="76200" dist="25400" dir="5400000">
              <a:srgbClr val="141416">
                <a:alpha val="10000"/>
              </a:srgbClr>
            </a:outerShdw>
          </a:effectLst>
        </p:spPr>
      </p:sp>
      <p:sp>
        <p:nvSpPr>
          <p:cNvPr id="119" name="Shape 116"/>
          <p:cNvSpPr/>
          <p:nvPr/>
        </p:nvSpPr>
        <p:spPr>
          <a:xfrm>
            <a:off x="576072" y="4800600"/>
            <a:ext cx="1956816" cy="0"/>
          </a:xfrm>
          <a:prstGeom prst="line">
            <a:avLst/>
          </a:prstGeom>
          <a:noFill/>
          <a:ln w="9525">
            <a:solidFill>
              <a:srgbClr val="D4AF37"/>
            </a:solidFill>
            <a:prstDash val="solid"/>
          </a:ln>
        </p:spPr>
      </p:sp>
      <p:sp>
        <p:nvSpPr>
          <p:cNvPr id="120" name="Text 117"/>
          <p:cNvSpPr txBox="1"/>
          <p:nvPr/>
        </p:nvSpPr>
        <p:spPr>
          <a:xfrm>
            <a:off x="502920" y="4562856"/>
            <a:ext cx="2103120" cy="237744"/>
          </a:xfrm>
          <a:prstGeom prst="rect">
            <a:avLst/>
          </a:prstGeom>
          <a:noFill/>
          <a:ln/>
        </p:spPr>
        <p:txBody>
          <a:bodyPr wrap="square" lIns="0" tIns="0" rIns="0" bIns="0" rtlCol="0" anchor="ctr"/>
          <a:lstStyle/>
          <a:p>
            <a:pPr algn="ctr" indent="0" marL="0">
              <a:buNone/>
            </a:pPr>
            <a:r>
              <a:rPr lang="en-US" sz="1100" b="1" dirty="0">
                <a:solidFill>
                  <a:srgbClr val="A8811F"/>
                </a:solidFill>
              </a:rPr>
              <a:t>8.0</a:t>
            </a:r>
            <a:endParaRPr lang="en-US" sz="1100" dirty="0"/>
          </a:p>
        </p:txBody>
      </p:sp>
      <p:sp>
        <p:nvSpPr>
          <p:cNvPr id="121" name="Text 118"/>
          <p:cNvSpPr txBox="1"/>
          <p:nvPr/>
        </p:nvSpPr>
        <p:spPr>
          <a:xfrm>
            <a:off x="557784" y="4837176"/>
            <a:ext cx="1993392" cy="475488"/>
          </a:xfrm>
          <a:prstGeom prst="rect">
            <a:avLst/>
          </a:prstGeom>
          <a:noFill/>
          <a:ln/>
        </p:spPr>
        <p:txBody>
          <a:bodyPr wrap="square" lIns="0" tIns="0" rIns="0" bIns="0" rtlCol="0" anchor="ctr"/>
          <a:lstStyle/>
          <a:p>
            <a:pPr algn="ctr" indent="0" marL="0">
              <a:buNone/>
            </a:pPr>
            <a:r>
              <a:rPr lang="en-US" sz="1100" b="1" dirty="0">
                <a:solidFill>
                  <a:schemeClr val="tx2"/>
                </a:solidFill>
              </a:rPr>
              <a:t>Communicate &amp; notify</a:t>
            </a:r>
            <a:endParaRPr lang="en-US" sz="1100" dirty="0"/>
          </a:p>
        </p:txBody>
      </p:sp>
      <p:sp>
        <p:nvSpPr>
          <p:cNvPr id="122" name="Entity WhatsApp · SMS · Email"/>
          <p:cNvSpPr/>
          <p:nvPr/>
        </p:nvSpPr>
        <p:spPr>
          <a:xfrm>
            <a:off x="2880360" y="4636008"/>
            <a:ext cx="1828800" cy="640080"/>
          </a:xfrm>
          <a:prstGeom prst="rect">
            <a:avLst/>
          </a:prstGeom>
          <a:solidFill>
            <a:srgbClr val="141416"/>
          </a:solidFill>
          <a:ln w="12700">
            <a:solidFill>
              <a:srgbClr val="141416"/>
            </a:solidFill>
            <a:prstDash val="solid"/>
          </a:ln>
        </p:spPr>
      </p:sp>
      <p:sp>
        <p:nvSpPr>
          <p:cNvPr id="123" name="Text 120"/>
          <p:cNvSpPr txBox="1"/>
          <p:nvPr/>
        </p:nvSpPr>
        <p:spPr>
          <a:xfrm>
            <a:off x="2953512" y="4636008"/>
            <a:ext cx="1682496" cy="640080"/>
          </a:xfrm>
          <a:prstGeom prst="rect">
            <a:avLst/>
          </a:prstGeom>
          <a:noFill/>
          <a:ln/>
        </p:spPr>
        <p:txBody>
          <a:bodyPr wrap="square" lIns="0" tIns="0" rIns="0" bIns="0" rtlCol="0" anchor="ctr"/>
          <a:lstStyle/>
          <a:p>
            <a:pPr algn="ctr" indent="0" marL="0">
              <a:buNone/>
            </a:pPr>
            <a:r>
              <a:rPr lang="en-US" sz="1200" b="1" dirty="0">
                <a:solidFill>
                  <a:srgbClr val="FFFFFF"/>
                </a:solidFill>
              </a:rPr>
              <a:t>WhatsApp · SMS · Email</a:t>
            </a:r>
            <a:endParaRPr lang="en-US" sz="1200" dirty="0"/>
          </a:p>
        </p:txBody>
      </p:sp>
      <p:sp>
        <p:nvSpPr>
          <p:cNvPr id="124" name="Shape 121"/>
          <p:cNvSpPr/>
          <p:nvPr/>
        </p:nvSpPr>
        <p:spPr>
          <a:xfrm>
            <a:off x="2606040" y="4937760"/>
            <a:ext cx="274320" cy="0"/>
          </a:xfrm>
          <a:prstGeom prst="line">
            <a:avLst/>
          </a:prstGeom>
          <a:noFill/>
          <a:ln w="15875">
            <a:solidFill>
              <a:srgbClr val="A8811F"/>
            </a:solidFill>
            <a:prstDash val="solid"/>
            <a:headEnd type="triangle"/>
            <a:tailEnd type="triangle"/>
          </a:ln>
        </p:spPr>
      </p:sp>
      <p:sp>
        <p:nvSpPr>
          <p:cNvPr id="125" name="Store D8"/>
          <p:cNvSpPr/>
          <p:nvPr/>
        </p:nvSpPr>
        <p:spPr>
          <a:xfrm>
            <a:off x="502920" y="5577840"/>
            <a:ext cx="2103120" cy="365760"/>
          </a:xfrm>
          <a:prstGeom prst="rect">
            <a:avLst/>
          </a:prstGeom>
          <a:solidFill>
            <a:srgbClr val="F3F1EA"/>
          </a:solidFill>
          <a:ln w="12700">
            <a:solidFill>
              <a:srgbClr val="F3F1EA"/>
            </a:solidFill>
            <a:prstDash val="solid"/>
          </a:ln>
        </p:spPr>
      </p:sp>
      <p:sp>
        <p:nvSpPr>
          <p:cNvPr id="126" name="Shape 123"/>
          <p:cNvSpPr/>
          <p:nvPr/>
        </p:nvSpPr>
        <p:spPr>
          <a:xfrm>
            <a:off x="502920" y="5577840"/>
            <a:ext cx="2103120" cy="0"/>
          </a:xfrm>
          <a:prstGeom prst="line">
            <a:avLst/>
          </a:prstGeom>
          <a:noFill/>
          <a:ln w="12700">
            <a:solidFill>
              <a:srgbClr val="6B6455"/>
            </a:solidFill>
            <a:prstDash val="solid"/>
          </a:ln>
        </p:spPr>
      </p:sp>
      <p:sp>
        <p:nvSpPr>
          <p:cNvPr id="127" name="Shape 124"/>
          <p:cNvSpPr/>
          <p:nvPr/>
        </p:nvSpPr>
        <p:spPr>
          <a:xfrm>
            <a:off x="502920" y="5943600"/>
            <a:ext cx="2103120" cy="0"/>
          </a:xfrm>
          <a:prstGeom prst="line">
            <a:avLst/>
          </a:prstGeom>
          <a:noFill/>
          <a:ln w="12700">
            <a:solidFill>
              <a:srgbClr val="6B6455"/>
            </a:solidFill>
            <a:prstDash val="solid"/>
          </a:ln>
        </p:spPr>
      </p:sp>
      <p:sp>
        <p:nvSpPr>
          <p:cNvPr id="128" name="Shape 125"/>
          <p:cNvSpPr/>
          <p:nvPr/>
        </p:nvSpPr>
        <p:spPr>
          <a:xfrm>
            <a:off x="502920" y="5577840"/>
            <a:ext cx="0" cy="365760"/>
          </a:xfrm>
          <a:prstGeom prst="line">
            <a:avLst/>
          </a:prstGeom>
          <a:noFill/>
          <a:ln w="12700">
            <a:solidFill>
              <a:srgbClr val="6B6455"/>
            </a:solidFill>
            <a:prstDash val="solid"/>
          </a:ln>
        </p:spPr>
      </p:sp>
      <p:sp>
        <p:nvSpPr>
          <p:cNvPr id="129" name="Shape 126"/>
          <p:cNvSpPr/>
          <p:nvPr/>
        </p:nvSpPr>
        <p:spPr>
          <a:xfrm>
            <a:off x="886968" y="5577840"/>
            <a:ext cx="0" cy="365760"/>
          </a:xfrm>
          <a:prstGeom prst="line">
            <a:avLst/>
          </a:prstGeom>
          <a:noFill/>
          <a:ln w="12700">
            <a:solidFill>
              <a:srgbClr val="6B6455"/>
            </a:solidFill>
            <a:prstDash val="solid"/>
          </a:ln>
        </p:spPr>
      </p:sp>
      <p:sp>
        <p:nvSpPr>
          <p:cNvPr id="130" name="Text 127"/>
          <p:cNvSpPr txBox="1"/>
          <p:nvPr/>
        </p:nvSpPr>
        <p:spPr>
          <a:xfrm>
            <a:off x="502920" y="5577840"/>
            <a:ext cx="384048" cy="365760"/>
          </a:xfrm>
          <a:prstGeom prst="rect">
            <a:avLst/>
          </a:prstGeom>
          <a:noFill/>
          <a:ln/>
        </p:spPr>
        <p:txBody>
          <a:bodyPr wrap="square" lIns="0" tIns="0" rIns="0" bIns="0" rtlCol="0" anchor="ctr"/>
          <a:lstStyle/>
          <a:p>
            <a:pPr algn="ctr" indent="0" marL="0">
              <a:buNone/>
            </a:pPr>
            <a:r>
              <a:rPr lang="en-US" sz="1000" b="1" dirty="0">
                <a:solidFill>
                  <a:srgbClr val="A8811F"/>
                </a:solidFill>
              </a:rPr>
              <a:t>D8</a:t>
            </a:r>
            <a:endParaRPr lang="en-US" sz="1000" dirty="0"/>
          </a:p>
        </p:txBody>
      </p:sp>
      <p:sp>
        <p:nvSpPr>
          <p:cNvPr id="131" name="Text 128"/>
          <p:cNvSpPr txBox="1"/>
          <p:nvPr/>
        </p:nvSpPr>
        <p:spPr>
          <a:xfrm>
            <a:off x="941832" y="5577840"/>
            <a:ext cx="1627632" cy="365760"/>
          </a:xfrm>
          <a:prstGeom prst="rect">
            <a:avLst/>
          </a:prstGeom>
          <a:noFill/>
          <a:ln/>
        </p:spPr>
        <p:txBody>
          <a:bodyPr wrap="square" lIns="0" tIns="0" rIns="0" bIns="0" rtlCol="0" anchor="ctr"/>
          <a:lstStyle/>
          <a:p>
            <a:pPr indent="0" marL="0">
              <a:buNone/>
            </a:pPr>
            <a:r>
              <a:rPr lang="en-US" sz="1000" b="1" dirty="0">
                <a:solidFill>
                  <a:schemeClr val="tx1"/>
                </a:solidFill>
              </a:rPr>
              <a:t>Messages &amp; conversations</a:t>
            </a:r>
            <a:endParaRPr lang="en-US" sz="1000" dirty="0"/>
          </a:p>
        </p:txBody>
      </p:sp>
      <p:sp>
        <p:nvSpPr>
          <p:cNvPr id="132" name="Shape 129"/>
          <p:cNvSpPr/>
          <p:nvPr/>
        </p:nvSpPr>
        <p:spPr>
          <a:xfrm>
            <a:off x="1554480" y="5349240"/>
            <a:ext cx="0" cy="228600"/>
          </a:xfrm>
          <a:prstGeom prst="line">
            <a:avLst/>
          </a:prstGeom>
          <a:noFill/>
          <a:ln w="12700">
            <a:solidFill>
              <a:srgbClr val="8C8677"/>
            </a:solidFill>
            <a:prstDash val="solid"/>
            <a:headEnd type="triangle"/>
            <a:tailEnd type="triangle"/>
          </a:ln>
        </p:spPr>
      </p:sp>
      <p:sp>
        <p:nvSpPr>
          <p:cNvPr id="133" name="Store D9"/>
          <p:cNvSpPr/>
          <p:nvPr/>
        </p:nvSpPr>
        <p:spPr>
          <a:xfrm>
            <a:off x="5029200" y="4773168"/>
            <a:ext cx="3017520" cy="384048"/>
          </a:xfrm>
          <a:prstGeom prst="rect">
            <a:avLst/>
          </a:prstGeom>
          <a:solidFill>
            <a:srgbClr val="F3F1EA"/>
          </a:solidFill>
          <a:ln w="12700">
            <a:solidFill>
              <a:srgbClr val="F3F1EA"/>
            </a:solidFill>
            <a:prstDash val="solid"/>
          </a:ln>
        </p:spPr>
      </p:sp>
      <p:sp>
        <p:nvSpPr>
          <p:cNvPr id="134" name="Shape 131"/>
          <p:cNvSpPr/>
          <p:nvPr/>
        </p:nvSpPr>
        <p:spPr>
          <a:xfrm>
            <a:off x="5029200" y="4773168"/>
            <a:ext cx="3017520" cy="0"/>
          </a:xfrm>
          <a:prstGeom prst="line">
            <a:avLst/>
          </a:prstGeom>
          <a:noFill/>
          <a:ln w="12700">
            <a:solidFill>
              <a:srgbClr val="6B6455"/>
            </a:solidFill>
            <a:prstDash val="solid"/>
          </a:ln>
        </p:spPr>
      </p:sp>
      <p:sp>
        <p:nvSpPr>
          <p:cNvPr id="135" name="Shape 132"/>
          <p:cNvSpPr/>
          <p:nvPr/>
        </p:nvSpPr>
        <p:spPr>
          <a:xfrm>
            <a:off x="5029200" y="5157216"/>
            <a:ext cx="3017520" cy="0"/>
          </a:xfrm>
          <a:prstGeom prst="line">
            <a:avLst/>
          </a:prstGeom>
          <a:noFill/>
          <a:ln w="12700">
            <a:solidFill>
              <a:srgbClr val="6B6455"/>
            </a:solidFill>
            <a:prstDash val="solid"/>
          </a:ln>
        </p:spPr>
      </p:sp>
      <p:sp>
        <p:nvSpPr>
          <p:cNvPr id="136" name="Shape 133"/>
          <p:cNvSpPr/>
          <p:nvPr/>
        </p:nvSpPr>
        <p:spPr>
          <a:xfrm>
            <a:off x="5029200" y="4773168"/>
            <a:ext cx="0" cy="384048"/>
          </a:xfrm>
          <a:prstGeom prst="line">
            <a:avLst/>
          </a:prstGeom>
          <a:noFill/>
          <a:ln w="12700">
            <a:solidFill>
              <a:srgbClr val="6B6455"/>
            </a:solidFill>
            <a:prstDash val="solid"/>
          </a:ln>
        </p:spPr>
      </p:sp>
      <p:sp>
        <p:nvSpPr>
          <p:cNvPr id="137" name="Shape 134"/>
          <p:cNvSpPr/>
          <p:nvPr/>
        </p:nvSpPr>
        <p:spPr>
          <a:xfrm>
            <a:off x="5413248" y="4773168"/>
            <a:ext cx="0" cy="384048"/>
          </a:xfrm>
          <a:prstGeom prst="line">
            <a:avLst/>
          </a:prstGeom>
          <a:noFill/>
          <a:ln w="12700">
            <a:solidFill>
              <a:srgbClr val="6B6455"/>
            </a:solidFill>
            <a:prstDash val="solid"/>
          </a:ln>
        </p:spPr>
      </p:sp>
      <p:sp>
        <p:nvSpPr>
          <p:cNvPr id="138" name="Text 135"/>
          <p:cNvSpPr txBox="1"/>
          <p:nvPr/>
        </p:nvSpPr>
        <p:spPr>
          <a:xfrm>
            <a:off x="5029200" y="4773168"/>
            <a:ext cx="384048" cy="384048"/>
          </a:xfrm>
          <a:prstGeom prst="rect">
            <a:avLst/>
          </a:prstGeom>
          <a:noFill/>
          <a:ln/>
        </p:spPr>
        <p:txBody>
          <a:bodyPr wrap="square" lIns="0" tIns="0" rIns="0" bIns="0" rtlCol="0" anchor="ctr"/>
          <a:lstStyle/>
          <a:p>
            <a:pPr algn="ctr" indent="0" marL="0">
              <a:buNone/>
            </a:pPr>
            <a:r>
              <a:rPr lang="en-US" sz="1000" b="1" dirty="0">
                <a:solidFill>
                  <a:srgbClr val="A8811F"/>
                </a:solidFill>
              </a:rPr>
              <a:t>D9</a:t>
            </a:r>
            <a:endParaRPr lang="en-US" sz="1000" dirty="0"/>
          </a:p>
        </p:txBody>
      </p:sp>
      <p:sp>
        <p:nvSpPr>
          <p:cNvPr id="139" name="Text 136"/>
          <p:cNvSpPr txBox="1"/>
          <p:nvPr/>
        </p:nvSpPr>
        <p:spPr>
          <a:xfrm>
            <a:off x="5468112" y="4773168"/>
            <a:ext cx="2542032" cy="384048"/>
          </a:xfrm>
          <a:prstGeom prst="rect">
            <a:avLst/>
          </a:prstGeom>
          <a:noFill/>
          <a:ln/>
        </p:spPr>
        <p:txBody>
          <a:bodyPr wrap="square" lIns="0" tIns="0" rIns="0" bIns="0" rtlCol="0" anchor="ctr"/>
          <a:lstStyle/>
          <a:p>
            <a:pPr indent="0" marL="0">
              <a:buNone/>
            </a:pPr>
            <a:r>
              <a:rPr lang="en-US" sz="1000" b="1" dirty="0">
                <a:solidFill>
                  <a:schemeClr val="tx1"/>
                </a:solidFill>
              </a:rPr>
              <a:t>Audit trail — every create, move, approval</a:t>
            </a:r>
            <a:endParaRPr lang="en-US" sz="1000" dirty="0"/>
          </a:p>
        </p:txBody>
      </p:sp>
      <p:sp>
        <p:nvSpPr>
          <p:cNvPr id="140" name="Process 9.0"/>
          <p:cNvSpPr/>
          <p:nvPr/>
        </p:nvSpPr>
        <p:spPr>
          <a:xfrm>
            <a:off x="9585655" y="4526280"/>
            <a:ext cx="2103120" cy="822960"/>
          </a:xfrm>
          <a:prstGeom prst="roundRect">
            <a:avLst>
              <a:gd name="adj" fmla="val 13333"/>
            </a:avLst>
          </a:prstGeom>
          <a:solidFill>
            <a:schemeClr val="bg1"/>
          </a:solidFill>
          <a:ln w="19050">
            <a:solidFill>
              <a:srgbClr val="A8811F"/>
            </a:solidFill>
            <a:prstDash val="solid"/>
          </a:ln>
          <a:effectLst>
            <a:outerShdw sx="100000" sy="100000" kx="0" ky="0" algn="bl" rotWithShape="0" blurRad="76200" dist="25400" dir="5400000">
              <a:srgbClr val="141416">
                <a:alpha val="10000"/>
              </a:srgbClr>
            </a:outerShdw>
          </a:effectLst>
        </p:spPr>
      </p:sp>
      <p:sp>
        <p:nvSpPr>
          <p:cNvPr id="141" name="Shape 138"/>
          <p:cNvSpPr/>
          <p:nvPr/>
        </p:nvSpPr>
        <p:spPr>
          <a:xfrm>
            <a:off x="9658807" y="4800600"/>
            <a:ext cx="1956816" cy="0"/>
          </a:xfrm>
          <a:prstGeom prst="line">
            <a:avLst/>
          </a:prstGeom>
          <a:noFill/>
          <a:ln w="9525">
            <a:solidFill>
              <a:srgbClr val="D4AF37"/>
            </a:solidFill>
            <a:prstDash val="solid"/>
          </a:ln>
        </p:spPr>
      </p:sp>
      <p:sp>
        <p:nvSpPr>
          <p:cNvPr id="142" name="Text 139"/>
          <p:cNvSpPr txBox="1"/>
          <p:nvPr/>
        </p:nvSpPr>
        <p:spPr>
          <a:xfrm>
            <a:off x="9585655" y="4562856"/>
            <a:ext cx="2103120" cy="237744"/>
          </a:xfrm>
          <a:prstGeom prst="rect">
            <a:avLst/>
          </a:prstGeom>
          <a:noFill/>
          <a:ln/>
        </p:spPr>
        <p:txBody>
          <a:bodyPr wrap="square" lIns="0" tIns="0" rIns="0" bIns="0" rtlCol="0" anchor="ctr"/>
          <a:lstStyle/>
          <a:p>
            <a:pPr algn="ctr" indent="0" marL="0">
              <a:buNone/>
            </a:pPr>
            <a:r>
              <a:rPr lang="en-US" sz="1100" b="1" dirty="0">
                <a:solidFill>
                  <a:srgbClr val="A8811F"/>
                </a:solidFill>
              </a:rPr>
              <a:t>9.0</a:t>
            </a:r>
            <a:endParaRPr lang="en-US" sz="1100" dirty="0"/>
          </a:p>
        </p:txBody>
      </p:sp>
      <p:sp>
        <p:nvSpPr>
          <p:cNvPr id="143" name="Text 140"/>
          <p:cNvSpPr txBox="1"/>
          <p:nvPr/>
        </p:nvSpPr>
        <p:spPr>
          <a:xfrm>
            <a:off x="9640519" y="4837176"/>
            <a:ext cx="1993392" cy="475488"/>
          </a:xfrm>
          <a:prstGeom prst="rect">
            <a:avLst/>
          </a:prstGeom>
          <a:noFill/>
          <a:ln/>
        </p:spPr>
        <p:txBody>
          <a:bodyPr wrap="square" lIns="0" tIns="0" rIns="0" bIns="0" rtlCol="0" anchor="ctr"/>
          <a:lstStyle/>
          <a:p>
            <a:pPr algn="ctr" indent="0" marL="0">
              <a:buNone/>
            </a:pPr>
            <a:r>
              <a:rPr lang="en-US" sz="1100" b="1" dirty="0">
                <a:solidFill>
                  <a:schemeClr val="tx2"/>
                </a:solidFill>
              </a:rPr>
              <a:t>Analyse &amp; report</a:t>
            </a:r>
            <a:endParaRPr lang="en-US" sz="1100" dirty="0"/>
          </a:p>
        </p:txBody>
      </p:sp>
      <p:sp>
        <p:nvSpPr>
          <p:cNvPr id="144" name="Shape 141"/>
          <p:cNvSpPr/>
          <p:nvPr/>
        </p:nvSpPr>
        <p:spPr>
          <a:xfrm>
            <a:off x="8046720" y="4937760"/>
            <a:ext cx="1538935" cy="0"/>
          </a:xfrm>
          <a:prstGeom prst="line">
            <a:avLst/>
          </a:prstGeom>
          <a:noFill/>
          <a:ln w="12700">
            <a:solidFill>
              <a:srgbClr val="8C8677"/>
            </a:solidFill>
            <a:prstDash val="solid"/>
            <a:tailEnd type="triangle"/>
          </a:ln>
        </p:spPr>
      </p:sp>
      <p:sp>
        <p:nvSpPr>
          <p:cNvPr id="145" name="Shape 142"/>
          <p:cNvSpPr/>
          <p:nvPr/>
        </p:nvSpPr>
        <p:spPr>
          <a:xfrm>
            <a:off x="9352026" y="4178808"/>
            <a:ext cx="873709" cy="347472"/>
          </a:xfrm>
          <a:prstGeom prst="line">
            <a:avLst/>
          </a:prstGeom>
          <a:noFill/>
          <a:ln w="12700">
            <a:solidFill>
              <a:srgbClr val="8C8677"/>
            </a:solidFill>
            <a:prstDash val="dash"/>
            <a:tailEnd type="triangle"/>
          </a:ln>
        </p:spPr>
      </p:sp>
      <p:sp>
        <p:nvSpPr>
          <p:cNvPr id="146" name="Shape 143"/>
          <p:cNvSpPr/>
          <p:nvPr/>
        </p:nvSpPr>
        <p:spPr>
          <a:xfrm>
            <a:off x="6095848" y="4178808"/>
            <a:ext cx="442112" cy="594360"/>
          </a:xfrm>
          <a:prstGeom prst="line">
            <a:avLst/>
          </a:prstGeom>
          <a:noFill/>
          <a:ln w="12700">
            <a:solidFill>
              <a:srgbClr val="8C8677"/>
            </a:solidFill>
            <a:prstDash val="dash"/>
            <a:tailEnd type="triangle"/>
          </a:ln>
        </p:spPr>
      </p:sp>
      <p:sp>
        <p:nvSpPr>
          <p:cNvPr id="147" name="Shape 144"/>
          <p:cNvSpPr/>
          <p:nvPr/>
        </p:nvSpPr>
        <p:spPr>
          <a:xfrm flipH="1">
            <a:off x="1965960" y="4178808"/>
            <a:ext cx="873709" cy="347472"/>
          </a:xfrm>
          <a:prstGeom prst="line">
            <a:avLst/>
          </a:prstGeom>
          <a:noFill/>
          <a:ln w="12700">
            <a:solidFill>
              <a:srgbClr val="8C8677"/>
            </a:solidFill>
            <a:prstDash val="dash"/>
            <a:tailEnd type="triangle"/>
          </a:ln>
        </p:spPr>
      </p:sp>
      <p:sp>
        <p:nvSpPr>
          <p:cNvPr id="148" name="Text 145"/>
          <p:cNvSpPr txBox="1"/>
          <p:nvPr/>
        </p:nvSpPr>
        <p:spPr>
          <a:xfrm>
            <a:off x="5029200" y="4279392"/>
            <a:ext cx="3017520" cy="228600"/>
          </a:xfrm>
          <a:prstGeom prst="rect">
            <a:avLst/>
          </a:prstGeom>
          <a:noFill/>
          <a:ln/>
        </p:spPr>
        <p:txBody>
          <a:bodyPr wrap="square" lIns="0" tIns="0" rIns="0" bIns="0" rtlCol="0" anchor="t"/>
          <a:lstStyle/>
          <a:p>
            <a:pPr algn="ctr" indent="0" marL="0">
              <a:buNone/>
            </a:pPr>
            <a:r>
              <a:rPr lang="en-US" sz="1000" dirty="0">
                <a:solidFill>
                  <a:srgbClr val="5F6470"/>
                </a:solidFill>
              </a:rPr>
              <a:t>every step → D9</a:t>
            </a:r>
            <a:endParaRPr lang="en-US" sz="1000" dirty="0"/>
          </a:p>
        </p:txBody>
      </p:sp>
      <p:sp>
        <p:nvSpPr>
          <p:cNvPr id="149" name="Text 146"/>
          <p:cNvSpPr txBox="1"/>
          <p:nvPr/>
        </p:nvSpPr>
        <p:spPr>
          <a:xfrm>
            <a:off x="9037015" y="5422392"/>
            <a:ext cx="2651760" cy="274320"/>
          </a:xfrm>
          <a:prstGeom prst="rect">
            <a:avLst/>
          </a:prstGeom>
          <a:noFill/>
          <a:ln/>
        </p:spPr>
        <p:txBody>
          <a:bodyPr wrap="square" lIns="0" tIns="0" rIns="0" bIns="0" rtlCol="0" anchor="t"/>
          <a:lstStyle/>
          <a:p>
            <a:pPr algn="r" indent="0" marL="0">
              <a:buNone/>
            </a:pPr>
            <a:r>
              <a:rPr lang="en-US" sz="1000" dirty="0">
                <a:solidFill>
                  <a:srgbClr val="5F6470"/>
                </a:solidFill>
              </a:rPr>
              <a:t>dashboards · insights · reports → staff</a:t>
            </a:r>
            <a:endParaRPr lang="en-US" sz="1000" dirty="0"/>
          </a:p>
        </p:txBody>
      </p:sp>
      <p:sp>
        <p:nvSpPr>
          <p:cNvPr id="150" name="Text 147"/>
          <p:cNvSpPr txBox="1"/>
          <p:nvPr/>
        </p:nvSpPr>
        <p:spPr>
          <a:xfrm>
            <a:off x="4572000" y="5897880"/>
            <a:ext cx="4846320" cy="411480"/>
          </a:xfrm>
          <a:prstGeom prst="rect">
            <a:avLst/>
          </a:prstGeom>
          <a:noFill/>
          <a:ln/>
        </p:spPr>
        <p:txBody>
          <a:bodyPr wrap="square" lIns="0" tIns="0" rIns="0" bIns="0" rtlCol="0" anchor="t"/>
          <a:lstStyle/>
          <a:p>
            <a:pPr indent="0" marL="0">
              <a:buNone/>
            </a:pPr>
            <a:r>
              <a:rPr lang="en-US" sz="1000" dirty="0">
                <a:solidFill>
                  <a:srgbClr val="5F6470"/>
                </a:solidFill>
              </a:rPr>
              <a:t>Main line:  qualified lead  →  verified client  →  engagement  →  documents verified  →  calculated return  →  approved return</a:t>
            </a:r>
            <a:endParaRPr lang="en-US" sz="1000" dirty="0"/>
          </a:p>
        </p:txBody>
      </p:sp>
      <p:sp>
        <p:nvSpPr>
          <p:cNvPr id="151"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endParaRPr lang="en-US" sz="13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502920" y="2148840"/>
            <a:ext cx="8229600" cy="320040"/>
          </a:xfrm>
          <a:prstGeom prst="rect">
            <a:avLst/>
          </a:prstGeom>
          <a:noFill/>
          <a:ln/>
        </p:spPr>
        <p:txBody>
          <a:bodyPr wrap="square" lIns="0" tIns="0" rIns="0" bIns="0" rtlCol="0"/>
          <a:lstStyle/>
          <a:p>
            <a:pPr indent="0" marL="0">
              <a:buNone/>
            </a:pPr>
            <a:r>
              <a:rPr lang="en-US" sz="1300" b="1" spc="300" kern="0" dirty="0">
                <a:solidFill>
                  <a:schemeClr val="accent2"/>
                </a:solidFill>
              </a:rPr>
              <a:t>SECTION 2</a:t>
            </a:r>
            <a:endParaRPr lang="en-US" sz="1300" dirty="0"/>
          </a:p>
        </p:txBody>
      </p:sp>
      <p:sp>
        <p:nvSpPr>
          <p:cNvPr id="3" name="Text 0"/>
          <p:cNvSpPr/>
          <p:nvPr>
            <p:ph idx="102" type="title" hasCustomPrompt="1"/>
          </p:nvPr>
        </p:nvSpPr>
        <p:spPr>
          <a:xfrm>
            <a:off x="502920" y="251460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Functional modules</a:t>
            </a:r>
            <a:endParaRPr lang="en-US" sz="4000" dirty="0"/>
          </a:p>
        </p:txBody>
      </p:sp>
      <p:sp>
        <p:nvSpPr>
          <p:cNvPr id="4" name="Text 0"/>
          <p:cNvSpPr/>
          <p:nvPr>
            <p:ph idx="103" type="body" hasCustomPrompt="1"/>
          </p:nvPr>
        </p:nvSpPr>
        <p:spPr>
          <a:xfrm>
            <a:off x="502920" y="3520440"/>
            <a:ext cx="8686800" cy="1005840"/>
          </a:xfrm>
          <a:prstGeom prst="rect">
            <a:avLst/>
          </a:prstGeom>
          <a:noFill/>
          <a:ln/>
        </p:spPr>
        <p:txBody>
          <a:bodyPr wrap="square" lIns="0" tIns="0" rIns="0" bIns="0" rtlCol="0" anchor="t"/>
          <a:lstStyle/>
          <a:p>
            <a:pPr algn="l" indent="0" marL="0">
              <a:buNone/>
            </a:pPr>
            <a:r>
              <a:rPr lang="en-US" sz="1600" dirty="0">
                <a:solidFill>
                  <a:srgbClr val="C9C3B3"/>
                </a:solidFill>
              </a:rPr>
              <a:t>From first contact to the IRIS acknowledgment: the client journey, the 12-state return workflow and each module that supports it.</a:t>
            </a:r>
            <a:endParaRPr lang="en-US" sz="16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677"/>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CLIENT JOURNEY</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Seven steps the client sees in the portal</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Every step is dated from the audit trail and shown as a progress tracker to the client and to staff</a:t>
            </a:r>
            <a:endParaRPr lang="en-US" sz="1300" dirty="0"/>
          </a:p>
        </p:txBody>
      </p:sp>
      <p:sp>
        <p:nvSpPr>
          <p:cNvPr id="5" name="Shape 3"/>
          <p:cNvSpPr/>
          <p:nvPr/>
        </p:nvSpPr>
        <p:spPr>
          <a:xfrm>
            <a:off x="1301910" y="2395728"/>
            <a:ext cx="9587876" cy="0"/>
          </a:xfrm>
          <a:prstGeom prst="line">
            <a:avLst/>
          </a:prstGeom>
          <a:noFill/>
          <a:ln w="25400">
            <a:solidFill>
              <a:srgbClr val="D4AF37"/>
            </a:solidFill>
            <a:prstDash val="solid"/>
          </a:ln>
        </p:spPr>
      </p:sp>
      <p:sp>
        <p:nvSpPr>
          <p:cNvPr id="6" name="Shape 4"/>
          <p:cNvSpPr/>
          <p:nvPr/>
        </p:nvSpPr>
        <p:spPr>
          <a:xfrm>
            <a:off x="972726" y="2066544"/>
            <a:ext cx="658368" cy="658368"/>
          </a:xfrm>
          <a:prstGeom prst="ellipse">
            <a:avLst/>
          </a:prstGeom>
          <a:solidFill>
            <a:srgbClr val="A8811F"/>
          </a:solidFill>
          <a:ln w="12700">
            <a:solidFill>
              <a:srgbClr val="A8811F"/>
            </a:solidFill>
            <a:prstDash val="solid"/>
          </a:ln>
        </p:spPr>
      </p:sp>
      <p:pic>
        <p:nvPicPr>
          <p:cNvPr id="7" name="Image 0" descr="preencoded.png">    </p:cNvPr>
          <p:cNvPicPr>
            <a:picLocks noChangeAspect="1"/>
          </p:cNvPicPr>
          <p:nvPr/>
        </p:nvPicPr>
        <p:blipFill>
          <a:blip r:embed="rId1"/>
          <a:stretch>
            <a:fillRect/>
          </a:stretch>
        </p:blipFill>
        <p:spPr>
          <a:xfrm>
            <a:off x="1130734" y="2224552"/>
            <a:ext cx="342351" cy="342351"/>
          </a:xfrm>
          <a:prstGeom prst="rect">
            <a:avLst/>
          </a:prstGeom>
        </p:spPr>
      </p:pic>
      <p:sp>
        <p:nvSpPr>
          <p:cNvPr id="8" name="Text 5"/>
          <p:cNvSpPr txBox="1"/>
          <p:nvPr/>
        </p:nvSpPr>
        <p:spPr>
          <a:xfrm>
            <a:off x="1484790" y="1938528"/>
            <a:ext cx="274320" cy="274320"/>
          </a:xfrm>
          <a:prstGeom prst="rect">
            <a:avLst/>
          </a:prstGeom>
          <a:noFill/>
          <a:ln/>
        </p:spPr>
        <p:txBody>
          <a:bodyPr wrap="square" lIns="0" tIns="0" rIns="0" bIns="0" rtlCol="0" anchor="t"/>
          <a:lstStyle/>
          <a:p>
            <a:pPr indent="0" marL="0">
              <a:buNone/>
            </a:pPr>
            <a:r>
              <a:rPr lang="en-US" sz="1100" b="1" dirty="0">
                <a:solidFill>
                  <a:srgbClr val="A8811F"/>
                </a:solidFill>
              </a:rPr>
              <a:t>1</a:t>
            </a:r>
            <a:endParaRPr lang="en-US" sz="1100" dirty="0"/>
          </a:p>
        </p:txBody>
      </p:sp>
      <p:sp>
        <p:nvSpPr>
          <p:cNvPr id="9" name="Text 6"/>
          <p:cNvSpPr txBox="1"/>
          <p:nvPr/>
        </p:nvSpPr>
        <p:spPr>
          <a:xfrm>
            <a:off x="576072" y="2852928"/>
            <a:ext cx="1451675" cy="292608"/>
          </a:xfrm>
          <a:prstGeom prst="rect">
            <a:avLst/>
          </a:prstGeom>
          <a:noFill/>
          <a:ln/>
        </p:spPr>
        <p:txBody>
          <a:bodyPr wrap="square" lIns="0" tIns="0" rIns="0" bIns="0" rtlCol="0" anchor="t"/>
          <a:lstStyle/>
          <a:p>
            <a:pPr algn="ctr" indent="0" marL="0">
              <a:buNone/>
            </a:pPr>
            <a:r>
              <a:rPr lang="en-US" sz="1300" b="1" dirty="0">
                <a:solidFill>
                  <a:schemeClr val="tx2"/>
                </a:solidFill>
              </a:rPr>
              <a:t>Account</a:t>
            </a:r>
            <a:endParaRPr lang="en-US" sz="1300" dirty="0"/>
          </a:p>
        </p:txBody>
      </p:sp>
      <p:sp>
        <p:nvSpPr>
          <p:cNvPr id="10" name="Text 7"/>
          <p:cNvSpPr txBox="1"/>
          <p:nvPr/>
        </p:nvSpPr>
        <p:spPr>
          <a:xfrm>
            <a:off x="576072" y="3163824"/>
            <a:ext cx="1451675" cy="1005840"/>
          </a:xfrm>
          <a:prstGeom prst="rect">
            <a:avLst/>
          </a:prstGeom>
          <a:noFill/>
          <a:ln/>
        </p:spPr>
        <p:txBody>
          <a:bodyPr wrap="square" lIns="0" tIns="0" rIns="0" bIns="0" rtlCol="0" anchor="t"/>
          <a:lstStyle/>
          <a:p>
            <a:pPr algn="ctr" indent="0" marL="0">
              <a:buNone/>
            </a:pPr>
            <a:r>
              <a:rPr lang="en-US" sz="1100" dirty="0">
                <a:solidFill>
                  <a:srgbClr val="5F6470"/>
                </a:solidFill>
              </a:rPr>
              <a:t>Sign up, verify mobile with a 6-digit code (WhatsApp first, SMS backup)</a:t>
            </a:r>
            <a:endParaRPr lang="en-US" sz="1100" dirty="0"/>
          </a:p>
        </p:txBody>
      </p:sp>
      <p:sp>
        <p:nvSpPr>
          <p:cNvPr id="11" name="Shape 8"/>
          <p:cNvSpPr/>
          <p:nvPr/>
        </p:nvSpPr>
        <p:spPr>
          <a:xfrm>
            <a:off x="2570705" y="2066544"/>
            <a:ext cx="658368" cy="658368"/>
          </a:xfrm>
          <a:prstGeom prst="ellipse">
            <a:avLst/>
          </a:prstGeom>
          <a:solidFill>
            <a:srgbClr val="A8811F"/>
          </a:solidFill>
          <a:ln w="12700">
            <a:solidFill>
              <a:srgbClr val="A8811F"/>
            </a:solidFill>
            <a:prstDash val="solid"/>
          </a:ln>
        </p:spPr>
      </p:sp>
      <p:pic>
        <p:nvPicPr>
          <p:cNvPr id="12" name="Image 1" descr="preencoded.png">    </p:cNvPr>
          <p:cNvPicPr>
            <a:picLocks noChangeAspect="1"/>
          </p:cNvPicPr>
          <p:nvPr/>
        </p:nvPicPr>
        <p:blipFill>
          <a:blip r:embed="rId2"/>
          <a:stretch>
            <a:fillRect/>
          </a:stretch>
        </p:blipFill>
        <p:spPr>
          <a:xfrm>
            <a:off x="2728713" y="2224552"/>
            <a:ext cx="342351" cy="342351"/>
          </a:xfrm>
          <a:prstGeom prst="rect">
            <a:avLst/>
          </a:prstGeom>
        </p:spPr>
      </p:pic>
      <p:sp>
        <p:nvSpPr>
          <p:cNvPr id="13" name="Text 9"/>
          <p:cNvSpPr txBox="1"/>
          <p:nvPr/>
        </p:nvSpPr>
        <p:spPr>
          <a:xfrm>
            <a:off x="3082769" y="1938528"/>
            <a:ext cx="274320" cy="274320"/>
          </a:xfrm>
          <a:prstGeom prst="rect">
            <a:avLst/>
          </a:prstGeom>
          <a:noFill/>
          <a:ln/>
        </p:spPr>
        <p:txBody>
          <a:bodyPr wrap="square" lIns="0" tIns="0" rIns="0" bIns="0" rtlCol="0" anchor="t"/>
          <a:lstStyle/>
          <a:p>
            <a:pPr indent="0" marL="0">
              <a:buNone/>
            </a:pPr>
            <a:r>
              <a:rPr lang="en-US" sz="1100" b="1" dirty="0">
                <a:solidFill>
                  <a:srgbClr val="A8811F"/>
                </a:solidFill>
              </a:rPr>
              <a:t>2</a:t>
            </a:r>
            <a:endParaRPr lang="en-US" sz="1100" dirty="0"/>
          </a:p>
        </p:txBody>
      </p:sp>
      <p:sp>
        <p:nvSpPr>
          <p:cNvPr id="14" name="Text 10"/>
          <p:cNvSpPr txBox="1"/>
          <p:nvPr/>
        </p:nvSpPr>
        <p:spPr>
          <a:xfrm>
            <a:off x="2174051" y="2852928"/>
            <a:ext cx="1451675" cy="292608"/>
          </a:xfrm>
          <a:prstGeom prst="rect">
            <a:avLst/>
          </a:prstGeom>
          <a:noFill/>
          <a:ln/>
        </p:spPr>
        <p:txBody>
          <a:bodyPr wrap="square" lIns="0" tIns="0" rIns="0" bIns="0" rtlCol="0" anchor="t"/>
          <a:lstStyle/>
          <a:p>
            <a:pPr algn="ctr" indent="0" marL="0">
              <a:buNone/>
            </a:pPr>
            <a:r>
              <a:rPr lang="en-US" sz="1300" b="1" dirty="0">
                <a:solidFill>
                  <a:schemeClr val="tx2"/>
                </a:solidFill>
              </a:rPr>
              <a:t>Documents</a:t>
            </a:r>
            <a:endParaRPr lang="en-US" sz="1300" dirty="0"/>
          </a:p>
        </p:txBody>
      </p:sp>
      <p:sp>
        <p:nvSpPr>
          <p:cNvPr id="15" name="Text 11"/>
          <p:cNvSpPr txBox="1"/>
          <p:nvPr/>
        </p:nvSpPr>
        <p:spPr>
          <a:xfrm>
            <a:off x="2174051" y="3163824"/>
            <a:ext cx="1451675" cy="1005840"/>
          </a:xfrm>
          <a:prstGeom prst="rect">
            <a:avLst/>
          </a:prstGeom>
          <a:noFill/>
          <a:ln/>
        </p:spPr>
        <p:txBody>
          <a:bodyPr wrap="square" lIns="0" tIns="0" rIns="0" bIns="0" rtlCol="0" anchor="t"/>
          <a:lstStyle/>
          <a:p>
            <a:pPr algn="ctr" indent="0" marL="0">
              <a:buNone/>
            </a:pPr>
            <a:r>
              <a:rPr lang="en-US" sz="1100" dirty="0">
                <a:solidFill>
                  <a:srgbClr val="5F6470"/>
                </a:solidFill>
              </a:rPr>
              <a:t>Answer 10 questions → personalised checklist; upload from the phone</a:t>
            </a:r>
            <a:endParaRPr lang="en-US" sz="1100" dirty="0"/>
          </a:p>
        </p:txBody>
      </p:sp>
      <p:sp>
        <p:nvSpPr>
          <p:cNvPr id="16" name="Shape 12"/>
          <p:cNvSpPr/>
          <p:nvPr/>
        </p:nvSpPr>
        <p:spPr>
          <a:xfrm>
            <a:off x="4168684" y="2066544"/>
            <a:ext cx="658368" cy="658368"/>
          </a:xfrm>
          <a:prstGeom prst="ellipse">
            <a:avLst/>
          </a:prstGeom>
          <a:solidFill>
            <a:srgbClr val="A8811F"/>
          </a:solidFill>
          <a:ln w="12700">
            <a:solidFill>
              <a:srgbClr val="A8811F"/>
            </a:solidFill>
            <a:prstDash val="solid"/>
          </a:ln>
        </p:spPr>
      </p:sp>
      <p:pic>
        <p:nvPicPr>
          <p:cNvPr id="17" name="Image 2" descr="preencoded.png">    </p:cNvPr>
          <p:cNvPicPr>
            <a:picLocks noChangeAspect="1"/>
          </p:cNvPicPr>
          <p:nvPr/>
        </p:nvPicPr>
        <p:blipFill>
          <a:blip r:embed="rId3"/>
          <a:stretch>
            <a:fillRect/>
          </a:stretch>
        </p:blipFill>
        <p:spPr>
          <a:xfrm>
            <a:off x="4326693" y="2224552"/>
            <a:ext cx="342351" cy="342351"/>
          </a:xfrm>
          <a:prstGeom prst="rect">
            <a:avLst/>
          </a:prstGeom>
        </p:spPr>
      </p:pic>
      <p:sp>
        <p:nvSpPr>
          <p:cNvPr id="18" name="Text 13"/>
          <p:cNvSpPr txBox="1"/>
          <p:nvPr/>
        </p:nvSpPr>
        <p:spPr>
          <a:xfrm>
            <a:off x="4680748" y="1938528"/>
            <a:ext cx="274320" cy="274320"/>
          </a:xfrm>
          <a:prstGeom prst="rect">
            <a:avLst/>
          </a:prstGeom>
          <a:noFill/>
          <a:ln/>
        </p:spPr>
        <p:txBody>
          <a:bodyPr wrap="square" lIns="0" tIns="0" rIns="0" bIns="0" rtlCol="0" anchor="t"/>
          <a:lstStyle/>
          <a:p>
            <a:pPr indent="0" marL="0">
              <a:buNone/>
            </a:pPr>
            <a:r>
              <a:rPr lang="en-US" sz="1100" b="1" dirty="0">
                <a:solidFill>
                  <a:srgbClr val="A8811F"/>
                </a:solidFill>
              </a:rPr>
              <a:t>3</a:t>
            </a:r>
            <a:endParaRPr lang="en-US" sz="1100" dirty="0"/>
          </a:p>
        </p:txBody>
      </p:sp>
      <p:sp>
        <p:nvSpPr>
          <p:cNvPr id="19" name="Text 14"/>
          <p:cNvSpPr txBox="1"/>
          <p:nvPr/>
        </p:nvSpPr>
        <p:spPr>
          <a:xfrm>
            <a:off x="3772031" y="2852928"/>
            <a:ext cx="1451675" cy="292608"/>
          </a:xfrm>
          <a:prstGeom prst="rect">
            <a:avLst/>
          </a:prstGeom>
          <a:noFill/>
          <a:ln/>
        </p:spPr>
        <p:txBody>
          <a:bodyPr wrap="square" lIns="0" tIns="0" rIns="0" bIns="0" rtlCol="0" anchor="t"/>
          <a:lstStyle/>
          <a:p>
            <a:pPr algn="ctr" indent="0" marL="0">
              <a:buNone/>
            </a:pPr>
            <a:r>
              <a:rPr lang="en-US" sz="1300" b="1" dirty="0">
                <a:solidFill>
                  <a:schemeClr val="tx2"/>
                </a:solidFill>
              </a:rPr>
              <a:t>In preparation</a:t>
            </a:r>
            <a:endParaRPr lang="en-US" sz="1300" dirty="0"/>
          </a:p>
        </p:txBody>
      </p:sp>
      <p:sp>
        <p:nvSpPr>
          <p:cNvPr id="20" name="Text 15"/>
          <p:cNvSpPr txBox="1"/>
          <p:nvPr/>
        </p:nvSpPr>
        <p:spPr>
          <a:xfrm>
            <a:off x="3772031" y="3163824"/>
            <a:ext cx="1451675" cy="1005840"/>
          </a:xfrm>
          <a:prstGeom prst="rect">
            <a:avLst/>
          </a:prstGeom>
          <a:noFill/>
          <a:ln/>
        </p:spPr>
        <p:txBody>
          <a:bodyPr wrap="square" lIns="0" tIns="0" rIns="0" bIns="0" rtlCol="0" anchor="t"/>
          <a:lstStyle/>
          <a:p>
            <a:pPr algn="ctr" indent="0" marL="0">
              <a:buNone/>
            </a:pPr>
            <a:r>
              <a:rPr lang="en-US" sz="1100" dirty="0">
                <a:solidFill>
                  <a:srgbClr val="5F6470"/>
                </a:solidFill>
              </a:rPr>
              <a:t>Consultant verifies documents, enters lines, calculates tax</a:t>
            </a:r>
            <a:endParaRPr lang="en-US" sz="1100" dirty="0"/>
          </a:p>
        </p:txBody>
      </p:sp>
      <p:sp>
        <p:nvSpPr>
          <p:cNvPr id="21" name="Shape 16"/>
          <p:cNvSpPr/>
          <p:nvPr/>
        </p:nvSpPr>
        <p:spPr>
          <a:xfrm>
            <a:off x="5766664" y="2066544"/>
            <a:ext cx="658368" cy="658368"/>
          </a:xfrm>
          <a:prstGeom prst="ellipse">
            <a:avLst/>
          </a:prstGeom>
          <a:solidFill>
            <a:srgbClr val="A8811F"/>
          </a:solidFill>
          <a:ln w="12700">
            <a:solidFill>
              <a:srgbClr val="A8811F"/>
            </a:solidFill>
            <a:prstDash val="solid"/>
          </a:ln>
        </p:spPr>
      </p:sp>
      <p:pic>
        <p:nvPicPr>
          <p:cNvPr id="22" name="Image 3" descr="preencoded.png">    </p:cNvPr>
          <p:cNvPicPr>
            <a:picLocks noChangeAspect="1"/>
          </p:cNvPicPr>
          <p:nvPr/>
        </p:nvPicPr>
        <p:blipFill>
          <a:blip r:embed="rId4"/>
          <a:stretch>
            <a:fillRect/>
          </a:stretch>
        </p:blipFill>
        <p:spPr>
          <a:xfrm>
            <a:off x="5924672" y="2224552"/>
            <a:ext cx="342351" cy="342351"/>
          </a:xfrm>
          <a:prstGeom prst="rect">
            <a:avLst/>
          </a:prstGeom>
        </p:spPr>
      </p:pic>
      <p:sp>
        <p:nvSpPr>
          <p:cNvPr id="23" name="Text 17"/>
          <p:cNvSpPr txBox="1"/>
          <p:nvPr/>
        </p:nvSpPr>
        <p:spPr>
          <a:xfrm>
            <a:off x="6278728" y="1938528"/>
            <a:ext cx="274320" cy="274320"/>
          </a:xfrm>
          <a:prstGeom prst="rect">
            <a:avLst/>
          </a:prstGeom>
          <a:noFill/>
          <a:ln/>
        </p:spPr>
        <p:txBody>
          <a:bodyPr wrap="square" lIns="0" tIns="0" rIns="0" bIns="0" rtlCol="0" anchor="t"/>
          <a:lstStyle/>
          <a:p>
            <a:pPr indent="0" marL="0">
              <a:buNone/>
            </a:pPr>
            <a:r>
              <a:rPr lang="en-US" sz="1100" b="1" dirty="0">
                <a:solidFill>
                  <a:srgbClr val="A8811F"/>
                </a:solidFill>
              </a:rPr>
              <a:t>4</a:t>
            </a:r>
            <a:endParaRPr lang="en-US" sz="1100" dirty="0"/>
          </a:p>
        </p:txBody>
      </p:sp>
      <p:sp>
        <p:nvSpPr>
          <p:cNvPr id="24" name="Text 18"/>
          <p:cNvSpPr txBox="1"/>
          <p:nvPr/>
        </p:nvSpPr>
        <p:spPr>
          <a:xfrm>
            <a:off x="5370010" y="2852928"/>
            <a:ext cx="1451675" cy="292608"/>
          </a:xfrm>
          <a:prstGeom prst="rect">
            <a:avLst/>
          </a:prstGeom>
          <a:noFill/>
          <a:ln/>
        </p:spPr>
        <p:txBody>
          <a:bodyPr wrap="square" lIns="0" tIns="0" rIns="0" bIns="0" rtlCol="0" anchor="t"/>
          <a:lstStyle/>
          <a:p>
            <a:pPr algn="ctr" indent="0" marL="0">
              <a:buNone/>
            </a:pPr>
            <a:r>
              <a:rPr lang="en-US" sz="1300" b="1" dirty="0">
                <a:solidFill>
                  <a:schemeClr val="tx2"/>
                </a:solidFill>
              </a:rPr>
              <a:t>In review</a:t>
            </a:r>
            <a:endParaRPr lang="en-US" sz="1300" dirty="0"/>
          </a:p>
        </p:txBody>
      </p:sp>
      <p:sp>
        <p:nvSpPr>
          <p:cNvPr id="25" name="Text 19"/>
          <p:cNvSpPr txBox="1"/>
          <p:nvPr/>
        </p:nvSpPr>
        <p:spPr>
          <a:xfrm>
            <a:off x="5370010" y="3163824"/>
            <a:ext cx="1451675" cy="1005840"/>
          </a:xfrm>
          <a:prstGeom prst="rect">
            <a:avLst/>
          </a:prstGeom>
          <a:noFill/>
          <a:ln/>
        </p:spPr>
        <p:txBody>
          <a:bodyPr wrap="square" lIns="0" tIns="0" rIns="0" bIns="0" rtlCol="0" anchor="t"/>
          <a:lstStyle/>
          <a:p>
            <a:pPr algn="ctr" indent="0" marL="0">
              <a:buNone/>
            </a:pPr>
            <a:r>
              <a:rPr lang="en-US" sz="1100" dirty="0">
                <a:solidFill>
                  <a:srgbClr val="5F6470"/>
                </a:solidFill>
              </a:rPr>
              <a:t>A second person reviews against a checklist</a:t>
            </a:r>
            <a:endParaRPr lang="en-US" sz="1100" dirty="0"/>
          </a:p>
        </p:txBody>
      </p:sp>
      <p:sp>
        <p:nvSpPr>
          <p:cNvPr id="26" name="Shape 20"/>
          <p:cNvSpPr/>
          <p:nvPr/>
        </p:nvSpPr>
        <p:spPr>
          <a:xfrm>
            <a:off x="7364643" y="2066544"/>
            <a:ext cx="658368" cy="658368"/>
          </a:xfrm>
          <a:prstGeom prst="ellipse">
            <a:avLst/>
          </a:prstGeom>
          <a:solidFill>
            <a:srgbClr val="141416"/>
          </a:solidFill>
          <a:ln w="12700">
            <a:solidFill>
              <a:srgbClr val="141416"/>
            </a:solidFill>
            <a:prstDash val="solid"/>
          </a:ln>
        </p:spPr>
      </p:sp>
      <p:pic>
        <p:nvPicPr>
          <p:cNvPr id="27" name="Image 4" descr="preencoded.png">    </p:cNvPr>
          <p:cNvPicPr>
            <a:picLocks noChangeAspect="1"/>
          </p:cNvPicPr>
          <p:nvPr/>
        </p:nvPicPr>
        <p:blipFill>
          <a:blip r:embed="rId5"/>
          <a:stretch>
            <a:fillRect/>
          </a:stretch>
        </p:blipFill>
        <p:spPr>
          <a:xfrm>
            <a:off x="7522651" y="2224552"/>
            <a:ext cx="342351" cy="342351"/>
          </a:xfrm>
          <a:prstGeom prst="rect">
            <a:avLst/>
          </a:prstGeom>
        </p:spPr>
      </p:pic>
      <p:sp>
        <p:nvSpPr>
          <p:cNvPr id="28" name="Text 21"/>
          <p:cNvSpPr txBox="1"/>
          <p:nvPr/>
        </p:nvSpPr>
        <p:spPr>
          <a:xfrm>
            <a:off x="7876707" y="1938528"/>
            <a:ext cx="274320" cy="274320"/>
          </a:xfrm>
          <a:prstGeom prst="rect">
            <a:avLst/>
          </a:prstGeom>
          <a:noFill/>
          <a:ln/>
        </p:spPr>
        <p:txBody>
          <a:bodyPr wrap="square" lIns="0" tIns="0" rIns="0" bIns="0" rtlCol="0" anchor="t"/>
          <a:lstStyle/>
          <a:p>
            <a:pPr indent="0" marL="0">
              <a:buNone/>
            </a:pPr>
            <a:r>
              <a:rPr lang="en-US" sz="1100" b="1" dirty="0">
                <a:solidFill>
                  <a:srgbClr val="A8811F"/>
                </a:solidFill>
              </a:rPr>
              <a:t>5</a:t>
            </a:r>
            <a:endParaRPr lang="en-US" sz="1100" dirty="0"/>
          </a:p>
        </p:txBody>
      </p:sp>
      <p:sp>
        <p:nvSpPr>
          <p:cNvPr id="29" name="Text 22"/>
          <p:cNvSpPr txBox="1"/>
          <p:nvPr/>
        </p:nvSpPr>
        <p:spPr>
          <a:xfrm>
            <a:off x="6967989" y="2852928"/>
            <a:ext cx="1451675" cy="292608"/>
          </a:xfrm>
          <a:prstGeom prst="rect">
            <a:avLst/>
          </a:prstGeom>
          <a:noFill/>
          <a:ln/>
        </p:spPr>
        <p:txBody>
          <a:bodyPr wrap="square" lIns="0" tIns="0" rIns="0" bIns="0" rtlCol="0" anchor="t"/>
          <a:lstStyle/>
          <a:p>
            <a:pPr algn="ctr" indent="0" marL="0">
              <a:buNone/>
            </a:pPr>
            <a:r>
              <a:rPr lang="en-US" sz="1300" b="1" dirty="0">
                <a:solidFill>
                  <a:schemeClr val="tx2"/>
                </a:solidFill>
              </a:rPr>
              <a:t>Confirmation</a:t>
            </a:r>
            <a:endParaRPr lang="en-US" sz="1300" dirty="0"/>
          </a:p>
        </p:txBody>
      </p:sp>
      <p:sp>
        <p:nvSpPr>
          <p:cNvPr id="30" name="Text 23"/>
          <p:cNvSpPr txBox="1"/>
          <p:nvPr/>
        </p:nvSpPr>
        <p:spPr>
          <a:xfrm>
            <a:off x="6967989" y="3163824"/>
            <a:ext cx="1451675" cy="1005840"/>
          </a:xfrm>
          <a:prstGeom prst="rect">
            <a:avLst/>
          </a:prstGeom>
          <a:noFill/>
          <a:ln/>
        </p:spPr>
        <p:txBody>
          <a:bodyPr wrap="square" lIns="0" tIns="0" rIns="0" bIns="0" rtlCol="0" anchor="t"/>
          <a:lstStyle/>
          <a:p>
            <a:pPr algn="ctr" indent="0" marL="0">
              <a:buNone/>
            </a:pPr>
            <a:r>
              <a:rPr lang="en-US" sz="1100" dirty="0">
                <a:solidFill>
                  <a:srgbClr val="5F6470"/>
                </a:solidFill>
              </a:rPr>
              <a:t>Client checks the summary and confirms (or asks a question)</a:t>
            </a:r>
            <a:endParaRPr lang="en-US" sz="1100" dirty="0"/>
          </a:p>
        </p:txBody>
      </p:sp>
      <p:sp>
        <p:nvSpPr>
          <p:cNvPr id="31" name="Shape 24"/>
          <p:cNvSpPr/>
          <p:nvPr/>
        </p:nvSpPr>
        <p:spPr>
          <a:xfrm>
            <a:off x="8962622" y="2066544"/>
            <a:ext cx="658368" cy="658368"/>
          </a:xfrm>
          <a:prstGeom prst="ellipse">
            <a:avLst/>
          </a:prstGeom>
          <a:solidFill>
            <a:srgbClr val="141416"/>
          </a:solidFill>
          <a:ln w="12700">
            <a:solidFill>
              <a:srgbClr val="141416"/>
            </a:solidFill>
            <a:prstDash val="solid"/>
          </a:ln>
        </p:spPr>
      </p:sp>
      <p:pic>
        <p:nvPicPr>
          <p:cNvPr id="32" name="Image 5" descr="preencoded.png">    </p:cNvPr>
          <p:cNvPicPr>
            <a:picLocks noChangeAspect="1"/>
          </p:cNvPicPr>
          <p:nvPr/>
        </p:nvPicPr>
        <p:blipFill>
          <a:blip r:embed="rId6"/>
          <a:stretch>
            <a:fillRect/>
          </a:stretch>
        </p:blipFill>
        <p:spPr>
          <a:xfrm>
            <a:off x="9120631" y="2224552"/>
            <a:ext cx="342351" cy="342351"/>
          </a:xfrm>
          <a:prstGeom prst="rect">
            <a:avLst/>
          </a:prstGeom>
        </p:spPr>
      </p:pic>
      <p:sp>
        <p:nvSpPr>
          <p:cNvPr id="33" name="Text 25"/>
          <p:cNvSpPr txBox="1"/>
          <p:nvPr/>
        </p:nvSpPr>
        <p:spPr>
          <a:xfrm>
            <a:off x="9474686" y="1938528"/>
            <a:ext cx="274320" cy="274320"/>
          </a:xfrm>
          <a:prstGeom prst="rect">
            <a:avLst/>
          </a:prstGeom>
          <a:noFill/>
          <a:ln/>
        </p:spPr>
        <p:txBody>
          <a:bodyPr wrap="square" lIns="0" tIns="0" rIns="0" bIns="0" rtlCol="0" anchor="t"/>
          <a:lstStyle/>
          <a:p>
            <a:pPr indent="0" marL="0">
              <a:buNone/>
            </a:pPr>
            <a:r>
              <a:rPr lang="en-US" sz="1100" b="1" dirty="0">
                <a:solidFill>
                  <a:srgbClr val="A8811F"/>
                </a:solidFill>
              </a:rPr>
              <a:t>6</a:t>
            </a:r>
            <a:endParaRPr lang="en-US" sz="1100" dirty="0"/>
          </a:p>
        </p:txBody>
      </p:sp>
      <p:sp>
        <p:nvSpPr>
          <p:cNvPr id="34" name="Text 26"/>
          <p:cNvSpPr txBox="1"/>
          <p:nvPr/>
        </p:nvSpPr>
        <p:spPr>
          <a:xfrm>
            <a:off x="8565969" y="2852928"/>
            <a:ext cx="1451675" cy="292608"/>
          </a:xfrm>
          <a:prstGeom prst="rect">
            <a:avLst/>
          </a:prstGeom>
          <a:noFill/>
          <a:ln/>
        </p:spPr>
        <p:txBody>
          <a:bodyPr wrap="square" lIns="0" tIns="0" rIns="0" bIns="0" rtlCol="0" anchor="t"/>
          <a:lstStyle/>
          <a:p>
            <a:pPr algn="ctr" indent="0" marL="0">
              <a:buNone/>
            </a:pPr>
            <a:r>
              <a:rPr lang="en-US" sz="1300" b="1" dirty="0">
                <a:solidFill>
                  <a:schemeClr val="tx2"/>
                </a:solidFill>
              </a:rPr>
              <a:t>Filed</a:t>
            </a:r>
            <a:endParaRPr lang="en-US" sz="1300" dirty="0"/>
          </a:p>
        </p:txBody>
      </p:sp>
      <p:sp>
        <p:nvSpPr>
          <p:cNvPr id="35" name="Text 27"/>
          <p:cNvSpPr txBox="1"/>
          <p:nvPr/>
        </p:nvSpPr>
        <p:spPr>
          <a:xfrm>
            <a:off x="8565969" y="3163824"/>
            <a:ext cx="1451675" cy="1005840"/>
          </a:xfrm>
          <a:prstGeom prst="rect">
            <a:avLst/>
          </a:prstGeom>
          <a:noFill/>
          <a:ln/>
        </p:spPr>
        <p:txBody>
          <a:bodyPr wrap="square" lIns="0" tIns="0" rIns="0" bIns="0" rtlCol="0" anchor="t"/>
          <a:lstStyle/>
          <a:p>
            <a:pPr algn="ctr" indent="0" marL="0">
              <a:buNone/>
            </a:pPr>
            <a:r>
              <a:rPr lang="en-US" sz="1100" dirty="0">
                <a:solidFill>
                  <a:srgbClr val="5F6470"/>
                </a:solidFill>
              </a:rPr>
              <a:t>Approver signs off; filing officer files on FBR IRIS</a:t>
            </a:r>
            <a:endParaRPr lang="en-US" sz="1100" dirty="0"/>
          </a:p>
        </p:txBody>
      </p:sp>
      <p:sp>
        <p:nvSpPr>
          <p:cNvPr id="36" name="Shape 28"/>
          <p:cNvSpPr/>
          <p:nvPr/>
        </p:nvSpPr>
        <p:spPr>
          <a:xfrm>
            <a:off x="10560602" y="2066544"/>
            <a:ext cx="658368" cy="658368"/>
          </a:xfrm>
          <a:prstGeom prst="ellipse">
            <a:avLst/>
          </a:prstGeom>
          <a:solidFill>
            <a:srgbClr val="141416"/>
          </a:solidFill>
          <a:ln w="12700">
            <a:solidFill>
              <a:srgbClr val="141416"/>
            </a:solidFill>
            <a:prstDash val="solid"/>
          </a:ln>
        </p:spPr>
      </p:sp>
      <p:pic>
        <p:nvPicPr>
          <p:cNvPr id="37" name="Image 6" descr="preencoded.png">    </p:cNvPr>
          <p:cNvPicPr>
            <a:picLocks noChangeAspect="1"/>
          </p:cNvPicPr>
          <p:nvPr/>
        </p:nvPicPr>
        <p:blipFill>
          <a:blip r:embed="rId7"/>
          <a:stretch>
            <a:fillRect/>
          </a:stretch>
        </p:blipFill>
        <p:spPr>
          <a:xfrm>
            <a:off x="10718610" y="2224552"/>
            <a:ext cx="342351" cy="342351"/>
          </a:xfrm>
          <a:prstGeom prst="rect">
            <a:avLst/>
          </a:prstGeom>
        </p:spPr>
      </p:pic>
      <p:sp>
        <p:nvSpPr>
          <p:cNvPr id="38" name="Text 29"/>
          <p:cNvSpPr txBox="1"/>
          <p:nvPr/>
        </p:nvSpPr>
        <p:spPr>
          <a:xfrm>
            <a:off x="11072666" y="1938528"/>
            <a:ext cx="274320" cy="274320"/>
          </a:xfrm>
          <a:prstGeom prst="rect">
            <a:avLst/>
          </a:prstGeom>
          <a:noFill/>
          <a:ln/>
        </p:spPr>
        <p:txBody>
          <a:bodyPr wrap="square" lIns="0" tIns="0" rIns="0" bIns="0" rtlCol="0" anchor="t"/>
          <a:lstStyle/>
          <a:p>
            <a:pPr indent="0" marL="0">
              <a:buNone/>
            </a:pPr>
            <a:r>
              <a:rPr lang="en-US" sz="1100" b="1" dirty="0">
                <a:solidFill>
                  <a:srgbClr val="A8811F"/>
                </a:solidFill>
              </a:rPr>
              <a:t>7</a:t>
            </a:r>
            <a:endParaRPr lang="en-US" sz="1100" dirty="0"/>
          </a:p>
        </p:txBody>
      </p:sp>
      <p:sp>
        <p:nvSpPr>
          <p:cNvPr id="39" name="Text 30"/>
          <p:cNvSpPr txBox="1"/>
          <p:nvPr/>
        </p:nvSpPr>
        <p:spPr>
          <a:xfrm>
            <a:off x="10163948" y="2852928"/>
            <a:ext cx="1451675" cy="292608"/>
          </a:xfrm>
          <a:prstGeom prst="rect">
            <a:avLst/>
          </a:prstGeom>
          <a:noFill/>
          <a:ln/>
        </p:spPr>
        <p:txBody>
          <a:bodyPr wrap="square" lIns="0" tIns="0" rIns="0" bIns="0" rtlCol="0" anchor="t"/>
          <a:lstStyle/>
          <a:p>
            <a:pPr algn="ctr" indent="0" marL="0">
              <a:buNone/>
            </a:pPr>
            <a:r>
              <a:rPr lang="en-US" sz="1300" b="1" dirty="0">
                <a:solidFill>
                  <a:schemeClr val="tx2"/>
                </a:solidFill>
              </a:rPr>
              <a:t>Acknowledged</a:t>
            </a:r>
            <a:endParaRPr lang="en-US" sz="1300" dirty="0"/>
          </a:p>
        </p:txBody>
      </p:sp>
      <p:sp>
        <p:nvSpPr>
          <p:cNvPr id="40" name="Text 31"/>
          <p:cNvSpPr txBox="1"/>
          <p:nvPr/>
        </p:nvSpPr>
        <p:spPr>
          <a:xfrm>
            <a:off x="10163948" y="3163824"/>
            <a:ext cx="1451675" cy="1005840"/>
          </a:xfrm>
          <a:prstGeom prst="rect">
            <a:avLst/>
          </a:prstGeom>
          <a:noFill/>
          <a:ln/>
        </p:spPr>
        <p:txBody>
          <a:bodyPr wrap="square" lIns="0" tIns="0" rIns="0" bIns="0" rtlCol="0" anchor="t"/>
          <a:lstStyle/>
          <a:p>
            <a:pPr algn="ctr" indent="0" marL="0">
              <a:buNone/>
            </a:pPr>
            <a:r>
              <a:rPr lang="en-US" sz="1100" dirty="0">
                <a:solidFill>
                  <a:srgbClr val="5F6470"/>
                </a:solidFill>
              </a:rPr>
              <a:t>IRIS acknowledgment no. + receipt in the client's vault</a:t>
            </a:r>
            <a:endParaRPr lang="en-US" sz="1100" dirty="0"/>
          </a:p>
        </p:txBody>
      </p:sp>
      <p:sp>
        <p:nvSpPr>
          <p:cNvPr id="41" name="Shape 32"/>
          <p:cNvSpPr/>
          <p:nvPr/>
        </p:nvSpPr>
        <p:spPr>
          <a:xfrm>
            <a:off x="502920" y="4434840"/>
            <a:ext cx="11185855" cy="1783080"/>
          </a:xfrm>
          <a:prstGeom prst="roundRect">
            <a:avLst>
              <a:gd name="adj" fmla="val 4103"/>
            </a:avLst>
          </a:prstGeom>
          <a:solidFill>
            <a:schemeClr val="bg2"/>
          </a:solidFill>
          <a:ln w="9525">
            <a:solidFill>
              <a:schemeClr val="bg2"/>
            </a:solidFill>
            <a:prstDash val="solid"/>
          </a:ln>
        </p:spPr>
      </p:sp>
      <p:sp>
        <p:nvSpPr>
          <p:cNvPr id="42" name="Text 33"/>
          <p:cNvSpPr txBox="1"/>
          <p:nvPr/>
        </p:nvSpPr>
        <p:spPr>
          <a:xfrm>
            <a:off x="731520" y="4553712"/>
            <a:ext cx="5486400" cy="274320"/>
          </a:xfrm>
          <a:prstGeom prst="rect">
            <a:avLst/>
          </a:prstGeom>
          <a:noFill/>
          <a:ln/>
        </p:spPr>
        <p:txBody>
          <a:bodyPr wrap="square" lIns="0" tIns="0" rIns="0" bIns="0" rtlCol="0" anchor="t"/>
          <a:lstStyle/>
          <a:p>
            <a:pPr indent="0" marL="0">
              <a:buNone/>
            </a:pPr>
            <a:r>
              <a:rPr lang="en-US" sz="1400" b="1" dirty="0">
                <a:solidFill>
                  <a:schemeClr val="tx2"/>
                </a:solidFill>
              </a:rPr>
              <a:t>Where the TY2026 demo season stands</a:t>
            </a:r>
            <a:endParaRPr lang="en-US" sz="1400" dirty="0"/>
          </a:p>
        </p:txBody>
      </p:sp>
      <p:sp>
        <p:nvSpPr>
          <p:cNvPr id="43" name="Text 34"/>
          <p:cNvSpPr txBox="1"/>
          <p:nvPr/>
        </p:nvSpPr>
        <p:spPr>
          <a:xfrm>
            <a:off x="731520" y="4892040"/>
            <a:ext cx="1143000" cy="548640"/>
          </a:xfrm>
          <a:prstGeom prst="rect">
            <a:avLst/>
          </a:prstGeom>
          <a:noFill/>
          <a:ln/>
        </p:spPr>
        <p:txBody>
          <a:bodyPr wrap="square" lIns="0" tIns="0" rIns="0" bIns="0" rtlCol="0" anchor="t"/>
          <a:lstStyle/>
          <a:p>
            <a:pPr indent="0" marL="0">
              <a:buNone/>
            </a:pPr>
            <a:r>
              <a:rPr lang="en-US" sz="2800" b="1" dirty="0">
                <a:solidFill>
                  <a:srgbClr val="A8811F"/>
                </a:solidFill>
                <a:latin typeface="Cambria" pitchFamily="34" charset="0"/>
                <a:ea typeface="Cambria" pitchFamily="34" charset="-122"/>
                <a:cs typeface="Cambria" pitchFamily="34" charset="-120"/>
              </a:rPr>
              <a:t>54</a:t>
            </a:r>
            <a:endParaRPr lang="en-US" sz="2800" dirty="0"/>
          </a:p>
        </p:txBody>
      </p:sp>
      <p:sp>
        <p:nvSpPr>
          <p:cNvPr id="44" name="Text 35"/>
          <p:cNvSpPr txBox="1"/>
          <p:nvPr/>
        </p:nvSpPr>
        <p:spPr>
          <a:xfrm>
            <a:off x="731520" y="5468112"/>
            <a:ext cx="1188720" cy="457200"/>
          </a:xfrm>
          <a:prstGeom prst="rect">
            <a:avLst/>
          </a:prstGeom>
          <a:noFill/>
          <a:ln/>
        </p:spPr>
        <p:txBody>
          <a:bodyPr wrap="square" lIns="0" tIns="0" rIns="0" bIns="0" rtlCol="0" anchor="t"/>
          <a:lstStyle/>
          <a:p>
            <a:pPr indent="0" marL="0">
              <a:buNone/>
            </a:pPr>
            <a:r>
              <a:rPr lang="en-US" sz="1000" dirty="0">
                <a:solidFill>
                  <a:srgbClr val="5F6470"/>
                </a:solidFill>
              </a:rPr>
              <a:t>Documents Pending</a:t>
            </a:r>
            <a:endParaRPr lang="en-US" sz="1000" dirty="0"/>
          </a:p>
        </p:txBody>
      </p:sp>
      <p:sp>
        <p:nvSpPr>
          <p:cNvPr id="45" name="Text 36"/>
          <p:cNvSpPr txBox="1"/>
          <p:nvPr/>
        </p:nvSpPr>
        <p:spPr>
          <a:xfrm>
            <a:off x="1956816" y="4892040"/>
            <a:ext cx="1143000" cy="548640"/>
          </a:xfrm>
          <a:prstGeom prst="rect">
            <a:avLst/>
          </a:prstGeom>
          <a:noFill/>
          <a:ln/>
        </p:spPr>
        <p:txBody>
          <a:bodyPr wrap="square" lIns="0" tIns="0" rIns="0" bIns="0" rtlCol="0" anchor="t"/>
          <a:lstStyle/>
          <a:p>
            <a:pPr indent="0" marL="0">
              <a:buNone/>
            </a:pPr>
            <a:r>
              <a:rPr lang="en-US" sz="2800" b="1" dirty="0">
                <a:solidFill>
                  <a:srgbClr val="A8811F"/>
                </a:solidFill>
                <a:latin typeface="Cambria" pitchFamily="34" charset="0"/>
                <a:ea typeface="Cambria" pitchFamily="34" charset="-122"/>
                <a:cs typeface="Cambria" pitchFamily="34" charset="-120"/>
              </a:rPr>
              <a:t>43</a:t>
            </a:r>
            <a:endParaRPr lang="en-US" sz="2800" dirty="0"/>
          </a:p>
        </p:txBody>
      </p:sp>
      <p:sp>
        <p:nvSpPr>
          <p:cNvPr id="46" name="Text 37"/>
          <p:cNvSpPr txBox="1"/>
          <p:nvPr/>
        </p:nvSpPr>
        <p:spPr>
          <a:xfrm>
            <a:off x="1956816" y="5468112"/>
            <a:ext cx="1188720" cy="457200"/>
          </a:xfrm>
          <a:prstGeom prst="rect">
            <a:avLst/>
          </a:prstGeom>
          <a:noFill/>
          <a:ln/>
        </p:spPr>
        <p:txBody>
          <a:bodyPr wrap="square" lIns="0" tIns="0" rIns="0" bIns="0" rtlCol="0" anchor="t"/>
          <a:lstStyle/>
          <a:p>
            <a:pPr indent="0" marL="0">
              <a:buNone/>
            </a:pPr>
            <a:r>
              <a:rPr lang="en-US" sz="1000" dirty="0">
                <a:solidFill>
                  <a:srgbClr val="5F6470"/>
                </a:solidFill>
              </a:rPr>
              <a:t>Draft</a:t>
            </a:r>
            <a:endParaRPr lang="en-US" sz="1000" dirty="0"/>
          </a:p>
        </p:txBody>
      </p:sp>
      <p:sp>
        <p:nvSpPr>
          <p:cNvPr id="47" name="Text 38"/>
          <p:cNvSpPr txBox="1"/>
          <p:nvPr/>
        </p:nvSpPr>
        <p:spPr>
          <a:xfrm>
            <a:off x="3182112" y="4892040"/>
            <a:ext cx="1143000" cy="548640"/>
          </a:xfrm>
          <a:prstGeom prst="rect">
            <a:avLst/>
          </a:prstGeom>
          <a:noFill/>
          <a:ln/>
        </p:spPr>
        <p:txBody>
          <a:bodyPr wrap="square" lIns="0" tIns="0" rIns="0" bIns="0" rtlCol="0" anchor="t"/>
          <a:lstStyle/>
          <a:p>
            <a:pPr indent="0" marL="0">
              <a:buNone/>
            </a:pPr>
            <a:r>
              <a:rPr lang="en-US" sz="2800" b="1" dirty="0">
                <a:solidFill>
                  <a:srgbClr val="A8811F"/>
                </a:solidFill>
                <a:latin typeface="Cambria" pitchFamily="34" charset="0"/>
                <a:ea typeface="Cambria" pitchFamily="34" charset="-122"/>
                <a:cs typeface="Cambria" pitchFamily="34" charset="-120"/>
              </a:rPr>
              <a:t>36</a:t>
            </a:r>
            <a:endParaRPr lang="en-US" sz="2800" dirty="0"/>
          </a:p>
        </p:txBody>
      </p:sp>
      <p:sp>
        <p:nvSpPr>
          <p:cNvPr id="48" name="Text 39"/>
          <p:cNvSpPr txBox="1"/>
          <p:nvPr/>
        </p:nvSpPr>
        <p:spPr>
          <a:xfrm>
            <a:off x="3182112" y="5468112"/>
            <a:ext cx="1188720" cy="457200"/>
          </a:xfrm>
          <a:prstGeom prst="rect">
            <a:avLst/>
          </a:prstGeom>
          <a:noFill/>
          <a:ln/>
        </p:spPr>
        <p:txBody>
          <a:bodyPr wrap="square" lIns="0" tIns="0" rIns="0" bIns="0" rtlCol="0" anchor="t"/>
          <a:lstStyle/>
          <a:p>
            <a:pPr indent="0" marL="0">
              <a:buNone/>
            </a:pPr>
            <a:r>
              <a:rPr lang="en-US" sz="1000" dirty="0">
                <a:solidFill>
                  <a:srgbClr val="5F6470"/>
                </a:solidFill>
              </a:rPr>
              <a:t>Pending Review</a:t>
            </a:r>
            <a:endParaRPr lang="en-US" sz="1000" dirty="0"/>
          </a:p>
        </p:txBody>
      </p:sp>
      <p:sp>
        <p:nvSpPr>
          <p:cNvPr id="49" name="Text 40"/>
          <p:cNvSpPr txBox="1"/>
          <p:nvPr/>
        </p:nvSpPr>
        <p:spPr>
          <a:xfrm>
            <a:off x="4407408" y="4892040"/>
            <a:ext cx="1143000" cy="548640"/>
          </a:xfrm>
          <a:prstGeom prst="rect">
            <a:avLst/>
          </a:prstGeom>
          <a:noFill/>
          <a:ln/>
        </p:spPr>
        <p:txBody>
          <a:bodyPr wrap="square" lIns="0" tIns="0" rIns="0" bIns="0" rtlCol="0" anchor="t"/>
          <a:lstStyle/>
          <a:p>
            <a:pPr indent="0" marL="0">
              <a:buNone/>
            </a:pPr>
            <a:r>
              <a:rPr lang="en-US" sz="2800" b="1" dirty="0">
                <a:solidFill>
                  <a:srgbClr val="A8811F"/>
                </a:solidFill>
                <a:latin typeface="Cambria" pitchFamily="34" charset="0"/>
                <a:ea typeface="Cambria" pitchFamily="34" charset="-122"/>
                <a:cs typeface="Cambria" pitchFamily="34" charset="-120"/>
              </a:rPr>
              <a:t>30</a:t>
            </a:r>
            <a:endParaRPr lang="en-US" sz="2800" dirty="0"/>
          </a:p>
        </p:txBody>
      </p:sp>
      <p:sp>
        <p:nvSpPr>
          <p:cNvPr id="50" name="Text 41"/>
          <p:cNvSpPr txBox="1"/>
          <p:nvPr/>
        </p:nvSpPr>
        <p:spPr>
          <a:xfrm>
            <a:off x="4407408" y="5468112"/>
            <a:ext cx="1188720" cy="457200"/>
          </a:xfrm>
          <a:prstGeom prst="rect">
            <a:avLst/>
          </a:prstGeom>
          <a:noFill/>
          <a:ln/>
        </p:spPr>
        <p:txBody>
          <a:bodyPr wrap="square" lIns="0" tIns="0" rIns="0" bIns="0" rtlCol="0" anchor="t"/>
          <a:lstStyle/>
          <a:p>
            <a:pPr indent="0" marL="0">
              <a:buNone/>
            </a:pPr>
            <a:r>
              <a:rPr lang="en-US" sz="1000" dirty="0">
                <a:solidFill>
                  <a:srgbClr val="5F6470"/>
                </a:solidFill>
              </a:rPr>
              <a:t>Under Review</a:t>
            </a:r>
            <a:endParaRPr lang="en-US" sz="1000" dirty="0"/>
          </a:p>
        </p:txBody>
      </p:sp>
      <p:sp>
        <p:nvSpPr>
          <p:cNvPr id="51" name="Text 42"/>
          <p:cNvSpPr txBox="1"/>
          <p:nvPr/>
        </p:nvSpPr>
        <p:spPr>
          <a:xfrm>
            <a:off x="5632704" y="4892040"/>
            <a:ext cx="1143000" cy="548640"/>
          </a:xfrm>
          <a:prstGeom prst="rect">
            <a:avLst/>
          </a:prstGeom>
          <a:noFill/>
          <a:ln/>
        </p:spPr>
        <p:txBody>
          <a:bodyPr wrap="square" lIns="0" tIns="0" rIns="0" bIns="0" rtlCol="0" anchor="t"/>
          <a:lstStyle/>
          <a:p>
            <a:pPr indent="0" marL="0">
              <a:buNone/>
            </a:pPr>
            <a:r>
              <a:rPr lang="en-US" sz="2800" b="1" dirty="0">
                <a:solidFill>
                  <a:srgbClr val="A8811F"/>
                </a:solidFill>
                <a:latin typeface="Cambria" pitchFamily="34" charset="0"/>
                <a:ea typeface="Cambria" pitchFamily="34" charset="-122"/>
                <a:cs typeface="Cambria" pitchFamily="34" charset="-120"/>
              </a:rPr>
              <a:t>27</a:t>
            </a:r>
            <a:endParaRPr lang="en-US" sz="2800" dirty="0"/>
          </a:p>
        </p:txBody>
      </p:sp>
      <p:sp>
        <p:nvSpPr>
          <p:cNvPr id="52" name="Text 43"/>
          <p:cNvSpPr txBox="1"/>
          <p:nvPr/>
        </p:nvSpPr>
        <p:spPr>
          <a:xfrm>
            <a:off x="5632704" y="5468112"/>
            <a:ext cx="1188720" cy="457200"/>
          </a:xfrm>
          <a:prstGeom prst="rect">
            <a:avLst/>
          </a:prstGeom>
          <a:noFill/>
          <a:ln/>
        </p:spPr>
        <p:txBody>
          <a:bodyPr wrap="square" lIns="0" tIns="0" rIns="0" bIns="0" rtlCol="0" anchor="t"/>
          <a:lstStyle/>
          <a:p>
            <a:pPr indent="0" marL="0">
              <a:buNone/>
            </a:pPr>
            <a:r>
              <a:rPr lang="en-US" sz="1000" dirty="0">
                <a:solidFill>
                  <a:srgbClr val="5F6470"/>
                </a:solidFill>
              </a:rPr>
              <a:t>Reviewed</a:t>
            </a:r>
            <a:endParaRPr lang="en-US" sz="1000" dirty="0"/>
          </a:p>
        </p:txBody>
      </p:sp>
      <p:sp>
        <p:nvSpPr>
          <p:cNvPr id="53" name="Text 44"/>
          <p:cNvSpPr txBox="1"/>
          <p:nvPr/>
        </p:nvSpPr>
        <p:spPr>
          <a:xfrm>
            <a:off x="6858000" y="4892040"/>
            <a:ext cx="1143000" cy="548640"/>
          </a:xfrm>
          <a:prstGeom prst="rect">
            <a:avLst/>
          </a:prstGeom>
          <a:noFill/>
          <a:ln/>
        </p:spPr>
        <p:txBody>
          <a:bodyPr wrap="square" lIns="0" tIns="0" rIns="0" bIns="0" rtlCol="0" anchor="t"/>
          <a:lstStyle/>
          <a:p>
            <a:pPr indent="0" marL="0">
              <a:buNone/>
            </a:pPr>
            <a:r>
              <a:rPr lang="en-US" sz="2800" b="1" dirty="0">
                <a:solidFill>
                  <a:srgbClr val="A8811F"/>
                </a:solidFill>
                <a:latin typeface="Cambria" pitchFamily="34" charset="0"/>
                <a:ea typeface="Cambria" pitchFamily="34" charset="-122"/>
                <a:cs typeface="Cambria" pitchFamily="34" charset="-120"/>
              </a:rPr>
              <a:t>25</a:t>
            </a:r>
            <a:endParaRPr lang="en-US" sz="2800" dirty="0"/>
          </a:p>
        </p:txBody>
      </p:sp>
      <p:sp>
        <p:nvSpPr>
          <p:cNvPr id="54" name="Text 45"/>
          <p:cNvSpPr txBox="1"/>
          <p:nvPr/>
        </p:nvSpPr>
        <p:spPr>
          <a:xfrm>
            <a:off x="6858000" y="5468112"/>
            <a:ext cx="1188720" cy="457200"/>
          </a:xfrm>
          <a:prstGeom prst="rect">
            <a:avLst/>
          </a:prstGeom>
          <a:noFill/>
          <a:ln/>
        </p:spPr>
        <p:txBody>
          <a:bodyPr wrap="square" lIns="0" tIns="0" rIns="0" bIns="0" rtlCol="0" anchor="t"/>
          <a:lstStyle/>
          <a:p>
            <a:pPr indent="0" marL="0">
              <a:buNone/>
            </a:pPr>
            <a:r>
              <a:rPr lang="en-US" sz="1000" dirty="0">
                <a:solidFill>
                  <a:srgbClr val="5F6470"/>
                </a:solidFill>
              </a:rPr>
              <a:t>Client confirm</a:t>
            </a:r>
            <a:endParaRPr lang="en-US" sz="1000" dirty="0"/>
          </a:p>
        </p:txBody>
      </p:sp>
      <p:sp>
        <p:nvSpPr>
          <p:cNvPr id="55" name="Text 46"/>
          <p:cNvSpPr txBox="1"/>
          <p:nvPr/>
        </p:nvSpPr>
        <p:spPr>
          <a:xfrm>
            <a:off x="8083296" y="4892040"/>
            <a:ext cx="1143000" cy="548640"/>
          </a:xfrm>
          <a:prstGeom prst="rect">
            <a:avLst/>
          </a:prstGeom>
          <a:noFill/>
          <a:ln/>
        </p:spPr>
        <p:txBody>
          <a:bodyPr wrap="square" lIns="0" tIns="0" rIns="0" bIns="0" rtlCol="0" anchor="t"/>
          <a:lstStyle/>
          <a:p>
            <a:pPr indent="0" marL="0">
              <a:buNone/>
            </a:pPr>
            <a:r>
              <a:rPr lang="en-US" sz="2800" b="1" dirty="0">
                <a:solidFill>
                  <a:srgbClr val="A8811F"/>
                </a:solidFill>
                <a:latin typeface="Cambria" pitchFamily="34" charset="0"/>
                <a:ea typeface="Cambria" pitchFamily="34" charset="-122"/>
                <a:cs typeface="Cambria" pitchFamily="34" charset="-120"/>
              </a:rPr>
              <a:t>20</a:t>
            </a:r>
            <a:endParaRPr lang="en-US" sz="2800" dirty="0"/>
          </a:p>
        </p:txBody>
      </p:sp>
      <p:sp>
        <p:nvSpPr>
          <p:cNvPr id="56" name="Text 47"/>
          <p:cNvSpPr txBox="1"/>
          <p:nvPr/>
        </p:nvSpPr>
        <p:spPr>
          <a:xfrm>
            <a:off x="8083296" y="5468112"/>
            <a:ext cx="1188720" cy="457200"/>
          </a:xfrm>
          <a:prstGeom prst="rect">
            <a:avLst/>
          </a:prstGeom>
          <a:noFill/>
          <a:ln/>
        </p:spPr>
        <p:txBody>
          <a:bodyPr wrap="square" lIns="0" tIns="0" rIns="0" bIns="0" rtlCol="0" anchor="t"/>
          <a:lstStyle/>
          <a:p>
            <a:pPr indent="0" marL="0">
              <a:buNone/>
            </a:pPr>
            <a:r>
              <a:rPr lang="en-US" sz="1000" dirty="0">
                <a:solidFill>
                  <a:srgbClr val="5F6470"/>
                </a:solidFill>
              </a:rPr>
              <a:t>Approved</a:t>
            </a:r>
            <a:endParaRPr lang="en-US" sz="1000" dirty="0"/>
          </a:p>
        </p:txBody>
      </p:sp>
      <p:sp>
        <p:nvSpPr>
          <p:cNvPr id="57" name="Text 48"/>
          <p:cNvSpPr txBox="1"/>
          <p:nvPr/>
        </p:nvSpPr>
        <p:spPr>
          <a:xfrm>
            <a:off x="9308592" y="4892040"/>
            <a:ext cx="1143000" cy="548640"/>
          </a:xfrm>
          <a:prstGeom prst="rect">
            <a:avLst/>
          </a:prstGeom>
          <a:noFill/>
          <a:ln/>
        </p:spPr>
        <p:txBody>
          <a:bodyPr wrap="square" lIns="0" tIns="0" rIns="0" bIns="0" rtlCol="0" anchor="t"/>
          <a:lstStyle/>
          <a:p>
            <a:pPr indent="0" marL="0">
              <a:buNone/>
            </a:pPr>
            <a:r>
              <a:rPr lang="en-US" sz="2800" b="1" dirty="0">
                <a:solidFill>
                  <a:srgbClr val="A8811F"/>
                </a:solidFill>
                <a:latin typeface="Cambria" pitchFamily="34" charset="0"/>
                <a:ea typeface="Cambria" pitchFamily="34" charset="-122"/>
                <a:cs typeface="Cambria" pitchFamily="34" charset="-120"/>
              </a:rPr>
              <a:t>16</a:t>
            </a:r>
            <a:endParaRPr lang="en-US" sz="2800" dirty="0"/>
          </a:p>
        </p:txBody>
      </p:sp>
      <p:sp>
        <p:nvSpPr>
          <p:cNvPr id="58" name="Text 49"/>
          <p:cNvSpPr txBox="1"/>
          <p:nvPr/>
        </p:nvSpPr>
        <p:spPr>
          <a:xfrm>
            <a:off x="9308592" y="5468112"/>
            <a:ext cx="1188720" cy="457200"/>
          </a:xfrm>
          <a:prstGeom prst="rect">
            <a:avLst/>
          </a:prstGeom>
          <a:noFill/>
          <a:ln/>
        </p:spPr>
        <p:txBody>
          <a:bodyPr wrap="square" lIns="0" tIns="0" rIns="0" bIns="0" rtlCol="0" anchor="t"/>
          <a:lstStyle/>
          <a:p>
            <a:pPr indent="0" marL="0">
              <a:buNone/>
            </a:pPr>
            <a:r>
              <a:rPr lang="en-US" sz="1000" dirty="0">
                <a:solidFill>
                  <a:srgbClr val="5F6470"/>
                </a:solidFill>
              </a:rPr>
              <a:t>Submitted</a:t>
            </a:r>
            <a:endParaRPr lang="en-US" sz="1000" dirty="0"/>
          </a:p>
        </p:txBody>
      </p:sp>
      <p:sp>
        <p:nvSpPr>
          <p:cNvPr id="59" name="Text 50"/>
          <p:cNvSpPr txBox="1"/>
          <p:nvPr/>
        </p:nvSpPr>
        <p:spPr>
          <a:xfrm>
            <a:off x="10533888" y="4892040"/>
            <a:ext cx="1143000" cy="548640"/>
          </a:xfrm>
          <a:prstGeom prst="rect">
            <a:avLst/>
          </a:prstGeom>
          <a:noFill/>
          <a:ln/>
        </p:spPr>
        <p:txBody>
          <a:bodyPr wrap="square" lIns="0" tIns="0" rIns="0" bIns="0" rtlCol="0" anchor="t"/>
          <a:lstStyle/>
          <a:p>
            <a:pPr indent="0" marL="0">
              <a:buNone/>
            </a:pPr>
            <a:r>
              <a:rPr lang="en-US" sz="2800" b="1" dirty="0">
                <a:solidFill>
                  <a:srgbClr val="1BAF7A"/>
                </a:solidFill>
                <a:latin typeface="Cambria" pitchFamily="34" charset="0"/>
                <a:ea typeface="Cambria" pitchFamily="34" charset="-122"/>
                <a:cs typeface="Cambria" pitchFamily="34" charset="-120"/>
              </a:rPr>
              <a:t>13</a:t>
            </a:r>
            <a:endParaRPr lang="en-US" sz="2800" dirty="0"/>
          </a:p>
        </p:txBody>
      </p:sp>
      <p:sp>
        <p:nvSpPr>
          <p:cNvPr id="60" name="Text 51"/>
          <p:cNvSpPr txBox="1"/>
          <p:nvPr/>
        </p:nvSpPr>
        <p:spPr>
          <a:xfrm>
            <a:off x="10533888" y="5468112"/>
            <a:ext cx="1188720" cy="457200"/>
          </a:xfrm>
          <a:prstGeom prst="rect">
            <a:avLst/>
          </a:prstGeom>
          <a:noFill/>
          <a:ln/>
        </p:spPr>
        <p:txBody>
          <a:bodyPr wrap="square" lIns="0" tIns="0" rIns="0" bIns="0" rtlCol="0" anchor="t"/>
          <a:lstStyle/>
          <a:p>
            <a:pPr indent="0" marL="0">
              <a:buNone/>
            </a:pPr>
            <a:r>
              <a:rPr lang="en-US" sz="1000" dirty="0">
                <a:solidFill>
                  <a:srgbClr val="5F6470"/>
                </a:solidFill>
              </a:rPr>
              <a:t>Acknowledged</a:t>
            </a:r>
            <a:endParaRPr lang="en-US" sz="1000" dirty="0"/>
          </a:p>
        </p:txBody>
      </p:sp>
      <p:sp>
        <p:nvSpPr>
          <p:cNvPr id="61" name="Text 52"/>
          <p:cNvSpPr txBox="1"/>
          <p:nvPr/>
        </p:nvSpPr>
        <p:spPr>
          <a:xfrm>
            <a:off x="731520" y="5897880"/>
            <a:ext cx="7315200" cy="228600"/>
          </a:xfrm>
          <a:prstGeom prst="rect">
            <a:avLst/>
          </a:prstGeom>
          <a:noFill/>
          <a:ln/>
        </p:spPr>
        <p:txBody>
          <a:bodyPr wrap="square" lIns="0" tIns="0" rIns="0" bIns="0" rtlCol="0" anchor="t"/>
          <a:lstStyle/>
          <a:p>
            <a:pPr indent="0" marL="0">
              <a:buNone/>
            </a:pPr>
            <a:r>
              <a:rPr lang="en-US" sz="1000" i="1" dirty="0">
                <a:solidFill>
                  <a:srgbClr val="5F6470"/>
                </a:solidFill>
              </a:rPr>
              <a:t>Returns that have reached each step (cumulative)</a:t>
            </a:r>
            <a:endParaRPr lang="en-US" sz="10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TWO WAYS TO FILE</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We file for the client — or the client files online</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Both routes feed the same controlled pipeline: review, client confirmation, four-eyes approval and the IRIS acknowledgment</a:t>
            </a:r>
            <a:endParaRPr lang="en-US" sz="1300" dirty="0"/>
          </a:p>
        </p:txBody>
      </p:sp>
      <p:sp>
        <p:nvSpPr>
          <p:cNvPr id="5" name="Shape 3"/>
          <p:cNvSpPr/>
          <p:nvPr/>
        </p:nvSpPr>
        <p:spPr>
          <a:xfrm>
            <a:off x="502920" y="1691640"/>
            <a:ext cx="5455768" cy="3611880"/>
          </a:xfrm>
          <a:prstGeom prst="roundRect">
            <a:avLst>
              <a:gd name="adj" fmla="val 2025"/>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6" name="Shape 4"/>
          <p:cNvSpPr/>
          <p:nvPr/>
        </p:nvSpPr>
        <p:spPr>
          <a:xfrm>
            <a:off x="704088" y="1874520"/>
            <a:ext cx="603504" cy="603504"/>
          </a:xfrm>
          <a:prstGeom prst="ellipse">
            <a:avLst/>
          </a:prstGeom>
          <a:solidFill>
            <a:srgbClr val="141416"/>
          </a:solidFill>
          <a:ln w="12700">
            <a:solidFill>
              <a:srgbClr val="141416"/>
            </a:solidFill>
            <a:prstDash val="solid"/>
          </a:ln>
        </p:spPr>
      </p:sp>
      <p:pic>
        <p:nvPicPr>
          <p:cNvPr id="7" name="Image 0" descr="preencoded.png">    </p:cNvPr>
          <p:cNvPicPr>
            <a:picLocks noChangeAspect="1"/>
          </p:cNvPicPr>
          <p:nvPr/>
        </p:nvPicPr>
        <p:blipFill>
          <a:blip r:embed="rId1"/>
          <a:stretch>
            <a:fillRect/>
          </a:stretch>
        </p:blipFill>
        <p:spPr>
          <a:xfrm>
            <a:off x="848929" y="2019361"/>
            <a:ext cx="313822" cy="313822"/>
          </a:xfrm>
          <a:prstGeom prst="rect">
            <a:avLst/>
          </a:prstGeom>
        </p:spPr>
      </p:pic>
      <p:sp>
        <p:nvSpPr>
          <p:cNvPr id="8" name="Text 5"/>
          <p:cNvSpPr txBox="1"/>
          <p:nvPr/>
        </p:nvSpPr>
        <p:spPr>
          <a:xfrm>
            <a:off x="1463040" y="1874520"/>
            <a:ext cx="2926080" cy="329184"/>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Team-assisted</a:t>
            </a:r>
            <a:endParaRPr lang="en-US" sz="1800" dirty="0"/>
          </a:p>
        </p:txBody>
      </p:sp>
      <p:sp>
        <p:nvSpPr>
          <p:cNvPr id="9" name="Text 6"/>
          <p:cNvSpPr txBox="1"/>
          <p:nvPr/>
        </p:nvSpPr>
        <p:spPr>
          <a:xfrm>
            <a:off x="1463040" y="2203704"/>
            <a:ext cx="3291840" cy="256032"/>
          </a:xfrm>
          <a:prstGeom prst="rect">
            <a:avLst/>
          </a:prstGeom>
          <a:noFill/>
          <a:ln/>
        </p:spPr>
        <p:txBody>
          <a:bodyPr wrap="square" lIns="0" tIns="0" rIns="0" bIns="0" rtlCol="0" anchor="t"/>
          <a:lstStyle/>
          <a:p>
            <a:pPr indent="0" marL="0">
              <a:buNone/>
            </a:pPr>
            <a:r>
              <a:rPr lang="en-US" sz="1100" dirty="0">
                <a:solidFill>
                  <a:srgbClr val="5F6470"/>
                </a:solidFill>
              </a:rPr>
              <a:t>We file on the client's behalf</a:t>
            </a:r>
            <a:endParaRPr lang="en-US" sz="1100" dirty="0"/>
          </a:p>
        </p:txBody>
      </p:sp>
      <p:sp>
        <p:nvSpPr>
          <p:cNvPr id="10" name="Shape 7"/>
          <p:cNvSpPr/>
          <p:nvPr/>
        </p:nvSpPr>
        <p:spPr>
          <a:xfrm>
            <a:off x="4907128" y="1947672"/>
            <a:ext cx="822960" cy="256032"/>
          </a:xfrm>
          <a:prstGeom prst="roundRect">
            <a:avLst>
              <a:gd name="adj" fmla="val 50000"/>
            </a:avLst>
          </a:prstGeom>
          <a:solidFill>
            <a:srgbClr val="A8811F"/>
          </a:solidFill>
          <a:ln w="12700">
            <a:solidFill>
              <a:srgbClr val="A8811F"/>
            </a:solidFill>
            <a:prstDash val="solid"/>
          </a:ln>
        </p:spPr>
      </p:sp>
      <p:sp>
        <p:nvSpPr>
          <p:cNvPr id="11" name="Text 8"/>
          <p:cNvSpPr txBox="1"/>
          <p:nvPr/>
        </p:nvSpPr>
        <p:spPr>
          <a:xfrm>
            <a:off x="4907128" y="1947672"/>
            <a:ext cx="822960" cy="256032"/>
          </a:xfrm>
          <a:prstGeom prst="rect">
            <a:avLst/>
          </a:prstGeom>
          <a:noFill/>
          <a:ln/>
        </p:spPr>
        <p:txBody>
          <a:bodyPr wrap="square" lIns="0" tIns="0" rIns="0" bIns="0" rtlCol="0" anchor="ctr"/>
          <a:lstStyle/>
          <a:p>
            <a:pPr algn="ctr" indent="0" marL="0">
              <a:buNone/>
            </a:pPr>
            <a:r>
              <a:rPr lang="en-US" sz="1000" b="1" dirty="0">
                <a:solidFill>
                  <a:srgbClr val="FFFFFF"/>
                </a:solidFill>
              </a:rPr>
              <a:t>Video 1</a:t>
            </a:r>
            <a:endParaRPr lang="en-US" sz="1000" dirty="0"/>
          </a:p>
        </p:txBody>
      </p:sp>
      <p:sp>
        <p:nvSpPr>
          <p:cNvPr id="12" name="Shape 9"/>
          <p:cNvSpPr/>
          <p:nvPr/>
        </p:nvSpPr>
        <p:spPr>
          <a:xfrm>
            <a:off x="704088" y="2624328"/>
            <a:ext cx="589788" cy="256032"/>
          </a:xfrm>
          <a:prstGeom prst="roundRect">
            <a:avLst>
              <a:gd name="adj" fmla="val 50000"/>
            </a:avLst>
          </a:prstGeom>
          <a:solidFill>
            <a:srgbClr val="F1ECDD"/>
          </a:solidFill>
          <a:ln w="12700">
            <a:solidFill>
              <a:srgbClr val="F1ECDD"/>
            </a:solidFill>
            <a:prstDash val="solid"/>
          </a:ln>
        </p:spPr>
      </p:sp>
      <p:sp>
        <p:nvSpPr>
          <p:cNvPr id="13" name="Text 10"/>
          <p:cNvSpPr txBox="1"/>
          <p:nvPr/>
        </p:nvSpPr>
        <p:spPr>
          <a:xfrm>
            <a:off x="704088" y="2624328"/>
            <a:ext cx="589788" cy="256032"/>
          </a:xfrm>
          <a:prstGeom prst="rect">
            <a:avLst/>
          </a:prstGeom>
          <a:noFill/>
          <a:ln/>
        </p:spPr>
        <p:txBody>
          <a:bodyPr wrap="square" lIns="0" tIns="0" rIns="0" bIns="0" rtlCol="0" anchor="ctr"/>
          <a:lstStyle/>
          <a:p>
            <a:pPr algn="ctr" indent="0" marL="0">
              <a:buNone/>
            </a:pPr>
            <a:r>
              <a:rPr lang="en-US" sz="900" b="1" dirty="0">
                <a:solidFill>
                  <a:srgbClr val="141416"/>
                </a:solidFill>
              </a:rPr>
              <a:t>Phone</a:t>
            </a:r>
            <a:endParaRPr lang="en-US" sz="900" dirty="0"/>
          </a:p>
        </p:txBody>
      </p:sp>
      <p:sp>
        <p:nvSpPr>
          <p:cNvPr id="14" name="Shape 11"/>
          <p:cNvSpPr/>
          <p:nvPr/>
        </p:nvSpPr>
        <p:spPr>
          <a:xfrm>
            <a:off x="1385316" y="2624328"/>
            <a:ext cx="822960" cy="256032"/>
          </a:xfrm>
          <a:prstGeom prst="roundRect">
            <a:avLst>
              <a:gd name="adj" fmla="val 50000"/>
            </a:avLst>
          </a:prstGeom>
          <a:solidFill>
            <a:srgbClr val="F1ECDD"/>
          </a:solidFill>
          <a:ln w="12700">
            <a:solidFill>
              <a:srgbClr val="F1ECDD"/>
            </a:solidFill>
            <a:prstDash val="solid"/>
          </a:ln>
        </p:spPr>
      </p:sp>
      <p:sp>
        <p:nvSpPr>
          <p:cNvPr id="15" name="Text 12"/>
          <p:cNvSpPr txBox="1"/>
          <p:nvPr/>
        </p:nvSpPr>
        <p:spPr>
          <a:xfrm>
            <a:off x="1385316" y="2624328"/>
            <a:ext cx="822960" cy="256032"/>
          </a:xfrm>
          <a:prstGeom prst="rect">
            <a:avLst/>
          </a:prstGeom>
          <a:noFill/>
          <a:ln/>
        </p:spPr>
        <p:txBody>
          <a:bodyPr wrap="square" lIns="0" tIns="0" rIns="0" bIns="0" rtlCol="0" anchor="ctr"/>
          <a:lstStyle/>
          <a:p>
            <a:pPr algn="ctr" indent="0" marL="0">
              <a:buNone/>
            </a:pPr>
            <a:r>
              <a:rPr lang="en-US" sz="900" b="1" dirty="0">
                <a:solidFill>
                  <a:srgbClr val="141416"/>
                </a:solidFill>
              </a:rPr>
              <a:t>WhatsApp</a:t>
            </a:r>
            <a:endParaRPr lang="en-US" sz="900" dirty="0"/>
          </a:p>
        </p:txBody>
      </p:sp>
      <p:sp>
        <p:nvSpPr>
          <p:cNvPr id="16" name="Shape 13"/>
          <p:cNvSpPr/>
          <p:nvPr/>
        </p:nvSpPr>
        <p:spPr>
          <a:xfrm>
            <a:off x="2299716" y="2624328"/>
            <a:ext cx="589788" cy="256032"/>
          </a:xfrm>
          <a:prstGeom prst="roundRect">
            <a:avLst>
              <a:gd name="adj" fmla="val 50000"/>
            </a:avLst>
          </a:prstGeom>
          <a:solidFill>
            <a:srgbClr val="F1ECDD"/>
          </a:solidFill>
          <a:ln w="12700">
            <a:solidFill>
              <a:srgbClr val="F1ECDD"/>
            </a:solidFill>
            <a:prstDash val="solid"/>
          </a:ln>
        </p:spPr>
      </p:sp>
      <p:sp>
        <p:nvSpPr>
          <p:cNvPr id="17" name="Text 14"/>
          <p:cNvSpPr txBox="1"/>
          <p:nvPr/>
        </p:nvSpPr>
        <p:spPr>
          <a:xfrm>
            <a:off x="2299716" y="2624328"/>
            <a:ext cx="589788" cy="256032"/>
          </a:xfrm>
          <a:prstGeom prst="rect">
            <a:avLst/>
          </a:prstGeom>
          <a:noFill/>
          <a:ln/>
        </p:spPr>
        <p:txBody>
          <a:bodyPr wrap="square" lIns="0" tIns="0" rIns="0" bIns="0" rtlCol="0" anchor="ctr"/>
          <a:lstStyle/>
          <a:p>
            <a:pPr algn="ctr" indent="0" marL="0">
              <a:buNone/>
            </a:pPr>
            <a:r>
              <a:rPr lang="en-US" sz="900" b="1" dirty="0">
                <a:solidFill>
                  <a:srgbClr val="141416"/>
                </a:solidFill>
              </a:rPr>
              <a:t>Email</a:t>
            </a:r>
            <a:endParaRPr lang="en-US" sz="900" dirty="0"/>
          </a:p>
        </p:txBody>
      </p:sp>
      <p:sp>
        <p:nvSpPr>
          <p:cNvPr id="18" name="Shape 15"/>
          <p:cNvSpPr/>
          <p:nvPr/>
        </p:nvSpPr>
        <p:spPr>
          <a:xfrm>
            <a:off x="2980944" y="2624328"/>
            <a:ext cx="1133856" cy="256032"/>
          </a:xfrm>
          <a:prstGeom prst="roundRect">
            <a:avLst>
              <a:gd name="adj" fmla="val 50000"/>
            </a:avLst>
          </a:prstGeom>
          <a:solidFill>
            <a:srgbClr val="F1ECDD"/>
          </a:solidFill>
          <a:ln w="12700">
            <a:solidFill>
              <a:srgbClr val="F1ECDD"/>
            </a:solidFill>
            <a:prstDash val="solid"/>
          </a:ln>
        </p:spPr>
      </p:sp>
      <p:sp>
        <p:nvSpPr>
          <p:cNvPr id="19" name="Text 16"/>
          <p:cNvSpPr txBox="1"/>
          <p:nvPr/>
        </p:nvSpPr>
        <p:spPr>
          <a:xfrm>
            <a:off x="2980944" y="2624328"/>
            <a:ext cx="1133856" cy="256032"/>
          </a:xfrm>
          <a:prstGeom prst="rect">
            <a:avLst/>
          </a:prstGeom>
          <a:noFill/>
          <a:ln/>
        </p:spPr>
        <p:txBody>
          <a:bodyPr wrap="square" lIns="0" tIns="0" rIns="0" bIns="0" rtlCol="0" anchor="ctr"/>
          <a:lstStyle/>
          <a:p>
            <a:pPr algn="ctr" indent="0" marL="0">
              <a:buNone/>
            </a:pPr>
            <a:r>
              <a:rPr lang="en-US" sz="900" b="1" dirty="0">
                <a:solidFill>
                  <a:srgbClr val="141416"/>
                </a:solidFill>
              </a:rPr>
              <a:t>Office visit</a:t>
            </a:r>
            <a:endParaRPr lang="en-US" sz="900" dirty="0"/>
          </a:p>
        </p:txBody>
      </p:sp>
      <p:sp>
        <p:nvSpPr>
          <p:cNvPr id="20" name="Shape 17"/>
          <p:cNvSpPr/>
          <p:nvPr/>
        </p:nvSpPr>
        <p:spPr>
          <a:xfrm>
            <a:off x="722376" y="3090672"/>
            <a:ext cx="274320" cy="274320"/>
          </a:xfrm>
          <a:prstGeom prst="ellipse">
            <a:avLst/>
          </a:prstGeom>
          <a:solidFill>
            <a:srgbClr val="141416"/>
          </a:solidFill>
          <a:ln w="12700">
            <a:solidFill>
              <a:srgbClr val="141416"/>
            </a:solidFill>
            <a:prstDash val="solid"/>
          </a:ln>
        </p:spPr>
      </p:sp>
      <p:sp>
        <p:nvSpPr>
          <p:cNvPr id="21" name="Text 18"/>
          <p:cNvSpPr txBox="1"/>
          <p:nvPr/>
        </p:nvSpPr>
        <p:spPr>
          <a:xfrm>
            <a:off x="722376" y="3090672"/>
            <a:ext cx="274320" cy="274320"/>
          </a:xfrm>
          <a:prstGeom prst="rect">
            <a:avLst/>
          </a:prstGeom>
          <a:noFill/>
          <a:ln/>
        </p:spPr>
        <p:txBody>
          <a:bodyPr wrap="square" lIns="0" tIns="0" rIns="0" bIns="0" rtlCol="0" anchor="ctr"/>
          <a:lstStyle/>
          <a:p>
            <a:pPr algn="ctr" indent="0" marL="0">
              <a:buNone/>
            </a:pPr>
            <a:r>
              <a:rPr lang="en-US" sz="1000" b="1" dirty="0">
                <a:solidFill>
                  <a:srgbClr val="D4AF37"/>
                </a:solidFill>
              </a:rPr>
              <a:t>1</a:t>
            </a:r>
            <a:endParaRPr lang="en-US" sz="1000" dirty="0"/>
          </a:p>
        </p:txBody>
      </p:sp>
      <p:sp>
        <p:nvSpPr>
          <p:cNvPr id="22" name="Text 19"/>
          <p:cNvSpPr txBox="1"/>
          <p:nvPr/>
        </p:nvSpPr>
        <p:spPr>
          <a:xfrm>
            <a:off x="1106424" y="3063240"/>
            <a:ext cx="4678528" cy="365760"/>
          </a:xfrm>
          <a:prstGeom prst="rect">
            <a:avLst/>
          </a:prstGeom>
          <a:noFill/>
          <a:ln/>
        </p:spPr>
        <p:txBody>
          <a:bodyPr wrap="square" lIns="0" tIns="0" rIns="0" bIns="0" rtlCol="0" anchor="ctr"/>
          <a:lstStyle/>
          <a:p>
            <a:pPr indent="0" marL="0">
              <a:buNone/>
            </a:pPr>
            <a:r>
              <a:rPr lang="en-US" sz="1200" dirty="0">
                <a:solidFill>
                  <a:schemeClr val="tx1"/>
                </a:solidFill>
              </a:rPr>
              <a:t>Front desk registers the client and opens the return</a:t>
            </a:r>
            <a:endParaRPr lang="en-US" sz="1200" dirty="0"/>
          </a:p>
        </p:txBody>
      </p:sp>
      <p:sp>
        <p:nvSpPr>
          <p:cNvPr id="23" name="Shape 20"/>
          <p:cNvSpPr/>
          <p:nvPr/>
        </p:nvSpPr>
        <p:spPr>
          <a:xfrm>
            <a:off x="722376" y="3520440"/>
            <a:ext cx="274320" cy="274320"/>
          </a:xfrm>
          <a:prstGeom prst="ellipse">
            <a:avLst/>
          </a:prstGeom>
          <a:solidFill>
            <a:srgbClr val="141416"/>
          </a:solidFill>
          <a:ln w="12700">
            <a:solidFill>
              <a:srgbClr val="141416"/>
            </a:solidFill>
            <a:prstDash val="solid"/>
          </a:ln>
        </p:spPr>
      </p:sp>
      <p:sp>
        <p:nvSpPr>
          <p:cNvPr id="24" name="Text 21"/>
          <p:cNvSpPr txBox="1"/>
          <p:nvPr/>
        </p:nvSpPr>
        <p:spPr>
          <a:xfrm>
            <a:off x="722376" y="3520440"/>
            <a:ext cx="274320" cy="274320"/>
          </a:xfrm>
          <a:prstGeom prst="rect">
            <a:avLst/>
          </a:prstGeom>
          <a:noFill/>
          <a:ln/>
        </p:spPr>
        <p:txBody>
          <a:bodyPr wrap="square" lIns="0" tIns="0" rIns="0" bIns="0" rtlCol="0" anchor="ctr"/>
          <a:lstStyle/>
          <a:p>
            <a:pPr algn="ctr" indent="0" marL="0">
              <a:buNone/>
            </a:pPr>
            <a:r>
              <a:rPr lang="en-US" sz="1000" b="1" dirty="0">
                <a:solidFill>
                  <a:srgbClr val="D4AF37"/>
                </a:solidFill>
              </a:rPr>
              <a:t>2</a:t>
            </a:r>
            <a:endParaRPr lang="en-US" sz="1000" dirty="0"/>
          </a:p>
        </p:txBody>
      </p:sp>
      <p:sp>
        <p:nvSpPr>
          <p:cNvPr id="25" name="Text 22"/>
          <p:cNvSpPr txBox="1"/>
          <p:nvPr/>
        </p:nvSpPr>
        <p:spPr>
          <a:xfrm>
            <a:off x="1106424" y="3493008"/>
            <a:ext cx="4678528" cy="365760"/>
          </a:xfrm>
          <a:prstGeom prst="rect">
            <a:avLst/>
          </a:prstGeom>
          <a:noFill/>
          <a:ln/>
        </p:spPr>
        <p:txBody>
          <a:bodyPr wrap="square" lIns="0" tIns="0" rIns="0" bIns="0" rtlCol="0" anchor="ctr"/>
          <a:lstStyle/>
          <a:p>
            <a:pPr indent="0" marL="0">
              <a:buNone/>
            </a:pPr>
            <a:r>
              <a:rPr lang="en-US" sz="1200" dirty="0">
                <a:solidFill>
                  <a:schemeClr val="tx1"/>
                </a:solidFill>
              </a:rPr>
              <a:t>Client sends documents on WhatsApp — attached straight from the chat</a:t>
            </a:r>
            <a:endParaRPr lang="en-US" sz="1200" dirty="0"/>
          </a:p>
        </p:txBody>
      </p:sp>
      <p:sp>
        <p:nvSpPr>
          <p:cNvPr id="26" name="Shape 23"/>
          <p:cNvSpPr/>
          <p:nvPr/>
        </p:nvSpPr>
        <p:spPr>
          <a:xfrm>
            <a:off x="722376" y="3950208"/>
            <a:ext cx="274320" cy="274320"/>
          </a:xfrm>
          <a:prstGeom prst="ellipse">
            <a:avLst/>
          </a:prstGeom>
          <a:solidFill>
            <a:srgbClr val="141416"/>
          </a:solidFill>
          <a:ln w="12700">
            <a:solidFill>
              <a:srgbClr val="141416"/>
            </a:solidFill>
            <a:prstDash val="solid"/>
          </a:ln>
        </p:spPr>
      </p:sp>
      <p:sp>
        <p:nvSpPr>
          <p:cNvPr id="27" name="Text 24"/>
          <p:cNvSpPr txBox="1"/>
          <p:nvPr/>
        </p:nvSpPr>
        <p:spPr>
          <a:xfrm>
            <a:off x="722376" y="3950208"/>
            <a:ext cx="274320" cy="274320"/>
          </a:xfrm>
          <a:prstGeom prst="rect">
            <a:avLst/>
          </a:prstGeom>
          <a:noFill/>
          <a:ln/>
        </p:spPr>
        <p:txBody>
          <a:bodyPr wrap="square" lIns="0" tIns="0" rIns="0" bIns="0" rtlCol="0" anchor="ctr"/>
          <a:lstStyle/>
          <a:p>
            <a:pPr algn="ctr" indent="0" marL="0">
              <a:buNone/>
            </a:pPr>
            <a:r>
              <a:rPr lang="en-US" sz="1000" b="1" dirty="0">
                <a:solidFill>
                  <a:srgbClr val="D4AF37"/>
                </a:solidFill>
              </a:rPr>
              <a:t>3</a:t>
            </a:r>
            <a:endParaRPr lang="en-US" sz="1000" dirty="0"/>
          </a:p>
        </p:txBody>
      </p:sp>
      <p:sp>
        <p:nvSpPr>
          <p:cNvPr id="28" name="Text 25"/>
          <p:cNvSpPr txBox="1"/>
          <p:nvPr/>
        </p:nvSpPr>
        <p:spPr>
          <a:xfrm>
            <a:off x="1106424" y="3922776"/>
            <a:ext cx="4678528" cy="365760"/>
          </a:xfrm>
          <a:prstGeom prst="rect">
            <a:avLst/>
          </a:prstGeom>
          <a:noFill/>
          <a:ln/>
        </p:spPr>
        <p:txBody>
          <a:bodyPr wrap="square" lIns="0" tIns="0" rIns="0" bIns="0" rtlCol="0" anchor="ctr"/>
          <a:lstStyle/>
          <a:p>
            <a:pPr indent="0" marL="0">
              <a:buNone/>
            </a:pPr>
            <a:r>
              <a:rPr lang="en-US" sz="1200" dirty="0">
                <a:solidFill>
                  <a:schemeClr val="tx1"/>
                </a:solidFill>
              </a:rPr>
              <a:t>Data entry records what the client told us and answers the questionnaire</a:t>
            </a:r>
            <a:endParaRPr lang="en-US" sz="1200" dirty="0"/>
          </a:p>
        </p:txBody>
      </p:sp>
      <p:sp>
        <p:nvSpPr>
          <p:cNvPr id="29" name="Shape 26"/>
          <p:cNvSpPr/>
          <p:nvPr/>
        </p:nvSpPr>
        <p:spPr>
          <a:xfrm>
            <a:off x="722376" y="4379976"/>
            <a:ext cx="274320" cy="274320"/>
          </a:xfrm>
          <a:prstGeom prst="ellipse">
            <a:avLst/>
          </a:prstGeom>
          <a:solidFill>
            <a:srgbClr val="141416"/>
          </a:solidFill>
          <a:ln w="12700">
            <a:solidFill>
              <a:srgbClr val="141416"/>
            </a:solidFill>
            <a:prstDash val="solid"/>
          </a:ln>
        </p:spPr>
      </p:sp>
      <p:sp>
        <p:nvSpPr>
          <p:cNvPr id="30" name="Text 27"/>
          <p:cNvSpPr txBox="1"/>
          <p:nvPr/>
        </p:nvSpPr>
        <p:spPr>
          <a:xfrm>
            <a:off x="722376" y="4379976"/>
            <a:ext cx="274320" cy="274320"/>
          </a:xfrm>
          <a:prstGeom prst="rect">
            <a:avLst/>
          </a:prstGeom>
          <a:noFill/>
          <a:ln/>
        </p:spPr>
        <p:txBody>
          <a:bodyPr wrap="square" lIns="0" tIns="0" rIns="0" bIns="0" rtlCol="0" anchor="ctr"/>
          <a:lstStyle/>
          <a:p>
            <a:pPr algn="ctr" indent="0" marL="0">
              <a:buNone/>
            </a:pPr>
            <a:r>
              <a:rPr lang="en-US" sz="1000" b="1" dirty="0">
                <a:solidFill>
                  <a:srgbClr val="D4AF37"/>
                </a:solidFill>
              </a:rPr>
              <a:t>4</a:t>
            </a:r>
            <a:endParaRPr lang="en-US" sz="1000" dirty="0"/>
          </a:p>
        </p:txBody>
      </p:sp>
      <p:sp>
        <p:nvSpPr>
          <p:cNvPr id="31" name="Text 28"/>
          <p:cNvSpPr txBox="1"/>
          <p:nvPr/>
        </p:nvSpPr>
        <p:spPr>
          <a:xfrm>
            <a:off x="1106424" y="4352544"/>
            <a:ext cx="4678528" cy="365760"/>
          </a:xfrm>
          <a:prstGeom prst="rect">
            <a:avLst/>
          </a:prstGeom>
          <a:noFill/>
          <a:ln/>
        </p:spPr>
        <p:txBody>
          <a:bodyPr wrap="square" lIns="0" tIns="0" rIns="0" bIns="0" rtlCol="0" anchor="ctr"/>
          <a:lstStyle/>
          <a:p>
            <a:pPr indent="0" marL="0">
              <a:buNone/>
            </a:pPr>
            <a:r>
              <a:rPr lang="en-US" sz="1200" dirty="0">
                <a:solidFill>
                  <a:schemeClr val="tx1"/>
                </a:solidFill>
              </a:rPr>
              <a:t>Consultant verifies documents, prepares the return, calculates tax</a:t>
            </a:r>
            <a:endParaRPr lang="en-US" sz="1200" dirty="0"/>
          </a:p>
        </p:txBody>
      </p:sp>
      <p:sp>
        <p:nvSpPr>
          <p:cNvPr id="32" name="Shape 29"/>
          <p:cNvSpPr/>
          <p:nvPr/>
        </p:nvSpPr>
        <p:spPr>
          <a:xfrm>
            <a:off x="722376" y="4809744"/>
            <a:ext cx="274320" cy="274320"/>
          </a:xfrm>
          <a:prstGeom prst="ellipse">
            <a:avLst/>
          </a:prstGeom>
          <a:solidFill>
            <a:srgbClr val="141416"/>
          </a:solidFill>
          <a:ln w="12700">
            <a:solidFill>
              <a:srgbClr val="141416"/>
            </a:solidFill>
            <a:prstDash val="solid"/>
          </a:ln>
        </p:spPr>
      </p:sp>
      <p:sp>
        <p:nvSpPr>
          <p:cNvPr id="33" name="Text 30"/>
          <p:cNvSpPr txBox="1"/>
          <p:nvPr/>
        </p:nvSpPr>
        <p:spPr>
          <a:xfrm>
            <a:off x="722376" y="4809744"/>
            <a:ext cx="274320" cy="274320"/>
          </a:xfrm>
          <a:prstGeom prst="rect">
            <a:avLst/>
          </a:prstGeom>
          <a:noFill/>
          <a:ln/>
        </p:spPr>
        <p:txBody>
          <a:bodyPr wrap="square" lIns="0" tIns="0" rIns="0" bIns="0" rtlCol="0" anchor="ctr"/>
          <a:lstStyle/>
          <a:p>
            <a:pPr algn="ctr" indent="0" marL="0">
              <a:buNone/>
            </a:pPr>
            <a:r>
              <a:rPr lang="en-US" sz="1000" b="1" dirty="0">
                <a:solidFill>
                  <a:srgbClr val="D4AF37"/>
                </a:solidFill>
              </a:rPr>
              <a:t>5</a:t>
            </a:r>
            <a:endParaRPr lang="en-US" sz="1000" dirty="0"/>
          </a:p>
        </p:txBody>
      </p:sp>
      <p:sp>
        <p:nvSpPr>
          <p:cNvPr id="34" name="Text 31"/>
          <p:cNvSpPr txBox="1"/>
          <p:nvPr/>
        </p:nvSpPr>
        <p:spPr>
          <a:xfrm>
            <a:off x="1106424" y="4782312"/>
            <a:ext cx="4678528" cy="365760"/>
          </a:xfrm>
          <a:prstGeom prst="rect">
            <a:avLst/>
          </a:prstGeom>
          <a:noFill/>
          <a:ln/>
        </p:spPr>
        <p:txBody>
          <a:bodyPr wrap="square" lIns="0" tIns="0" rIns="0" bIns="0" rtlCol="0" anchor="ctr"/>
          <a:lstStyle/>
          <a:p>
            <a:pPr indent="0" marL="0">
              <a:buNone/>
            </a:pPr>
            <a:r>
              <a:rPr lang="en-US" sz="1200" dirty="0">
                <a:solidFill>
                  <a:schemeClr val="tx1"/>
                </a:solidFill>
              </a:rPr>
              <a:t>Client approves the summary by phone — staff record method, note and proof</a:t>
            </a:r>
            <a:endParaRPr lang="en-US" sz="1200" dirty="0"/>
          </a:p>
        </p:txBody>
      </p:sp>
      <p:sp>
        <p:nvSpPr>
          <p:cNvPr id="35" name="Shape 32"/>
          <p:cNvSpPr/>
          <p:nvPr/>
        </p:nvSpPr>
        <p:spPr>
          <a:xfrm>
            <a:off x="6233008" y="1691640"/>
            <a:ext cx="5455768" cy="3611880"/>
          </a:xfrm>
          <a:prstGeom prst="roundRect">
            <a:avLst>
              <a:gd name="adj" fmla="val 2025"/>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36" name="Shape 33"/>
          <p:cNvSpPr/>
          <p:nvPr/>
        </p:nvSpPr>
        <p:spPr>
          <a:xfrm>
            <a:off x="6434176" y="1874520"/>
            <a:ext cx="603504" cy="603504"/>
          </a:xfrm>
          <a:prstGeom prst="ellipse">
            <a:avLst/>
          </a:prstGeom>
          <a:solidFill>
            <a:srgbClr val="D4AF37"/>
          </a:solidFill>
          <a:ln w="12700">
            <a:solidFill>
              <a:srgbClr val="D4AF37"/>
            </a:solidFill>
            <a:prstDash val="solid"/>
          </a:ln>
        </p:spPr>
      </p:sp>
      <p:pic>
        <p:nvPicPr>
          <p:cNvPr id="37" name="Image 1" descr="preencoded.png">    </p:cNvPr>
          <p:cNvPicPr>
            <a:picLocks noChangeAspect="1"/>
          </p:cNvPicPr>
          <p:nvPr/>
        </p:nvPicPr>
        <p:blipFill>
          <a:blip r:embed="rId2"/>
          <a:stretch>
            <a:fillRect/>
          </a:stretch>
        </p:blipFill>
        <p:spPr>
          <a:xfrm>
            <a:off x="6579017" y="2019361"/>
            <a:ext cx="313822" cy="313822"/>
          </a:xfrm>
          <a:prstGeom prst="rect">
            <a:avLst/>
          </a:prstGeom>
        </p:spPr>
      </p:pic>
      <p:sp>
        <p:nvSpPr>
          <p:cNvPr id="38" name="Text 34"/>
          <p:cNvSpPr txBox="1"/>
          <p:nvPr/>
        </p:nvSpPr>
        <p:spPr>
          <a:xfrm>
            <a:off x="7193128" y="1874520"/>
            <a:ext cx="2926080" cy="329184"/>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Self-service</a:t>
            </a:r>
            <a:endParaRPr lang="en-US" sz="1800" dirty="0"/>
          </a:p>
        </p:txBody>
      </p:sp>
      <p:sp>
        <p:nvSpPr>
          <p:cNvPr id="39" name="Text 35"/>
          <p:cNvSpPr txBox="1"/>
          <p:nvPr/>
        </p:nvSpPr>
        <p:spPr>
          <a:xfrm>
            <a:off x="7193128" y="2203704"/>
            <a:ext cx="3291840" cy="256032"/>
          </a:xfrm>
          <a:prstGeom prst="rect">
            <a:avLst/>
          </a:prstGeom>
          <a:noFill/>
          <a:ln/>
        </p:spPr>
        <p:txBody>
          <a:bodyPr wrap="square" lIns="0" tIns="0" rIns="0" bIns="0" rtlCol="0" anchor="t"/>
          <a:lstStyle/>
          <a:p>
            <a:pPr indent="0" marL="0">
              <a:buNone/>
            </a:pPr>
            <a:r>
              <a:rPr lang="en-US" sz="1100" dirty="0">
                <a:solidFill>
                  <a:srgbClr val="5F6470"/>
                </a:solidFill>
              </a:rPr>
              <a:t>The client files from the website</a:t>
            </a:r>
            <a:endParaRPr lang="en-US" sz="1100" dirty="0"/>
          </a:p>
        </p:txBody>
      </p:sp>
      <p:sp>
        <p:nvSpPr>
          <p:cNvPr id="40" name="Shape 36"/>
          <p:cNvSpPr/>
          <p:nvPr/>
        </p:nvSpPr>
        <p:spPr>
          <a:xfrm>
            <a:off x="10637215" y="1947672"/>
            <a:ext cx="822960" cy="256032"/>
          </a:xfrm>
          <a:prstGeom prst="roundRect">
            <a:avLst>
              <a:gd name="adj" fmla="val 50000"/>
            </a:avLst>
          </a:prstGeom>
          <a:solidFill>
            <a:srgbClr val="A8811F"/>
          </a:solidFill>
          <a:ln w="12700">
            <a:solidFill>
              <a:srgbClr val="A8811F"/>
            </a:solidFill>
            <a:prstDash val="solid"/>
          </a:ln>
        </p:spPr>
      </p:sp>
      <p:sp>
        <p:nvSpPr>
          <p:cNvPr id="41" name="Text 37"/>
          <p:cNvSpPr txBox="1"/>
          <p:nvPr/>
        </p:nvSpPr>
        <p:spPr>
          <a:xfrm>
            <a:off x="10637215" y="1947672"/>
            <a:ext cx="822960" cy="256032"/>
          </a:xfrm>
          <a:prstGeom prst="rect">
            <a:avLst/>
          </a:prstGeom>
          <a:noFill/>
          <a:ln/>
        </p:spPr>
        <p:txBody>
          <a:bodyPr wrap="square" lIns="0" tIns="0" rIns="0" bIns="0" rtlCol="0" anchor="ctr"/>
          <a:lstStyle/>
          <a:p>
            <a:pPr algn="ctr" indent="0" marL="0">
              <a:buNone/>
            </a:pPr>
            <a:r>
              <a:rPr lang="en-US" sz="1000" b="1" dirty="0">
                <a:solidFill>
                  <a:srgbClr val="FFFFFF"/>
                </a:solidFill>
              </a:rPr>
              <a:t>Video 2</a:t>
            </a:r>
            <a:endParaRPr lang="en-US" sz="1000" dirty="0"/>
          </a:p>
        </p:txBody>
      </p:sp>
      <p:sp>
        <p:nvSpPr>
          <p:cNvPr id="42" name="Shape 38"/>
          <p:cNvSpPr/>
          <p:nvPr/>
        </p:nvSpPr>
        <p:spPr>
          <a:xfrm>
            <a:off x="6434176" y="2624328"/>
            <a:ext cx="745236" cy="256032"/>
          </a:xfrm>
          <a:prstGeom prst="roundRect">
            <a:avLst>
              <a:gd name="adj" fmla="val 50000"/>
            </a:avLst>
          </a:prstGeom>
          <a:solidFill>
            <a:srgbClr val="F1ECDD"/>
          </a:solidFill>
          <a:ln w="12700">
            <a:solidFill>
              <a:srgbClr val="F1ECDD"/>
            </a:solidFill>
            <a:prstDash val="solid"/>
          </a:ln>
        </p:spPr>
      </p:sp>
      <p:sp>
        <p:nvSpPr>
          <p:cNvPr id="43" name="Text 39"/>
          <p:cNvSpPr txBox="1"/>
          <p:nvPr/>
        </p:nvSpPr>
        <p:spPr>
          <a:xfrm>
            <a:off x="6434176" y="2624328"/>
            <a:ext cx="745236" cy="256032"/>
          </a:xfrm>
          <a:prstGeom prst="rect">
            <a:avLst/>
          </a:prstGeom>
          <a:noFill/>
          <a:ln/>
        </p:spPr>
        <p:txBody>
          <a:bodyPr wrap="square" lIns="0" tIns="0" rIns="0" bIns="0" rtlCol="0" anchor="ctr"/>
          <a:lstStyle/>
          <a:p>
            <a:pPr algn="ctr" indent="0" marL="0">
              <a:buNone/>
            </a:pPr>
            <a:r>
              <a:rPr lang="en-US" sz="900" b="1" dirty="0">
                <a:solidFill>
                  <a:srgbClr val="141416"/>
                </a:solidFill>
              </a:rPr>
              <a:t>Website</a:t>
            </a:r>
            <a:endParaRPr lang="en-US" sz="900" dirty="0"/>
          </a:p>
        </p:txBody>
      </p:sp>
      <p:sp>
        <p:nvSpPr>
          <p:cNvPr id="44" name="Shape 40"/>
          <p:cNvSpPr/>
          <p:nvPr/>
        </p:nvSpPr>
        <p:spPr>
          <a:xfrm>
            <a:off x="7270852" y="2624328"/>
            <a:ext cx="667512" cy="256032"/>
          </a:xfrm>
          <a:prstGeom prst="roundRect">
            <a:avLst>
              <a:gd name="adj" fmla="val 50000"/>
            </a:avLst>
          </a:prstGeom>
          <a:solidFill>
            <a:srgbClr val="F1ECDD"/>
          </a:solidFill>
          <a:ln w="12700">
            <a:solidFill>
              <a:srgbClr val="F1ECDD"/>
            </a:solidFill>
            <a:prstDash val="solid"/>
          </a:ln>
        </p:spPr>
      </p:sp>
      <p:sp>
        <p:nvSpPr>
          <p:cNvPr id="45" name="Text 41"/>
          <p:cNvSpPr txBox="1"/>
          <p:nvPr/>
        </p:nvSpPr>
        <p:spPr>
          <a:xfrm>
            <a:off x="7270852" y="2624328"/>
            <a:ext cx="667512" cy="256032"/>
          </a:xfrm>
          <a:prstGeom prst="rect">
            <a:avLst/>
          </a:prstGeom>
          <a:noFill/>
          <a:ln/>
        </p:spPr>
        <p:txBody>
          <a:bodyPr wrap="square" lIns="0" tIns="0" rIns="0" bIns="0" rtlCol="0" anchor="ctr"/>
          <a:lstStyle/>
          <a:p>
            <a:pPr algn="ctr" indent="0" marL="0">
              <a:buNone/>
            </a:pPr>
            <a:r>
              <a:rPr lang="en-US" sz="900" b="1" dirty="0">
                <a:solidFill>
                  <a:srgbClr val="141416"/>
                </a:solidFill>
              </a:rPr>
              <a:t>Mobile</a:t>
            </a:r>
            <a:endParaRPr lang="en-US" sz="900" dirty="0"/>
          </a:p>
        </p:txBody>
      </p:sp>
      <p:sp>
        <p:nvSpPr>
          <p:cNvPr id="46" name="Shape 42"/>
          <p:cNvSpPr/>
          <p:nvPr/>
        </p:nvSpPr>
        <p:spPr>
          <a:xfrm>
            <a:off x="8029804" y="2624328"/>
            <a:ext cx="667512" cy="256032"/>
          </a:xfrm>
          <a:prstGeom prst="roundRect">
            <a:avLst>
              <a:gd name="adj" fmla="val 50000"/>
            </a:avLst>
          </a:prstGeom>
          <a:solidFill>
            <a:srgbClr val="F1ECDD"/>
          </a:solidFill>
          <a:ln w="12700">
            <a:solidFill>
              <a:srgbClr val="F1ECDD"/>
            </a:solidFill>
            <a:prstDash val="solid"/>
          </a:ln>
        </p:spPr>
      </p:sp>
      <p:sp>
        <p:nvSpPr>
          <p:cNvPr id="47" name="Text 43"/>
          <p:cNvSpPr txBox="1"/>
          <p:nvPr/>
        </p:nvSpPr>
        <p:spPr>
          <a:xfrm>
            <a:off x="8029804" y="2624328"/>
            <a:ext cx="667512" cy="256032"/>
          </a:xfrm>
          <a:prstGeom prst="rect">
            <a:avLst/>
          </a:prstGeom>
          <a:noFill/>
          <a:ln/>
        </p:spPr>
        <p:txBody>
          <a:bodyPr wrap="square" lIns="0" tIns="0" rIns="0" bIns="0" rtlCol="0" anchor="ctr"/>
          <a:lstStyle/>
          <a:p>
            <a:pPr algn="ctr" indent="0" marL="0">
              <a:buNone/>
            </a:pPr>
            <a:r>
              <a:rPr lang="en-US" sz="900" b="1" dirty="0">
                <a:solidFill>
                  <a:srgbClr val="141416"/>
                </a:solidFill>
              </a:rPr>
              <a:t>24 / 7</a:t>
            </a:r>
            <a:endParaRPr lang="en-US" sz="900" dirty="0"/>
          </a:p>
        </p:txBody>
      </p:sp>
      <p:sp>
        <p:nvSpPr>
          <p:cNvPr id="48" name="Shape 44"/>
          <p:cNvSpPr/>
          <p:nvPr/>
        </p:nvSpPr>
        <p:spPr>
          <a:xfrm>
            <a:off x="6452464" y="3090672"/>
            <a:ext cx="274320" cy="274320"/>
          </a:xfrm>
          <a:prstGeom prst="ellipse">
            <a:avLst/>
          </a:prstGeom>
          <a:solidFill>
            <a:srgbClr val="D4AF37"/>
          </a:solidFill>
          <a:ln w="12700">
            <a:solidFill>
              <a:srgbClr val="D4AF37"/>
            </a:solidFill>
            <a:prstDash val="solid"/>
          </a:ln>
        </p:spPr>
      </p:sp>
      <p:sp>
        <p:nvSpPr>
          <p:cNvPr id="49" name="Text 45"/>
          <p:cNvSpPr txBox="1"/>
          <p:nvPr/>
        </p:nvSpPr>
        <p:spPr>
          <a:xfrm>
            <a:off x="6452464" y="3090672"/>
            <a:ext cx="274320" cy="274320"/>
          </a:xfrm>
          <a:prstGeom prst="rect">
            <a:avLst/>
          </a:prstGeom>
          <a:noFill/>
          <a:ln/>
        </p:spPr>
        <p:txBody>
          <a:bodyPr wrap="square" lIns="0" tIns="0" rIns="0" bIns="0" rtlCol="0" anchor="ctr"/>
          <a:lstStyle/>
          <a:p>
            <a:pPr algn="ctr" indent="0" marL="0">
              <a:buNone/>
            </a:pPr>
            <a:r>
              <a:rPr lang="en-US" sz="1000" b="1" dirty="0">
                <a:solidFill>
                  <a:srgbClr val="141416"/>
                </a:solidFill>
              </a:rPr>
              <a:t>1</a:t>
            </a:r>
            <a:endParaRPr lang="en-US" sz="1000" dirty="0"/>
          </a:p>
        </p:txBody>
      </p:sp>
      <p:sp>
        <p:nvSpPr>
          <p:cNvPr id="50" name="Text 46"/>
          <p:cNvSpPr txBox="1"/>
          <p:nvPr/>
        </p:nvSpPr>
        <p:spPr>
          <a:xfrm>
            <a:off x="6836512" y="3063240"/>
            <a:ext cx="4678528" cy="365760"/>
          </a:xfrm>
          <a:prstGeom prst="rect">
            <a:avLst/>
          </a:prstGeom>
          <a:noFill/>
          <a:ln/>
        </p:spPr>
        <p:txBody>
          <a:bodyPr wrap="square" lIns="0" tIns="0" rIns="0" bIns="0" rtlCol="0" anchor="ctr"/>
          <a:lstStyle/>
          <a:p>
            <a:pPr indent="0" marL="0">
              <a:buNone/>
            </a:pPr>
            <a:r>
              <a:rPr lang="en-US" sz="1200" dirty="0">
                <a:solidFill>
                  <a:schemeClr val="tx1"/>
                </a:solidFill>
              </a:rPr>
              <a:t>Visits the website → Start Filing → login verified with a 6-digit code</a:t>
            </a:r>
            <a:endParaRPr lang="en-US" sz="1200" dirty="0"/>
          </a:p>
        </p:txBody>
      </p:sp>
      <p:sp>
        <p:nvSpPr>
          <p:cNvPr id="51" name="Shape 47"/>
          <p:cNvSpPr/>
          <p:nvPr/>
        </p:nvSpPr>
        <p:spPr>
          <a:xfrm>
            <a:off x="6452464" y="3520440"/>
            <a:ext cx="274320" cy="274320"/>
          </a:xfrm>
          <a:prstGeom prst="ellipse">
            <a:avLst/>
          </a:prstGeom>
          <a:solidFill>
            <a:srgbClr val="D4AF37"/>
          </a:solidFill>
          <a:ln w="12700">
            <a:solidFill>
              <a:srgbClr val="D4AF37"/>
            </a:solidFill>
            <a:prstDash val="solid"/>
          </a:ln>
        </p:spPr>
      </p:sp>
      <p:sp>
        <p:nvSpPr>
          <p:cNvPr id="52" name="Text 48"/>
          <p:cNvSpPr txBox="1"/>
          <p:nvPr/>
        </p:nvSpPr>
        <p:spPr>
          <a:xfrm>
            <a:off x="6452464" y="3520440"/>
            <a:ext cx="274320" cy="274320"/>
          </a:xfrm>
          <a:prstGeom prst="rect">
            <a:avLst/>
          </a:prstGeom>
          <a:noFill/>
          <a:ln/>
        </p:spPr>
        <p:txBody>
          <a:bodyPr wrap="square" lIns="0" tIns="0" rIns="0" bIns="0" rtlCol="0" anchor="ctr"/>
          <a:lstStyle/>
          <a:p>
            <a:pPr algn="ctr" indent="0" marL="0">
              <a:buNone/>
            </a:pPr>
            <a:r>
              <a:rPr lang="en-US" sz="1000" b="1" dirty="0">
                <a:solidFill>
                  <a:srgbClr val="141416"/>
                </a:solidFill>
              </a:rPr>
              <a:t>2</a:t>
            </a:r>
            <a:endParaRPr lang="en-US" sz="1000" dirty="0"/>
          </a:p>
        </p:txBody>
      </p:sp>
      <p:sp>
        <p:nvSpPr>
          <p:cNvPr id="53" name="Text 49"/>
          <p:cNvSpPr txBox="1"/>
          <p:nvPr/>
        </p:nvSpPr>
        <p:spPr>
          <a:xfrm>
            <a:off x="6836512" y="3493008"/>
            <a:ext cx="4678528" cy="365760"/>
          </a:xfrm>
          <a:prstGeom prst="rect">
            <a:avLst/>
          </a:prstGeom>
          <a:noFill/>
          <a:ln/>
        </p:spPr>
        <p:txBody>
          <a:bodyPr wrap="square" lIns="0" tIns="0" rIns="0" bIns="0" rtlCol="0" anchor="ctr"/>
          <a:lstStyle/>
          <a:p>
            <a:pPr indent="0" marL="0">
              <a:buNone/>
            </a:pPr>
            <a:r>
              <a:rPr lang="en-US" sz="1200" dirty="0">
                <a:solidFill>
                  <a:schemeClr val="tx1"/>
                </a:solidFill>
              </a:rPr>
              <a:t>Chooses a package and answers simple Yes / No questions</a:t>
            </a:r>
            <a:endParaRPr lang="en-US" sz="1200" dirty="0"/>
          </a:p>
        </p:txBody>
      </p:sp>
      <p:sp>
        <p:nvSpPr>
          <p:cNvPr id="54" name="Shape 50"/>
          <p:cNvSpPr/>
          <p:nvPr/>
        </p:nvSpPr>
        <p:spPr>
          <a:xfrm>
            <a:off x="6452464" y="3950208"/>
            <a:ext cx="274320" cy="274320"/>
          </a:xfrm>
          <a:prstGeom prst="ellipse">
            <a:avLst/>
          </a:prstGeom>
          <a:solidFill>
            <a:srgbClr val="D4AF37"/>
          </a:solidFill>
          <a:ln w="12700">
            <a:solidFill>
              <a:srgbClr val="D4AF37"/>
            </a:solidFill>
            <a:prstDash val="solid"/>
          </a:ln>
        </p:spPr>
      </p:sp>
      <p:sp>
        <p:nvSpPr>
          <p:cNvPr id="55" name="Text 51"/>
          <p:cNvSpPr txBox="1"/>
          <p:nvPr/>
        </p:nvSpPr>
        <p:spPr>
          <a:xfrm>
            <a:off x="6452464" y="3950208"/>
            <a:ext cx="274320" cy="274320"/>
          </a:xfrm>
          <a:prstGeom prst="rect">
            <a:avLst/>
          </a:prstGeom>
          <a:noFill/>
          <a:ln/>
        </p:spPr>
        <p:txBody>
          <a:bodyPr wrap="square" lIns="0" tIns="0" rIns="0" bIns="0" rtlCol="0" anchor="ctr"/>
          <a:lstStyle/>
          <a:p>
            <a:pPr algn="ctr" indent="0" marL="0">
              <a:buNone/>
            </a:pPr>
            <a:r>
              <a:rPr lang="en-US" sz="1000" b="1" dirty="0">
                <a:solidFill>
                  <a:srgbClr val="141416"/>
                </a:solidFill>
              </a:rPr>
              <a:t>3</a:t>
            </a:r>
            <a:endParaRPr lang="en-US" sz="1000" dirty="0"/>
          </a:p>
        </p:txBody>
      </p:sp>
      <p:sp>
        <p:nvSpPr>
          <p:cNvPr id="56" name="Text 52"/>
          <p:cNvSpPr txBox="1"/>
          <p:nvPr/>
        </p:nvSpPr>
        <p:spPr>
          <a:xfrm>
            <a:off x="6836512" y="3922776"/>
            <a:ext cx="4678528" cy="365760"/>
          </a:xfrm>
          <a:prstGeom prst="rect">
            <a:avLst/>
          </a:prstGeom>
          <a:noFill/>
          <a:ln/>
        </p:spPr>
        <p:txBody>
          <a:bodyPr wrap="square" lIns="0" tIns="0" rIns="0" bIns="0" rtlCol="0" anchor="ctr"/>
          <a:lstStyle/>
          <a:p>
            <a:pPr indent="0" marL="0">
              <a:buNone/>
            </a:pPr>
            <a:r>
              <a:rPr lang="en-US" sz="1200" dirty="0">
                <a:solidFill>
                  <a:schemeClr val="tx1"/>
                </a:solidFill>
              </a:rPr>
              <a:t>Describes her year in everyday words and uploads her documents</a:t>
            </a:r>
            <a:endParaRPr lang="en-US" sz="1200" dirty="0"/>
          </a:p>
        </p:txBody>
      </p:sp>
      <p:sp>
        <p:nvSpPr>
          <p:cNvPr id="57" name="Shape 53"/>
          <p:cNvSpPr/>
          <p:nvPr/>
        </p:nvSpPr>
        <p:spPr>
          <a:xfrm>
            <a:off x="6452464" y="4379976"/>
            <a:ext cx="274320" cy="274320"/>
          </a:xfrm>
          <a:prstGeom prst="ellipse">
            <a:avLst/>
          </a:prstGeom>
          <a:solidFill>
            <a:srgbClr val="D4AF37"/>
          </a:solidFill>
          <a:ln w="12700">
            <a:solidFill>
              <a:srgbClr val="D4AF37"/>
            </a:solidFill>
            <a:prstDash val="solid"/>
          </a:ln>
        </p:spPr>
      </p:sp>
      <p:sp>
        <p:nvSpPr>
          <p:cNvPr id="58" name="Text 54"/>
          <p:cNvSpPr txBox="1"/>
          <p:nvPr/>
        </p:nvSpPr>
        <p:spPr>
          <a:xfrm>
            <a:off x="6452464" y="4379976"/>
            <a:ext cx="274320" cy="274320"/>
          </a:xfrm>
          <a:prstGeom prst="rect">
            <a:avLst/>
          </a:prstGeom>
          <a:noFill/>
          <a:ln/>
        </p:spPr>
        <p:txBody>
          <a:bodyPr wrap="square" lIns="0" tIns="0" rIns="0" bIns="0" rtlCol="0" anchor="ctr"/>
          <a:lstStyle/>
          <a:p>
            <a:pPr algn="ctr" indent="0" marL="0">
              <a:buNone/>
            </a:pPr>
            <a:r>
              <a:rPr lang="en-US" sz="1000" b="1" dirty="0">
                <a:solidFill>
                  <a:srgbClr val="141416"/>
                </a:solidFill>
              </a:rPr>
              <a:t>4</a:t>
            </a:r>
            <a:endParaRPr lang="en-US" sz="1000" dirty="0"/>
          </a:p>
        </p:txBody>
      </p:sp>
      <p:sp>
        <p:nvSpPr>
          <p:cNvPr id="59" name="Text 55"/>
          <p:cNvSpPr txBox="1"/>
          <p:nvPr/>
        </p:nvSpPr>
        <p:spPr>
          <a:xfrm>
            <a:off x="6836512" y="4352544"/>
            <a:ext cx="4678528" cy="365760"/>
          </a:xfrm>
          <a:prstGeom prst="rect">
            <a:avLst/>
          </a:prstGeom>
          <a:noFill/>
          <a:ln/>
        </p:spPr>
        <p:txBody>
          <a:bodyPr wrap="square" lIns="0" tIns="0" rIns="0" bIns="0" rtlCol="0" anchor="ctr"/>
          <a:lstStyle/>
          <a:p>
            <a:pPr indent="0" marL="0">
              <a:buNone/>
            </a:pPr>
            <a:r>
              <a:rPr lang="en-US" sz="1200" dirty="0">
                <a:solidFill>
                  <a:schemeClr val="tx1"/>
                </a:solidFill>
              </a:rPr>
              <a:t>Pays the fee (Bank, Raast, JazzCash, Easypaisa) with a screenshot</a:t>
            </a:r>
            <a:endParaRPr lang="en-US" sz="1200" dirty="0"/>
          </a:p>
        </p:txBody>
      </p:sp>
      <p:sp>
        <p:nvSpPr>
          <p:cNvPr id="60" name="Shape 56"/>
          <p:cNvSpPr/>
          <p:nvPr/>
        </p:nvSpPr>
        <p:spPr>
          <a:xfrm>
            <a:off x="6452464" y="4809744"/>
            <a:ext cx="274320" cy="274320"/>
          </a:xfrm>
          <a:prstGeom prst="ellipse">
            <a:avLst/>
          </a:prstGeom>
          <a:solidFill>
            <a:srgbClr val="D4AF37"/>
          </a:solidFill>
          <a:ln w="12700">
            <a:solidFill>
              <a:srgbClr val="D4AF37"/>
            </a:solidFill>
            <a:prstDash val="solid"/>
          </a:ln>
        </p:spPr>
      </p:sp>
      <p:sp>
        <p:nvSpPr>
          <p:cNvPr id="61" name="Text 57"/>
          <p:cNvSpPr txBox="1"/>
          <p:nvPr/>
        </p:nvSpPr>
        <p:spPr>
          <a:xfrm>
            <a:off x="6452464" y="4809744"/>
            <a:ext cx="274320" cy="274320"/>
          </a:xfrm>
          <a:prstGeom prst="rect">
            <a:avLst/>
          </a:prstGeom>
          <a:noFill/>
          <a:ln/>
        </p:spPr>
        <p:txBody>
          <a:bodyPr wrap="square" lIns="0" tIns="0" rIns="0" bIns="0" rtlCol="0" anchor="ctr"/>
          <a:lstStyle/>
          <a:p>
            <a:pPr algn="ctr" indent="0" marL="0">
              <a:buNone/>
            </a:pPr>
            <a:r>
              <a:rPr lang="en-US" sz="1000" b="1" dirty="0">
                <a:solidFill>
                  <a:srgbClr val="141416"/>
                </a:solidFill>
              </a:rPr>
              <a:t>5</a:t>
            </a:r>
            <a:endParaRPr lang="en-US" sz="1000" dirty="0"/>
          </a:p>
        </p:txBody>
      </p:sp>
      <p:sp>
        <p:nvSpPr>
          <p:cNvPr id="62" name="Text 58"/>
          <p:cNvSpPr txBox="1"/>
          <p:nvPr/>
        </p:nvSpPr>
        <p:spPr>
          <a:xfrm>
            <a:off x="6836512" y="4782312"/>
            <a:ext cx="4678528" cy="365760"/>
          </a:xfrm>
          <a:prstGeom prst="rect">
            <a:avLst/>
          </a:prstGeom>
          <a:noFill/>
          <a:ln/>
        </p:spPr>
        <p:txBody>
          <a:bodyPr wrap="square" lIns="0" tIns="0" rIns="0" bIns="0" rtlCol="0" anchor="ctr"/>
          <a:lstStyle/>
          <a:p>
            <a:pPr indent="0" marL="0">
              <a:buNone/>
            </a:pPr>
            <a:r>
              <a:rPr lang="en-US" sz="1200" dirty="0">
                <a:solidFill>
                  <a:schemeClr val="tx1"/>
                </a:solidFill>
              </a:rPr>
              <a:t>Reads the summary and clicks “Confirm my return” in the portal</a:t>
            </a:r>
            <a:endParaRPr lang="en-US" sz="1200" dirty="0"/>
          </a:p>
        </p:txBody>
      </p:sp>
      <p:sp>
        <p:nvSpPr>
          <p:cNvPr id="63" name="Shape 59"/>
          <p:cNvSpPr/>
          <p:nvPr/>
        </p:nvSpPr>
        <p:spPr>
          <a:xfrm>
            <a:off x="502920" y="5486400"/>
            <a:ext cx="11185855" cy="804672"/>
          </a:xfrm>
          <a:prstGeom prst="roundRect">
            <a:avLst>
              <a:gd name="adj" fmla="val 9091"/>
            </a:avLst>
          </a:prstGeom>
          <a:solidFill>
            <a:srgbClr val="141416"/>
          </a:solidFill>
          <a:ln w="12700">
            <a:solidFill>
              <a:srgbClr val="141416"/>
            </a:solidFill>
            <a:prstDash val="solid"/>
          </a:ln>
        </p:spPr>
      </p:sp>
      <p:sp>
        <p:nvSpPr>
          <p:cNvPr id="64" name="Text 60"/>
          <p:cNvSpPr txBox="1"/>
          <p:nvPr/>
        </p:nvSpPr>
        <p:spPr>
          <a:xfrm>
            <a:off x="731520" y="5596128"/>
            <a:ext cx="1463040" cy="228600"/>
          </a:xfrm>
          <a:prstGeom prst="rect">
            <a:avLst/>
          </a:prstGeom>
          <a:noFill/>
          <a:ln/>
        </p:spPr>
        <p:txBody>
          <a:bodyPr wrap="square" lIns="0" tIns="0" rIns="0" bIns="0" rtlCol="0" anchor="t"/>
          <a:lstStyle/>
          <a:p>
            <a:pPr indent="0" marL="0">
              <a:buNone/>
            </a:pPr>
            <a:r>
              <a:rPr lang="en-US" sz="1000" b="1" spc="100" kern="0" dirty="0">
                <a:solidFill>
                  <a:srgbClr val="D4AF37"/>
                </a:solidFill>
              </a:rPr>
              <a:t>SAME PIPELINE</a:t>
            </a:r>
            <a:endParaRPr lang="en-US" sz="1000" dirty="0"/>
          </a:p>
        </p:txBody>
      </p:sp>
      <p:sp>
        <p:nvSpPr>
          <p:cNvPr id="65" name="Text 61"/>
          <p:cNvSpPr txBox="1"/>
          <p:nvPr/>
        </p:nvSpPr>
        <p:spPr>
          <a:xfrm>
            <a:off x="731520" y="5833872"/>
            <a:ext cx="1463040" cy="274320"/>
          </a:xfrm>
          <a:prstGeom prst="rect">
            <a:avLst/>
          </a:prstGeom>
          <a:noFill/>
          <a:ln/>
        </p:spPr>
        <p:txBody>
          <a:bodyPr wrap="square" lIns="0" tIns="0" rIns="0" bIns="0" rtlCol="0" anchor="t"/>
          <a:lstStyle/>
          <a:p>
            <a:pPr indent="0" marL="0">
              <a:buNone/>
            </a:pPr>
            <a:r>
              <a:rPr lang="en-US" sz="1100" dirty="0">
                <a:solidFill>
                  <a:srgbClr val="C9C3B3"/>
                </a:solidFill>
              </a:rPr>
              <a:t>for both routes</a:t>
            </a:r>
            <a:endParaRPr lang="en-US" sz="1100" dirty="0"/>
          </a:p>
        </p:txBody>
      </p:sp>
      <p:sp>
        <p:nvSpPr>
          <p:cNvPr id="66" name="Shape 62"/>
          <p:cNvSpPr/>
          <p:nvPr/>
        </p:nvSpPr>
        <p:spPr>
          <a:xfrm>
            <a:off x="2377440" y="5669280"/>
            <a:ext cx="1542227" cy="438912"/>
          </a:xfrm>
          <a:prstGeom prst="roundRect">
            <a:avLst>
              <a:gd name="adj" fmla="val 50000"/>
            </a:avLst>
          </a:prstGeom>
          <a:solidFill>
            <a:srgbClr val="2A2620"/>
          </a:solidFill>
          <a:ln w="9525">
            <a:solidFill>
              <a:srgbClr val="A8811F"/>
            </a:solidFill>
            <a:prstDash val="solid"/>
          </a:ln>
        </p:spPr>
      </p:sp>
      <p:sp>
        <p:nvSpPr>
          <p:cNvPr id="67" name="Text 63"/>
          <p:cNvSpPr txBox="1"/>
          <p:nvPr/>
        </p:nvSpPr>
        <p:spPr>
          <a:xfrm>
            <a:off x="2377440" y="5669280"/>
            <a:ext cx="1542227" cy="438912"/>
          </a:xfrm>
          <a:prstGeom prst="rect">
            <a:avLst/>
          </a:prstGeom>
          <a:noFill/>
          <a:ln/>
        </p:spPr>
        <p:txBody>
          <a:bodyPr wrap="square" lIns="0" tIns="0" rIns="0" bIns="0" rtlCol="0" anchor="ctr"/>
          <a:lstStyle/>
          <a:p>
            <a:pPr algn="ctr" indent="0" marL="0">
              <a:buNone/>
            </a:pPr>
            <a:r>
              <a:rPr lang="en-US" sz="1100" b="1" dirty="0">
                <a:solidFill>
                  <a:srgbClr val="FFFFFF"/>
                </a:solidFill>
              </a:rPr>
              <a:t>Review checklist</a:t>
            </a:r>
            <a:endParaRPr lang="en-US" sz="1100" dirty="0"/>
          </a:p>
        </p:txBody>
      </p:sp>
      <p:sp>
        <p:nvSpPr>
          <p:cNvPr id="68" name="Shape 64"/>
          <p:cNvSpPr/>
          <p:nvPr/>
        </p:nvSpPr>
        <p:spPr>
          <a:xfrm>
            <a:off x="3937955" y="5888736"/>
            <a:ext cx="256032" cy="0"/>
          </a:xfrm>
          <a:prstGeom prst="line">
            <a:avLst/>
          </a:prstGeom>
          <a:noFill/>
          <a:ln w="15875">
            <a:solidFill>
              <a:srgbClr val="D4AF37"/>
            </a:solidFill>
            <a:prstDash val="solid"/>
            <a:tailEnd type="triangle"/>
          </a:ln>
        </p:spPr>
      </p:sp>
      <p:sp>
        <p:nvSpPr>
          <p:cNvPr id="69" name="Shape 65"/>
          <p:cNvSpPr/>
          <p:nvPr/>
        </p:nvSpPr>
        <p:spPr>
          <a:xfrm>
            <a:off x="4212275" y="5669280"/>
            <a:ext cx="1542227" cy="438912"/>
          </a:xfrm>
          <a:prstGeom prst="roundRect">
            <a:avLst>
              <a:gd name="adj" fmla="val 50000"/>
            </a:avLst>
          </a:prstGeom>
          <a:solidFill>
            <a:srgbClr val="2A2620"/>
          </a:solidFill>
          <a:ln w="9525">
            <a:solidFill>
              <a:srgbClr val="A8811F"/>
            </a:solidFill>
            <a:prstDash val="solid"/>
          </a:ln>
        </p:spPr>
      </p:sp>
      <p:sp>
        <p:nvSpPr>
          <p:cNvPr id="70" name="Text 66"/>
          <p:cNvSpPr txBox="1"/>
          <p:nvPr/>
        </p:nvSpPr>
        <p:spPr>
          <a:xfrm>
            <a:off x="4212275" y="5669280"/>
            <a:ext cx="1542227" cy="438912"/>
          </a:xfrm>
          <a:prstGeom prst="rect">
            <a:avLst/>
          </a:prstGeom>
          <a:noFill/>
          <a:ln/>
        </p:spPr>
        <p:txBody>
          <a:bodyPr wrap="square" lIns="0" tIns="0" rIns="0" bIns="0" rtlCol="0" anchor="ctr"/>
          <a:lstStyle/>
          <a:p>
            <a:pPr algn="ctr" indent="0" marL="0">
              <a:buNone/>
            </a:pPr>
            <a:r>
              <a:rPr lang="en-US" sz="1100" b="1" dirty="0">
                <a:solidFill>
                  <a:srgbClr val="FFFFFF"/>
                </a:solidFill>
              </a:rPr>
              <a:t>Client confirmation</a:t>
            </a:r>
            <a:endParaRPr lang="en-US" sz="1100" dirty="0"/>
          </a:p>
        </p:txBody>
      </p:sp>
      <p:sp>
        <p:nvSpPr>
          <p:cNvPr id="71" name="Shape 67"/>
          <p:cNvSpPr/>
          <p:nvPr/>
        </p:nvSpPr>
        <p:spPr>
          <a:xfrm>
            <a:off x="5772790" y="5888736"/>
            <a:ext cx="256032" cy="0"/>
          </a:xfrm>
          <a:prstGeom prst="line">
            <a:avLst/>
          </a:prstGeom>
          <a:noFill/>
          <a:ln w="15875">
            <a:solidFill>
              <a:srgbClr val="D4AF37"/>
            </a:solidFill>
            <a:prstDash val="solid"/>
            <a:tailEnd type="triangle"/>
          </a:ln>
        </p:spPr>
      </p:sp>
      <p:sp>
        <p:nvSpPr>
          <p:cNvPr id="72" name="Shape 68"/>
          <p:cNvSpPr/>
          <p:nvPr/>
        </p:nvSpPr>
        <p:spPr>
          <a:xfrm>
            <a:off x="6047110" y="5669280"/>
            <a:ext cx="1542227" cy="438912"/>
          </a:xfrm>
          <a:prstGeom prst="roundRect">
            <a:avLst>
              <a:gd name="adj" fmla="val 50000"/>
            </a:avLst>
          </a:prstGeom>
          <a:solidFill>
            <a:srgbClr val="2A2620"/>
          </a:solidFill>
          <a:ln w="9525">
            <a:solidFill>
              <a:srgbClr val="A8811F"/>
            </a:solidFill>
            <a:prstDash val="solid"/>
          </a:ln>
        </p:spPr>
      </p:sp>
      <p:sp>
        <p:nvSpPr>
          <p:cNvPr id="73" name="Text 69"/>
          <p:cNvSpPr txBox="1"/>
          <p:nvPr/>
        </p:nvSpPr>
        <p:spPr>
          <a:xfrm>
            <a:off x="6047110" y="5669280"/>
            <a:ext cx="1542227" cy="438912"/>
          </a:xfrm>
          <a:prstGeom prst="rect">
            <a:avLst/>
          </a:prstGeom>
          <a:noFill/>
          <a:ln/>
        </p:spPr>
        <p:txBody>
          <a:bodyPr wrap="square" lIns="0" tIns="0" rIns="0" bIns="0" rtlCol="0" anchor="ctr"/>
          <a:lstStyle/>
          <a:p>
            <a:pPr algn="ctr" indent="0" marL="0">
              <a:buNone/>
            </a:pPr>
            <a:r>
              <a:rPr lang="en-US" sz="1100" b="1" dirty="0">
                <a:solidFill>
                  <a:srgbClr val="FFFFFF"/>
                </a:solidFill>
              </a:rPr>
              <a:t>Four-eyes approval</a:t>
            </a:r>
            <a:endParaRPr lang="en-US" sz="1100" dirty="0"/>
          </a:p>
        </p:txBody>
      </p:sp>
      <p:sp>
        <p:nvSpPr>
          <p:cNvPr id="74" name="Shape 70"/>
          <p:cNvSpPr/>
          <p:nvPr/>
        </p:nvSpPr>
        <p:spPr>
          <a:xfrm>
            <a:off x="7607625" y="5888736"/>
            <a:ext cx="256032" cy="0"/>
          </a:xfrm>
          <a:prstGeom prst="line">
            <a:avLst/>
          </a:prstGeom>
          <a:noFill/>
          <a:ln w="15875">
            <a:solidFill>
              <a:srgbClr val="D4AF37"/>
            </a:solidFill>
            <a:prstDash val="solid"/>
            <a:tailEnd type="triangle"/>
          </a:ln>
        </p:spPr>
      </p:sp>
      <p:sp>
        <p:nvSpPr>
          <p:cNvPr id="75" name="Shape 71"/>
          <p:cNvSpPr/>
          <p:nvPr/>
        </p:nvSpPr>
        <p:spPr>
          <a:xfrm>
            <a:off x="7881945" y="5669280"/>
            <a:ext cx="1542227" cy="438912"/>
          </a:xfrm>
          <a:prstGeom prst="roundRect">
            <a:avLst>
              <a:gd name="adj" fmla="val 50000"/>
            </a:avLst>
          </a:prstGeom>
          <a:solidFill>
            <a:srgbClr val="2A2620"/>
          </a:solidFill>
          <a:ln w="9525">
            <a:solidFill>
              <a:srgbClr val="A8811F"/>
            </a:solidFill>
            <a:prstDash val="solid"/>
          </a:ln>
        </p:spPr>
      </p:sp>
      <p:sp>
        <p:nvSpPr>
          <p:cNvPr id="76" name="Text 72"/>
          <p:cNvSpPr txBox="1"/>
          <p:nvPr/>
        </p:nvSpPr>
        <p:spPr>
          <a:xfrm>
            <a:off x="7881945" y="5669280"/>
            <a:ext cx="1542227" cy="438912"/>
          </a:xfrm>
          <a:prstGeom prst="rect">
            <a:avLst/>
          </a:prstGeom>
          <a:noFill/>
          <a:ln/>
        </p:spPr>
        <p:txBody>
          <a:bodyPr wrap="square" lIns="0" tIns="0" rIns="0" bIns="0" rtlCol="0" anchor="ctr"/>
          <a:lstStyle/>
          <a:p>
            <a:pPr algn="ctr" indent="0" marL="0">
              <a:buNone/>
            </a:pPr>
            <a:r>
              <a:rPr lang="en-US" sz="1100" b="1" dirty="0">
                <a:solidFill>
                  <a:srgbClr val="FFFFFF"/>
                </a:solidFill>
              </a:rPr>
              <a:t>File on FBR IRIS</a:t>
            </a:r>
            <a:endParaRPr lang="en-US" sz="1100" dirty="0"/>
          </a:p>
        </p:txBody>
      </p:sp>
      <p:sp>
        <p:nvSpPr>
          <p:cNvPr id="77" name="Shape 73"/>
          <p:cNvSpPr/>
          <p:nvPr/>
        </p:nvSpPr>
        <p:spPr>
          <a:xfrm>
            <a:off x="9442460" y="5888736"/>
            <a:ext cx="256032" cy="0"/>
          </a:xfrm>
          <a:prstGeom prst="line">
            <a:avLst/>
          </a:prstGeom>
          <a:noFill/>
          <a:ln w="15875">
            <a:solidFill>
              <a:srgbClr val="D4AF37"/>
            </a:solidFill>
            <a:prstDash val="solid"/>
            <a:tailEnd type="triangle"/>
          </a:ln>
        </p:spPr>
      </p:sp>
      <p:sp>
        <p:nvSpPr>
          <p:cNvPr id="78" name="Shape 74"/>
          <p:cNvSpPr/>
          <p:nvPr/>
        </p:nvSpPr>
        <p:spPr>
          <a:xfrm>
            <a:off x="9716780" y="5669280"/>
            <a:ext cx="1542227" cy="438912"/>
          </a:xfrm>
          <a:prstGeom prst="roundRect">
            <a:avLst>
              <a:gd name="adj" fmla="val 50000"/>
            </a:avLst>
          </a:prstGeom>
          <a:solidFill>
            <a:srgbClr val="2A2620"/>
          </a:solidFill>
          <a:ln w="9525">
            <a:solidFill>
              <a:srgbClr val="A8811F"/>
            </a:solidFill>
            <a:prstDash val="solid"/>
          </a:ln>
        </p:spPr>
      </p:sp>
      <p:sp>
        <p:nvSpPr>
          <p:cNvPr id="79" name="Text 75"/>
          <p:cNvSpPr txBox="1"/>
          <p:nvPr/>
        </p:nvSpPr>
        <p:spPr>
          <a:xfrm>
            <a:off x="9716780" y="5669280"/>
            <a:ext cx="1542227" cy="438912"/>
          </a:xfrm>
          <a:prstGeom prst="rect">
            <a:avLst/>
          </a:prstGeom>
          <a:noFill/>
          <a:ln/>
        </p:spPr>
        <p:txBody>
          <a:bodyPr wrap="square" lIns="0" tIns="0" rIns="0" bIns="0" rtlCol="0" anchor="ctr"/>
          <a:lstStyle/>
          <a:p>
            <a:pPr algn="ctr" indent="0" marL="0">
              <a:buNone/>
            </a:pPr>
            <a:r>
              <a:rPr lang="en-US" sz="1100" b="1" dirty="0">
                <a:solidFill>
                  <a:srgbClr val="FFFFFF"/>
                </a:solidFill>
              </a:rPr>
              <a:t>Acknowledgment in vault</a:t>
            </a:r>
            <a:endParaRPr lang="en-US" sz="11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MODULE 01b  ·  ACTING FOR THE CLIENT</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Data entry on the client's behalf — with a trail</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Every team member can act for a client within their record scope; the Data Entry Officer role does only this</a:t>
            </a:r>
            <a:endParaRPr lang="en-US" sz="1300" dirty="0"/>
          </a:p>
        </p:txBody>
      </p:sp>
      <p:sp>
        <p:nvSpPr>
          <p:cNvPr id="5" name="Shape 3"/>
          <p:cNvSpPr/>
          <p:nvPr/>
        </p:nvSpPr>
        <p:spPr>
          <a:xfrm>
            <a:off x="502920" y="1691640"/>
            <a:ext cx="3576218" cy="2971800"/>
          </a:xfrm>
          <a:prstGeom prst="roundRect">
            <a:avLst>
              <a:gd name="adj" fmla="val 2462"/>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6" name="Shape 4"/>
          <p:cNvSpPr/>
          <p:nvPr/>
        </p:nvSpPr>
        <p:spPr>
          <a:xfrm>
            <a:off x="704088" y="1892808"/>
            <a:ext cx="566928" cy="566928"/>
          </a:xfrm>
          <a:prstGeom prst="ellipse">
            <a:avLst/>
          </a:prstGeom>
          <a:solidFill>
            <a:srgbClr val="A8811F"/>
          </a:solidFill>
          <a:ln w="12700">
            <a:solidFill>
              <a:srgbClr val="A8811F"/>
            </a:solidFill>
            <a:prstDash val="solid"/>
          </a:ln>
        </p:spPr>
      </p:sp>
      <p:pic>
        <p:nvPicPr>
          <p:cNvPr id="7" name="Image 0" descr="preencoded.png">    </p:cNvPr>
          <p:cNvPicPr>
            <a:picLocks noChangeAspect="1"/>
          </p:cNvPicPr>
          <p:nvPr/>
        </p:nvPicPr>
        <p:blipFill>
          <a:blip r:embed="rId1"/>
          <a:stretch>
            <a:fillRect/>
          </a:stretch>
        </p:blipFill>
        <p:spPr>
          <a:xfrm>
            <a:off x="840151" y="2028871"/>
            <a:ext cx="294803" cy="294803"/>
          </a:xfrm>
          <a:prstGeom prst="rect">
            <a:avLst/>
          </a:prstGeom>
        </p:spPr>
      </p:pic>
      <p:sp>
        <p:nvSpPr>
          <p:cNvPr id="8" name="Text 5"/>
          <p:cNvSpPr txBox="1"/>
          <p:nvPr/>
        </p:nvSpPr>
        <p:spPr>
          <a:xfrm>
            <a:off x="1417320" y="1965960"/>
            <a:ext cx="2524658" cy="411480"/>
          </a:xfrm>
          <a:prstGeom prst="rect">
            <a:avLst/>
          </a:prstGeom>
          <a:noFill/>
          <a:ln/>
        </p:spPr>
        <p:txBody>
          <a:bodyPr wrap="square" lIns="0" tIns="0" rIns="0" bIns="0" rtlCol="0" anchor="ctr"/>
          <a:lstStyle/>
          <a:p>
            <a:pPr indent="0" marL="0">
              <a:buNone/>
            </a:pPr>
            <a:r>
              <a:rPr lang="en-US" sz="1500" b="1" dirty="0">
                <a:solidFill>
                  <a:schemeClr val="tx2"/>
                </a:solidFill>
              </a:rPr>
              <a:t>What the client told us</a:t>
            </a:r>
            <a:endParaRPr lang="en-US" sz="1500" dirty="0"/>
          </a:p>
        </p:txBody>
      </p:sp>
      <p:sp>
        <p:nvSpPr>
          <p:cNvPr id="9" name="Text 6"/>
          <p:cNvSpPr txBox="1"/>
          <p:nvPr/>
        </p:nvSpPr>
        <p:spPr>
          <a:xfrm>
            <a:off x="704088" y="2651760"/>
            <a:ext cx="3210458"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“Enter for client” form: salary, bank, property, vehicle, cash, household</a:t>
            </a:r>
            <a:endParaRPr lang="en-US" sz="1200" dirty="0"/>
          </a:p>
          <a:p>
            <a:pPr marL="342900" indent="-342900">
              <a:spcAft>
                <a:spcPts val="600"/>
              </a:spcAft>
              <a:buSzPct val="100000"/>
              <a:buChar char="•"/>
            </a:pPr>
            <a:r>
              <a:rPr lang="en-US" sz="1200" dirty="0">
                <a:solidFill>
                  <a:schemeClr val="tx1"/>
                </a:solidFill>
              </a:rPr>
              <a:t>Questionnaire answered for the client — rebuilds the document checklist</a:t>
            </a:r>
            <a:endParaRPr lang="en-US" sz="1200" dirty="0"/>
          </a:p>
          <a:p>
            <a:pPr marL="342900" indent="-342900">
              <a:spcAft>
                <a:spcPts val="600"/>
              </a:spcAft>
              <a:buSzPct val="100000"/>
              <a:buChar char="•"/>
            </a:pPr>
            <a:r>
              <a:rPr lang="en-US" sz="1200" dirty="0">
                <a:solidFill>
                  <a:schemeClr val="tx1"/>
                </a:solidFill>
              </a:rPr>
              <a:t>Shows “Entered for the client by …”; figures change only when the consultant copies it in</a:t>
            </a:r>
            <a:endParaRPr lang="en-US" sz="1200" dirty="0"/>
          </a:p>
        </p:txBody>
      </p:sp>
      <p:sp>
        <p:nvSpPr>
          <p:cNvPr id="10" name="Shape 7"/>
          <p:cNvSpPr/>
          <p:nvPr/>
        </p:nvSpPr>
        <p:spPr>
          <a:xfrm>
            <a:off x="4307738" y="1691640"/>
            <a:ext cx="3576218" cy="2971800"/>
          </a:xfrm>
          <a:prstGeom prst="roundRect">
            <a:avLst>
              <a:gd name="adj" fmla="val 2462"/>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11" name="Shape 8"/>
          <p:cNvSpPr/>
          <p:nvPr/>
        </p:nvSpPr>
        <p:spPr>
          <a:xfrm>
            <a:off x="4508906" y="1892808"/>
            <a:ext cx="566928" cy="566928"/>
          </a:xfrm>
          <a:prstGeom prst="ellipse">
            <a:avLst/>
          </a:prstGeom>
          <a:solidFill>
            <a:srgbClr val="1BAF7A"/>
          </a:solidFill>
          <a:ln w="12700">
            <a:solidFill>
              <a:srgbClr val="1BAF7A"/>
            </a:solidFill>
            <a:prstDash val="solid"/>
          </a:ln>
        </p:spPr>
      </p:sp>
      <p:pic>
        <p:nvPicPr>
          <p:cNvPr id="12" name="Image 1" descr="preencoded.png">    </p:cNvPr>
          <p:cNvPicPr>
            <a:picLocks noChangeAspect="1"/>
          </p:cNvPicPr>
          <p:nvPr/>
        </p:nvPicPr>
        <p:blipFill>
          <a:blip r:embed="rId2"/>
          <a:stretch>
            <a:fillRect/>
          </a:stretch>
        </p:blipFill>
        <p:spPr>
          <a:xfrm>
            <a:off x="4644969" y="2028871"/>
            <a:ext cx="294803" cy="294803"/>
          </a:xfrm>
          <a:prstGeom prst="rect">
            <a:avLst/>
          </a:prstGeom>
        </p:spPr>
      </p:pic>
      <p:sp>
        <p:nvSpPr>
          <p:cNvPr id="13" name="Text 9"/>
          <p:cNvSpPr txBox="1"/>
          <p:nvPr/>
        </p:nvSpPr>
        <p:spPr>
          <a:xfrm>
            <a:off x="5222138" y="1965960"/>
            <a:ext cx="2524658" cy="411480"/>
          </a:xfrm>
          <a:prstGeom prst="rect">
            <a:avLst/>
          </a:prstGeom>
          <a:noFill/>
          <a:ln/>
        </p:spPr>
        <p:txBody>
          <a:bodyPr wrap="square" lIns="0" tIns="0" rIns="0" bIns="0" rtlCol="0" anchor="ctr"/>
          <a:lstStyle/>
          <a:p>
            <a:pPr indent="0" marL="0">
              <a:buNone/>
            </a:pPr>
            <a:r>
              <a:rPr lang="en-US" sz="1500" b="1" dirty="0">
                <a:solidFill>
                  <a:schemeClr val="tx2"/>
                </a:solidFill>
              </a:rPr>
              <a:t>Documents from WhatsApp</a:t>
            </a:r>
            <a:endParaRPr lang="en-US" sz="1500" dirty="0"/>
          </a:p>
        </p:txBody>
      </p:sp>
      <p:sp>
        <p:nvSpPr>
          <p:cNvPr id="14" name="Text 10"/>
          <p:cNvSpPr txBox="1"/>
          <p:nvPr/>
        </p:nvSpPr>
        <p:spPr>
          <a:xfrm>
            <a:off x="4508906" y="2651760"/>
            <a:ext cx="3210458"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“From WhatsApp” lists the files that client sent — no download, no re-upload</a:t>
            </a:r>
            <a:endParaRPr lang="en-US" sz="1200" dirty="0"/>
          </a:p>
          <a:p>
            <a:pPr marL="342900" indent="-342900">
              <a:spcAft>
                <a:spcPts val="600"/>
              </a:spcAft>
              <a:buSzPct val="100000"/>
              <a:buChar char="•"/>
            </a:pPr>
            <a:r>
              <a:rPr lang="en-US" sz="1200" dirty="0">
                <a:solidFill>
                  <a:schemeClr val="tx1"/>
                </a:solidFill>
              </a:rPr>
              <a:t>Only that client's files; PDF, JPG or PNG; type and size checked</a:t>
            </a:r>
            <a:endParaRPr lang="en-US" sz="1200" dirty="0"/>
          </a:p>
          <a:p>
            <a:pPr marL="342900" indent="-342900">
              <a:spcAft>
                <a:spcPts val="600"/>
              </a:spcAft>
              <a:buSzPct val="100000"/>
              <a:buChar char="•"/>
            </a:pPr>
            <a:r>
              <a:rPr lang="en-US" sz="1200" dirty="0">
                <a:solidFill>
                  <a:schemeClr val="tx1"/>
                </a:solidFill>
              </a:rPr>
              <a:t>Badge on each document: via WhatsApp, Email, In person, Courier or client upload</a:t>
            </a:r>
            <a:endParaRPr lang="en-US" sz="1200" dirty="0"/>
          </a:p>
        </p:txBody>
      </p:sp>
      <p:sp>
        <p:nvSpPr>
          <p:cNvPr id="15" name="Shape 11"/>
          <p:cNvSpPr/>
          <p:nvPr/>
        </p:nvSpPr>
        <p:spPr>
          <a:xfrm>
            <a:off x="8112557" y="1691640"/>
            <a:ext cx="3576218" cy="2971800"/>
          </a:xfrm>
          <a:prstGeom prst="roundRect">
            <a:avLst>
              <a:gd name="adj" fmla="val 2462"/>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16" name="Shape 12"/>
          <p:cNvSpPr/>
          <p:nvPr/>
        </p:nvSpPr>
        <p:spPr>
          <a:xfrm>
            <a:off x="8313725" y="1892808"/>
            <a:ext cx="566928" cy="566928"/>
          </a:xfrm>
          <a:prstGeom prst="ellipse">
            <a:avLst/>
          </a:prstGeom>
          <a:solidFill>
            <a:srgbClr val="A8811F"/>
          </a:solidFill>
          <a:ln w="12700">
            <a:solidFill>
              <a:srgbClr val="A8811F"/>
            </a:solidFill>
            <a:prstDash val="solid"/>
          </a:ln>
        </p:spPr>
      </p:sp>
      <p:pic>
        <p:nvPicPr>
          <p:cNvPr id="17" name="Image 2" descr="preencoded.png">    </p:cNvPr>
          <p:cNvPicPr>
            <a:picLocks noChangeAspect="1"/>
          </p:cNvPicPr>
          <p:nvPr/>
        </p:nvPicPr>
        <p:blipFill>
          <a:blip r:embed="rId3"/>
          <a:stretch>
            <a:fillRect/>
          </a:stretch>
        </p:blipFill>
        <p:spPr>
          <a:xfrm>
            <a:off x="8449788" y="2028871"/>
            <a:ext cx="294803" cy="294803"/>
          </a:xfrm>
          <a:prstGeom prst="rect">
            <a:avLst/>
          </a:prstGeom>
        </p:spPr>
      </p:pic>
      <p:sp>
        <p:nvSpPr>
          <p:cNvPr id="18" name="Text 13"/>
          <p:cNvSpPr txBox="1"/>
          <p:nvPr/>
        </p:nvSpPr>
        <p:spPr>
          <a:xfrm>
            <a:off x="9026957" y="1965960"/>
            <a:ext cx="2524658" cy="411480"/>
          </a:xfrm>
          <a:prstGeom prst="rect">
            <a:avLst/>
          </a:prstGeom>
          <a:noFill/>
          <a:ln/>
        </p:spPr>
        <p:txBody>
          <a:bodyPr wrap="square" lIns="0" tIns="0" rIns="0" bIns="0" rtlCol="0" anchor="ctr"/>
          <a:lstStyle/>
          <a:p>
            <a:pPr indent="0" marL="0">
              <a:buNone/>
            </a:pPr>
            <a:r>
              <a:rPr lang="en-US" sz="1500" b="1" dirty="0">
                <a:solidFill>
                  <a:schemeClr val="tx2"/>
                </a:solidFill>
              </a:rPr>
              <a:t>Client approval recorded</a:t>
            </a:r>
            <a:endParaRPr lang="en-US" sz="1500" dirty="0"/>
          </a:p>
        </p:txBody>
      </p:sp>
      <p:sp>
        <p:nvSpPr>
          <p:cNvPr id="19" name="Text 14"/>
          <p:cNvSpPr txBox="1"/>
          <p:nvPr/>
        </p:nvSpPr>
        <p:spPr>
          <a:xfrm>
            <a:off x="8313725" y="2651760"/>
            <a:ext cx="3210458"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For clients who approve by phone, WhatsApp, in person, email or signed letter</a:t>
            </a:r>
            <a:endParaRPr lang="en-US" sz="1200" dirty="0"/>
          </a:p>
          <a:p>
            <a:pPr marL="342900" indent="-342900">
              <a:spcAft>
                <a:spcPts val="600"/>
              </a:spcAft>
              <a:buSzPct val="100000"/>
              <a:buChar char="•"/>
            </a:pPr>
            <a:r>
              <a:rPr lang="en-US" sz="1200" dirty="0">
                <a:solidFill>
                  <a:schemeClr val="tx1"/>
                </a:solidFill>
              </a:rPr>
              <a:t>Method + note (who, when, what was agreed) + optional proof</a:t>
            </a:r>
            <a:endParaRPr lang="en-US" sz="1200" dirty="0"/>
          </a:p>
          <a:p>
            <a:pPr marL="342900" indent="-342900">
              <a:spcAft>
                <a:spcPts val="600"/>
              </a:spcAft>
              <a:buSzPct val="100000"/>
              <a:buChar char="•"/>
            </a:pPr>
            <a:r>
              <a:rPr lang="en-US" sz="1200" dirty="0">
                <a:solidFill>
                  <a:schemeClr val="tx1"/>
                </a:solidFill>
              </a:rPr>
              <a:t>Comment on the return and a notice to the approver</a:t>
            </a:r>
            <a:endParaRPr lang="en-US" sz="1200" dirty="0"/>
          </a:p>
        </p:txBody>
      </p:sp>
      <p:sp>
        <p:nvSpPr>
          <p:cNvPr id="20" name="Shape 15"/>
          <p:cNvSpPr/>
          <p:nvPr/>
        </p:nvSpPr>
        <p:spPr>
          <a:xfrm>
            <a:off x="502920" y="4846320"/>
            <a:ext cx="11185855" cy="1417320"/>
          </a:xfrm>
          <a:prstGeom prst="roundRect">
            <a:avLst>
              <a:gd name="adj" fmla="val 5161"/>
            </a:avLst>
          </a:prstGeom>
          <a:solidFill>
            <a:schemeClr val="bg2"/>
          </a:solidFill>
          <a:ln w="9525">
            <a:solidFill>
              <a:schemeClr val="bg2"/>
            </a:solidFill>
            <a:prstDash val="solid"/>
          </a:ln>
        </p:spPr>
      </p:sp>
      <p:sp>
        <p:nvSpPr>
          <p:cNvPr id="21" name="Text 16"/>
          <p:cNvSpPr txBox="1"/>
          <p:nvPr/>
        </p:nvSpPr>
        <p:spPr>
          <a:xfrm>
            <a:off x="731520" y="4956048"/>
            <a:ext cx="2743200" cy="274320"/>
          </a:xfrm>
          <a:prstGeom prst="rect">
            <a:avLst/>
          </a:prstGeom>
          <a:noFill/>
          <a:ln/>
        </p:spPr>
        <p:txBody>
          <a:bodyPr wrap="square" lIns="0" tIns="0" rIns="0" bIns="0" rtlCol="0" anchor="t"/>
          <a:lstStyle/>
          <a:p>
            <a:pPr indent="0" marL="0">
              <a:buNone/>
            </a:pPr>
            <a:r>
              <a:rPr lang="en-US" sz="1400" b="1" dirty="0">
                <a:solidFill>
                  <a:schemeClr val="tx2"/>
                </a:solidFill>
              </a:rPr>
              <a:t>Controls</a:t>
            </a:r>
            <a:endParaRPr lang="en-US" sz="1400" dirty="0"/>
          </a:p>
        </p:txBody>
      </p:sp>
      <p:sp>
        <p:nvSpPr>
          <p:cNvPr id="22" name="Text 17"/>
          <p:cNvSpPr txBox="1"/>
          <p:nvPr/>
        </p:nvSpPr>
        <p:spPr>
          <a:xfrm>
            <a:off x="731520" y="5285232"/>
            <a:ext cx="2499284" cy="237744"/>
          </a:xfrm>
          <a:prstGeom prst="rect">
            <a:avLst/>
          </a:prstGeom>
          <a:noFill/>
          <a:ln/>
        </p:spPr>
        <p:txBody>
          <a:bodyPr wrap="square" lIns="0" tIns="0" rIns="0" bIns="0" rtlCol="0" anchor="t"/>
          <a:lstStyle/>
          <a:p>
            <a:pPr indent="0" marL="0">
              <a:buNone/>
            </a:pPr>
            <a:r>
              <a:rPr lang="en-US" sz="1200" b="1" dirty="0">
                <a:solidFill>
                  <a:srgbClr val="A8811F"/>
                </a:solidFill>
              </a:rPr>
              <a:t>Four eyes</a:t>
            </a:r>
            <a:endParaRPr lang="en-US" sz="1200" dirty="0"/>
          </a:p>
        </p:txBody>
      </p:sp>
      <p:sp>
        <p:nvSpPr>
          <p:cNvPr id="23" name="Text 18"/>
          <p:cNvSpPr txBox="1"/>
          <p:nvPr/>
        </p:nvSpPr>
        <p:spPr>
          <a:xfrm>
            <a:off x="731520" y="5532120"/>
            <a:ext cx="2499284" cy="685800"/>
          </a:xfrm>
          <a:prstGeom prst="rect">
            <a:avLst/>
          </a:prstGeom>
          <a:noFill/>
          <a:ln/>
        </p:spPr>
        <p:txBody>
          <a:bodyPr wrap="square" lIns="0" tIns="0" rIns="0" bIns="0" rtlCol="0" anchor="t"/>
          <a:lstStyle/>
          <a:p>
            <a:pPr indent="0" marL="0">
              <a:buNone/>
            </a:pPr>
            <a:r>
              <a:rPr lang="en-US" sz="1100" dirty="0">
                <a:solidFill>
                  <a:schemeClr val="tx1"/>
                </a:solidFill>
              </a:rPr>
              <a:t>Whoever records the client's approval cannot approve the return</a:t>
            </a:r>
            <a:endParaRPr lang="en-US" sz="1100" dirty="0"/>
          </a:p>
        </p:txBody>
      </p:sp>
      <p:sp>
        <p:nvSpPr>
          <p:cNvPr id="24" name="Text 19"/>
          <p:cNvSpPr txBox="1"/>
          <p:nvPr/>
        </p:nvSpPr>
        <p:spPr>
          <a:xfrm>
            <a:off x="3413684" y="5285232"/>
            <a:ext cx="2499284" cy="237744"/>
          </a:xfrm>
          <a:prstGeom prst="rect">
            <a:avLst/>
          </a:prstGeom>
          <a:noFill/>
          <a:ln/>
        </p:spPr>
        <p:txBody>
          <a:bodyPr wrap="square" lIns="0" tIns="0" rIns="0" bIns="0" rtlCol="0" anchor="t"/>
          <a:lstStyle/>
          <a:p>
            <a:pPr indent="0" marL="0">
              <a:buNone/>
            </a:pPr>
            <a:r>
              <a:rPr lang="en-US" sz="1200" b="1" dirty="0">
                <a:solidFill>
                  <a:srgbClr val="A8811F"/>
                </a:solidFill>
              </a:rPr>
              <a:t>Separation</a:t>
            </a:r>
            <a:endParaRPr lang="en-US" sz="1200" dirty="0"/>
          </a:p>
        </p:txBody>
      </p:sp>
      <p:sp>
        <p:nvSpPr>
          <p:cNvPr id="25" name="Text 20"/>
          <p:cNvSpPr txBox="1"/>
          <p:nvPr/>
        </p:nvSpPr>
        <p:spPr>
          <a:xfrm>
            <a:off x="3413684" y="5532120"/>
            <a:ext cx="2499284" cy="685800"/>
          </a:xfrm>
          <a:prstGeom prst="rect">
            <a:avLst/>
          </a:prstGeom>
          <a:noFill/>
          <a:ln/>
        </p:spPr>
        <p:txBody>
          <a:bodyPr wrap="square" lIns="0" tIns="0" rIns="0" bIns="0" rtlCol="0" anchor="t"/>
          <a:lstStyle/>
          <a:p>
            <a:pPr indent="0" marL="0">
              <a:buNone/>
            </a:pPr>
            <a:r>
              <a:rPr lang="en-US" sz="1100" dirty="0">
                <a:solidFill>
                  <a:schemeClr val="tx1"/>
                </a:solidFill>
              </a:rPr>
              <a:t>Data entry uploads documents; a consultant or reviewer verifies them</a:t>
            </a:r>
            <a:endParaRPr lang="en-US" sz="1100" dirty="0"/>
          </a:p>
        </p:txBody>
      </p:sp>
      <p:sp>
        <p:nvSpPr>
          <p:cNvPr id="26" name="Text 21"/>
          <p:cNvSpPr txBox="1"/>
          <p:nvPr/>
        </p:nvSpPr>
        <p:spPr>
          <a:xfrm>
            <a:off x="6095848" y="5285232"/>
            <a:ext cx="2499284" cy="237744"/>
          </a:xfrm>
          <a:prstGeom prst="rect">
            <a:avLst/>
          </a:prstGeom>
          <a:noFill/>
          <a:ln/>
        </p:spPr>
        <p:txBody>
          <a:bodyPr wrap="square" lIns="0" tIns="0" rIns="0" bIns="0" rtlCol="0" anchor="t"/>
          <a:lstStyle/>
          <a:p>
            <a:pPr indent="0" marL="0">
              <a:buNone/>
            </a:pPr>
            <a:r>
              <a:rPr lang="en-US" sz="1200" b="1" dirty="0">
                <a:solidFill>
                  <a:srgbClr val="A8811F"/>
                </a:solidFill>
              </a:rPr>
              <a:t>Time window</a:t>
            </a:r>
            <a:endParaRPr lang="en-US" sz="1200" dirty="0"/>
          </a:p>
        </p:txBody>
      </p:sp>
      <p:sp>
        <p:nvSpPr>
          <p:cNvPr id="27" name="Text 22"/>
          <p:cNvSpPr txBox="1"/>
          <p:nvPr/>
        </p:nvSpPr>
        <p:spPr>
          <a:xfrm>
            <a:off x="6095848" y="5532120"/>
            <a:ext cx="2499284" cy="685800"/>
          </a:xfrm>
          <a:prstGeom prst="rect">
            <a:avLst/>
          </a:prstGeom>
          <a:noFill/>
          <a:ln/>
        </p:spPr>
        <p:txBody>
          <a:bodyPr wrap="square" lIns="0" tIns="0" rIns="0" bIns="0" rtlCol="0" anchor="t"/>
          <a:lstStyle/>
          <a:p>
            <a:pPr indent="0" marL="0">
              <a:buNone/>
            </a:pPr>
            <a:r>
              <a:rPr lang="en-US" sz="1100" dirty="0">
                <a:solidFill>
                  <a:schemeClr val="tx1"/>
                </a:solidFill>
              </a:rPr>
              <a:t>Client data editable until Submitted to FBR; later changes are flagged to consultant and reviewer</a:t>
            </a:r>
            <a:endParaRPr lang="en-US" sz="1100" dirty="0"/>
          </a:p>
        </p:txBody>
      </p:sp>
      <p:sp>
        <p:nvSpPr>
          <p:cNvPr id="28" name="Text 23"/>
          <p:cNvSpPr txBox="1"/>
          <p:nvPr/>
        </p:nvSpPr>
        <p:spPr>
          <a:xfrm>
            <a:off x="8778011" y="5285232"/>
            <a:ext cx="2499284" cy="237744"/>
          </a:xfrm>
          <a:prstGeom prst="rect">
            <a:avLst/>
          </a:prstGeom>
          <a:noFill/>
          <a:ln/>
        </p:spPr>
        <p:txBody>
          <a:bodyPr wrap="square" lIns="0" tIns="0" rIns="0" bIns="0" rtlCol="0" anchor="t"/>
          <a:lstStyle/>
          <a:p>
            <a:pPr indent="0" marL="0">
              <a:buNone/>
            </a:pPr>
            <a:r>
              <a:rPr lang="en-US" sz="1200" b="1" dirty="0">
                <a:solidFill>
                  <a:srgbClr val="A8811F"/>
                </a:solidFill>
              </a:rPr>
              <a:t>Audit</a:t>
            </a:r>
            <a:endParaRPr lang="en-US" sz="1200" dirty="0"/>
          </a:p>
        </p:txBody>
      </p:sp>
      <p:sp>
        <p:nvSpPr>
          <p:cNvPr id="29" name="Text 24"/>
          <p:cNvSpPr txBox="1"/>
          <p:nvPr/>
        </p:nvSpPr>
        <p:spPr>
          <a:xfrm>
            <a:off x="8778011" y="5532120"/>
            <a:ext cx="2499284" cy="685800"/>
          </a:xfrm>
          <a:prstGeom prst="rect">
            <a:avLst/>
          </a:prstGeom>
          <a:noFill/>
          <a:ln/>
        </p:spPr>
        <p:txBody>
          <a:bodyPr wrap="square" lIns="0" tIns="0" rIns="0" bIns="0" rtlCol="0" anchor="t"/>
          <a:lstStyle/>
          <a:p>
            <a:pPr indent="0" marL="0">
              <a:buNone/>
            </a:pPr>
            <a:r>
              <a:rPr lang="en-US" sz="1100" dirty="0">
                <a:solidFill>
                  <a:schemeClr val="tx1"/>
                </a:solidFill>
              </a:rPr>
              <a:t>Every entry, upload and approval: who, when, how — in the audit trail</a:t>
            </a:r>
            <a:endParaRPr lang="en-US" sz="11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RETURN WORKFLOW</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12 states, 17 moves — a rule checked on each</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Frappe Workflow checks the role; the portal's rules check the business conditions before any state change</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5855" cy="914400"/>
        </p:xfrm>
        <a:graphic>
          <a:graphicData uri="http://schemas.openxmlformats.org/drawingml/2006/table">
            <a:tbl>
              <a:tblPr/>
              <a:tblGrid>
                <a:gridCol w="1600200"/>
                <a:gridCol w="1965960"/>
                <a:gridCol w="1600200"/>
                <a:gridCol w="2514600"/>
                <a:gridCol w="3502152"/>
              </a:tblGrid>
              <a:tr h="246888">
                <a:tc>
                  <a:txBody>
                    <a:bodyPr/>
                    <a:lstStyle/>
                    <a:p>
                      <a:pPr indent="0" marL="0">
                        <a:buNone/>
                      </a:pPr>
                      <a:r>
                        <a:rPr lang="en-US" sz="1000" b="1" dirty="0">
                          <a:solidFill>
                            <a:srgbClr val="D4AF37"/>
                          </a:solidFill>
                        </a:rPr>
                        <a:t>From</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indent="0" marL="0">
                        <a:buNone/>
                      </a:pPr>
                      <a:r>
                        <a:rPr lang="en-US" sz="1000" b="1" dirty="0">
                          <a:solidFill>
                            <a:srgbClr val="D4AF37"/>
                          </a:solidFill>
                        </a:rPr>
                        <a:t>Action</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indent="0" marL="0">
                        <a:buNone/>
                      </a:pPr>
                      <a:r>
                        <a:rPr lang="en-US" sz="1000" b="1" dirty="0">
                          <a:solidFill>
                            <a:srgbClr val="D4AF37"/>
                          </a:solidFill>
                        </a:rPr>
                        <a:t>To</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indent="0" marL="0">
                        <a:buNone/>
                      </a:pPr>
                      <a:r>
                        <a:rPr lang="en-US" sz="1000" b="1" dirty="0">
                          <a:solidFill>
                            <a:srgbClr val="D4AF37"/>
                          </a:solidFill>
                        </a:rPr>
                        <a:t>Who may act</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indent="0" marL="0">
                        <a:buNone/>
                      </a:pPr>
                      <a:r>
                        <a:rPr lang="en-US" sz="1000" b="1" dirty="0">
                          <a:solidFill>
                            <a:srgbClr val="D4AF37"/>
                          </a:solidFill>
                        </a:rPr>
                        <a:t>Rule checked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r>
              <a:tr h="246888">
                <a:tc>
                  <a:txBody>
                    <a:bodyPr/>
                    <a:lstStyle/>
                    <a:p>
                      <a:pPr indent="0" marL="0">
                        <a:buNone/>
                      </a:pPr>
                      <a:r>
                        <a:rPr lang="en-US" sz="1000" dirty="0">
                          <a:solidFill>
                            <a:schemeClr val="tx1"/>
                          </a:solidFill>
                        </a:rPr>
                        <a:t>Documents Pending</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b="1" dirty="0">
                          <a:solidFill>
                            <a:schemeClr val="tx1"/>
                          </a:solidFill>
                        </a:rPr>
                        <a:t>Documents Complete</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Draft</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Consultant, Admin</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rgbClr val="5F6470"/>
                          </a:solidFill>
                        </a:rPr>
                        <a:t>All required documents verified; fee policy</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46888">
                <a:tc>
                  <a:txBody>
                    <a:bodyPr/>
                    <a:lstStyle/>
                    <a:p>
                      <a:pPr indent="0" marL="0">
                        <a:buNone/>
                      </a:pPr>
                      <a:r>
                        <a:rPr lang="en-US" sz="1000" dirty="0">
                          <a:solidFill>
                            <a:schemeClr val="tx1"/>
                          </a:solidFill>
                        </a:rPr>
                        <a:t>Draft</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b="1" dirty="0">
                          <a:solidFill>
                            <a:schemeClr val="tx1"/>
                          </a:solidFill>
                        </a:rPr>
                        <a:t>Submit for Review</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Pending Review</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Consultant, Admin</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rgbClr val="5F6470"/>
                          </a:solidFill>
                        </a:rPr>
                        <a:t>Income lines, final-tax rates, current calculation</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46888">
                <a:tc>
                  <a:txBody>
                    <a:bodyPr/>
                    <a:lstStyle/>
                    <a:p>
                      <a:pPr indent="0" marL="0">
                        <a:buNone/>
                      </a:pPr>
                      <a:r>
                        <a:rPr lang="en-US" sz="1000" dirty="0">
                          <a:solidFill>
                            <a:schemeClr val="tx1"/>
                          </a:solidFill>
                        </a:rPr>
                        <a:t>Pending Review</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b="1" dirty="0">
                          <a:solidFill>
                            <a:schemeClr val="tx1"/>
                          </a:solidFill>
                        </a:rPr>
                        <a:t>Start Review</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Under Review</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Reviewer, Admin</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rgbClr val="5F6470"/>
                          </a:solidFill>
                        </a:rPr>
                        <a:t>—</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46888">
                <a:tc>
                  <a:txBody>
                    <a:bodyPr/>
                    <a:lstStyle/>
                    <a:p>
                      <a:pPr indent="0" marL="0">
                        <a:buNone/>
                      </a:pPr>
                      <a:r>
                        <a:rPr lang="en-US" sz="1000" dirty="0">
                          <a:solidFill>
                            <a:schemeClr val="tx1"/>
                          </a:solidFill>
                        </a:rPr>
                        <a:t>Under Review</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b="1" dirty="0">
                          <a:solidFill>
                            <a:schemeClr val="tx1"/>
                          </a:solidFill>
                        </a:rPr>
                        <a:t>Request Changes</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Changes Required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Reviewer, Admin</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rgbClr val="5F6470"/>
                          </a:solidFill>
                        </a:rPr>
                        <a:t>Comment required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46888">
                <a:tc>
                  <a:txBody>
                    <a:bodyPr/>
                    <a:lstStyle/>
                    <a:p>
                      <a:pPr indent="0" marL="0">
                        <a:buNone/>
                      </a:pPr>
                      <a:r>
                        <a:rPr lang="en-US" sz="1000" dirty="0">
                          <a:solidFill>
                            <a:schemeClr val="tx1"/>
                          </a:solidFill>
                        </a:rPr>
                        <a:t>Changes Required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b="1" dirty="0">
                          <a:solidFill>
                            <a:schemeClr val="tx1"/>
                          </a:solidFill>
                        </a:rPr>
                        <a:t>Resume Preparation</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Draft</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Consultant, Admin</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rgbClr val="5F6470"/>
                          </a:solidFill>
                        </a:rPr>
                        <a:t>—</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46888">
                <a:tc>
                  <a:txBody>
                    <a:bodyPr/>
                    <a:lstStyle/>
                    <a:p>
                      <a:pPr indent="0" marL="0">
                        <a:buNone/>
                      </a:pPr>
                      <a:r>
                        <a:rPr lang="en-US" sz="1000" dirty="0">
                          <a:solidFill>
                            <a:schemeClr val="tx1"/>
                          </a:solidFill>
                        </a:rPr>
                        <a:t>Under Review</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b="1" dirty="0">
                          <a:solidFill>
                            <a:schemeClr val="tx1"/>
                          </a:solidFill>
                        </a:rPr>
                        <a:t>Mark Reviewed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Reviewed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Reviewer, Admin</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rgbClr val="5F6470"/>
                          </a:solidFill>
                        </a:rPr>
                        <a:t>Tax Review saved with checklist</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46888">
                <a:tc>
                  <a:txBody>
                    <a:bodyPr/>
                    <a:lstStyle/>
                    <a:p>
                      <a:pPr indent="0" marL="0">
                        <a:buNone/>
                      </a:pPr>
                      <a:r>
                        <a:rPr lang="en-US" sz="1000" dirty="0">
                          <a:solidFill>
                            <a:schemeClr val="tx1"/>
                          </a:solidFill>
                        </a:rPr>
                        <a:t>Reviewed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b="1" dirty="0">
                          <a:solidFill>
                            <a:schemeClr val="tx1"/>
                          </a:solidFill>
                        </a:rPr>
                        <a:t>Send to Client</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Awaiting Client</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Reviewer, Admin</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rgbClr val="5F6470"/>
                          </a:solidFill>
                        </a:rPr>
                        <a:t>—</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46888">
                <a:tc>
                  <a:txBody>
                    <a:bodyPr/>
                    <a:lstStyle/>
                    <a:p>
                      <a:pPr indent="0" marL="0">
                        <a:buNone/>
                      </a:pPr>
                      <a:r>
                        <a:rPr lang="en-US" sz="1000" dirty="0">
                          <a:solidFill>
                            <a:schemeClr val="tx1"/>
                          </a:solidFill>
                        </a:rPr>
                        <a:t>Awaiting Client</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b="1" dirty="0">
                          <a:solidFill>
                            <a:schemeClr val="tx1"/>
                          </a:solidFill>
                        </a:rPr>
                        <a:t>Client Question</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Changes Required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Client</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rgbClr val="5F6470"/>
                          </a:solidFill>
                        </a:rPr>
                        <a:t>—</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46888">
                <a:tc>
                  <a:txBody>
                    <a:bodyPr/>
                    <a:lstStyle/>
                    <a:p>
                      <a:pPr indent="0" marL="0">
                        <a:buNone/>
                      </a:pPr>
                      <a:r>
                        <a:rPr lang="en-US" sz="1000" dirty="0">
                          <a:solidFill>
                            <a:schemeClr val="tx1"/>
                          </a:solidFill>
                        </a:rPr>
                        <a:t>Awaiting Client</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b="1" dirty="0">
                          <a:solidFill>
                            <a:schemeClr val="tx1"/>
                          </a:solidFill>
                        </a:rPr>
                        <a:t>Approve</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Approved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Approver, Admin</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rgbClr val="5F6470"/>
                          </a:solidFill>
                        </a:rPr>
                        <a:t>Client confirmed (portal or staff); four-eyes</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46888">
                <a:tc>
                  <a:txBody>
                    <a:bodyPr/>
                    <a:lstStyle/>
                    <a:p>
                      <a:pPr indent="0" marL="0">
                        <a:buNone/>
                      </a:pPr>
                      <a:r>
                        <a:rPr lang="en-US" sz="1000" dirty="0">
                          <a:solidFill>
                            <a:schemeClr val="tx1"/>
                          </a:solidFill>
                        </a:rPr>
                        <a:t>Approved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b="1" dirty="0">
                          <a:solidFill>
                            <a:schemeClr val="tx1"/>
                          </a:solidFill>
                        </a:rPr>
                        <a:t>Mark Submitted on IRIS</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Submitted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Filing Officer, Admin</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rgbClr val="5F6470"/>
                          </a:solidFill>
                        </a:rPr>
                        <a:t>Approved and unchanged since approval</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46888">
                <a:tc>
                  <a:txBody>
                    <a:bodyPr/>
                    <a:lstStyle/>
                    <a:p>
                      <a:pPr indent="0" marL="0">
                        <a:buNone/>
                      </a:pPr>
                      <a:r>
                        <a:rPr lang="en-US" sz="1000" dirty="0">
                          <a:solidFill>
                            <a:schemeClr val="tx1"/>
                          </a:solidFill>
                        </a:rPr>
                        <a:t>Submitted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b="1" dirty="0">
                          <a:solidFill>
                            <a:schemeClr val="tx1"/>
                          </a:solidFill>
                        </a:rPr>
                        <a:t>Record Acknowledgment</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Acknowledged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Filing Officer, Admin</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rgbClr val="5F6470"/>
                          </a:solidFill>
                        </a:rPr>
                        <a:t>IRIS ack no. + FBR receipt attached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46888">
                <a:tc>
                  <a:txBody>
                    <a:bodyPr/>
                    <a:lstStyle/>
                    <a:p>
                      <a:pPr indent="0" marL="0">
                        <a:buNone/>
                      </a:pPr>
                      <a:r>
                        <a:rPr lang="en-US" sz="1000" dirty="0">
                          <a:solidFill>
                            <a:schemeClr val="tx1"/>
                          </a:solidFill>
                        </a:rPr>
                        <a:t>Submitted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b="1" dirty="0">
                          <a:solidFill>
                            <a:schemeClr val="tx1"/>
                          </a:solidFill>
                        </a:rPr>
                        <a:t>Report Filing Error</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Filing Error</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Filing Officer, Admin</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rgbClr val="5F6470"/>
                          </a:solidFill>
                        </a:rPr>
                        <a:t>Error notes required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46888">
                <a:tc>
                  <a:txBody>
                    <a:bodyPr/>
                    <a:lstStyle/>
                    <a:p>
                      <a:pPr indent="0" marL="0">
                        <a:buNone/>
                      </a:pPr>
                      <a:r>
                        <a:rPr lang="en-US" sz="1000" dirty="0">
                          <a:solidFill>
                            <a:schemeClr val="tx1"/>
                          </a:solidFill>
                        </a:rPr>
                        <a:t>Filing Error</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b="1" dirty="0">
                          <a:solidFill>
                            <a:schemeClr val="tx1"/>
                          </a:solidFill>
                        </a:rPr>
                        <a:t>Retry Filing</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Submitted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Filing Officer, Admin</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rgbClr val="5F6470"/>
                          </a:solidFill>
                        </a:rPr>
                        <a:t>—</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46888">
                <a:tc>
                  <a:txBody>
                    <a:bodyPr/>
                    <a:lstStyle/>
                    <a:p>
                      <a:pPr indent="0" marL="0">
                        <a:buNone/>
                      </a:pPr>
                      <a:r>
                        <a:rPr lang="en-US" sz="1000" dirty="0">
                          <a:solidFill>
                            <a:schemeClr val="tx1"/>
                          </a:solidFill>
                        </a:rPr>
                        <a:t>Acknowledged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b="1" dirty="0">
                          <a:solidFill>
                            <a:schemeClr val="tx1"/>
                          </a:solidFill>
                        </a:rPr>
                        <a:t>Close</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Closed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Admin</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rgbClr val="5F6470"/>
                          </a:solidFill>
                        </a:rPr>
                        <a:t>—</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46888">
                <a:tc>
                  <a:txBody>
                    <a:bodyPr/>
                    <a:lstStyle/>
                    <a:p>
                      <a:pPr indent="0" marL="0">
                        <a:buNone/>
                      </a:pPr>
                      <a:r>
                        <a:rPr lang="en-US" sz="1000" dirty="0">
                          <a:solidFill>
                            <a:schemeClr val="tx1"/>
                          </a:solidFill>
                        </a:rPr>
                        <a:t>Reviewed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b="1" dirty="0">
                          <a:solidFill>
                            <a:schemeClr val="tx1"/>
                          </a:solidFill>
                        </a:rPr>
                        <a:t>Reopen for Review</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Pending Review</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chemeClr val="tx1"/>
                          </a:solidFill>
                        </a:rPr>
                        <a:t>Consultant, Admin, Reviewer, Approver</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000" dirty="0">
                          <a:solidFill>
                            <a:srgbClr val="5F6470"/>
                          </a:solidFill>
                        </a:rPr>
                        <a:t>Reason required; approval cancelled</a:t>
                      </a:r>
                      <a:endParaRPr lang="en-US" sz="10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bl>
          </a:graphicData>
        </a:graphic>
      </p:graphicFrame>
      <p:sp>
        <p:nvSpPr>
          <p:cNvPr id="6" name="Text 3"/>
          <p:cNvSpPr txBox="1"/>
          <p:nvPr/>
        </p:nvSpPr>
        <p:spPr>
          <a:xfrm>
            <a:off x="502920" y="6080760"/>
            <a:ext cx="11185855" cy="320040"/>
          </a:xfrm>
          <a:prstGeom prst="rect">
            <a:avLst/>
          </a:prstGeom>
          <a:noFill/>
          <a:ln/>
        </p:spPr>
        <p:txBody>
          <a:bodyPr wrap="square" lIns="0" tIns="0" rIns="0" bIns="0" rtlCol="0" anchor="t"/>
          <a:lstStyle/>
          <a:p>
            <a:pPr indent="0" marL="0">
              <a:buNone/>
            </a:pPr>
            <a:r>
              <a:rPr lang="en-US" sz="1000" i="1" dirty="0">
                <a:solidFill>
                  <a:srgbClr val="5F6470"/>
                </a:solidFill>
              </a:rPr>
              <a:t>Reopen for Review is also allowed from Awaiting Client and Approved. Any change to signed-off figures cancels the approval automatically; a filed return can only be revised, never edited.</a:t>
            </a:r>
            <a:endParaRPr lang="en-US" sz="10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MODULE 01  ·  ONBOARDING &amp; VERIFICATION</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A 6-digit code: WhatsApp first, SMS as backup</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The code is generated, stored only as a hash, and delivered by the channel order set in Settings → Verification codes</a:t>
            </a:r>
            <a:endParaRPr lang="en-US" sz="1300" dirty="0"/>
          </a:p>
        </p:txBody>
      </p:sp>
      <p:sp>
        <p:nvSpPr>
          <p:cNvPr id="5" name="Shape 3"/>
          <p:cNvSpPr/>
          <p:nvPr/>
        </p:nvSpPr>
        <p:spPr>
          <a:xfrm>
            <a:off x="1124179" y="1783080"/>
            <a:ext cx="621792" cy="621792"/>
          </a:xfrm>
          <a:prstGeom prst="ellipse">
            <a:avLst/>
          </a:prstGeom>
          <a:solidFill>
            <a:srgbClr val="141416"/>
          </a:solidFill>
          <a:ln w="12700">
            <a:solidFill>
              <a:srgbClr val="141416"/>
            </a:solidFill>
            <a:prstDash val="solid"/>
          </a:ln>
        </p:spPr>
      </p:sp>
      <p:pic>
        <p:nvPicPr>
          <p:cNvPr id="6" name="Image 0" descr="preencoded.png">    </p:cNvPr>
          <p:cNvPicPr>
            <a:picLocks noChangeAspect="1"/>
          </p:cNvPicPr>
          <p:nvPr/>
        </p:nvPicPr>
        <p:blipFill>
          <a:blip r:embed="rId1"/>
          <a:stretch>
            <a:fillRect/>
          </a:stretch>
        </p:blipFill>
        <p:spPr>
          <a:xfrm>
            <a:off x="1273409" y="1932310"/>
            <a:ext cx="323332" cy="323332"/>
          </a:xfrm>
          <a:prstGeom prst="rect">
            <a:avLst/>
          </a:prstGeom>
        </p:spPr>
      </p:pic>
      <p:sp>
        <p:nvSpPr>
          <p:cNvPr id="7" name="Shape 4"/>
          <p:cNvSpPr/>
          <p:nvPr/>
        </p:nvSpPr>
        <p:spPr>
          <a:xfrm>
            <a:off x="1819123" y="2093976"/>
            <a:ext cx="1096213" cy="0"/>
          </a:xfrm>
          <a:prstGeom prst="line">
            <a:avLst/>
          </a:prstGeom>
          <a:noFill/>
          <a:ln w="15875">
            <a:solidFill>
              <a:srgbClr val="A8811F"/>
            </a:solidFill>
            <a:prstDash val="solid"/>
            <a:tailEnd type="triangle"/>
          </a:ln>
        </p:spPr>
      </p:sp>
      <p:sp>
        <p:nvSpPr>
          <p:cNvPr id="8" name="Text 5"/>
          <p:cNvSpPr txBox="1"/>
          <p:nvPr/>
        </p:nvSpPr>
        <p:spPr>
          <a:xfrm>
            <a:off x="594360" y="2514600"/>
            <a:ext cx="1681429" cy="502920"/>
          </a:xfrm>
          <a:prstGeom prst="rect">
            <a:avLst/>
          </a:prstGeom>
          <a:noFill/>
          <a:ln/>
        </p:spPr>
        <p:txBody>
          <a:bodyPr wrap="square" lIns="0" tIns="0" rIns="0" bIns="0" rtlCol="0" anchor="t"/>
          <a:lstStyle/>
          <a:p>
            <a:pPr algn="ctr" indent="0" marL="0">
              <a:buNone/>
            </a:pPr>
            <a:r>
              <a:rPr lang="en-US" sz="1200" b="1" dirty="0">
                <a:solidFill>
                  <a:schemeClr val="tx2"/>
                </a:solidFill>
              </a:rPr>
              <a:t>Client enters mobile</a:t>
            </a:r>
            <a:endParaRPr lang="en-US" sz="1200" dirty="0"/>
          </a:p>
        </p:txBody>
      </p:sp>
      <p:sp>
        <p:nvSpPr>
          <p:cNvPr id="9" name="Shape 6"/>
          <p:cNvSpPr/>
          <p:nvPr/>
        </p:nvSpPr>
        <p:spPr>
          <a:xfrm>
            <a:off x="2988488" y="1783080"/>
            <a:ext cx="621792" cy="621792"/>
          </a:xfrm>
          <a:prstGeom prst="ellipse">
            <a:avLst/>
          </a:prstGeom>
          <a:solidFill>
            <a:srgbClr val="A8811F"/>
          </a:solidFill>
          <a:ln w="12700">
            <a:solidFill>
              <a:srgbClr val="A8811F"/>
            </a:solidFill>
            <a:prstDash val="solid"/>
          </a:ln>
        </p:spPr>
      </p:sp>
      <p:pic>
        <p:nvPicPr>
          <p:cNvPr id="10" name="Image 1" descr="preencoded.png">    </p:cNvPr>
          <p:cNvPicPr>
            <a:picLocks noChangeAspect="1"/>
          </p:cNvPicPr>
          <p:nvPr/>
        </p:nvPicPr>
        <p:blipFill>
          <a:blip r:embed="rId2"/>
          <a:stretch>
            <a:fillRect/>
          </a:stretch>
        </p:blipFill>
        <p:spPr>
          <a:xfrm>
            <a:off x="3137718" y="1932310"/>
            <a:ext cx="323332" cy="323332"/>
          </a:xfrm>
          <a:prstGeom prst="rect">
            <a:avLst/>
          </a:prstGeom>
        </p:spPr>
      </p:pic>
      <p:sp>
        <p:nvSpPr>
          <p:cNvPr id="11" name="Shape 7"/>
          <p:cNvSpPr/>
          <p:nvPr/>
        </p:nvSpPr>
        <p:spPr>
          <a:xfrm>
            <a:off x="3683432" y="2093976"/>
            <a:ext cx="1096213" cy="0"/>
          </a:xfrm>
          <a:prstGeom prst="line">
            <a:avLst/>
          </a:prstGeom>
          <a:noFill/>
          <a:ln w="15875">
            <a:solidFill>
              <a:srgbClr val="A8811F"/>
            </a:solidFill>
            <a:prstDash val="solid"/>
            <a:tailEnd type="triangle"/>
          </a:ln>
        </p:spPr>
      </p:sp>
      <p:sp>
        <p:nvSpPr>
          <p:cNvPr id="12" name="Text 8"/>
          <p:cNvSpPr txBox="1"/>
          <p:nvPr/>
        </p:nvSpPr>
        <p:spPr>
          <a:xfrm>
            <a:off x="2458669" y="2514600"/>
            <a:ext cx="1681429" cy="502920"/>
          </a:xfrm>
          <a:prstGeom prst="rect">
            <a:avLst/>
          </a:prstGeom>
          <a:noFill/>
          <a:ln/>
        </p:spPr>
        <p:txBody>
          <a:bodyPr wrap="square" lIns="0" tIns="0" rIns="0" bIns="0" rtlCol="0" anchor="t"/>
          <a:lstStyle/>
          <a:p>
            <a:pPr algn="ctr" indent="0" marL="0">
              <a:buNone/>
            </a:pPr>
            <a:r>
              <a:rPr lang="en-US" sz="1200" b="1" dirty="0">
                <a:solidFill>
                  <a:schemeClr val="tx2"/>
                </a:solidFill>
              </a:rPr>
              <a:t>Code generated · hashed</a:t>
            </a:r>
            <a:endParaRPr lang="en-US" sz="1200" dirty="0"/>
          </a:p>
        </p:txBody>
      </p:sp>
      <p:sp>
        <p:nvSpPr>
          <p:cNvPr id="13" name="Shape 9"/>
          <p:cNvSpPr/>
          <p:nvPr/>
        </p:nvSpPr>
        <p:spPr>
          <a:xfrm>
            <a:off x="4852797" y="1783080"/>
            <a:ext cx="621792" cy="621792"/>
          </a:xfrm>
          <a:prstGeom prst="ellipse">
            <a:avLst/>
          </a:prstGeom>
          <a:solidFill>
            <a:srgbClr val="1BAF7A"/>
          </a:solidFill>
          <a:ln w="12700">
            <a:solidFill>
              <a:srgbClr val="1BAF7A"/>
            </a:solidFill>
            <a:prstDash val="solid"/>
          </a:ln>
        </p:spPr>
      </p:sp>
      <p:pic>
        <p:nvPicPr>
          <p:cNvPr id="14" name="Image 2" descr="preencoded.png">    </p:cNvPr>
          <p:cNvPicPr>
            <a:picLocks noChangeAspect="1"/>
          </p:cNvPicPr>
          <p:nvPr/>
        </p:nvPicPr>
        <p:blipFill>
          <a:blip r:embed="rId3"/>
          <a:stretch>
            <a:fillRect/>
          </a:stretch>
        </p:blipFill>
        <p:spPr>
          <a:xfrm>
            <a:off x="5002027" y="1932310"/>
            <a:ext cx="323332" cy="323332"/>
          </a:xfrm>
          <a:prstGeom prst="rect">
            <a:avLst/>
          </a:prstGeom>
        </p:spPr>
      </p:pic>
      <p:sp>
        <p:nvSpPr>
          <p:cNvPr id="15" name="Shape 10"/>
          <p:cNvSpPr/>
          <p:nvPr/>
        </p:nvSpPr>
        <p:spPr>
          <a:xfrm>
            <a:off x="5547741" y="2093976"/>
            <a:ext cx="1096213" cy="0"/>
          </a:xfrm>
          <a:prstGeom prst="line">
            <a:avLst/>
          </a:prstGeom>
          <a:noFill/>
          <a:ln w="15875">
            <a:solidFill>
              <a:srgbClr val="A8811F"/>
            </a:solidFill>
            <a:prstDash val="solid"/>
            <a:tailEnd type="triangle"/>
          </a:ln>
        </p:spPr>
      </p:sp>
      <p:sp>
        <p:nvSpPr>
          <p:cNvPr id="16" name="Text 11"/>
          <p:cNvSpPr txBox="1"/>
          <p:nvPr/>
        </p:nvSpPr>
        <p:spPr>
          <a:xfrm>
            <a:off x="4322978" y="2514600"/>
            <a:ext cx="1681429" cy="502920"/>
          </a:xfrm>
          <a:prstGeom prst="rect">
            <a:avLst/>
          </a:prstGeom>
          <a:noFill/>
          <a:ln/>
        </p:spPr>
        <p:txBody>
          <a:bodyPr wrap="square" lIns="0" tIns="0" rIns="0" bIns="0" rtlCol="0" anchor="t"/>
          <a:lstStyle/>
          <a:p>
            <a:pPr algn="ctr" indent="0" marL="0">
              <a:buNone/>
            </a:pPr>
            <a:r>
              <a:rPr lang="en-US" sz="1200" b="1" dirty="0">
                <a:solidFill>
                  <a:schemeClr val="tx2"/>
                </a:solidFill>
              </a:rPr>
              <a:t>WhatsApp authentication template</a:t>
            </a:r>
            <a:endParaRPr lang="en-US" sz="1200" dirty="0"/>
          </a:p>
        </p:txBody>
      </p:sp>
      <p:sp>
        <p:nvSpPr>
          <p:cNvPr id="17" name="Shape 12"/>
          <p:cNvSpPr/>
          <p:nvPr/>
        </p:nvSpPr>
        <p:spPr>
          <a:xfrm>
            <a:off x="6717106" y="1783080"/>
            <a:ext cx="621792" cy="621792"/>
          </a:xfrm>
          <a:prstGeom prst="ellipse">
            <a:avLst/>
          </a:prstGeom>
          <a:solidFill>
            <a:srgbClr val="2A78D6"/>
          </a:solidFill>
          <a:ln w="12700">
            <a:solidFill>
              <a:srgbClr val="2A78D6"/>
            </a:solidFill>
            <a:prstDash val="solid"/>
          </a:ln>
        </p:spPr>
      </p:sp>
      <p:pic>
        <p:nvPicPr>
          <p:cNvPr id="18" name="Image 3" descr="preencoded.png">    </p:cNvPr>
          <p:cNvPicPr>
            <a:picLocks noChangeAspect="1"/>
          </p:cNvPicPr>
          <p:nvPr/>
        </p:nvPicPr>
        <p:blipFill>
          <a:blip r:embed="rId4"/>
          <a:stretch>
            <a:fillRect/>
          </a:stretch>
        </p:blipFill>
        <p:spPr>
          <a:xfrm>
            <a:off x="6866336" y="1932310"/>
            <a:ext cx="323332" cy="323332"/>
          </a:xfrm>
          <a:prstGeom prst="rect">
            <a:avLst/>
          </a:prstGeom>
        </p:spPr>
      </p:pic>
      <p:sp>
        <p:nvSpPr>
          <p:cNvPr id="19" name="Shape 13"/>
          <p:cNvSpPr/>
          <p:nvPr/>
        </p:nvSpPr>
        <p:spPr>
          <a:xfrm>
            <a:off x="7412050" y="2093976"/>
            <a:ext cx="1096213" cy="0"/>
          </a:xfrm>
          <a:prstGeom prst="line">
            <a:avLst/>
          </a:prstGeom>
          <a:noFill/>
          <a:ln w="15875">
            <a:solidFill>
              <a:srgbClr val="A8811F"/>
            </a:solidFill>
            <a:prstDash val="solid"/>
            <a:tailEnd type="triangle"/>
          </a:ln>
        </p:spPr>
      </p:sp>
      <p:sp>
        <p:nvSpPr>
          <p:cNvPr id="20" name="Text 14"/>
          <p:cNvSpPr txBox="1"/>
          <p:nvPr/>
        </p:nvSpPr>
        <p:spPr>
          <a:xfrm>
            <a:off x="6187288" y="2514600"/>
            <a:ext cx="1681429" cy="502920"/>
          </a:xfrm>
          <a:prstGeom prst="rect">
            <a:avLst/>
          </a:prstGeom>
          <a:noFill/>
          <a:ln/>
        </p:spPr>
        <p:txBody>
          <a:bodyPr wrap="square" lIns="0" tIns="0" rIns="0" bIns="0" rtlCol="0" anchor="t"/>
          <a:lstStyle/>
          <a:p>
            <a:pPr algn="ctr" indent="0" marL="0">
              <a:buNone/>
            </a:pPr>
            <a:r>
              <a:rPr lang="en-US" sz="1200" b="1" dirty="0">
                <a:solidFill>
                  <a:schemeClr val="tx2"/>
                </a:solidFill>
              </a:rPr>
              <a:t>If it fails: same code by SMS</a:t>
            </a:r>
            <a:endParaRPr lang="en-US" sz="1200" dirty="0"/>
          </a:p>
        </p:txBody>
      </p:sp>
      <p:sp>
        <p:nvSpPr>
          <p:cNvPr id="21" name="Shape 15"/>
          <p:cNvSpPr/>
          <p:nvPr/>
        </p:nvSpPr>
        <p:spPr>
          <a:xfrm>
            <a:off x="8581415" y="1783080"/>
            <a:ext cx="621792" cy="621792"/>
          </a:xfrm>
          <a:prstGeom prst="ellipse">
            <a:avLst/>
          </a:prstGeom>
          <a:solidFill>
            <a:srgbClr val="A8811F"/>
          </a:solidFill>
          <a:ln w="12700">
            <a:solidFill>
              <a:srgbClr val="A8811F"/>
            </a:solidFill>
            <a:prstDash val="solid"/>
          </a:ln>
        </p:spPr>
      </p:sp>
      <p:pic>
        <p:nvPicPr>
          <p:cNvPr id="22" name="Image 4" descr="preencoded.png">    </p:cNvPr>
          <p:cNvPicPr>
            <a:picLocks noChangeAspect="1"/>
          </p:cNvPicPr>
          <p:nvPr/>
        </p:nvPicPr>
        <p:blipFill>
          <a:blip r:embed="rId5"/>
          <a:stretch>
            <a:fillRect/>
          </a:stretch>
        </p:blipFill>
        <p:spPr>
          <a:xfrm>
            <a:off x="8730645" y="1932310"/>
            <a:ext cx="323332" cy="323332"/>
          </a:xfrm>
          <a:prstGeom prst="rect">
            <a:avLst/>
          </a:prstGeom>
        </p:spPr>
      </p:pic>
      <p:sp>
        <p:nvSpPr>
          <p:cNvPr id="23" name="Shape 16"/>
          <p:cNvSpPr/>
          <p:nvPr/>
        </p:nvSpPr>
        <p:spPr>
          <a:xfrm>
            <a:off x="9276359" y="2093976"/>
            <a:ext cx="1096213" cy="0"/>
          </a:xfrm>
          <a:prstGeom prst="line">
            <a:avLst/>
          </a:prstGeom>
          <a:noFill/>
          <a:ln w="15875">
            <a:solidFill>
              <a:srgbClr val="A8811F"/>
            </a:solidFill>
            <a:prstDash val="solid"/>
            <a:tailEnd type="triangle"/>
          </a:ln>
        </p:spPr>
      </p:sp>
      <p:sp>
        <p:nvSpPr>
          <p:cNvPr id="24" name="Text 17"/>
          <p:cNvSpPr txBox="1"/>
          <p:nvPr/>
        </p:nvSpPr>
        <p:spPr>
          <a:xfrm>
            <a:off x="8051597" y="2514600"/>
            <a:ext cx="1681429" cy="502920"/>
          </a:xfrm>
          <a:prstGeom prst="rect">
            <a:avLst/>
          </a:prstGeom>
          <a:noFill/>
          <a:ln/>
        </p:spPr>
        <p:txBody>
          <a:bodyPr wrap="square" lIns="0" tIns="0" rIns="0" bIns="0" rtlCol="0" anchor="t"/>
          <a:lstStyle/>
          <a:p>
            <a:pPr algn="ctr" indent="0" marL="0">
              <a:buNone/>
            </a:pPr>
            <a:r>
              <a:rPr lang="en-US" sz="1200" b="1" dirty="0">
                <a:solidFill>
                  <a:schemeClr val="tx2"/>
                </a:solidFill>
              </a:rPr>
              <a:t>Client types code · verified</a:t>
            </a:r>
            <a:endParaRPr lang="en-US" sz="1200" dirty="0"/>
          </a:p>
        </p:txBody>
      </p:sp>
      <p:sp>
        <p:nvSpPr>
          <p:cNvPr id="25" name="Shape 18"/>
          <p:cNvSpPr/>
          <p:nvPr/>
        </p:nvSpPr>
        <p:spPr>
          <a:xfrm>
            <a:off x="10445725" y="1783080"/>
            <a:ext cx="621792" cy="621792"/>
          </a:xfrm>
          <a:prstGeom prst="ellipse">
            <a:avLst/>
          </a:prstGeom>
          <a:solidFill>
            <a:srgbClr val="141416"/>
          </a:solidFill>
          <a:ln w="12700">
            <a:solidFill>
              <a:srgbClr val="141416"/>
            </a:solidFill>
            <a:prstDash val="solid"/>
          </a:ln>
        </p:spPr>
      </p:sp>
      <p:pic>
        <p:nvPicPr>
          <p:cNvPr id="26" name="Image 5" descr="preencoded.png">    </p:cNvPr>
          <p:cNvPicPr>
            <a:picLocks noChangeAspect="1"/>
          </p:cNvPicPr>
          <p:nvPr/>
        </p:nvPicPr>
        <p:blipFill>
          <a:blip r:embed="rId6"/>
          <a:stretch>
            <a:fillRect/>
          </a:stretch>
        </p:blipFill>
        <p:spPr>
          <a:xfrm>
            <a:off x="10594955" y="1932310"/>
            <a:ext cx="323332" cy="323332"/>
          </a:xfrm>
          <a:prstGeom prst="rect">
            <a:avLst/>
          </a:prstGeom>
        </p:spPr>
      </p:pic>
      <p:sp>
        <p:nvSpPr>
          <p:cNvPr id="27" name="Text 19"/>
          <p:cNvSpPr txBox="1"/>
          <p:nvPr/>
        </p:nvSpPr>
        <p:spPr>
          <a:xfrm>
            <a:off x="9915906" y="2514600"/>
            <a:ext cx="1681429" cy="502920"/>
          </a:xfrm>
          <a:prstGeom prst="rect">
            <a:avLst/>
          </a:prstGeom>
          <a:noFill/>
          <a:ln/>
        </p:spPr>
        <p:txBody>
          <a:bodyPr wrap="square" lIns="0" tIns="0" rIns="0" bIns="0" rtlCol="0" anchor="t"/>
          <a:lstStyle/>
          <a:p>
            <a:pPr algn="ctr" indent="0" marL="0">
              <a:buNone/>
            </a:pPr>
            <a:r>
              <a:rPr lang="en-US" sz="1200" b="1" dirty="0">
                <a:solidFill>
                  <a:schemeClr val="tx2"/>
                </a:solidFill>
              </a:rPr>
              <a:t>Account + client record created</a:t>
            </a:r>
            <a:endParaRPr lang="en-US" sz="1200" dirty="0"/>
          </a:p>
        </p:txBody>
      </p:sp>
      <p:sp>
        <p:nvSpPr>
          <p:cNvPr id="28" name="Shape 20"/>
          <p:cNvSpPr/>
          <p:nvPr/>
        </p:nvSpPr>
        <p:spPr>
          <a:xfrm>
            <a:off x="502920" y="3337560"/>
            <a:ext cx="5486400" cy="2880360"/>
          </a:xfrm>
          <a:prstGeom prst="roundRect">
            <a:avLst>
              <a:gd name="adj" fmla="val 2540"/>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29" name="Text 21"/>
          <p:cNvSpPr txBox="1"/>
          <p:nvPr/>
        </p:nvSpPr>
        <p:spPr>
          <a:xfrm>
            <a:off x="685800" y="3456432"/>
            <a:ext cx="4572000" cy="274320"/>
          </a:xfrm>
          <a:prstGeom prst="rect">
            <a:avLst/>
          </a:prstGeom>
          <a:noFill/>
          <a:ln/>
        </p:spPr>
        <p:txBody>
          <a:bodyPr wrap="square" lIns="0" tIns="0" rIns="0" bIns="0" rtlCol="0" anchor="t"/>
          <a:lstStyle/>
          <a:p>
            <a:pPr indent="0" marL="0">
              <a:buNone/>
            </a:pPr>
            <a:r>
              <a:rPr lang="en-US" sz="1400" b="1" dirty="0">
                <a:solidFill>
                  <a:schemeClr val="tx2"/>
                </a:solidFill>
              </a:rPr>
              <a:t>Rules</a:t>
            </a:r>
            <a:endParaRPr lang="en-US" sz="1400" dirty="0"/>
          </a:p>
        </p:txBody>
      </p:sp>
      <p:sp>
        <p:nvSpPr>
          <p:cNvPr id="30" name="Text 22"/>
          <p:cNvSpPr txBox="1"/>
          <p:nvPr/>
        </p:nvSpPr>
        <p:spPr>
          <a:xfrm>
            <a:off x="685800" y="3794760"/>
            <a:ext cx="5120640" cy="22860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Code expires after 10 minutes; 5 attempts; 5 codes per number per hour</a:t>
            </a:r>
            <a:endParaRPr lang="en-US" sz="1200" dirty="0"/>
          </a:p>
          <a:p>
            <a:pPr marL="342900" indent="-342900">
              <a:spcAft>
                <a:spcPts val="500"/>
              </a:spcAft>
              <a:buSzPct val="100000"/>
              <a:buChar char="•"/>
            </a:pPr>
            <a:r>
              <a:rPr lang="en-US" sz="1200" dirty="0">
                <a:solidFill>
                  <a:schemeClr val="tx1"/>
                </a:solidFill>
              </a:rPr>
              <a:t>Only a hash is stored — never the code; WhatsApp codes bypass the team inbox and API log</a:t>
            </a:r>
            <a:endParaRPr lang="en-US" sz="1200" dirty="0"/>
          </a:p>
          <a:p>
            <a:pPr marL="342900" indent="-342900">
              <a:spcAft>
                <a:spcPts val="500"/>
              </a:spcAft>
              <a:buSzPct val="100000"/>
              <a:buChar char="•"/>
            </a:pPr>
            <a:r>
              <a:rPr lang="en-US" sz="1200" dirty="0">
                <a:solidFill>
                  <a:schemeClr val="tx1"/>
                </a:solidFill>
              </a:rPr>
              <a:t>Channel recorded on each request: WhatsApp, SMS or Failed</a:t>
            </a:r>
            <a:endParaRPr lang="en-US" sz="1200" dirty="0"/>
          </a:p>
          <a:p>
            <a:pPr marL="342900" indent="-342900">
              <a:spcAft>
                <a:spcPts val="500"/>
              </a:spcAft>
              <a:buSzPct val="100000"/>
              <a:buChar char="•"/>
            </a:pPr>
            <a:r>
              <a:rPr lang="en-US" sz="1200" dirty="0">
                <a:solidFill>
                  <a:schemeClr val="tx1"/>
                </a:solidFill>
              </a:rPr>
              <a:t>"No WhatsApp? Send the code by SMS instead" on the code screen</a:t>
            </a:r>
            <a:endParaRPr lang="en-US" sz="1200" dirty="0"/>
          </a:p>
          <a:p>
            <a:pPr marL="342900" indent="-342900">
              <a:spcAft>
                <a:spcPts val="500"/>
              </a:spcAft>
              <a:buSzPct val="100000"/>
              <a:buChar char="•"/>
            </a:pPr>
            <a:r>
              <a:rPr lang="en-US" sz="1200" dirty="0">
                <a:solidFill>
                  <a:schemeClr val="tx1"/>
                </a:solidFill>
              </a:rPr>
              <a:t>A mobile that already has an account is sent to sign in</a:t>
            </a:r>
            <a:endParaRPr lang="en-US" sz="1200" dirty="0"/>
          </a:p>
        </p:txBody>
      </p:sp>
      <p:sp>
        <p:nvSpPr>
          <p:cNvPr id="31" name="Shape 23"/>
          <p:cNvSpPr/>
          <p:nvPr/>
        </p:nvSpPr>
        <p:spPr>
          <a:xfrm>
            <a:off x="6263640" y="3337560"/>
            <a:ext cx="5422392" cy="2880360"/>
          </a:xfrm>
          <a:prstGeom prst="roundRect">
            <a:avLst>
              <a:gd name="adj" fmla="val 2540"/>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32" name="Text 24"/>
          <p:cNvSpPr txBox="1"/>
          <p:nvPr/>
        </p:nvSpPr>
        <p:spPr>
          <a:xfrm>
            <a:off x="6446520" y="3456432"/>
            <a:ext cx="5029200" cy="274320"/>
          </a:xfrm>
          <a:prstGeom prst="rect">
            <a:avLst/>
          </a:prstGeom>
          <a:noFill/>
          <a:ln/>
        </p:spPr>
        <p:txBody>
          <a:bodyPr wrap="square" lIns="0" tIns="0" rIns="0" bIns="0" rtlCol="0" anchor="t"/>
          <a:lstStyle/>
          <a:p>
            <a:pPr indent="0" marL="0">
              <a:buNone/>
            </a:pPr>
            <a:r>
              <a:rPr lang="en-US" sz="1400" b="1" dirty="0">
                <a:solidFill>
                  <a:schemeClr val="tx2"/>
                </a:solidFill>
              </a:rPr>
              <a:t>Settings → Verification codes</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46520" y="3794760"/>
          <a:ext cx="5074920" cy="914400"/>
        </p:xfrm>
        <a:graphic>
          <a:graphicData uri="http://schemas.openxmlformats.org/drawingml/2006/table">
            <a:tbl>
              <a:tblPr/>
              <a:tblGrid>
                <a:gridCol w="1463040"/>
                <a:gridCol w="3611880"/>
              </a:tblGrid>
              <a:tr h="0">
                <a:tc>
                  <a:txBody>
                    <a:bodyPr/>
                    <a:lstStyle/>
                    <a:p>
                      <a:pPr indent="0" marL="0">
                        <a:buNone/>
                      </a:pPr>
                      <a:r>
                        <a:rPr lang="en-US" sz="1100" b="1" dirty="0">
                          <a:solidFill>
                            <a:srgbClr val="D4AF37"/>
                          </a:solidFill>
                        </a:rPr>
                        <a:t>Setting</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indent="0" marL="0">
                        <a:buNone/>
                      </a:pPr>
                      <a:r>
                        <a:rPr lang="en-US" sz="1100" b="1" dirty="0">
                          <a:solidFill>
                            <a:srgbClr val="D4AF37"/>
                          </a:solidFill>
                        </a:rPr>
                        <a:t>Options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r>
              <a:tr h="0">
                <a:tc>
                  <a:txBody>
                    <a:bodyPr/>
                    <a:lstStyle/>
                    <a:p>
                      <a:pPr indent="0" marL="0">
                        <a:buNone/>
                      </a:pPr>
                      <a:r>
                        <a:rPr lang="en-US" sz="1100" dirty="0">
                          <a:solidFill>
                            <a:schemeClr val="tx1"/>
                          </a:solidFill>
                        </a:rPr>
                        <a:t>Send codes by</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WhatsApp, then SMS (default) · SMS only · WhatsApp only</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dirty="0">
                          <a:solidFill>
                            <a:schemeClr val="tx1"/>
                          </a:solidFill>
                        </a:rPr>
                        <a:t>WhatsApp template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Meta Authentication template, e.g. vvs_verification_code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dirty="0">
                          <a:solidFill>
                            <a:schemeClr val="tx1"/>
                          </a:solidFill>
                        </a:rPr>
                        <a:t>SMS provider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Console (development) · Twilio · HTTP gateway (PK bulk SMS)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dirty="0">
                          <a:solidFill>
                            <a:schemeClr val="tx1"/>
                          </a:solidFill>
                        </a:rPr>
                        <a:t>Secrets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Auth token / API key stored encrypted, write-only</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dirty="0">
                          <a:solidFill>
                            <a:schemeClr val="tx1"/>
                          </a:solidFill>
                        </a:rPr>
                        <a:t>Test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Send 000000 to own mobile, WhatsApp-first or SMS only</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MODULE 02  ·  CRM &amp; LEAD GENERATION</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From enquiry to engaged client in one pipeline</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Frappe CRM inside the portal: leads, a tax pipeline, activities, Lead Finder and WhatsApp broadcasts</a:t>
            </a:r>
            <a:endParaRPr lang="en-US" sz="1300" dirty="0"/>
          </a:p>
        </p:txBody>
      </p:sp>
      <p:sp>
        <p:nvSpPr>
          <p:cNvPr id="5" name="Shape 3"/>
          <p:cNvSpPr/>
          <p:nvPr/>
        </p:nvSpPr>
        <p:spPr>
          <a:xfrm>
            <a:off x="502920" y="1737360"/>
            <a:ext cx="1810512" cy="502920"/>
          </a:xfrm>
          <a:prstGeom prst="chevron">
            <a:avLst/>
          </a:prstGeom>
          <a:solidFill>
            <a:srgbClr val="141416"/>
          </a:solidFill>
          <a:ln w="12700">
            <a:solidFill>
              <a:srgbClr val="141416"/>
            </a:solidFill>
            <a:prstDash val="solid"/>
          </a:ln>
        </p:spPr>
      </p:sp>
      <p:sp>
        <p:nvSpPr>
          <p:cNvPr id="6" name="Text 4"/>
          <p:cNvSpPr txBox="1"/>
          <p:nvPr/>
        </p:nvSpPr>
        <p:spPr>
          <a:xfrm>
            <a:off x="704088" y="1737360"/>
            <a:ext cx="1417320" cy="502920"/>
          </a:xfrm>
          <a:prstGeom prst="rect">
            <a:avLst/>
          </a:prstGeom>
          <a:noFill/>
          <a:ln/>
        </p:spPr>
        <p:txBody>
          <a:bodyPr wrap="square" lIns="0" tIns="0" rIns="0" bIns="0" rtlCol="0" anchor="ctr"/>
          <a:lstStyle/>
          <a:p>
            <a:pPr algn="ctr" indent="0" marL="0">
              <a:buNone/>
            </a:pPr>
            <a:r>
              <a:rPr lang="en-US" sz="1100" b="1" dirty="0">
                <a:solidFill>
                  <a:srgbClr val="FFFFFF"/>
                </a:solidFill>
              </a:rPr>
              <a:t>Enquiry</a:t>
            </a:r>
            <a:endParaRPr lang="en-US" sz="1100" dirty="0"/>
          </a:p>
        </p:txBody>
      </p:sp>
      <p:sp>
        <p:nvSpPr>
          <p:cNvPr id="7" name="Shape 5"/>
          <p:cNvSpPr/>
          <p:nvPr/>
        </p:nvSpPr>
        <p:spPr>
          <a:xfrm>
            <a:off x="2368296" y="1737360"/>
            <a:ext cx="1810512" cy="502920"/>
          </a:xfrm>
          <a:prstGeom prst="chevron">
            <a:avLst/>
          </a:prstGeom>
          <a:solidFill>
            <a:srgbClr val="2A78D6"/>
          </a:solidFill>
          <a:ln w="12700">
            <a:solidFill>
              <a:srgbClr val="2A78D6"/>
            </a:solidFill>
            <a:prstDash val="solid"/>
          </a:ln>
        </p:spPr>
      </p:sp>
      <p:sp>
        <p:nvSpPr>
          <p:cNvPr id="8" name="Text 6"/>
          <p:cNvSpPr txBox="1"/>
          <p:nvPr/>
        </p:nvSpPr>
        <p:spPr>
          <a:xfrm>
            <a:off x="2569464" y="1737360"/>
            <a:ext cx="1417320" cy="502920"/>
          </a:xfrm>
          <a:prstGeom prst="rect">
            <a:avLst/>
          </a:prstGeom>
          <a:noFill/>
          <a:ln/>
        </p:spPr>
        <p:txBody>
          <a:bodyPr wrap="square" lIns="0" tIns="0" rIns="0" bIns="0" rtlCol="0" anchor="ctr"/>
          <a:lstStyle/>
          <a:p>
            <a:pPr algn="ctr" indent="0" marL="0">
              <a:buNone/>
            </a:pPr>
            <a:r>
              <a:rPr lang="en-US" sz="1100" b="1" dirty="0">
                <a:solidFill>
                  <a:srgbClr val="FFFFFF"/>
                </a:solidFill>
              </a:rPr>
              <a:t>Consultation</a:t>
            </a:r>
            <a:endParaRPr lang="en-US" sz="1100" dirty="0"/>
          </a:p>
        </p:txBody>
      </p:sp>
      <p:sp>
        <p:nvSpPr>
          <p:cNvPr id="9" name="Shape 7"/>
          <p:cNvSpPr/>
          <p:nvPr/>
        </p:nvSpPr>
        <p:spPr>
          <a:xfrm>
            <a:off x="4233672" y="1737360"/>
            <a:ext cx="1810512" cy="502920"/>
          </a:xfrm>
          <a:prstGeom prst="chevron">
            <a:avLst/>
          </a:prstGeom>
          <a:solidFill>
            <a:srgbClr val="EB6834"/>
          </a:solidFill>
          <a:ln w="12700">
            <a:solidFill>
              <a:srgbClr val="EB6834"/>
            </a:solidFill>
            <a:prstDash val="solid"/>
          </a:ln>
        </p:spPr>
      </p:sp>
      <p:sp>
        <p:nvSpPr>
          <p:cNvPr id="10" name="Text 8"/>
          <p:cNvSpPr txBox="1"/>
          <p:nvPr/>
        </p:nvSpPr>
        <p:spPr>
          <a:xfrm>
            <a:off x="4434840" y="1737360"/>
            <a:ext cx="1417320" cy="502920"/>
          </a:xfrm>
          <a:prstGeom prst="rect">
            <a:avLst/>
          </a:prstGeom>
          <a:noFill/>
          <a:ln/>
        </p:spPr>
        <p:txBody>
          <a:bodyPr wrap="square" lIns="0" tIns="0" rIns="0" bIns="0" rtlCol="0" anchor="ctr"/>
          <a:lstStyle/>
          <a:p>
            <a:pPr algn="ctr" indent="0" marL="0">
              <a:buNone/>
            </a:pPr>
            <a:r>
              <a:rPr lang="en-US" sz="1100" b="1" dirty="0">
                <a:solidFill>
                  <a:srgbClr val="FFFFFF"/>
                </a:solidFill>
              </a:rPr>
              <a:t>Proposal Sent</a:t>
            </a:r>
            <a:endParaRPr lang="en-US" sz="1100" dirty="0"/>
          </a:p>
        </p:txBody>
      </p:sp>
      <p:sp>
        <p:nvSpPr>
          <p:cNvPr id="11" name="Shape 9"/>
          <p:cNvSpPr/>
          <p:nvPr/>
        </p:nvSpPr>
        <p:spPr>
          <a:xfrm>
            <a:off x="6099048" y="1737360"/>
            <a:ext cx="1810512" cy="502920"/>
          </a:xfrm>
          <a:prstGeom prst="chevron">
            <a:avLst/>
          </a:prstGeom>
          <a:solidFill>
            <a:srgbClr val="A8811F"/>
          </a:solidFill>
          <a:ln w="12700">
            <a:solidFill>
              <a:srgbClr val="A8811F"/>
            </a:solidFill>
            <a:prstDash val="solid"/>
          </a:ln>
        </p:spPr>
      </p:sp>
      <p:sp>
        <p:nvSpPr>
          <p:cNvPr id="12" name="Text 10"/>
          <p:cNvSpPr txBox="1"/>
          <p:nvPr/>
        </p:nvSpPr>
        <p:spPr>
          <a:xfrm>
            <a:off x="6300216" y="1737360"/>
            <a:ext cx="1417320" cy="502920"/>
          </a:xfrm>
          <a:prstGeom prst="rect">
            <a:avLst/>
          </a:prstGeom>
          <a:noFill/>
          <a:ln/>
        </p:spPr>
        <p:txBody>
          <a:bodyPr wrap="square" lIns="0" tIns="0" rIns="0" bIns="0" rtlCol="0" anchor="ctr"/>
          <a:lstStyle/>
          <a:p>
            <a:pPr algn="ctr" indent="0" marL="0">
              <a:buNone/>
            </a:pPr>
            <a:r>
              <a:rPr lang="en-US" sz="1100" b="1" dirty="0">
                <a:solidFill>
                  <a:srgbClr val="FFFFFF"/>
                </a:solidFill>
              </a:rPr>
              <a:t>Documents Pending</a:t>
            </a:r>
            <a:endParaRPr lang="en-US" sz="1100" dirty="0"/>
          </a:p>
        </p:txBody>
      </p:sp>
      <p:sp>
        <p:nvSpPr>
          <p:cNvPr id="13" name="Shape 11"/>
          <p:cNvSpPr/>
          <p:nvPr/>
        </p:nvSpPr>
        <p:spPr>
          <a:xfrm>
            <a:off x="7964424" y="1737360"/>
            <a:ext cx="1810512" cy="502920"/>
          </a:xfrm>
          <a:prstGeom prst="chevron">
            <a:avLst/>
          </a:prstGeom>
          <a:solidFill>
            <a:srgbClr val="1BAF7A"/>
          </a:solidFill>
          <a:ln w="12700">
            <a:solidFill>
              <a:srgbClr val="1BAF7A"/>
            </a:solidFill>
            <a:prstDash val="solid"/>
          </a:ln>
        </p:spPr>
      </p:sp>
      <p:sp>
        <p:nvSpPr>
          <p:cNvPr id="14" name="Text 12"/>
          <p:cNvSpPr txBox="1"/>
          <p:nvPr/>
        </p:nvSpPr>
        <p:spPr>
          <a:xfrm>
            <a:off x="8165592" y="1737360"/>
            <a:ext cx="1417320" cy="502920"/>
          </a:xfrm>
          <a:prstGeom prst="rect">
            <a:avLst/>
          </a:prstGeom>
          <a:noFill/>
          <a:ln/>
        </p:spPr>
        <p:txBody>
          <a:bodyPr wrap="square" lIns="0" tIns="0" rIns="0" bIns="0" rtlCol="0" anchor="ctr"/>
          <a:lstStyle/>
          <a:p>
            <a:pPr algn="ctr" indent="0" marL="0">
              <a:buNone/>
            </a:pPr>
            <a:r>
              <a:rPr lang="en-US" sz="1100" b="1" dirty="0">
                <a:solidFill>
                  <a:srgbClr val="FFFFFF"/>
                </a:solidFill>
              </a:rPr>
              <a:t>Engaged</a:t>
            </a:r>
            <a:endParaRPr lang="en-US" sz="1100" dirty="0"/>
          </a:p>
        </p:txBody>
      </p:sp>
      <p:sp>
        <p:nvSpPr>
          <p:cNvPr id="15" name="Shape 13"/>
          <p:cNvSpPr/>
          <p:nvPr/>
        </p:nvSpPr>
        <p:spPr>
          <a:xfrm>
            <a:off x="9829800" y="1737360"/>
            <a:ext cx="1810512" cy="502920"/>
          </a:xfrm>
          <a:prstGeom prst="chevron">
            <a:avLst/>
          </a:prstGeom>
          <a:solidFill>
            <a:srgbClr val="DC2626"/>
          </a:solidFill>
          <a:ln w="12700">
            <a:solidFill>
              <a:srgbClr val="DC2626"/>
            </a:solidFill>
            <a:prstDash val="solid"/>
          </a:ln>
        </p:spPr>
      </p:sp>
      <p:sp>
        <p:nvSpPr>
          <p:cNvPr id="16" name="Text 14"/>
          <p:cNvSpPr txBox="1"/>
          <p:nvPr/>
        </p:nvSpPr>
        <p:spPr>
          <a:xfrm>
            <a:off x="10030968" y="1737360"/>
            <a:ext cx="1417320" cy="502920"/>
          </a:xfrm>
          <a:prstGeom prst="rect">
            <a:avLst/>
          </a:prstGeom>
          <a:noFill/>
          <a:ln/>
        </p:spPr>
        <p:txBody>
          <a:bodyPr wrap="square" lIns="0" tIns="0" rIns="0" bIns="0" rtlCol="0" anchor="ctr"/>
          <a:lstStyle/>
          <a:p>
            <a:pPr algn="ctr" indent="0" marL="0">
              <a:buNone/>
            </a:pPr>
            <a:r>
              <a:rPr lang="en-US" sz="1100" b="1" dirty="0">
                <a:solidFill>
                  <a:srgbClr val="FFFFFF"/>
                </a:solidFill>
              </a:rPr>
              <a:t>Lost</a:t>
            </a:r>
            <a:endParaRPr lang="en-US" sz="1100" dirty="0"/>
          </a:p>
        </p:txBody>
      </p:sp>
      <p:sp>
        <p:nvSpPr>
          <p:cNvPr id="17" name="Text 15"/>
          <p:cNvSpPr txBox="1"/>
          <p:nvPr/>
        </p:nvSpPr>
        <p:spPr>
          <a:xfrm>
            <a:off x="502920" y="2331720"/>
            <a:ext cx="8229600" cy="274320"/>
          </a:xfrm>
          <a:prstGeom prst="rect">
            <a:avLst/>
          </a:prstGeom>
          <a:noFill/>
          <a:ln/>
        </p:spPr>
        <p:txBody>
          <a:bodyPr wrap="square" lIns="0" tIns="0" rIns="0" bIns="0" rtlCol="0" anchor="t"/>
          <a:lstStyle/>
          <a:p>
            <a:pPr indent="0" marL="0">
              <a:buNone/>
            </a:pPr>
            <a:r>
              <a:rPr lang="en-US" sz="1100" i="1" dirty="0">
                <a:solidFill>
                  <a:srgbClr val="5F6470"/>
                </a:solidFill>
              </a:rPr>
              <a:t>Moving a deal to Engaged creates the Tax Client (with its site-visit details) — no re-typing</a:t>
            </a:r>
            <a:endParaRPr lang="en-US" sz="1100" dirty="0"/>
          </a:p>
        </p:txBody>
      </p:sp>
      <p:sp>
        <p:nvSpPr>
          <p:cNvPr id="18" name="Shape 16"/>
          <p:cNvSpPr/>
          <p:nvPr/>
        </p:nvSpPr>
        <p:spPr>
          <a:xfrm>
            <a:off x="502920" y="2788920"/>
            <a:ext cx="5486400" cy="1600200"/>
          </a:xfrm>
          <a:prstGeom prst="roundRect">
            <a:avLst>
              <a:gd name="adj" fmla="val 4571"/>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19" name="Shape 17"/>
          <p:cNvSpPr/>
          <p:nvPr/>
        </p:nvSpPr>
        <p:spPr>
          <a:xfrm>
            <a:off x="704088" y="3017520"/>
            <a:ext cx="566928" cy="566928"/>
          </a:xfrm>
          <a:prstGeom prst="ellipse">
            <a:avLst/>
          </a:prstGeom>
          <a:solidFill>
            <a:srgbClr val="141416"/>
          </a:solidFill>
          <a:ln w="12700">
            <a:solidFill>
              <a:srgbClr val="141416"/>
            </a:solidFill>
            <a:prstDash val="solid"/>
          </a:ln>
        </p:spPr>
      </p:sp>
      <p:pic>
        <p:nvPicPr>
          <p:cNvPr id="20" name="Image 0" descr="preencoded.png">    </p:cNvPr>
          <p:cNvPicPr>
            <a:picLocks noChangeAspect="1"/>
          </p:cNvPicPr>
          <p:nvPr/>
        </p:nvPicPr>
        <p:blipFill>
          <a:blip r:embed="rId1"/>
          <a:stretch>
            <a:fillRect/>
          </a:stretch>
        </p:blipFill>
        <p:spPr>
          <a:xfrm>
            <a:off x="840151" y="3153583"/>
            <a:ext cx="294803" cy="294803"/>
          </a:xfrm>
          <a:prstGeom prst="rect">
            <a:avLst/>
          </a:prstGeom>
        </p:spPr>
      </p:pic>
      <p:sp>
        <p:nvSpPr>
          <p:cNvPr id="21" name="Text 18"/>
          <p:cNvSpPr txBox="1"/>
          <p:nvPr/>
        </p:nvSpPr>
        <p:spPr>
          <a:xfrm>
            <a:off x="1463040" y="2971800"/>
            <a:ext cx="2743200" cy="292608"/>
          </a:xfrm>
          <a:prstGeom prst="rect">
            <a:avLst/>
          </a:prstGeom>
          <a:noFill/>
          <a:ln/>
        </p:spPr>
        <p:txBody>
          <a:bodyPr wrap="square" lIns="0" tIns="0" rIns="0" bIns="0" rtlCol="0" anchor="t"/>
          <a:lstStyle/>
          <a:p>
            <a:pPr indent="0" marL="0">
              <a:buNone/>
            </a:pPr>
            <a:r>
              <a:rPr lang="en-US" sz="1500" b="1" dirty="0">
                <a:solidFill>
                  <a:schemeClr val="tx2"/>
                </a:solidFill>
              </a:rPr>
              <a:t>Lead capture</a:t>
            </a:r>
            <a:endParaRPr lang="en-US" sz="1500" dirty="0"/>
          </a:p>
        </p:txBody>
      </p:sp>
      <p:sp>
        <p:nvSpPr>
          <p:cNvPr id="22" name="Text 19"/>
          <p:cNvSpPr txBox="1"/>
          <p:nvPr/>
        </p:nvSpPr>
        <p:spPr>
          <a:xfrm>
            <a:off x="4069080" y="2990088"/>
            <a:ext cx="1737360" cy="274320"/>
          </a:xfrm>
          <a:prstGeom prst="rect">
            <a:avLst/>
          </a:prstGeom>
          <a:noFill/>
          <a:ln/>
        </p:spPr>
        <p:txBody>
          <a:bodyPr wrap="square" lIns="0" tIns="0" rIns="0" bIns="0" rtlCol="0" anchor="t"/>
          <a:lstStyle/>
          <a:p>
            <a:pPr algn="r" indent="0" marL="0">
              <a:buNone/>
            </a:pPr>
            <a:r>
              <a:rPr lang="en-US" sz="1100" b="1" dirty="0">
                <a:solidFill>
                  <a:srgbClr val="A8811F"/>
                </a:solidFill>
              </a:rPr>
              <a:t>55 leads</a:t>
            </a:r>
            <a:endParaRPr lang="en-US" sz="1100" dirty="0"/>
          </a:p>
        </p:txBody>
      </p:sp>
      <p:sp>
        <p:nvSpPr>
          <p:cNvPr id="23" name="Text 20"/>
          <p:cNvSpPr txBox="1"/>
          <p:nvPr/>
        </p:nvSpPr>
        <p:spPr>
          <a:xfrm>
            <a:off x="1463040" y="3337560"/>
            <a:ext cx="4343400" cy="960120"/>
          </a:xfrm>
          <a:prstGeom prst="rect">
            <a:avLst/>
          </a:prstGeom>
          <a:noFill/>
          <a:ln/>
        </p:spPr>
        <p:txBody>
          <a:bodyPr wrap="square" lIns="0" tIns="0" rIns="0" bIns="0" rtlCol="0" anchor="t"/>
          <a:lstStyle/>
          <a:p>
            <a:pPr indent="0" marL="0">
              <a:buNone/>
            </a:pPr>
            <a:r>
              <a:rPr lang="en-US" sz="1100" dirty="0">
                <a:solidFill>
                  <a:schemeClr val="tx1"/>
                </a:solidFill>
              </a:rPr>
              <a:t>Website contact &amp; booking, WhatsApp first message, site visits, walk-ins, Lead Finder — one lead per person (duplicate check on mobile / email).</a:t>
            </a:r>
            <a:endParaRPr lang="en-US" sz="1100" dirty="0"/>
          </a:p>
        </p:txBody>
      </p:sp>
      <p:sp>
        <p:nvSpPr>
          <p:cNvPr id="24" name="Shape 21"/>
          <p:cNvSpPr/>
          <p:nvPr/>
        </p:nvSpPr>
        <p:spPr>
          <a:xfrm>
            <a:off x="6144768" y="2788920"/>
            <a:ext cx="5486400" cy="1600200"/>
          </a:xfrm>
          <a:prstGeom prst="roundRect">
            <a:avLst>
              <a:gd name="adj" fmla="val 4571"/>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25" name="Shape 22"/>
          <p:cNvSpPr/>
          <p:nvPr/>
        </p:nvSpPr>
        <p:spPr>
          <a:xfrm>
            <a:off x="6345936" y="3017520"/>
            <a:ext cx="566928" cy="566928"/>
          </a:xfrm>
          <a:prstGeom prst="ellipse">
            <a:avLst/>
          </a:prstGeom>
          <a:solidFill>
            <a:srgbClr val="141416"/>
          </a:solidFill>
          <a:ln w="12700">
            <a:solidFill>
              <a:srgbClr val="141416"/>
            </a:solidFill>
            <a:prstDash val="solid"/>
          </a:ln>
        </p:spPr>
      </p:sp>
      <p:pic>
        <p:nvPicPr>
          <p:cNvPr id="26" name="Image 1" descr="preencoded.png">    </p:cNvPr>
          <p:cNvPicPr>
            <a:picLocks noChangeAspect="1"/>
          </p:cNvPicPr>
          <p:nvPr/>
        </p:nvPicPr>
        <p:blipFill>
          <a:blip r:embed="rId2"/>
          <a:stretch>
            <a:fillRect/>
          </a:stretch>
        </p:blipFill>
        <p:spPr>
          <a:xfrm>
            <a:off x="6481999" y="3153583"/>
            <a:ext cx="294803" cy="294803"/>
          </a:xfrm>
          <a:prstGeom prst="rect">
            <a:avLst/>
          </a:prstGeom>
        </p:spPr>
      </p:pic>
      <p:sp>
        <p:nvSpPr>
          <p:cNvPr id="27" name="Text 23"/>
          <p:cNvSpPr txBox="1"/>
          <p:nvPr/>
        </p:nvSpPr>
        <p:spPr>
          <a:xfrm>
            <a:off x="7104888" y="2971800"/>
            <a:ext cx="2743200" cy="292608"/>
          </a:xfrm>
          <a:prstGeom prst="rect">
            <a:avLst/>
          </a:prstGeom>
          <a:noFill/>
          <a:ln/>
        </p:spPr>
        <p:txBody>
          <a:bodyPr wrap="square" lIns="0" tIns="0" rIns="0" bIns="0" rtlCol="0" anchor="t"/>
          <a:lstStyle/>
          <a:p>
            <a:pPr indent="0" marL="0">
              <a:buNone/>
            </a:pPr>
            <a:r>
              <a:rPr lang="en-US" sz="1500" b="1" dirty="0">
                <a:solidFill>
                  <a:schemeClr val="tx2"/>
                </a:solidFill>
              </a:rPr>
              <a:t>Activities</a:t>
            </a:r>
            <a:endParaRPr lang="en-US" sz="1500" dirty="0"/>
          </a:p>
        </p:txBody>
      </p:sp>
      <p:sp>
        <p:nvSpPr>
          <p:cNvPr id="28" name="Text 24"/>
          <p:cNvSpPr txBox="1"/>
          <p:nvPr/>
        </p:nvSpPr>
        <p:spPr>
          <a:xfrm>
            <a:off x="9710928" y="2990088"/>
            <a:ext cx="1737360" cy="274320"/>
          </a:xfrm>
          <a:prstGeom prst="rect">
            <a:avLst/>
          </a:prstGeom>
          <a:noFill/>
          <a:ln/>
        </p:spPr>
        <p:txBody>
          <a:bodyPr wrap="square" lIns="0" tIns="0" rIns="0" bIns="0" rtlCol="0" anchor="t"/>
          <a:lstStyle/>
          <a:p>
            <a:pPr algn="r" indent="0" marL="0">
              <a:buNone/>
            </a:pPr>
            <a:r>
              <a:rPr lang="en-US" sz="1100" b="1" dirty="0">
                <a:solidFill>
                  <a:srgbClr val="A8811F"/>
                </a:solidFill>
              </a:rPr>
              <a:t>Notes · tasks · calendar</a:t>
            </a:r>
            <a:endParaRPr lang="en-US" sz="1100" dirty="0"/>
          </a:p>
        </p:txBody>
      </p:sp>
      <p:sp>
        <p:nvSpPr>
          <p:cNvPr id="29" name="Text 25"/>
          <p:cNvSpPr txBox="1"/>
          <p:nvPr/>
        </p:nvSpPr>
        <p:spPr>
          <a:xfrm>
            <a:off x="7104888" y="3337560"/>
            <a:ext cx="4343400" cy="960120"/>
          </a:xfrm>
          <a:prstGeom prst="rect">
            <a:avLst/>
          </a:prstGeom>
          <a:noFill/>
          <a:ln/>
        </p:spPr>
        <p:txBody>
          <a:bodyPr wrap="square" lIns="0" tIns="0" rIns="0" bIns="0" rtlCol="0" anchor="t"/>
          <a:lstStyle/>
          <a:p>
            <a:pPr indent="0" marL="0">
              <a:buNone/>
            </a:pPr>
            <a:r>
              <a:rPr lang="en-US" sz="1100" dirty="0">
                <a:solidFill>
                  <a:schemeClr val="tx1"/>
                </a:solidFill>
              </a:rPr>
              <a:t>Lead page: rich notes, follow-up tasks, calendar meetings, WhatsApp (free text or approved template), email from templates.</a:t>
            </a:r>
            <a:endParaRPr lang="en-US" sz="1100" dirty="0"/>
          </a:p>
        </p:txBody>
      </p:sp>
      <p:sp>
        <p:nvSpPr>
          <p:cNvPr id="30" name="Shape 26"/>
          <p:cNvSpPr/>
          <p:nvPr/>
        </p:nvSpPr>
        <p:spPr>
          <a:xfrm>
            <a:off x="502920" y="4544568"/>
            <a:ext cx="5486400" cy="1600200"/>
          </a:xfrm>
          <a:prstGeom prst="roundRect">
            <a:avLst>
              <a:gd name="adj" fmla="val 4571"/>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31" name="Shape 27"/>
          <p:cNvSpPr/>
          <p:nvPr/>
        </p:nvSpPr>
        <p:spPr>
          <a:xfrm>
            <a:off x="704088" y="4773168"/>
            <a:ext cx="566928" cy="566928"/>
          </a:xfrm>
          <a:prstGeom prst="ellipse">
            <a:avLst/>
          </a:prstGeom>
          <a:solidFill>
            <a:srgbClr val="141416"/>
          </a:solidFill>
          <a:ln w="12700">
            <a:solidFill>
              <a:srgbClr val="141416"/>
            </a:solidFill>
            <a:prstDash val="solid"/>
          </a:ln>
        </p:spPr>
      </p:sp>
      <p:pic>
        <p:nvPicPr>
          <p:cNvPr id="32" name="Image 2" descr="preencoded.png">    </p:cNvPr>
          <p:cNvPicPr>
            <a:picLocks noChangeAspect="1"/>
          </p:cNvPicPr>
          <p:nvPr/>
        </p:nvPicPr>
        <p:blipFill>
          <a:blip r:embed="rId3"/>
          <a:stretch>
            <a:fillRect/>
          </a:stretch>
        </p:blipFill>
        <p:spPr>
          <a:xfrm>
            <a:off x="840151" y="4909231"/>
            <a:ext cx="294803" cy="294803"/>
          </a:xfrm>
          <a:prstGeom prst="rect">
            <a:avLst/>
          </a:prstGeom>
        </p:spPr>
      </p:pic>
      <p:sp>
        <p:nvSpPr>
          <p:cNvPr id="33" name="Text 28"/>
          <p:cNvSpPr txBox="1"/>
          <p:nvPr/>
        </p:nvSpPr>
        <p:spPr>
          <a:xfrm>
            <a:off x="1463040" y="4727448"/>
            <a:ext cx="2743200" cy="292608"/>
          </a:xfrm>
          <a:prstGeom prst="rect">
            <a:avLst/>
          </a:prstGeom>
          <a:noFill/>
          <a:ln/>
        </p:spPr>
        <p:txBody>
          <a:bodyPr wrap="square" lIns="0" tIns="0" rIns="0" bIns="0" rtlCol="0" anchor="t"/>
          <a:lstStyle/>
          <a:p>
            <a:pPr indent="0" marL="0">
              <a:buNone/>
            </a:pPr>
            <a:r>
              <a:rPr lang="en-US" sz="1500" b="1" dirty="0">
                <a:solidFill>
                  <a:schemeClr val="tx2"/>
                </a:solidFill>
              </a:rPr>
              <a:t>Lead Finder</a:t>
            </a:r>
            <a:endParaRPr lang="en-US" sz="1500" dirty="0"/>
          </a:p>
        </p:txBody>
      </p:sp>
      <p:sp>
        <p:nvSpPr>
          <p:cNvPr id="34" name="Text 29"/>
          <p:cNvSpPr txBox="1"/>
          <p:nvPr/>
        </p:nvSpPr>
        <p:spPr>
          <a:xfrm>
            <a:off x="4069080" y="4745736"/>
            <a:ext cx="1737360" cy="274320"/>
          </a:xfrm>
          <a:prstGeom prst="rect">
            <a:avLst/>
          </a:prstGeom>
          <a:noFill/>
          <a:ln/>
        </p:spPr>
        <p:txBody>
          <a:bodyPr wrap="square" lIns="0" tIns="0" rIns="0" bIns="0" rtlCol="0" anchor="t"/>
          <a:lstStyle/>
          <a:p>
            <a:pPr algn="r" indent="0" marL="0">
              <a:buNone/>
            </a:pPr>
            <a:r>
              <a:rPr lang="en-US" sz="1100" b="1" dirty="0">
                <a:solidFill>
                  <a:srgbClr val="A8811F"/>
                </a:solidFill>
              </a:rPr>
              <a:t>15 prospects</a:t>
            </a:r>
            <a:endParaRPr lang="en-US" sz="1100" dirty="0"/>
          </a:p>
        </p:txBody>
      </p:sp>
      <p:sp>
        <p:nvSpPr>
          <p:cNvPr id="35" name="Text 30"/>
          <p:cNvSpPr txBox="1"/>
          <p:nvPr/>
        </p:nvSpPr>
        <p:spPr>
          <a:xfrm>
            <a:off x="1463040" y="5093208"/>
            <a:ext cx="4343400" cy="960120"/>
          </a:xfrm>
          <a:prstGeom prst="rect">
            <a:avLst/>
          </a:prstGeom>
          <a:noFill/>
          <a:ln/>
        </p:spPr>
        <p:txBody>
          <a:bodyPr wrap="square" lIns="0" tIns="0" rIns="0" bIns="0" rtlCol="0" anchor="t"/>
          <a:lstStyle/>
          <a:p>
            <a:pPr indent="0" marL="0">
              <a:buNone/>
            </a:pPr>
            <a:r>
              <a:rPr lang="en-US" sz="1100" dirty="0">
                <a:solidFill>
                  <a:schemeClr val="tx1"/>
                </a:solidFill>
              </a:rPr>
              <a:t>Google Maps by business type + city through Apify, or public websites; every result reviewed before it becomes a lead.</a:t>
            </a:r>
            <a:endParaRPr lang="en-US" sz="1100" dirty="0"/>
          </a:p>
        </p:txBody>
      </p:sp>
      <p:sp>
        <p:nvSpPr>
          <p:cNvPr id="36" name="Shape 31"/>
          <p:cNvSpPr/>
          <p:nvPr/>
        </p:nvSpPr>
        <p:spPr>
          <a:xfrm>
            <a:off x="6144768" y="4544568"/>
            <a:ext cx="5486400" cy="1600200"/>
          </a:xfrm>
          <a:prstGeom prst="roundRect">
            <a:avLst>
              <a:gd name="adj" fmla="val 4571"/>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37" name="Shape 32"/>
          <p:cNvSpPr/>
          <p:nvPr/>
        </p:nvSpPr>
        <p:spPr>
          <a:xfrm>
            <a:off x="6345936" y="4773168"/>
            <a:ext cx="566928" cy="566928"/>
          </a:xfrm>
          <a:prstGeom prst="ellipse">
            <a:avLst/>
          </a:prstGeom>
          <a:solidFill>
            <a:srgbClr val="141416"/>
          </a:solidFill>
          <a:ln w="12700">
            <a:solidFill>
              <a:srgbClr val="141416"/>
            </a:solidFill>
            <a:prstDash val="solid"/>
          </a:ln>
        </p:spPr>
      </p:sp>
      <p:pic>
        <p:nvPicPr>
          <p:cNvPr id="38" name="Image 3" descr="preencoded.png">    </p:cNvPr>
          <p:cNvPicPr>
            <a:picLocks noChangeAspect="1"/>
          </p:cNvPicPr>
          <p:nvPr/>
        </p:nvPicPr>
        <p:blipFill>
          <a:blip r:embed="rId4"/>
          <a:stretch>
            <a:fillRect/>
          </a:stretch>
        </p:blipFill>
        <p:spPr>
          <a:xfrm>
            <a:off x="6481999" y="4909231"/>
            <a:ext cx="294803" cy="294803"/>
          </a:xfrm>
          <a:prstGeom prst="rect">
            <a:avLst/>
          </a:prstGeom>
        </p:spPr>
      </p:pic>
      <p:sp>
        <p:nvSpPr>
          <p:cNvPr id="39" name="Text 33"/>
          <p:cNvSpPr txBox="1"/>
          <p:nvPr/>
        </p:nvSpPr>
        <p:spPr>
          <a:xfrm>
            <a:off x="7104888" y="4727448"/>
            <a:ext cx="2743200" cy="292608"/>
          </a:xfrm>
          <a:prstGeom prst="rect">
            <a:avLst/>
          </a:prstGeom>
          <a:noFill/>
          <a:ln/>
        </p:spPr>
        <p:txBody>
          <a:bodyPr wrap="square" lIns="0" tIns="0" rIns="0" bIns="0" rtlCol="0" anchor="t"/>
          <a:lstStyle/>
          <a:p>
            <a:pPr indent="0" marL="0">
              <a:buNone/>
            </a:pPr>
            <a:r>
              <a:rPr lang="en-US" sz="1500" b="1" dirty="0">
                <a:solidFill>
                  <a:schemeClr val="tx2"/>
                </a:solidFill>
              </a:rPr>
              <a:t>WhatsApp broadcast</a:t>
            </a:r>
            <a:endParaRPr lang="en-US" sz="1500" dirty="0"/>
          </a:p>
        </p:txBody>
      </p:sp>
      <p:sp>
        <p:nvSpPr>
          <p:cNvPr id="40" name="Text 34"/>
          <p:cNvSpPr txBox="1"/>
          <p:nvPr/>
        </p:nvSpPr>
        <p:spPr>
          <a:xfrm>
            <a:off x="9710928" y="4745736"/>
            <a:ext cx="1737360" cy="274320"/>
          </a:xfrm>
          <a:prstGeom prst="rect">
            <a:avLst/>
          </a:prstGeom>
          <a:noFill/>
          <a:ln/>
        </p:spPr>
        <p:txBody>
          <a:bodyPr wrap="square" lIns="0" tIns="0" rIns="0" bIns="0" rtlCol="0" anchor="t"/>
          <a:lstStyle/>
          <a:p>
            <a:pPr algn="r" indent="0" marL="0">
              <a:buNone/>
            </a:pPr>
            <a:r>
              <a:rPr lang="en-US" sz="1100" b="1" dirty="0">
                <a:solidFill>
                  <a:srgbClr val="A8811F"/>
                </a:solidFill>
              </a:rPr>
              <a:t>4 templates</a:t>
            </a:r>
            <a:endParaRPr lang="en-US" sz="1100" dirty="0"/>
          </a:p>
        </p:txBody>
      </p:sp>
      <p:sp>
        <p:nvSpPr>
          <p:cNvPr id="41" name="Text 35"/>
          <p:cNvSpPr txBox="1"/>
          <p:nvPr/>
        </p:nvSpPr>
        <p:spPr>
          <a:xfrm>
            <a:off x="7104888" y="5093208"/>
            <a:ext cx="4343400" cy="960120"/>
          </a:xfrm>
          <a:prstGeom prst="rect">
            <a:avLst/>
          </a:prstGeom>
          <a:noFill/>
          <a:ln/>
        </p:spPr>
        <p:txBody>
          <a:bodyPr wrap="square" lIns="0" tIns="0" rIns="0" bIns="0" rtlCol="0" anchor="t"/>
          <a:lstStyle/>
          <a:p>
            <a:pPr indent="0" marL="0">
              <a:buNone/>
            </a:pPr>
            <a:r>
              <a:rPr lang="en-US" sz="1100" dirty="0">
                <a:solidFill>
                  <a:schemeClr val="tx1"/>
                </a:solidFill>
              </a:rPr>
              <a:t>One approved template to clients or leads; consent and STOP opt-outs respected; insights per campaign.</a:t>
            </a:r>
            <a:endParaRPr lang="en-US" sz="11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MODULE 03  ·  DOCUMENTS &amp; VAULT</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The right documents, checked once, kept private</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Questionnaire answers and the chosen service build each return's checklist; generated letters land in the same vault</a:t>
            </a:r>
            <a:endParaRPr lang="en-US" sz="1300" dirty="0"/>
          </a:p>
        </p:txBody>
      </p:sp>
      <p:sp>
        <p:nvSpPr>
          <p:cNvPr id="5" name="Shape 3"/>
          <p:cNvSpPr/>
          <p:nvPr/>
        </p:nvSpPr>
        <p:spPr>
          <a:xfrm>
            <a:off x="502920" y="1737360"/>
            <a:ext cx="3657600" cy="4480560"/>
          </a:xfrm>
          <a:prstGeom prst="roundRect">
            <a:avLst>
              <a:gd name="adj" fmla="val 2000"/>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6" name="Text 4"/>
          <p:cNvSpPr txBox="1"/>
          <p:nvPr/>
        </p:nvSpPr>
        <p:spPr>
          <a:xfrm>
            <a:off x="685800" y="1856232"/>
            <a:ext cx="3291840" cy="274320"/>
          </a:xfrm>
          <a:prstGeom prst="rect">
            <a:avLst/>
          </a:prstGeom>
          <a:noFill/>
          <a:ln/>
        </p:spPr>
        <p:txBody>
          <a:bodyPr wrap="square" lIns="0" tIns="0" rIns="0" bIns="0" rtlCol="0" anchor="t"/>
          <a:lstStyle/>
          <a:p>
            <a:pPr indent="0" marL="0">
              <a:buNone/>
            </a:pPr>
            <a:r>
              <a:rPr lang="en-US" sz="1400" b="1" dirty="0">
                <a:solidFill>
                  <a:schemeClr val="tx2"/>
                </a:solidFill>
              </a:rPr>
              <a:t>Checklist rules</a:t>
            </a:r>
            <a:endParaRPr lang="en-US" sz="1400" dirty="0"/>
          </a:p>
        </p:txBody>
      </p:sp>
      <p:sp>
        <p:nvSpPr>
          <p:cNvPr id="7" name="Text 5"/>
          <p:cNvSpPr txBox="1"/>
          <p:nvPr/>
        </p:nvSpPr>
        <p:spPr>
          <a:xfrm>
            <a:off x="685800" y="2194560"/>
            <a:ext cx="3291840" cy="24688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10 yes/no questions (salary, business, rent, capital gains, bank profit, property, vehicle …)</a:t>
            </a:r>
            <a:endParaRPr lang="en-US" sz="1200" dirty="0"/>
          </a:p>
          <a:p>
            <a:pPr marL="342900" indent="-342900">
              <a:spcAft>
                <a:spcPts val="500"/>
              </a:spcAft>
              <a:buSzPct val="100000"/>
              <a:buChar char="•"/>
            </a:pPr>
            <a:r>
              <a:rPr lang="en-US" sz="1200" dirty="0">
                <a:solidFill>
                  <a:schemeClr val="tx1"/>
                </a:solidFill>
              </a:rPr>
              <a:t>18 document types, each with a client hint</a:t>
            </a:r>
            <a:endParaRPr lang="en-US" sz="1200" dirty="0"/>
          </a:p>
          <a:p>
            <a:pPr marL="342900" indent="-342900">
              <a:spcAft>
                <a:spcPts val="500"/>
              </a:spcAft>
              <a:buSzPct val="100000"/>
              <a:buChar char="•"/>
            </a:pPr>
            <a:r>
              <a:rPr lang="en-US" sz="1200" dirty="0">
                <a:solidFill>
                  <a:schemeClr val="tx1"/>
                </a:solidFill>
              </a:rPr>
              <a:t>Requirement rules by client type, taxpayer type, service, year, answer</a:t>
            </a:r>
            <a:endParaRPr lang="en-US" sz="1200" dirty="0"/>
          </a:p>
          <a:p>
            <a:pPr marL="342900" indent="-342900">
              <a:spcAft>
                <a:spcPts val="500"/>
              </a:spcAft>
              <a:buSzPct val="100000"/>
              <a:buChar char="•"/>
            </a:pPr>
            <a:r>
              <a:rPr lang="en-US" sz="1200" dirty="0">
                <a:solidFill>
                  <a:schemeClr val="tx1"/>
                </a:solidFill>
              </a:rPr>
              <a:t>A planning scenario can add evidence (e.g. Zakat certificate) with the reason shown to the client</a:t>
            </a:r>
            <a:endParaRPr lang="en-US" sz="1200" dirty="0"/>
          </a:p>
        </p:txBody>
      </p:sp>
      <p:sp>
        <p:nvSpPr>
          <p:cNvPr id="8" name="Text 6"/>
          <p:cNvSpPr txBox="1"/>
          <p:nvPr/>
        </p:nvSpPr>
        <p:spPr>
          <a:xfrm>
            <a:off x="685800" y="4754880"/>
            <a:ext cx="3291840" cy="274320"/>
          </a:xfrm>
          <a:prstGeom prst="rect">
            <a:avLst/>
          </a:prstGeom>
          <a:noFill/>
          <a:ln/>
        </p:spPr>
        <p:txBody>
          <a:bodyPr wrap="square" lIns="0" tIns="0" rIns="0" bIns="0" rtlCol="0" anchor="t"/>
          <a:lstStyle/>
          <a:p>
            <a:pPr indent="0" marL="0">
              <a:buNone/>
            </a:pPr>
            <a:r>
              <a:rPr lang="en-US" sz="1200" b="1" dirty="0">
                <a:solidFill>
                  <a:schemeClr val="tx2"/>
                </a:solidFill>
              </a:rPr>
              <a:t>Statuses</a:t>
            </a:r>
            <a:endParaRPr lang="en-US" sz="1200" dirty="0"/>
          </a:p>
        </p:txBody>
      </p:sp>
      <p:sp>
        <p:nvSpPr>
          <p:cNvPr id="9" name="Shape 7"/>
          <p:cNvSpPr/>
          <p:nvPr/>
        </p:nvSpPr>
        <p:spPr>
          <a:xfrm>
            <a:off x="685800" y="5074920"/>
            <a:ext cx="1508760" cy="256032"/>
          </a:xfrm>
          <a:prstGeom prst="roundRect">
            <a:avLst>
              <a:gd name="adj" fmla="val 50000"/>
            </a:avLst>
          </a:prstGeom>
          <a:solidFill>
            <a:srgbClr val="EB6834"/>
          </a:solidFill>
          <a:ln w="12700">
            <a:solidFill>
              <a:srgbClr val="EB6834"/>
            </a:solidFill>
            <a:prstDash val="solid"/>
          </a:ln>
        </p:spPr>
      </p:sp>
      <p:sp>
        <p:nvSpPr>
          <p:cNvPr id="10" name="Text 8"/>
          <p:cNvSpPr txBox="1"/>
          <p:nvPr/>
        </p:nvSpPr>
        <p:spPr>
          <a:xfrm>
            <a:off x="685800" y="5074920"/>
            <a:ext cx="1508760" cy="256032"/>
          </a:xfrm>
          <a:prstGeom prst="rect">
            <a:avLst/>
          </a:prstGeom>
          <a:noFill/>
          <a:ln/>
        </p:spPr>
        <p:txBody>
          <a:bodyPr wrap="square" lIns="0" tIns="0" rIns="0" bIns="0" rtlCol="0" anchor="ctr"/>
          <a:lstStyle/>
          <a:p>
            <a:pPr algn="ctr" indent="0" marL="0">
              <a:buNone/>
            </a:pPr>
            <a:r>
              <a:rPr lang="en-US" sz="1000" b="1" dirty="0">
                <a:solidFill>
                  <a:schemeClr val="bg1"/>
                </a:solidFill>
              </a:rPr>
              <a:t>Requested</a:t>
            </a:r>
            <a:endParaRPr lang="en-US" sz="1000" dirty="0"/>
          </a:p>
        </p:txBody>
      </p:sp>
      <p:sp>
        <p:nvSpPr>
          <p:cNvPr id="11" name="Shape 9"/>
          <p:cNvSpPr/>
          <p:nvPr/>
        </p:nvSpPr>
        <p:spPr>
          <a:xfrm>
            <a:off x="2331720" y="5074920"/>
            <a:ext cx="1508760" cy="256032"/>
          </a:xfrm>
          <a:prstGeom prst="roundRect">
            <a:avLst>
              <a:gd name="adj" fmla="val 50000"/>
            </a:avLst>
          </a:prstGeom>
          <a:solidFill>
            <a:srgbClr val="2A78D6"/>
          </a:solidFill>
          <a:ln w="12700">
            <a:solidFill>
              <a:srgbClr val="2A78D6"/>
            </a:solidFill>
            <a:prstDash val="solid"/>
          </a:ln>
        </p:spPr>
      </p:sp>
      <p:sp>
        <p:nvSpPr>
          <p:cNvPr id="12" name="Text 10"/>
          <p:cNvSpPr txBox="1"/>
          <p:nvPr/>
        </p:nvSpPr>
        <p:spPr>
          <a:xfrm>
            <a:off x="2331720" y="5074920"/>
            <a:ext cx="1508760" cy="256032"/>
          </a:xfrm>
          <a:prstGeom prst="rect">
            <a:avLst/>
          </a:prstGeom>
          <a:noFill/>
          <a:ln/>
        </p:spPr>
        <p:txBody>
          <a:bodyPr wrap="square" lIns="0" tIns="0" rIns="0" bIns="0" rtlCol="0" anchor="ctr"/>
          <a:lstStyle/>
          <a:p>
            <a:pPr algn="ctr" indent="0" marL="0">
              <a:buNone/>
            </a:pPr>
            <a:r>
              <a:rPr lang="en-US" sz="1000" b="1" dirty="0">
                <a:solidFill>
                  <a:schemeClr val="bg1"/>
                </a:solidFill>
              </a:rPr>
              <a:t>Pending</a:t>
            </a:r>
            <a:endParaRPr lang="en-US" sz="1000" dirty="0"/>
          </a:p>
        </p:txBody>
      </p:sp>
      <p:sp>
        <p:nvSpPr>
          <p:cNvPr id="13" name="Shape 11"/>
          <p:cNvSpPr/>
          <p:nvPr/>
        </p:nvSpPr>
        <p:spPr>
          <a:xfrm>
            <a:off x="685800" y="5422392"/>
            <a:ext cx="1508760" cy="256032"/>
          </a:xfrm>
          <a:prstGeom prst="roundRect">
            <a:avLst>
              <a:gd name="adj" fmla="val 50000"/>
            </a:avLst>
          </a:prstGeom>
          <a:solidFill>
            <a:srgbClr val="1BAF7A"/>
          </a:solidFill>
          <a:ln w="12700">
            <a:solidFill>
              <a:srgbClr val="1BAF7A"/>
            </a:solidFill>
            <a:prstDash val="solid"/>
          </a:ln>
        </p:spPr>
      </p:sp>
      <p:sp>
        <p:nvSpPr>
          <p:cNvPr id="14" name="Text 12"/>
          <p:cNvSpPr txBox="1"/>
          <p:nvPr/>
        </p:nvSpPr>
        <p:spPr>
          <a:xfrm>
            <a:off x="685800" y="5422392"/>
            <a:ext cx="1508760" cy="256032"/>
          </a:xfrm>
          <a:prstGeom prst="rect">
            <a:avLst/>
          </a:prstGeom>
          <a:noFill/>
          <a:ln/>
        </p:spPr>
        <p:txBody>
          <a:bodyPr wrap="square" lIns="0" tIns="0" rIns="0" bIns="0" rtlCol="0" anchor="ctr"/>
          <a:lstStyle/>
          <a:p>
            <a:pPr algn="ctr" indent="0" marL="0">
              <a:buNone/>
            </a:pPr>
            <a:r>
              <a:rPr lang="en-US" sz="1000" b="1" dirty="0">
                <a:solidFill>
                  <a:schemeClr val="bg1"/>
                </a:solidFill>
              </a:rPr>
              <a:t>Verified</a:t>
            </a:r>
            <a:endParaRPr lang="en-US" sz="1000" dirty="0"/>
          </a:p>
        </p:txBody>
      </p:sp>
      <p:sp>
        <p:nvSpPr>
          <p:cNvPr id="15" name="Shape 13"/>
          <p:cNvSpPr/>
          <p:nvPr/>
        </p:nvSpPr>
        <p:spPr>
          <a:xfrm>
            <a:off x="2331720" y="5422392"/>
            <a:ext cx="1508760" cy="256032"/>
          </a:xfrm>
          <a:prstGeom prst="roundRect">
            <a:avLst>
              <a:gd name="adj" fmla="val 50000"/>
            </a:avLst>
          </a:prstGeom>
          <a:solidFill>
            <a:srgbClr val="DC2626"/>
          </a:solidFill>
          <a:ln w="12700">
            <a:solidFill>
              <a:srgbClr val="DC2626"/>
            </a:solidFill>
            <a:prstDash val="solid"/>
          </a:ln>
        </p:spPr>
      </p:sp>
      <p:sp>
        <p:nvSpPr>
          <p:cNvPr id="16" name="Text 14"/>
          <p:cNvSpPr txBox="1"/>
          <p:nvPr/>
        </p:nvSpPr>
        <p:spPr>
          <a:xfrm>
            <a:off x="2331720" y="5422392"/>
            <a:ext cx="1508760" cy="256032"/>
          </a:xfrm>
          <a:prstGeom prst="rect">
            <a:avLst/>
          </a:prstGeom>
          <a:noFill/>
          <a:ln/>
        </p:spPr>
        <p:txBody>
          <a:bodyPr wrap="square" lIns="0" tIns="0" rIns="0" bIns="0" rtlCol="0" anchor="ctr"/>
          <a:lstStyle/>
          <a:p>
            <a:pPr algn="ctr" indent="0" marL="0">
              <a:buNone/>
            </a:pPr>
            <a:r>
              <a:rPr lang="en-US" sz="1000" b="1" dirty="0">
                <a:solidFill>
                  <a:schemeClr val="bg1"/>
                </a:solidFill>
              </a:rPr>
              <a:t>Rejected</a:t>
            </a:r>
            <a:endParaRPr lang="en-US" sz="1000" dirty="0"/>
          </a:p>
        </p:txBody>
      </p:sp>
      <p:sp>
        <p:nvSpPr>
          <p:cNvPr id="17" name="Text 15"/>
          <p:cNvSpPr txBox="1"/>
          <p:nvPr/>
        </p:nvSpPr>
        <p:spPr>
          <a:xfrm>
            <a:off x="685800" y="5806440"/>
            <a:ext cx="3291840" cy="365760"/>
          </a:xfrm>
          <a:prstGeom prst="rect">
            <a:avLst/>
          </a:prstGeom>
          <a:noFill/>
          <a:ln/>
        </p:spPr>
        <p:txBody>
          <a:bodyPr wrap="square" lIns="0" tIns="0" rIns="0" bIns="0" rtlCol="0" anchor="t"/>
          <a:lstStyle/>
          <a:p>
            <a:pPr indent="0" marL="0">
              <a:buNone/>
            </a:pPr>
            <a:r>
              <a:rPr lang="en-US" sz="1000" dirty="0">
                <a:solidFill>
                  <a:srgbClr val="5F6470"/>
                </a:solidFill>
              </a:rPr>
              <a:t>Upload → staff verify / reject (with reason) → all required verified → return moves to Draft</a:t>
            </a:r>
            <a:endParaRPr lang="en-US" sz="1000" dirty="0"/>
          </a:p>
        </p:txBody>
      </p:sp>
      <p:sp>
        <p:nvSpPr>
          <p:cNvPr id="18" name="Shape 16"/>
          <p:cNvSpPr/>
          <p:nvPr/>
        </p:nvSpPr>
        <p:spPr>
          <a:xfrm>
            <a:off x="4389120" y="1737360"/>
            <a:ext cx="7296912" cy="4480560"/>
          </a:xfrm>
          <a:prstGeom prst="roundRect">
            <a:avLst>
              <a:gd name="adj" fmla="val 1633"/>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19" name="Text 17"/>
          <p:cNvSpPr txBox="1"/>
          <p:nvPr/>
        </p:nvSpPr>
        <p:spPr>
          <a:xfrm>
            <a:off x="4572000" y="1856232"/>
            <a:ext cx="6858000" cy="274320"/>
          </a:xfrm>
          <a:prstGeom prst="rect">
            <a:avLst/>
          </a:prstGeom>
          <a:noFill/>
          <a:ln/>
        </p:spPr>
        <p:txBody>
          <a:bodyPr wrap="square" lIns="0" tIns="0" rIns="0" bIns="0" rtlCol="0" anchor="t"/>
          <a:lstStyle/>
          <a:p>
            <a:pPr indent="0" marL="0">
              <a:buNone/>
            </a:pPr>
            <a:r>
              <a:rPr lang="en-US" sz="1400" b="1" dirty="0">
                <a:solidFill>
                  <a:schemeClr val="tx2"/>
                </a:solidFill>
              </a:rPr>
              <a:t>Generated documents  ·  19 issued</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0" y="2212848"/>
          <a:ext cx="6931152" cy="914400"/>
        </p:xfrm>
        <a:graphic>
          <a:graphicData uri="http://schemas.openxmlformats.org/drawingml/2006/table">
            <a:tbl>
              <a:tblPr/>
              <a:tblGrid>
                <a:gridCol w="2286000"/>
                <a:gridCol w="1188720"/>
                <a:gridCol w="3456432"/>
              </a:tblGrid>
              <a:tr h="0">
                <a:tc>
                  <a:txBody>
                    <a:bodyPr/>
                    <a:lstStyle/>
                    <a:p>
                      <a:pPr indent="0" marL="0">
                        <a:buNone/>
                      </a:pPr>
                      <a:r>
                        <a:rPr lang="en-US" sz="1100" b="1" dirty="0">
                          <a:solidFill>
                            <a:srgbClr val="D4AF37"/>
                          </a:solidFill>
                        </a:rPr>
                        <a:t>Document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indent="0" marL="0">
                        <a:buNone/>
                      </a:pPr>
                      <a:r>
                        <a:rPr lang="en-US" sz="1100" b="1" dirty="0">
                          <a:solidFill>
                            <a:srgbClr val="D4AF37"/>
                          </a:solidFill>
                        </a:rPr>
                        <a:t>From</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indent="0" marL="0">
                        <a:buNone/>
                      </a:pPr>
                      <a:r>
                        <a:rPr lang="en-US" sz="1100" b="1" dirty="0">
                          <a:solidFill>
                            <a:srgbClr val="D4AF37"/>
                          </a:solidFill>
                        </a:rPr>
                        <a:t>Purpose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r>
              <a:tr h="0">
                <a:tc>
                  <a:txBody>
                    <a:bodyPr/>
                    <a:lstStyle/>
                    <a:p>
                      <a:pPr indent="0" marL="0">
                        <a:buNone/>
                      </a:pPr>
                      <a:r>
                        <a:rPr lang="en-US" sz="1100" b="1" dirty="0">
                          <a:solidFill>
                            <a:schemeClr val="tx1"/>
                          </a:solidFill>
                        </a:rPr>
                        <a:t>Authority Letter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Client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Lets the firm file on IRIS for the client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b="1" dirty="0">
                          <a:solidFill>
                            <a:schemeClr val="tx1"/>
                          </a:solidFill>
                        </a:rPr>
                        <a:t>Engagement Letter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Engagement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Scope, fee and what is needed</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b="1" dirty="0">
                          <a:solidFill>
                            <a:schemeClr val="tx1"/>
                          </a:solidFill>
                        </a:rPr>
                        <a:t>Document Checklist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Return</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Every document, with what is missing</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b="1" dirty="0">
                          <a:solidFill>
                            <a:schemeClr val="tx1"/>
                          </a:solidFill>
                        </a:rPr>
                        <a:t>Tax Computation Summary</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Return</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Income, tax, refund or payable on one page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b="1" dirty="0">
                          <a:solidFill>
                            <a:schemeClr val="tx1"/>
                          </a:solidFill>
                        </a:rPr>
                        <a:t>Wealth Statement Summary</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Return</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Assets, liabilities and net wealth</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b="1" dirty="0">
                          <a:solidFill>
                            <a:schemeClr val="tx1"/>
                          </a:solidFill>
                        </a:rPr>
                        <a:t>Withholding Certificate Request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Return</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Ready letter to employer or bank</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b="1" dirty="0">
                          <a:solidFill>
                            <a:schemeClr val="tx1"/>
                          </a:solidFill>
                        </a:rPr>
                        <a:t>Filing Confirmation</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Return</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Only after the IRIS acknowledgment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b="1" dirty="0">
                          <a:solidFill>
                            <a:schemeClr val="tx1"/>
                          </a:solidFill>
                        </a:rPr>
                        <a:t>Tax Planning Report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Scenario</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What-if vs this year and last year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bl>
          </a:graphicData>
        </a:graphic>
      </p:graphicFrame>
      <p:sp>
        <p:nvSpPr>
          <p:cNvPr id="21" name="Text 18"/>
          <p:cNvSpPr txBox="1"/>
          <p:nvPr/>
        </p:nvSpPr>
        <p:spPr>
          <a:xfrm>
            <a:off x="4572000" y="5532120"/>
            <a:ext cx="6858000" cy="548640"/>
          </a:xfrm>
          <a:prstGeom prst="rect">
            <a:avLst/>
          </a:prstGeom>
          <a:noFill/>
          <a:ln/>
        </p:spPr>
        <p:txBody>
          <a:bodyPr wrap="square" lIns="0" tIns="0" rIns="0" bIns="0" rtlCol="0" anchor="t"/>
          <a:lstStyle/>
          <a:p>
            <a:pPr indent="0" marL="0">
              <a:buNone/>
            </a:pPr>
            <a:r>
              <a:rPr lang="en-US" sz="1100" i="1" dirty="0">
                <a:solidFill>
                  <a:srgbClr val="5F6470"/>
                </a:solidFill>
              </a:rPr>
              <a:t>Jinja print formats on the firm letterhead, rendered to PDF, versioned (v1, v2 …) and stored privately; clients download them from their vault.</a:t>
            </a:r>
            <a:endParaRPr lang="en-US" sz="11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MODULE 04  ·  TAX ENGINE</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How a return's tax is calculated</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Worked example: TAX-RET-2026-00006 · Usman Ghani (test) · TY2026 · Salaried Individual · demo rates</a:t>
            </a:r>
            <a:endParaRPr lang="en-US" sz="1300" dirty="0"/>
          </a:p>
        </p:txBody>
      </p:sp>
      <p:sp>
        <p:nvSpPr>
          <p:cNvPr id="5" name="Shape 3"/>
          <p:cNvSpPr/>
          <p:nvPr/>
        </p:nvSpPr>
        <p:spPr>
          <a:xfrm>
            <a:off x="502920" y="1737360"/>
            <a:ext cx="5852160" cy="4480560"/>
          </a:xfrm>
          <a:prstGeom prst="roundRect">
            <a:avLst>
              <a:gd name="adj" fmla="val 1633"/>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6" name="Shape 4"/>
          <p:cNvSpPr/>
          <p:nvPr/>
        </p:nvSpPr>
        <p:spPr>
          <a:xfrm>
            <a:off x="777240" y="1947672"/>
            <a:ext cx="256032" cy="256032"/>
          </a:xfrm>
          <a:prstGeom prst="ellipse">
            <a:avLst/>
          </a:prstGeom>
          <a:solidFill>
            <a:srgbClr val="D4AF37"/>
          </a:solidFill>
          <a:ln w="12700">
            <a:solidFill>
              <a:srgbClr val="D4AF37"/>
            </a:solidFill>
            <a:prstDash val="solid"/>
          </a:ln>
        </p:spPr>
      </p:sp>
      <p:sp>
        <p:nvSpPr>
          <p:cNvPr id="7" name="Text 5"/>
          <p:cNvSpPr txBox="1"/>
          <p:nvPr/>
        </p:nvSpPr>
        <p:spPr>
          <a:xfrm>
            <a:off x="777240" y="194767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8" name="Text 6"/>
          <p:cNvSpPr txBox="1"/>
          <p:nvPr/>
        </p:nvSpPr>
        <p:spPr>
          <a:xfrm>
            <a:off x="1188720" y="1901952"/>
            <a:ext cx="3291840" cy="347472"/>
          </a:xfrm>
          <a:prstGeom prst="rect">
            <a:avLst/>
          </a:prstGeom>
          <a:noFill/>
          <a:ln/>
        </p:spPr>
        <p:txBody>
          <a:bodyPr wrap="square" lIns="0" tIns="0" rIns="0" bIns="0" rtlCol="0" anchor="ctr"/>
          <a:lstStyle/>
          <a:p>
            <a:pPr indent="0" marL="0">
              <a:buNone/>
            </a:pPr>
            <a:r>
              <a:rPr lang="en-US" sz="1300" dirty="0">
                <a:solidFill>
                  <a:schemeClr val="tx1"/>
                </a:solidFill>
              </a:rPr>
              <a:t>Total income</a:t>
            </a:r>
            <a:endParaRPr lang="en-US" sz="1300" dirty="0"/>
          </a:p>
        </p:txBody>
      </p:sp>
      <p:sp>
        <p:nvSpPr>
          <p:cNvPr id="9" name="Text 7"/>
          <p:cNvSpPr txBox="1"/>
          <p:nvPr/>
        </p:nvSpPr>
        <p:spPr>
          <a:xfrm>
            <a:off x="4343400" y="1901952"/>
            <a:ext cx="1737360" cy="347472"/>
          </a:xfrm>
          <a:prstGeom prst="rect">
            <a:avLst/>
          </a:prstGeom>
          <a:noFill/>
          <a:ln/>
        </p:spPr>
        <p:txBody>
          <a:bodyPr wrap="square" lIns="0" tIns="0" rIns="0" bIns="0" rtlCol="0" anchor="ctr"/>
          <a:lstStyle/>
          <a:p>
            <a:pPr algn="r" indent="0" marL="0">
              <a:buNone/>
            </a:pPr>
            <a:r>
              <a:rPr lang="en-US" sz="1300" dirty="0">
                <a:solidFill>
                  <a:schemeClr val="tx1"/>
                </a:solidFill>
              </a:rPr>
              <a:t>Rs 3,117,000</a:t>
            </a:r>
            <a:endParaRPr lang="en-US" sz="1300" dirty="0"/>
          </a:p>
        </p:txBody>
      </p:sp>
      <p:sp>
        <p:nvSpPr>
          <p:cNvPr id="10" name="Shape 8"/>
          <p:cNvSpPr/>
          <p:nvPr/>
        </p:nvSpPr>
        <p:spPr>
          <a:xfrm>
            <a:off x="777240" y="2404872"/>
            <a:ext cx="256032" cy="256032"/>
          </a:xfrm>
          <a:prstGeom prst="ellipse">
            <a:avLst/>
          </a:prstGeom>
          <a:solidFill>
            <a:srgbClr val="1BAF7A"/>
          </a:solidFill>
          <a:ln w="12700">
            <a:solidFill>
              <a:srgbClr val="D4AF37"/>
            </a:solidFill>
            <a:prstDash val="solid"/>
          </a:ln>
        </p:spPr>
      </p:sp>
      <p:sp>
        <p:nvSpPr>
          <p:cNvPr id="11" name="Text 9"/>
          <p:cNvSpPr txBox="1"/>
          <p:nvPr/>
        </p:nvSpPr>
        <p:spPr>
          <a:xfrm>
            <a:off x="777240" y="240487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2" name="Text 10"/>
          <p:cNvSpPr txBox="1"/>
          <p:nvPr/>
        </p:nvSpPr>
        <p:spPr>
          <a:xfrm>
            <a:off x="1188720" y="2359152"/>
            <a:ext cx="3291840" cy="347472"/>
          </a:xfrm>
          <a:prstGeom prst="rect">
            <a:avLst/>
          </a:prstGeom>
          <a:noFill/>
          <a:ln/>
        </p:spPr>
        <p:txBody>
          <a:bodyPr wrap="square" lIns="0" tIns="0" rIns="0" bIns="0" rtlCol="0" anchor="ctr"/>
          <a:lstStyle/>
          <a:p>
            <a:pPr indent="0" marL="0">
              <a:buNone/>
            </a:pPr>
            <a:r>
              <a:rPr lang="en-US" sz="1300" dirty="0">
                <a:solidFill>
                  <a:schemeClr val="tx1"/>
                </a:solidFill>
              </a:rPr>
              <a:t>Deductible allowances</a:t>
            </a:r>
            <a:endParaRPr lang="en-US" sz="1300" dirty="0"/>
          </a:p>
        </p:txBody>
      </p:sp>
      <p:sp>
        <p:nvSpPr>
          <p:cNvPr id="13" name="Text 11"/>
          <p:cNvSpPr txBox="1"/>
          <p:nvPr/>
        </p:nvSpPr>
        <p:spPr>
          <a:xfrm>
            <a:off x="4343400" y="2359152"/>
            <a:ext cx="1737360" cy="347472"/>
          </a:xfrm>
          <a:prstGeom prst="rect">
            <a:avLst/>
          </a:prstGeom>
          <a:noFill/>
          <a:ln/>
        </p:spPr>
        <p:txBody>
          <a:bodyPr wrap="square" lIns="0" tIns="0" rIns="0" bIns="0" rtlCol="0" anchor="ctr"/>
          <a:lstStyle/>
          <a:p>
            <a:pPr algn="r" indent="0" marL="0">
              <a:buNone/>
            </a:pPr>
            <a:r>
              <a:rPr lang="en-US" sz="1300" dirty="0">
                <a:solidFill>
                  <a:schemeClr val="tx1"/>
                </a:solidFill>
              </a:rPr>
              <a:t>Rs 31,250</a:t>
            </a:r>
            <a:endParaRPr lang="en-US" sz="1300" dirty="0"/>
          </a:p>
        </p:txBody>
      </p:sp>
      <p:sp>
        <p:nvSpPr>
          <p:cNvPr id="14" name="Shape 12"/>
          <p:cNvSpPr/>
          <p:nvPr/>
        </p:nvSpPr>
        <p:spPr>
          <a:xfrm>
            <a:off x="640080" y="2779776"/>
            <a:ext cx="5577840" cy="402336"/>
          </a:xfrm>
          <a:prstGeom prst="roundRect">
            <a:avLst>
              <a:gd name="adj" fmla="val 13636"/>
            </a:avLst>
          </a:prstGeom>
          <a:solidFill>
            <a:srgbClr val="F3F1EA"/>
          </a:solidFill>
          <a:ln w="12700">
            <a:solidFill>
              <a:srgbClr val="F3F1EA"/>
            </a:solidFill>
            <a:prstDash val="solid"/>
          </a:ln>
        </p:spPr>
      </p:sp>
      <p:sp>
        <p:nvSpPr>
          <p:cNvPr id="15" name="Shape 13"/>
          <p:cNvSpPr/>
          <p:nvPr/>
        </p:nvSpPr>
        <p:spPr>
          <a:xfrm>
            <a:off x="777240" y="2862072"/>
            <a:ext cx="256032" cy="256032"/>
          </a:xfrm>
          <a:prstGeom prst="ellipse">
            <a:avLst/>
          </a:prstGeom>
          <a:solidFill>
            <a:srgbClr val="A8811F"/>
          </a:solidFill>
          <a:ln w="12700">
            <a:solidFill>
              <a:srgbClr val="D4AF37"/>
            </a:solidFill>
            <a:prstDash val="solid"/>
          </a:ln>
        </p:spPr>
      </p:sp>
      <p:sp>
        <p:nvSpPr>
          <p:cNvPr id="16" name="Text 14"/>
          <p:cNvSpPr txBox="1"/>
          <p:nvPr/>
        </p:nvSpPr>
        <p:spPr>
          <a:xfrm>
            <a:off x="777240" y="286207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7" name="Text 15"/>
          <p:cNvSpPr txBox="1"/>
          <p:nvPr/>
        </p:nvSpPr>
        <p:spPr>
          <a:xfrm>
            <a:off x="1188720" y="2816352"/>
            <a:ext cx="3291840" cy="347472"/>
          </a:xfrm>
          <a:prstGeom prst="rect">
            <a:avLst/>
          </a:prstGeom>
          <a:noFill/>
          <a:ln/>
        </p:spPr>
        <p:txBody>
          <a:bodyPr wrap="square" lIns="0" tIns="0" rIns="0" bIns="0" rtlCol="0" anchor="ctr"/>
          <a:lstStyle/>
          <a:p>
            <a:pPr indent="0" marL="0">
              <a:buNone/>
            </a:pPr>
            <a:r>
              <a:rPr lang="en-US" sz="1300" b="1" dirty="0">
                <a:solidFill>
                  <a:schemeClr val="tx1"/>
                </a:solidFill>
              </a:rPr>
              <a:t>Taxable income (normal)</a:t>
            </a:r>
            <a:endParaRPr lang="en-US" sz="1300" dirty="0"/>
          </a:p>
        </p:txBody>
      </p:sp>
      <p:sp>
        <p:nvSpPr>
          <p:cNvPr id="18" name="Text 16"/>
          <p:cNvSpPr txBox="1"/>
          <p:nvPr/>
        </p:nvSpPr>
        <p:spPr>
          <a:xfrm>
            <a:off x="4343400" y="2816352"/>
            <a:ext cx="1737360" cy="347472"/>
          </a:xfrm>
          <a:prstGeom prst="rect">
            <a:avLst/>
          </a:prstGeom>
          <a:noFill/>
          <a:ln/>
        </p:spPr>
        <p:txBody>
          <a:bodyPr wrap="square" lIns="0" tIns="0" rIns="0" bIns="0" rtlCol="0" anchor="ctr"/>
          <a:lstStyle/>
          <a:p>
            <a:pPr algn="r" indent="0" marL="0">
              <a:buNone/>
            </a:pPr>
            <a:r>
              <a:rPr lang="en-US" sz="1300" b="1" dirty="0">
                <a:solidFill>
                  <a:schemeClr val="tx1"/>
                </a:solidFill>
              </a:rPr>
              <a:t>Rs 2,968,750</a:t>
            </a:r>
            <a:endParaRPr lang="en-US" sz="1300" dirty="0"/>
          </a:p>
        </p:txBody>
      </p:sp>
      <p:sp>
        <p:nvSpPr>
          <p:cNvPr id="19" name="Shape 17"/>
          <p:cNvSpPr/>
          <p:nvPr/>
        </p:nvSpPr>
        <p:spPr>
          <a:xfrm>
            <a:off x="777240" y="3319272"/>
            <a:ext cx="256032" cy="256032"/>
          </a:xfrm>
          <a:prstGeom prst="ellipse">
            <a:avLst/>
          </a:prstGeom>
          <a:solidFill>
            <a:srgbClr val="D4AF37"/>
          </a:solidFill>
          <a:ln w="12700">
            <a:solidFill>
              <a:srgbClr val="D4AF37"/>
            </a:solidFill>
            <a:prstDash val="solid"/>
          </a:ln>
        </p:spPr>
      </p:sp>
      <p:sp>
        <p:nvSpPr>
          <p:cNvPr id="20" name="Text 18"/>
          <p:cNvSpPr txBox="1"/>
          <p:nvPr/>
        </p:nvSpPr>
        <p:spPr>
          <a:xfrm>
            <a:off x="777240" y="331927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21" name="Text 19"/>
          <p:cNvSpPr txBox="1"/>
          <p:nvPr/>
        </p:nvSpPr>
        <p:spPr>
          <a:xfrm>
            <a:off x="1188720" y="3273552"/>
            <a:ext cx="3291840" cy="347472"/>
          </a:xfrm>
          <a:prstGeom prst="rect">
            <a:avLst/>
          </a:prstGeom>
          <a:noFill/>
          <a:ln/>
        </p:spPr>
        <p:txBody>
          <a:bodyPr wrap="square" lIns="0" tIns="0" rIns="0" bIns="0" rtlCol="0" anchor="ctr"/>
          <a:lstStyle/>
          <a:p>
            <a:pPr indent="0" marL="0">
              <a:buNone/>
            </a:pPr>
            <a:r>
              <a:rPr lang="en-US" sz="1300" dirty="0">
                <a:solidFill>
                  <a:schemeClr val="tx1"/>
                </a:solidFill>
              </a:rPr>
              <a:t>Tax on taxable income (slab)</a:t>
            </a:r>
            <a:endParaRPr lang="en-US" sz="1300" dirty="0"/>
          </a:p>
        </p:txBody>
      </p:sp>
      <p:sp>
        <p:nvSpPr>
          <p:cNvPr id="22" name="Text 20"/>
          <p:cNvSpPr txBox="1"/>
          <p:nvPr/>
        </p:nvSpPr>
        <p:spPr>
          <a:xfrm>
            <a:off x="4343400" y="3273552"/>
            <a:ext cx="1737360" cy="347472"/>
          </a:xfrm>
          <a:prstGeom prst="rect">
            <a:avLst/>
          </a:prstGeom>
          <a:noFill/>
          <a:ln/>
        </p:spPr>
        <p:txBody>
          <a:bodyPr wrap="square" lIns="0" tIns="0" rIns="0" bIns="0" rtlCol="0" anchor="ctr"/>
          <a:lstStyle/>
          <a:p>
            <a:pPr algn="r" indent="0" marL="0">
              <a:buNone/>
            </a:pPr>
            <a:r>
              <a:rPr lang="en-US" sz="1300" dirty="0">
                <a:solidFill>
                  <a:schemeClr val="tx1"/>
                </a:solidFill>
              </a:rPr>
              <a:t>Rs 292,812.5</a:t>
            </a:r>
            <a:endParaRPr lang="en-US" sz="1300" dirty="0"/>
          </a:p>
        </p:txBody>
      </p:sp>
      <p:sp>
        <p:nvSpPr>
          <p:cNvPr id="23" name="Shape 21"/>
          <p:cNvSpPr/>
          <p:nvPr/>
        </p:nvSpPr>
        <p:spPr>
          <a:xfrm>
            <a:off x="777240" y="3776472"/>
            <a:ext cx="256032" cy="256032"/>
          </a:xfrm>
          <a:prstGeom prst="ellipse">
            <a:avLst/>
          </a:prstGeom>
          <a:solidFill>
            <a:srgbClr val="D4AF37"/>
          </a:solidFill>
          <a:ln w="12700">
            <a:solidFill>
              <a:srgbClr val="D4AF37"/>
            </a:solidFill>
            <a:prstDash val="solid"/>
          </a:ln>
        </p:spPr>
      </p:sp>
      <p:sp>
        <p:nvSpPr>
          <p:cNvPr id="24" name="Text 22"/>
          <p:cNvSpPr txBox="1"/>
          <p:nvPr/>
        </p:nvSpPr>
        <p:spPr>
          <a:xfrm>
            <a:off x="777240" y="377647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25" name="Text 23"/>
          <p:cNvSpPr txBox="1"/>
          <p:nvPr/>
        </p:nvSpPr>
        <p:spPr>
          <a:xfrm>
            <a:off x="1188720" y="3730752"/>
            <a:ext cx="3291840" cy="347472"/>
          </a:xfrm>
          <a:prstGeom prst="rect">
            <a:avLst/>
          </a:prstGeom>
          <a:noFill/>
          <a:ln/>
        </p:spPr>
        <p:txBody>
          <a:bodyPr wrap="square" lIns="0" tIns="0" rIns="0" bIns="0" rtlCol="0" anchor="ctr"/>
          <a:lstStyle/>
          <a:p>
            <a:pPr indent="0" marL="0">
              <a:buNone/>
            </a:pPr>
            <a:r>
              <a:rPr lang="en-US" sz="1300" dirty="0">
                <a:solidFill>
                  <a:schemeClr val="tx1"/>
                </a:solidFill>
              </a:rPr>
              <a:t>Final / separate-block tax</a:t>
            </a:r>
            <a:endParaRPr lang="en-US" sz="1300" dirty="0"/>
          </a:p>
        </p:txBody>
      </p:sp>
      <p:sp>
        <p:nvSpPr>
          <p:cNvPr id="26" name="Text 24"/>
          <p:cNvSpPr txBox="1"/>
          <p:nvPr/>
        </p:nvSpPr>
        <p:spPr>
          <a:xfrm>
            <a:off x="4343400" y="3730752"/>
            <a:ext cx="1737360" cy="347472"/>
          </a:xfrm>
          <a:prstGeom prst="rect">
            <a:avLst/>
          </a:prstGeom>
          <a:noFill/>
          <a:ln/>
        </p:spPr>
        <p:txBody>
          <a:bodyPr wrap="square" lIns="0" tIns="0" rIns="0" bIns="0" rtlCol="0" anchor="ctr"/>
          <a:lstStyle/>
          <a:p>
            <a:pPr algn="r" indent="0" marL="0">
              <a:buNone/>
            </a:pPr>
            <a:r>
              <a:rPr lang="en-US" sz="1300" dirty="0">
                <a:solidFill>
                  <a:schemeClr val="tx1"/>
                </a:solidFill>
              </a:rPr>
              <a:t>Rs 17,550</a:t>
            </a:r>
            <a:endParaRPr lang="en-US" sz="1300" dirty="0"/>
          </a:p>
        </p:txBody>
      </p:sp>
      <p:sp>
        <p:nvSpPr>
          <p:cNvPr id="27" name="Shape 25"/>
          <p:cNvSpPr/>
          <p:nvPr/>
        </p:nvSpPr>
        <p:spPr>
          <a:xfrm>
            <a:off x="777240" y="4233672"/>
            <a:ext cx="256032" cy="256032"/>
          </a:xfrm>
          <a:prstGeom prst="ellipse">
            <a:avLst/>
          </a:prstGeom>
          <a:solidFill>
            <a:srgbClr val="1BAF7A"/>
          </a:solidFill>
          <a:ln w="12700">
            <a:solidFill>
              <a:srgbClr val="D4AF37"/>
            </a:solidFill>
            <a:prstDash val="solid"/>
          </a:ln>
        </p:spPr>
      </p:sp>
      <p:sp>
        <p:nvSpPr>
          <p:cNvPr id="28" name="Text 26"/>
          <p:cNvSpPr txBox="1"/>
          <p:nvPr/>
        </p:nvSpPr>
        <p:spPr>
          <a:xfrm>
            <a:off x="777240" y="423367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29" name="Text 27"/>
          <p:cNvSpPr txBox="1"/>
          <p:nvPr/>
        </p:nvSpPr>
        <p:spPr>
          <a:xfrm>
            <a:off x="1188720" y="4187952"/>
            <a:ext cx="3291840" cy="347472"/>
          </a:xfrm>
          <a:prstGeom prst="rect">
            <a:avLst/>
          </a:prstGeom>
          <a:noFill/>
          <a:ln/>
        </p:spPr>
        <p:txBody>
          <a:bodyPr wrap="square" lIns="0" tIns="0" rIns="0" bIns="0" rtlCol="0" anchor="ctr"/>
          <a:lstStyle/>
          <a:p>
            <a:pPr indent="0" marL="0">
              <a:buNone/>
            </a:pPr>
            <a:r>
              <a:rPr lang="en-US" sz="1300" dirty="0">
                <a:solidFill>
                  <a:schemeClr val="tx1"/>
                </a:solidFill>
              </a:rPr>
              <a:t>Tax credits</a:t>
            </a:r>
            <a:endParaRPr lang="en-US" sz="1300" dirty="0"/>
          </a:p>
        </p:txBody>
      </p:sp>
      <p:sp>
        <p:nvSpPr>
          <p:cNvPr id="30" name="Text 28"/>
          <p:cNvSpPr txBox="1"/>
          <p:nvPr/>
        </p:nvSpPr>
        <p:spPr>
          <a:xfrm>
            <a:off x="4343400" y="4187952"/>
            <a:ext cx="1737360" cy="347472"/>
          </a:xfrm>
          <a:prstGeom prst="rect">
            <a:avLst/>
          </a:prstGeom>
          <a:noFill/>
          <a:ln/>
        </p:spPr>
        <p:txBody>
          <a:bodyPr wrap="square" lIns="0" tIns="0" rIns="0" bIns="0" rtlCol="0" anchor="ctr"/>
          <a:lstStyle/>
          <a:p>
            <a:pPr algn="r" indent="0" marL="0">
              <a:buNone/>
            </a:pPr>
            <a:r>
              <a:rPr lang="en-US" sz="1300" dirty="0">
                <a:solidFill>
                  <a:schemeClr val="tx1"/>
                </a:solidFill>
              </a:rPr>
              <a:t>Rs 4,930</a:t>
            </a:r>
            <a:endParaRPr lang="en-US" sz="1300" dirty="0"/>
          </a:p>
        </p:txBody>
      </p:sp>
      <p:sp>
        <p:nvSpPr>
          <p:cNvPr id="31" name="Shape 29"/>
          <p:cNvSpPr/>
          <p:nvPr/>
        </p:nvSpPr>
        <p:spPr>
          <a:xfrm>
            <a:off x="640080" y="4608576"/>
            <a:ext cx="5577840" cy="402336"/>
          </a:xfrm>
          <a:prstGeom prst="roundRect">
            <a:avLst>
              <a:gd name="adj" fmla="val 13636"/>
            </a:avLst>
          </a:prstGeom>
          <a:solidFill>
            <a:srgbClr val="F3F1EA"/>
          </a:solidFill>
          <a:ln w="12700">
            <a:solidFill>
              <a:srgbClr val="F3F1EA"/>
            </a:solidFill>
            <a:prstDash val="solid"/>
          </a:ln>
        </p:spPr>
      </p:sp>
      <p:sp>
        <p:nvSpPr>
          <p:cNvPr id="32" name="Shape 30"/>
          <p:cNvSpPr/>
          <p:nvPr/>
        </p:nvSpPr>
        <p:spPr>
          <a:xfrm>
            <a:off x="777240" y="4690872"/>
            <a:ext cx="256032" cy="256032"/>
          </a:xfrm>
          <a:prstGeom prst="ellipse">
            <a:avLst/>
          </a:prstGeom>
          <a:solidFill>
            <a:srgbClr val="A8811F"/>
          </a:solidFill>
          <a:ln w="12700">
            <a:solidFill>
              <a:srgbClr val="D4AF37"/>
            </a:solidFill>
            <a:prstDash val="solid"/>
          </a:ln>
        </p:spPr>
      </p:sp>
      <p:sp>
        <p:nvSpPr>
          <p:cNvPr id="33" name="Text 31"/>
          <p:cNvSpPr txBox="1"/>
          <p:nvPr/>
        </p:nvSpPr>
        <p:spPr>
          <a:xfrm>
            <a:off x="777240" y="469087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34" name="Text 32"/>
          <p:cNvSpPr txBox="1"/>
          <p:nvPr/>
        </p:nvSpPr>
        <p:spPr>
          <a:xfrm>
            <a:off x="1188720" y="4645152"/>
            <a:ext cx="3291840" cy="347472"/>
          </a:xfrm>
          <a:prstGeom prst="rect">
            <a:avLst/>
          </a:prstGeom>
          <a:noFill/>
          <a:ln/>
        </p:spPr>
        <p:txBody>
          <a:bodyPr wrap="square" lIns="0" tIns="0" rIns="0" bIns="0" rtlCol="0" anchor="ctr"/>
          <a:lstStyle/>
          <a:p>
            <a:pPr indent="0" marL="0">
              <a:buNone/>
            </a:pPr>
            <a:r>
              <a:rPr lang="en-US" sz="1300" b="1" dirty="0">
                <a:solidFill>
                  <a:schemeClr val="tx1"/>
                </a:solidFill>
              </a:rPr>
              <a:t>Tax liability</a:t>
            </a:r>
            <a:endParaRPr lang="en-US" sz="1300" dirty="0"/>
          </a:p>
        </p:txBody>
      </p:sp>
      <p:sp>
        <p:nvSpPr>
          <p:cNvPr id="35" name="Text 33"/>
          <p:cNvSpPr txBox="1"/>
          <p:nvPr/>
        </p:nvSpPr>
        <p:spPr>
          <a:xfrm>
            <a:off x="4343400" y="4645152"/>
            <a:ext cx="1737360" cy="347472"/>
          </a:xfrm>
          <a:prstGeom prst="rect">
            <a:avLst/>
          </a:prstGeom>
          <a:noFill/>
          <a:ln/>
        </p:spPr>
        <p:txBody>
          <a:bodyPr wrap="square" lIns="0" tIns="0" rIns="0" bIns="0" rtlCol="0" anchor="ctr"/>
          <a:lstStyle/>
          <a:p>
            <a:pPr algn="r" indent="0" marL="0">
              <a:buNone/>
            </a:pPr>
            <a:r>
              <a:rPr lang="en-US" sz="1300" b="1" dirty="0">
                <a:solidFill>
                  <a:schemeClr val="tx1"/>
                </a:solidFill>
              </a:rPr>
              <a:t>Rs 305,432.5</a:t>
            </a:r>
            <a:endParaRPr lang="en-US" sz="1300" dirty="0"/>
          </a:p>
        </p:txBody>
      </p:sp>
      <p:sp>
        <p:nvSpPr>
          <p:cNvPr id="36" name="Shape 34"/>
          <p:cNvSpPr/>
          <p:nvPr/>
        </p:nvSpPr>
        <p:spPr>
          <a:xfrm>
            <a:off x="777240" y="5148072"/>
            <a:ext cx="256032" cy="256032"/>
          </a:xfrm>
          <a:prstGeom prst="ellipse">
            <a:avLst/>
          </a:prstGeom>
          <a:solidFill>
            <a:srgbClr val="1BAF7A"/>
          </a:solidFill>
          <a:ln w="12700">
            <a:solidFill>
              <a:srgbClr val="D4AF37"/>
            </a:solidFill>
            <a:prstDash val="solid"/>
          </a:ln>
        </p:spPr>
      </p:sp>
      <p:sp>
        <p:nvSpPr>
          <p:cNvPr id="37" name="Text 35"/>
          <p:cNvSpPr txBox="1"/>
          <p:nvPr/>
        </p:nvSpPr>
        <p:spPr>
          <a:xfrm>
            <a:off x="777240" y="514807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38" name="Text 36"/>
          <p:cNvSpPr txBox="1"/>
          <p:nvPr/>
        </p:nvSpPr>
        <p:spPr>
          <a:xfrm>
            <a:off x="1188720" y="5102352"/>
            <a:ext cx="3291840" cy="347472"/>
          </a:xfrm>
          <a:prstGeom prst="rect">
            <a:avLst/>
          </a:prstGeom>
          <a:noFill/>
          <a:ln/>
        </p:spPr>
        <p:txBody>
          <a:bodyPr wrap="square" lIns="0" tIns="0" rIns="0" bIns="0" rtlCol="0" anchor="ctr"/>
          <a:lstStyle/>
          <a:p>
            <a:pPr indent="0" marL="0">
              <a:buNone/>
            </a:pPr>
            <a:r>
              <a:rPr lang="en-US" sz="1300" dirty="0">
                <a:solidFill>
                  <a:schemeClr val="tx1"/>
                </a:solidFill>
              </a:rPr>
              <a:t>Tax withheld / advance tax</a:t>
            </a:r>
            <a:endParaRPr lang="en-US" sz="1300" dirty="0"/>
          </a:p>
        </p:txBody>
      </p:sp>
      <p:sp>
        <p:nvSpPr>
          <p:cNvPr id="39" name="Text 37"/>
          <p:cNvSpPr txBox="1"/>
          <p:nvPr/>
        </p:nvSpPr>
        <p:spPr>
          <a:xfrm>
            <a:off x="4343400" y="5102352"/>
            <a:ext cx="1737360" cy="347472"/>
          </a:xfrm>
          <a:prstGeom prst="rect">
            <a:avLst/>
          </a:prstGeom>
          <a:noFill/>
          <a:ln/>
        </p:spPr>
        <p:txBody>
          <a:bodyPr wrap="square" lIns="0" tIns="0" rIns="0" bIns="0" rtlCol="0" anchor="ctr"/>
          <a:lstStyle/>
          <a:p>
            <a:pPr algn="r" indent="0" marL="0">
              <a:buNone/>
            </a:pPr>
            <a:r>
              <a:rPr lang="en-US" sz="1300" dirty="0">
                <a:solidFill>
                  <a:schemeClr val="tx1"/>
                </a:solidFill>
              </a:rPr>
              <a:t>Rs 258,550</a:t>
            </a:r>
            <a:endParaRPr lang="en-US" sz="1300" dirty="0"/>
          </a:p>
        </p:txBody>
      </p:sp>
      <p:sp>
        <p:nvSpPr>
          <p:cNvPr id="40" name="Shape 38"/>
          <p:cNvSpPr/>
          <p:nvPr/>
        </p:nvSpPr>
        <p:spPr>
          <a:xfrm>
            <a:off x="640080" y="5522976"/>
            <a:ext cx="5577840" cy="402336"/>
          </a:xfrm>
          <a:prstGeom prst="roundRect">
            <a:avLst>
              <a:gd name="adj" fmla="val 13636"/>
            </a:avLst>
          </a:prstGeom>
          <a:solidFill>
            <a:srgbClr val="141416"/>
          </a:solidFill>
          <a:ln w="12700">
            <a:solidFill>
              <a:srgbClr val="F3F1EA"/>
            </a:solidFill>
            <a:prstDash val="solid"/>
          </a:ln>
        </p:spPr>
      </p:sp>
      <p:sp>
        <p:nvSpPr>
          <p:cNvPr id="41" name="Shape 39"/>
          <p:cNvSpPr/>
          <p:nvPr/>
        </p:nvSpPr>
        <p:spPr>
          <a:xfrm>
            <a:off x="777240" y="5605272"/>
            <a:ext cx="256032" cy="256032"/>
          </a:xfrm>
          <a:prstGeom prst="ellipse">
            <a:avLst/>
          </a:prstGeom>
          <a:solidFill>
            <a:srgbClr val="A8811F"/>
          </a:solidFill>
          <a:ln w="12700">
            <a:solidFill>
              <a:srgbClr val="D4AF37"/>
            </a:solidFill>
            <a:prstDash val="solid"/>
          </a:ln>
        </p:spPr>
      </p:sp>
      <p:sp>
        <p:nvSpPr>
          <p:cNvPr id="42" name="Text 40"/>
          <p:cNvSpPr txBox="1"/>
          <p:nvPr/>
        </p:nvSpPr>
        <p:spPr>
          <a:xfrm>
            <a:off x="777240" y="560527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43" name="Text 41"/>
          <p:cNvSpPr txBox="1"/>
          <p:nvPr/>
        </p:nvSpPr>
        <p:spPr>
          <a:xfrm>
            <a:off x="1188720" y="5559552"/>
            <a:ext cx="3291840" cy="347472"/>
          </a:xfrm>
          <a:prstGeom prst="rect">
            <a:avLst/>
          </a:prstGeom>
          <a:noFill/>
          <a:ln/>
        </p:spPr>
        <p:txBody>
          <a:bodyPr wrap="square" lIns="0" tIns="0" rIns="0" bIns="0" rtlCol="0" anchor="ctr"/>
          <a:lstStyle/>
          <a:p>
            <a:pPr indent="0" marL="0">
              <a:buNone/>
            </a:pPr>
            <a:r>
              <a:rPr lang="en-US" sz="1300" b="1" dirty="0">
                <a:solidFill>
                  <a:srgbClr val="FFFFFF"/>
                </a:solidFill>
              </a:rPr>
              <a:t>Payable</a:t>
            </a:r>
            <a:endParaRPr lang="en-US" sz="1300" dirty="0"/>
          </a:p>
        </p:txBody>
      </p:sp>
      <p:sp>
        <p:nvSpPr>
          <p:cNvPr id="44" name="Text 42"/>
          <p:cNvSpPr txBox="1"/>
          <p:nvPr/>
        </p:nvSpPr>
        <p:spPr>
          <a:xfrm>
            <a:off x="4343400" y="5559552"/>
            <a:ext cx="1737360" cy="347472"/>
          </a:xfrm>
          <a:prstGeom prst="rect">
            <a:avLst/>
          </a:prstGeom>
          <a:noFill/>
          <a:ln/>
        </p:spPr>
        <p:txBody>
          <a:bodyPr wrap="square" lIns="0" tIns="0" rIns="0" bIns="0" rtlCol="0" anchor="ctr"/>
          <a:lstStyle/>
          <a:p>
            <a:pPr algn="r" indent="0" marL="0">
              <a:buNone/>
            </a:pPr>
            <a:r>
              <a:rPr lang="en-US" sz="1300" b="1" dirty="0">
                <a:solidFill>
                  <a:srgbClr val="D4AF37"/>
                </a:solidFill>
              </a:rPr>
              <a:t>Rs 46,882.5</a:t>
            </a:r>
            <a:endParaRPr lang="en-US" sz="1300" dirty="0"/>
          </a:p>
        </p:txBody>
      </p:sp>
      <p:sp>
        <p:nvSpPr>
          <p:cNvPr id="45" name="Shape 43"/>
          <p:cNvSpPr/>
          <p:nvPr/>
        </p:nvSpPr>
        <p:spPr>
          <a:xfrm>
            <a:off x="6537960" y="1737360"/>
            <a:ext cx="5148072" cy="4480560"/>
          </a:xfrm>
          <a:prstGeom prst="roundRect">
            <a:avLst>
              <a:gd name="adj" fmla="val 1633"/>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46" name="Text 44"/>
          <p:cNvSpPr txBox="1"/>
          <p:nvPr/>
        </p:nvSpPr>
        <p:spPr>
          <a:xfrm>
            <a:off x="6720840" y="1856232"/>
            <a:ext cx="4754880" cy="274320"/>
          </a:xfrm>
          <a:prstGeom prst="rect">
            <a:avLst/>
          </a:prstGeom>
          <a:noFill/>
          <a:ln/>
        </p:spPr>
        <p:txBody>
          <a:bodyPr wrap="square" lIns="0" tIns="0" rIns="0" bIns="0" rtlCol="0" anchor="t"/>
          <a:lstStyle/>
          <a:p>
            <a:pPr indent="0" marL="0">
              <a:buNone/>
            </a:pPr>
            <a:r>
              <a:rPr lang="en-US" sz="1400" b="1" dirty="0">
                <a:solidFill>
                  <a:schemeClr val="tx2"/>
                </a:solidFill>
              </a:rPr>
              <a:t>Slab table · Salaried Individual · TY2026</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720840" y="2212848"/>
          <a:ext cx="4782312" cy="914400"/>
        </p:xfrm>
        <a:graphic>
          <a:graphicData uri="http://schemas.openxmlformats.org/drawingml/2006/table">
            <a:tbl>
              <a:tblPr/>
              <a:tblGrid>
                <a:gridCol w="1417320"/>
                <a:gridCol w="1371600"/>
                <a:gridCol w="1124712"/>
                <a:gridCol w="868680"/>
              </a:tblGrid>
              <a:tr h="0">
                <a:tc>
                  <a:txBody>
                    <a:bodyPr/>
                    <a:lstStyle/>
                    <a:p>
                      <a:pPr indent="0" marL="0">
                        <a:buNone/>
                      </a:pPr>
                      <a:r>
                        <a:rPr lang="en-US" sz="1100" b="1" dirty="0">
                          <a:solidFill>
                            <a:srgbClr val="D4AF37"/>
                          </a:solidFill>
                        </a:rPr>
                        <a:t>Taxable income from</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indent="0" marL="0">
                        <a:buNone/>
                      </a:pPr>
                      <a:r>
                        <a:rPr lang="en-US" sz="1100" b="1" dirty="0">
                          <a:solidFill>
                            <a:srgbClr val="D4AF37"/>
                          </a:solidFill>
                        </a:rPr>
                        <a:t>to</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algn="r" indent="0" marL="0">
                        <a:buNone/>
                      </a:pPr>
                      <a:r>
                        <a:rPr lang="en-US" sz="1100" b="1" dirty="0">
                          <a:solidFill>
                            <a:srgbClr val="D4AF37"/>
                          </a:solidFill>
                        </a:rPr>
                        <a:t>Fixed</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algn="r" indent="0" marL="0">
                        <a:buNone/>
                      </a:pPr>
                      <a:r>
                        <a:rPr lang="en-US" sz="1100" b="1" dirty="0">
                          <a:solidFill>
                            <a:srgbClr val="D4AF37"/>
                          </a:solidFill>
                        </a:rPr>
                        <a:t>Rate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r>
              <a:tr h="0">
                <a:tc>
                  <a:txBody>
                    <a:bodyPr/>
                    <a:lstStyle/>
                    <a:p>
                      <a:pPr indent="0" marL="0">
                        <a:buNone/>
                      </a:pPr>
                      <a:r>
                        <a:rPr lang="en-US" sz="1100" dirty="0">
                          <a:solidFill>
                            <a:schemeClr val="tx1"/>
                          </a:solidFill>
                        </a:rPr>
                        <a:t>Rs 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Rs 600,000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dirty="0">
                          <a:solidFill>
                            <a:schemeClr val="tx1"/>
                          </a:solidFill>
                        </a:rPr>
                        <a:t>Rs 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dirty="0">
                          <a:solidFill>
                            <a:schemeClr val="tx1"/>
                          </a:solidFill>
                        </a:rPr>
                        <a:t>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dirty="0">
                          <a:solidFill>
                            <a:schemeClr val="tx1"/>
                          </a:solidFill>
                        </a:rPr>
                        <a:t>Rs 600,000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Rs 1,200,000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dirty="0">
                          <a:solidFill>
                            <a:schemeClr val="tx1"/>
                          </a:solidFill>
                        </a:rPr>
                        <a:t>Rs 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dirty="0">
                          <a:solidFill>
                            <a:schemeClr val="tx1"/>
                          </a:solidFill>
                        </a:rPr>
                        <a:t>1%</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dirty="0">
                          <a:solidFill>
                            <a:schemeClr val="tx1"/>
                          </a:solidFill>
                        </a:rPr>
                        <a:t>Rs 1,200,000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Rs 2,200,000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dirty="0">
                          <a:solidFill>
                            <a:schemeClr val="tx1"/>
                          </a:solidFill>
                        </a:rPr>
                        <a:t>Rs 6,000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dirty="0">
                          <a:solidFill>
                            <a:schemeClr val="tx1"/>
                          </a:solidFill>
                        </a:rPr>
                        <a:t>11%</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b="1" dirty="0">
                          <a:solidFill>
                            <a:schemeClr val="tx1"/>
                          </a:solidFill>
                        </a:rPr>
                        <a:t>Rs 2,200,000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F6EBC8"/>
                    </a:solidFill>
                  </a:tcPr>
                </a:tc>
                <a:tc>
                  <a:txBody>
                    <a:bodyPr/>
                    <a:lstStyle/>
                    <a:p>
                      <a:pPr indent="0" marL="0">
                        <a:buNone/>
                      </a:pPr>
                      <a:r>
                        <a:rPr lang="en-US" sz="1100" b="1" dirty="0">
                          <a:solidFill>
                            <a:schemeClr val="tx1"/>
                          </a:solidFill>
                        </a:rPr>
                        <a:t>Rs 3,200,000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F6EBC8"/>
                    </a:solidFill>
                  </a:tcPr>
                </a:tc>
                <a:tc>
                  <a:txBody>
                    <a:bodyPr/>
                    <a:lstStyle/>
                    <a:p>
                      <a:pPr algn="r" indent="0" marL="0">
                        <a:buNone/>
                      </a:pPr>
                      <a:r>
                        <a:rPr lang="en-US" sz="1100" b="1" dirty="0">
                          <a:solidFill>
                            <a:schemeClr val="tx1"/>
                          </a:solidFill>
                        </a:rPr>
                        <a:t>Rs 116,000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F6EBC8"/>
                    </a:solidFill>
                  </a:tcPr>
                </a:tc>
                <a:tc>
                  <a:txBody>
                    <a:bodyPr/>
                    <a:lstStyle/>
                    <a:p>
                      <a:pPr algn="r" indent="0" marL="0">
                        <a:buNone/>
                      </a:pPr>
                      <a:r>
                        <a:rPr lang="en-US" sz="1100" b="1" dirty="0">
                          <a:solidFill>
                            <a:schemeClr val="tx1"/>
                          </a:solidFill>
                        </a:rPr>
                        <a:t>23%</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F6EBC8"/>
                    </a:solidFill>
                  </a:tcPr>
                </a:tc>
              </a:tr>
              <a:tr h="0">
                <a:tc>
                  <a:txBody>
                    <a:bodyPr/>
                    <a:lstStyle/>
                    <a:p>
                      <a:pPr indent="0" marL="0">
                        <a:buNone/>
                      </a:pPr>
                      <a:r>
                        <a:rPr lang="en-US" sz="1100" dirty="0">
                          <a:solidFill>
                            <a:schemeClr val="tx1"/>
                          </a:solidFill>
                        </a:rPr>
                        <a:t>Rs 3,200,000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Rs 4,100,000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dirty="0">
                          <a:solidFill>
                            <a:schemeClr val="tx1"/>
                          </a:solidFill>
                        </a:rPr>
                        <a:t>Rs 346,000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dirty="0">
                          <a:solidFill>
                            <a:schemeClr val="tx1"/>
                          </a:solidFill>
                        </a:rPr>
                        <a:t>30%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dirty="0">
                          <a:solidFill>
                            <a:schemeClr val="tx1"/>
                          </a:solidFill>
                        </a:rPr>
                        <a:t>Rs 4,100,000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and above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dirty="0">
                          <a:solidFill>
                            <a:schemeClr val="tx1"/>
                          </a:solidFill>
                        </a:rPr>
                        <a:t>Rs 616,000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dirty="0">
                          <a:solidFill>
                            <a:schemeClr val="tx1"/>
                          </a:solidFill>
                        </a:rPr>
                        <a:t>35%</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bl>
          </a:graphicData>
        </a:graphic>
      </p:graphicFrame>
      <p:sp>
        <p:nvSpPr>
          <p:cNvPr id="48" name="Text 45"/>
          <p:cNvSpPr txBox="1"/>
          <p:nvPr/>
        </p:nvSpPr>
        <p:spPr>
          <a:xfrm>
            <a:off x="6720840" y="4343400"/>
            <a:ext cx="4782312" cy="822960"/>
          </a:xfrm>
          <a:prstGeom prst="rect">
            <a:avLst/>
          </a:prstGeom>
          <a:noFill/>
          <a:ln/>
        </p:spPr>
        <p:txBody>
          <a:bodyPr wrap="square" lIns="0" tIns="0" rIns="0" bIns="0" rtlCol="0" anchor="t"/>
          <a:lstStyle/>
          <a:p>
            <a:pPr indent="0" marL="0">
              <a:buNone/>
            </a:pPr>
            <a:r>
              <a:rPr lang="en-US" sz="1100" dirty="0">
                <a:solidFill>
                  <a:schemeClr val="tx1"/>
                </a:solidFill>
              </a:rPr>
              <a:t>Highlighted slab applies: Rs 116,000 + 23% of the amount above Rs 2,200,000. Separate-block income (bank profit) is taxed at the rate entered on its line; credits reduce normal tax only.</a:t>
            </a:r>
            <a:endParaRPr lang="en-US" sz="1100" dirty="0"/>
          </a:p>
        </p:txBody>
      </p:sp>
      <p:sp>
        <p:nvSpPr>
          <p:cNvPr id="49" name="Text 46"/>
          <p:cNvSpPr txBox="1"/>
          <p:nvPr/>
        </p:nvSpPr>
        <p:spPr>
          <a:xfrm>
            <a:off x="6720840" y="5257800"/>
            <a:ext cx="4782312" cy="731520"/>
          </a:xfrm>
          <a:prstGeom prst="rect">
            <a:avLst/>
          </a:prstGeom>
          <a:noFill/>
          <a:ln/>
        </p:spPr>
        <p:txBody>
          <a:bodyPr wrap="square" lIns="0" tIns="0" rIns="0" bIns="0" rtlCol="0" anchor="t"/>
          <a:lstStyle/>
          <a:p>
            <a:pPr indent="0" marL="0">
              <a:buNone/>
            </a:pPr>
            <a:r>
              <a:rPr lang="en-US" sz="1100" i="1" dirty="0">
                <a:solidFill>
                  <a:srgbClr val="5F6470"/>
                </a:solidFill>
              </a:rPr>
              <a:t>Slabs, credit rules and tax years are records — the firm updates them each Finance Act, no code change. Demo rates must be validated before live use.</a:t>
            </a:r>
            <a:endParaRPr lang="en-US" sz="11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MODULE 05  ·  TAX SIMULATOR &amp; SCENARIOS</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Plan first, then apply the final scenario</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Same engine and rates as the return; nothing changes the return until a consultant applies a scenario</a:t>
            </a:r>
            <a:endParaRPr lang="en-US" sz="1300" dirty="0"/>
          </a:p>
        </p:txBody>
      </p:sp>
      <p:sp>
        <p:nvSpPr>
          <p:cNvPr id="5" name="Shape 3"/>
          <p:cNvSpPr/>
          <p:nvPr/>
        </p:nvSpPr>
        <p:spPr>
          <a:xfrm>
            <a:off x="576072" y="1737360"/>
            <a:ext cx="2090867" cy="2331720"/>
          </a:xfrm>
          <a:prstGeom prst="roundRect">
            <a:avLst>
              <a:gd name="adj" fmla="val 3499"/>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6" name="Shape 4"/>
          <p:cNvSpPr/>
          <p:nvPr/>
        </p:nvSpPr>
        <p:spPr>
          <a:xfrm>
            <a:off x="758952" y="1920240"/>
            <a:ext cx="548640" cy="548640"/>
          </a:xfrm>
          <a:prstGeom prst="ellipse">
            <a:avLst/>
          </a:prstGeom>
          <a:solidFill>
            <a:srgbClr val="141416"/>
          </a:solidFill>
          <a:ln w="12700">
            <a:solidFill>
              <a:srgbClr val="141416"/>
            </a:solidFill>
            <a:prstDash val="solid"/>
          </a:ln>
        </p:spPr>
      </p:sp>
      <p:pic>
        <p:nvPicPr>
          <p:cNvPr id="7" name="Image 0" descr="preencoded.png">    </p:cNvPr>
          <p:cNvPicPr>
            <a:picLocks noChangeAspect="1"/>
          </p:cNvPicPr>
          <p:nvPr/>
        </p:nvPicPr>
        <p:blipFill>
          <a:blip r:embed="rId1"/>
          <a:stretch>
            <a:fillRect/>
          </a:stretch>
        </p:blipFill>
        <p:spPr>
          <a:xfrm>
            <a:off x="890626" y="2051914"/>
            <a:ext cx="285293" cy="285293"/>
          </a:xfrm>
          <a:prstGeom prst="rect">
            <a:avLst/>
          </a:prstGeom>
        </p:spPr>
      </p:pic>
      <p:sp>
        <p:nvSpPr>
          <p:cNvPr id="8" name="Text 5"/>
          <p:cNvSpPr txBox="1"/>
          <p:nvPr/>
        </p:nvSpPr>
        <p:spPr>
          <a:xfrm>
            <a:off x="758952" y="2578608"/>
            <a:ext cx="1825691" cy="274320"/>
          </a:xfrm>
          <a:prstGeom prst="rect">
            <a:avLst/>
          </a:prstGeom>
          <a:noFill/>
          <a:ln/>
        </p:spPr>
        <p:txBody>
          <a:bodyPr wrap="square" lIns="0" tIns="0" rIns="0" bIns="0" rtlCol="0" anchor="t"/>
          <a:lstStyle/>
          <a:p>
            <a:pPr indent="0" marL="0">
              <a:buNone/>
            </a:pPr>
            <a:r>
              <a:rPr lang="en-US" sz="1300" b="1" dirty="0">
                <a:solidFill>
                  <a:schemeClr val="tx2"/>
                </a:solidFill>
              </a:rPr>
              <a:t>1  Move levers</a:t>
            </a:r>
            <a:endParaRPr lang="en-US" sz="1300" dirty="0"/>
          </a:p>
        </p:txBody>
      </p:sp>
      <p:sp>
        <p:nvSpPr>
          <p:cNvPr id="9" name="Text 6"/>
          <p:cNvSpPr txBox="1"/>
          <p:nvPr/>
        </p:nvSpPr>
        <p:spPr>
          <a:xfrm>
            <a:off x="758952" y="2926080"/>
            <a:ext cx="1779971" cy="1051560"/>
          </a:xfrm>
          <a:prstGeom prst="rect">
            <a:avLst/>
          </a:prstGeom>
          <a:noFill/>
          <a:ln/>
        </p:spPr>
        <p:txBody>
          <a:bodyPr wrap="square" lIns="0" tIns="0" rIns="0" bIns="0" rtlCol="0" anchor="t"/>
          <a:lstStyle/>
          <a:p>
            <a:pPr indent="0" marL="0">
              <a:buNone/>
            </a:pPr>
            <a:r>
              <a:rPr lang="en-US" sz="1100" dirty="0">
                <a:solidFill>
                  <a:schemeClr val="tx1"/>
                </a:solidFill>
              </a:rPr>
              <a:t>Income per group, add-backs, allowances, credits, tax paid — sliders and amounts</a:t>
            </a:r>
            <a:endParaRPr lang="en-US" sz="1100" dirty="0"/>
          </a:p>
        </p:txBody>
      </p:sp>
      <p:sp>
        <p:nvSpPr>
          <p:cNvPr id="10" name="Shape 7"/>
          <p:cNvSpPr/>
          <p:nvPr/>
        </p:nvSpPr>
        <p:spPr>
          <a:xfrm>
            <a:off x="2630363" y="2898648"/>
            <a:ext cx="219456" cy="0"/>
          </a:xfrm>
          <a:prstGeom prst="line">
            <a:avLst/>
          </a:prstGeom>
          <a:noFill/>
          <a:ln w="15875">
            <a:solidFill>
              <a:srgbClr val="A8811F"/>
            </a:solidFill>
            <a:prstDash val="solid"/>
            <a:tailEnd type="triangle"/>
          </a:ln>
        </p:spPr>
      </p:sp>
      <p:sp>
        <p:nvSpPr>
          <p:cNvPr id="11" name="Shape 8"/>
          <p:cNvSpPr/>
          <p:nvPr/>
        </p:nvSpPr>
        <p:spPr>
          <a:xfrm>
            <a:off x="2813243" y="1737360"/>
            <a:ext cx="2090867" cy="2331720"/>
          </a:xfrm>
          <a:prstGeom prst="roundRect">
            <a:avLst>
              <a:gd name="adj" fmla="val 3499"/>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12" name="Shape 9"/>
          <p:cNvSpPr/>
          <p:nvPr/>
        </p:nvSpPr>
        <p:spPr>
          <a:xfrm>
            <a:off x="2996123" y="1920240"/>
            <a:ext cx="548640" cy="548640"/>
          </a:xfrm>
          <a:prstGeom prst="ellipse">
            <a:avLst/>
          </a:prstGeom>
          <a:solidFill>
            <a:srgbClr val="141416"/>
          </a:solidFill>
          <a:ln w="12700">
            <a:solidFill>
              <a:srgbClr val="141416"/>
            </a:solidFill>
            <a:prstDash val="solid"/>
          </a:ln>
        </p:spPr>
      </p:sp>
      <p:pic>
        <p:nvPicPr>
          <p:cNvPr id="13" name="Image 1" descr="preencoded.png">    </p:cNvPr>
          <p:cNvPicPr>
            <a:picLocks noChangeAspect="1"/>
          </p:cNvPicPr>
          <p:nvPr/>
        </p:nvPicPr>
        <p:blipFill>
          <a:blip r:embed="rId2"/>
          <a:stretch>
            <a:fillRect/>
          </a:stretch>
        </p:blipFill>
        <p:spPr>
          <a:xfrm>
            <a:off x="3127797" y="2051914"/>
            <a:ext cx="285293" cy="285293"/>
          </a:xfrm>
          <a:prstGeom prst="rect">
            <a:avLst/>
          </a:prstGeom>
        </p:spPr>
      </p:pic>
      <p:sp>
        <p:nvSpPr>
          <p:cNvPr id="14" name="Text 10"/>
          <p:cNvSpPr txBox="1"/>
          <p:nvPr/>
        </p:nvSpPr>
        <p:spPr>
          <a:xfrm>
            <a:off x="2996123" y="2578608"/>
            <a:ext cx="1825691" cy="274320"/>
          </a:xfrm>
          <a:prstGeom prst="rect">
            <a:avLst/>
          </a:prstGeom>
          <a:noFill/>
          <a:ln/>
        </p:spPr>
        <p:txBody>
          <a:bodyPr wrap="square" lIns="0" tIns="0" rIns="0" bIns="0" rtlCol="0" anchor="t"/>
          <a:lstStyle/>
          <a:p>
            <a:pPr indent="0" marL="0">
              <a:buNone/>
            </a:pPr>
            <a:r>
              <a:rPr lang="en-US" sz="1300" b="1" dirty="0">
                <a:solidFill>
                  <a:schemeClr val="tx2"/>
                </a:solidFill>
              </a:rPr>
              <a:t>2  Compare</a:t>
            </a:r>
            <a:endParaRPr lang="en-US" sz="1300" dirty="0"/>
          </a:p>
        </p:txBody>
      </p:sp>
      <p:sp>
        <p:nvSpPr>
          <p:cNvPr id="15" name="Text 11"/>
          <p:cNvSpPr txBox="1"/>
          <p:nvPr/>
        </p:nvSpPr>
        <p:spPr>
          <a:xfrm>
            <a:off x="2996123" y="2926080"/>
            <a:ext cx="1779971" cy="1051560"/>
          </a:xfrm>
          <a:prstGeom prst="rect">
            <a:avLst/>
          </a:prstGeom>
          <a:noFill/>
          <a:ln/>
        </p:spPr>
        <p:txBody>
          <a:bodyPr wrap="square" lIns="0" tIns="0" rIns="0" bIns="0" rtlCol="0" anchor="t"/>
          <a:lstStyle/>
          <a:p>
            <a:pPr indent="0" marL="0">
              <a:buNone/>
            </a:pPr>
            <a:r>
              <a:rPr lang="en-US" sz="1100" dirty="0">
                <a:solidFill>
                  <a:schemeClr val="tx1"/>
                </a:solidFill>
              </a:rPr>
              <a:t>Last year's filed return · this year's actual · simulated — table and chart</a:t>
            </a:r>
            <a:endParaRPr lang="en-US" sz="1100" dirty="0"/>
          </a:p>
        </p:txBody>
      </p:sp>
      <p:sp>
        <p:nvSpPr>
          <p:cNvPr id="16" name="Shape 12"/>
          <p:cNvSpPr/>
          <p:nvPr/>
        </p:nvSpPr>
        <p:spPr>
          <a:xfrm>
            <a:off x="4867534" y="2898648"/>
            <a:ext cx="219456" cy="0"/>
          </a:xfrm>
          <a:prstGeom prst="line">
            <a:avLst/>
          </a:prstGeom>
          <a:noFill/>
          <a:ln w="15875">
            <a:solidFill>
              <a:srgbClr val="A8811F"/>
            </a:solidFill>
            <a:prstDash val="solid"/>
            <a:tailEnd type="triangle"/>
          </a:ln>
        </p:spPr>
      </p:sp>
      <p:sp>
        <p:nvSpPr>
          <p:cNvPr id="17" name="Shape 13"/>
          <p:cNvSpPr/>
          <p:nvPr/>
        </p:nvSpPr>
        <p:spPr>
          <a:xfrm>
            <a:off x="5050414" y="1737360"/>
            <a:ext cx="2090867" cy="2331720"/>
          </a:xfrm>
          <a:prstGeom prst="roundRect">
            <a:avLst>
              <a:gd name="adj" fmla="val 3499"/>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18" name="Shape 14"/>
          <p:cNvSpPr/>
          <p:nvPr/>
        </p:nvSpPr>
        <p:spPr>
          <a:xfrm>
            <a:off x="5233294" y="1920240"/>
            <a:ext cx="548640" cy="548640"/>
          </a:xfrm>
          <a:prstGeom prst="ellipse">
            <a:avLst/>
          </a:prstGeom>
          <a:solidFill>
            <a:srgbClr val="141416"/>
          </a:solidFill>
          <a:ln w="12700">
            <a:solidFill>
              <a:srgbClr val="141416"/>
            </a:solidFill>
            <a:prstDash val="solid"/>
          </a:ln>
        </p:spPr>
      </p:sp>
      <p:pic>
        <p:nvPicPr>
          <p:cNvPr id="19" name="Image 2" descr="preencoded.png">    </p:cNvPr>
          <p:cNvPicPr>
            <a:picLocks noChangeAspect="1"/>
          </p:cNvPicPr>
          <p:nvPr/>
        </p:nvPicPr>
        <p:blipFill>
          <a:blip r:embed="rId3"/>
          <a:stretch>
            <a:fillRect/>
          </a:stretch>
        </p:blipFill>
        <p:spPr>
          <a:xfrm>
            <a:off x="5364968" y="2051914"/>
            <a:ext cx="285293" cy="285293"/>
          </a:xfrm>
          <a:prstGeom prst="rect">
            <a:avLst/>
          </a:prstGeom>
        </p:spPr>
      </p:pic>
      <p:sp>
        <p:nvSpPr>
          <p:cNvPr id="20" name="Text 15"/>
          <p:cNvSpPr txBox="1"/>
          <p:nvPr/>
        </p:nvSpPr>
        <p:spPr>
          <a:xfrm>
            <a:off x="5233294" y="2578608"/>
            <a:ext cx="1825691" cy="274320"/>
          </a:xfrm>
          <a:prstGeom prst="rect">
            <a:avLst/>
          </a:prstGeom>
          <a:noFill/>
          <a:ln/>
        </p:spPr>
        <p:txBody>
          <a:bodyPr wrap="square" lIns="0" tIns="0" rIns="0" bIns="0" rtlCol="0" anchor="t"/>
          <a:lstStyle/>
          <a:p>
            <a:pPr indent="0" marL="0">
              <a:buNone/>
            </a:pPr>
            <a:r>
              <a:rPr lang="en-US" sz="1300" b="1" dirty="0">
                <a:solidFill>
                  <a:schemeClr val="tx2"/>
                </a:solidFill>
              </a:rPr>
              <a:t>3  Save scenarios</a:t>
            </a:r>
            <a:endParaRPr lang="en-US" sz="1300" dirty="0"/>
          </a:p>
        </p:txBody>
      </p:sp>
      <p:sp>
        <p:nvSpPr>
          <p:cNvPr id="21" name="Text 16"/>
          <p:cNvSpPr txBox="1"/>
          <p:nvPr/>
        </p:nvSpPr>
        <p:spPr>
          <a:xfrm>
            <a:off x="5233294" y="2926080"/>
            <a:ext cx="1779971" cy="1051560"/>
          </a:xfrm>
          <a:prstGeom prst="rect">
            <a:avLst/>
          </a:prstGeom>
          <a:noFill/>
          <a:ln/>
        </p:spPr>
        <p:txBody>
          <a:bodyPr wrap="square" lIns="0" tIns="0" rIns="0" bIns="0" rtlCol="0" anchor="t"/>
          <a:lstStyle/>
          <a:p>
            <a:pPr indent="0" marL="0">
              <a:buNone/>
            </a:pPr>
            <a:r>
              <a:rPr lang="en-US" sz="1100" dirty="0">
                <a:solidFill>
                  <a:schemeClr val="tx1"/>
                </a:solidFill>
              </a:rPr>
              <a:t>Name + client notes; compare up to 3; lowest tax marked</a:t>
            </a:r>
            <a:endParaRPr lang="en-US" sz="1100" dirty="0"/>
          </a:p>
        </p:txBody>
      </p:sp>
      <p:sp>
        <p:nvSpPr>
          <p:cNvPr id="22" name="Shape 17"/>
          <p:cNvSpPr/>
          <p:nvPr/>
        </p:nvSpPr>
        <p:spPr>
          <a:xfrm>
            <a:off x="7104705" y="2898648"/>
            <a:ext cx="219456" cy="0"/>
          </a:xfrm>
          <a:prstGeom prst="line">
            <a:avLst/>
          </a:prstGeom>
          <a:noFill/>
          <a:ln w="15875">
            <a:solidFill>
              <a:srgbClr val="A8811F"/>
            </a:solidFill>
            <a:prstDash val="solid"/>
            <a:tailEnd type="triangle"/>
          </a:ln>
        </p:spPr>
      </p:sp>
      <p:sp>
        <p:nvSpPr>
          <p:cNvPr id="23" name="Shape 18"/>
          <p:cNvSpPr/>
          <p:nvPr/>
        </p:nvSpPr>
        <p:spPr>
          <a:xfrm>
            <a:off x="7287585" y="1737360"/>
            <a:ext cx="2090867" cy="2331720"/>
          </a:xfrm>
          <a:prstGeom prst="roundRect">
            <a:avLst>
              <a:gd name="adj" fmla="val 3499"/>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24" name="Shape 19"/>
          <p:cNvSpPr/>
          <p:nvPr/>
        </p:nvSpPr>
        <p:spPr>
          <a:xfrm>
            <a:off x="7470465" y="1920240"/>
            <a:ext cx="548640" cy="548640"/>
          </a:xfrm>
          <a:prstGeom prst="ellipse">
            <a:avLst/>
          </a:prstGeom>
          <a:solidFill>
            <a:srgbClr val="141416"/>
          </a:solidFill>
          <a:ln w="12700">
            <a:solidFill>
              <a:srgbClr val="141416"/>
            </a:solidFill>
            <a:prstDash val="solid"/>
          </a:ln>
        </p:spPr>
      </p:sp>
      <p:pic>
        <p:nvPicPr>
          <p:cNvPr id="25" name="Image 3" descr="preencoded.png">    </p:cNvPr>
          <p:cNvPicPr>
            <a:picLocks noChangeAspect="1"/>
          </p:cNvPicPr>
          <p:nvPr/>
        </p:nvPicPr>
        <p:blipFill>
          <a:blip r:embed="rId4"/>
          <a:stretch>
            <a:fillRect/>
          </a:stretch>
        </p:blipFill>
        <p:spPr>
          <a:xfrm>
            <a:off x="7602139" y="2051914"/>
            <a:ext cx="285293" cy="285293"/>
          </a:xfrm>
          <a:prstGeom prst="rect">
            <a:avLst/>
          </a:prstGeom>
        </p:spPr>
      </p:pic>
      <p:sp>
        <p:nvSpPr>
          <p:cNvPr id="26" name="Text 20"/>
          <p:cNvSpPr txBox="1"/>
          <p:nvPr/>
        </p:nvSpPr>
        <p:spPr>
          <a:xfrm>
            <a:off x="7470465" y="2578608"/>
            <a:ext cx="1825691" cy="274320"/>
          </a:xfrm>
          <a:prstGeom prst="rect">
            <a:avLst/>
          </a:prstGeom>
          <a:noFill/>
          <a:ln/>
        </p:spPr>
        <p:txBody>
          <a:bodyPr wrap="square" lIns="0" tIns="0" rIns="0" bIns="0" rtlCol="0" anchor="t"/>
          <a:lstStyle/>
          <a:p>
            <a:pPr indent="0" marL="0">
              <a:buNone/>
            </a:pPr>
            <a:r>
              <a:rPr lang="en-US" sz="1300" b="1" dirty="0">
                <a:solidFill>
                  <a:schemeClr val="tx2"/>
                </a:solidFill>
              </a:rPr>
              <a:t>4  PDF report</a:t>
            </a:r>
            <a:endParaRPr lang="en-US" sz="1300" dirty="0"/>
          </a:p>
        </p:txBody>
      </p:sp>
      <p:sp>
        <p:nvSpPr>
          <p:cNvPr id="27" name="Text 21"/>
          <p:cNvSpPr txBox="1"/>
          <p:nvPr/>
        </p:nvSpPr>
        <p:spPr>
          <a:xfrm>
            <a:off x="7470465" y="2926080"/>
            <a:ext cx="1779971" cy="1051560"/>
          </a:xfrm>
          <a:prstGeom prst="rect">
            <a:avLst/>
          </a:prstGeom>
          <a:noFill/>
          <a:ln/>
        </p:spPr>
        <p:txBody>
          <a:bodyPr wrap="square" lIns="0" tIns="0" rIns="0" bIns="0" rtlCol="0" anchor="t"/>
          <a:lstStyle/>
          <a:p>
            <a:pPr indent="0" marL="0">
              <a:buNone/>
            </a:pPr>
            <a:r>
              <a:rPr lang="en-US" sz="1100" dirty="0">
                <a:solidFill>
                  <a:schemeClr val="tx1"/>
                </a:solidFill>
              </a:rPr>
              <a:t>Tax Planning Report PDF into the client's vault</a:t>
            </a:r>
            <a:endParaRPr lang="en-US" sz="1100" dirty="0"/>
          </a:p>
        </p:txBody>
      </p:sp>
      <p:sp>
        <p:nvSpPr>
          <p:cNvPr id="28" name="Shape 22"/>
          <p:cNvSpPr/>
          <p:nvPr/>
        </p:nvSpPr>
        <p:spPr>
          <a:xfrm>
            <a:off x="9341876" y="2898648"/>
            <a:ext cx="219456" cy="0"/>
          </a:xfrm>
          <a:prstGeom prst="line">
            <a:avLst/>
          </a:prstGeom>
          <a:noFill/>
          <a:ln w="15875">
            <a:solidFill>
              <a:srgbClr val="A8811F"/>
            </a:solidFill>
            <a:prstDash val="solid"/>
            <a:tailEnd type="triangle"/>
          </a:ln>
        </p:spPr>
      </p:sp>
      <p:sp>
        <p:nvSpPr>
          <p:cNvPr id="29" name="Shape 23"/>
          <p:cNvSpPr/>
          <p:nvPr/>
        </p:nvSpPr>
        <p:spPr>
          <a:xfrm>
            <a:off x="9524756" y="1737360"/>
            <a:ext cx="2090867" cy="2331720"/>
          </a:xfrm>
          <a:prstGeom prst="roundRect">
            <a:avLst>
              <a:gd name="adj" fmla="val 3499"/>
            </a:avLst>
          </a:prstGeom>
          <a:solidFill>
            <a:srgbClr val="141416"/>
          </a:solidFill>
          <a:ln w="9525">
            <a:solidFill>
              <a:srgbClr val="141416"/>
            </a:solidFill>
            <a:prstDash val="solid"/>
          </a:ln>
          <a:effectLst>
            <a:outerShdw sx="100000" sy="100000" kx="0" ky="0" algn="bl" rotWithShape="0" blurRad="76200" dist="25400" dir="5400000">
              <a:srgbClr val="141416">
                <a:alpha val="10000"/>
              </a:srgbClr>
            </a:outerShdw>
          </a:effectLst>
        </p:spPr>
      </p:sp>
      <p:sp>
        <p:nvSpPr>
          <p:cNvPr id="30" name="Shape 24"/>
          <p:cNvSpPr/>
          <p:nvPr/>
        </p:nvSpPr>
        <p:spPr>
          <a:xfrm>
            <a:off x="9707636" y="1920240"/>
            <a:ext cx="548640" cy="548640"/>
          </a:xfrm>
          <a:prstGeom prst="ellipse">
            <a:avLst/>
          </a:prstGeom>
          <a:solidFill>
            <a:srgbClr val="D4AF37"/>
          </a:solidFill>
          <a:ln w="12700">
            <a:solidFill>
              <a:srgbClr val="D4AF37"/>
            </a:solidFill>
            <a:prstDash val="solid"/>
          </a:ln>
        </p:spPr>
      </p:sp>
      <p:pic>
        <p:nvPicPr>
          <p:cNvPr id="31" name="Image 4" descr="preencoded.png">    </p:cNvPr>
          <p:cNvPicPr>
            <a:picLocks noChangeAspect="1"/>
          </p:cNvPicPr>
          <p:nvPr/>
        </p:nvPicPr>
        <p:blipFill>
          <a:blip r:embed="rId5"/>
          <a:stretch>
            <a:fillRect/>
          </a:stretch>
        </p:blipFill>
        <p:spPr>
          <a:xfrm>
            <a:off x="9839310" y="2051914"/>
            <a:ext cx="285293" cy="285293"/>
          </a:xfrm>
          <a:prstGeom prst="rect">
            <a:avLst/>
          </a:prstGeom>
        </p:spPr>
      </p:pic>
      <p:sp>
        <p:nvSpPr>
          <p:cNvPr id="32" name="Text 25"/>
          <p:cNvSpPr txBox="1"/>
          <p:nvPr/>
        </p:nvSpPr>
        <p:spPr>
          <a:xfrm>
            <a:off x="9707636" y="2578608"/>
            <a:ext cx="1825691" cy="274320"/>
          </a:xfrm>
          <a:prstGeom prst="rect">
            <a:avLst/>
          </a:prstGeom>
          <a:noFill/>
          <a:ln/>
        </p:spPr>
        <p:txBody>
          <a:bodyPr wrap="square" lIns="0" tIns="0" rIns="0" bIns="0" rtlCol="0" anchor="t"/>
          <a:lstStyle/>
          <a:p>
            <a:pPr indent="0" marL="0">
              <a:buNone/>
            </a:pPr>
            <a:r>
              <a:rPr lang="en-US" sz="1300" b="1" dirty="0">
                <a:solidFill>
                  <a:srgbClr val="FFFFFF"/>
                </a:solidFill>
              </a:rPr>
              <a:t>5  Apply</a:t>
            </a:r>
            <a:endParaRPr lang="en-US" sz="1300" dirty="0"/>
          </a:p>
        </p:txBody>
      </p:sp>
      <p:sp>
        <p:nvSpPr>
          <p:cNvPr id="33" name="Text 26"/>
          <p:cNvSpPr txBox="1"/>
          <p:nvPr/>
        </p:nvSpPr>
        <p:spPr>
          <a:xfrm>
            <a:off x="9707636" y="2926080"/>
            <a:ext cx="1779971" cy="1051560"/>
          </a:xfrm>
          <a:prstGeom prst="rect">
            <a:avLst/>
          </a:prstGeom>
          <a:noFill/>
          <a:ln/>
        </p:spPr>
        <p:txBody>
          <a:bodyPr wrap="square" lIns="0" tIns="0" rIns="0" bIns="0" rtlCol="0" anchor="t"/>
          <a:lstStyle/>
          <a:p>
            <a:pPr indent="0" marL="0">
              <a:buNone/>
            </a:pPr>
            <a:r>
              <a:rPr lang="en-US" sz="1100" dirty="0">
                <a:solidFill>
                  <a:srgbClr val="D8D2C2"/>
                </a:solidFill>
              </a:rPr>
              <a:t>Preview line changes → write lines → recalculate → request evidence</a:t>
            </a:r>
            <a:endParaRPr lang="en-US" sz="1100" dirty="0"/>
          </a:p>
        </p:txBody>
      </p:sp>
      <p:sp>
        <p:nvSpPr>
          <p:cNvPr id="34" name="Shape 27"/>
          <p:cNvSpPr/>
          <p:nvPr/>
        </p:nvSpPr>
        <p:spPr>
          <a:xfrm>
            <a:off x="502920" y="4297680"/>
            <a:ext cx="11185855" cy="1920240"/>
          </a:xfrm>
          <a:prstGeom prst="roundRect">
            <a:avLst>
              <a:gd name="adj" fmla="val 3810"/>
            </a:avLst>
          </a:prstGeom>
          <a:solidFill>
            <a:schemeClr val="bg2"/>
          </a:solidFill>
          <a:ln w="9525">
            <a:solidFill>
              <a:schemeClr val="bg2"/>
            </a:solidFill>
            <a:prstDash val="solid"/>
          </a:ln>
        </p:spPr>
      </p:sp>
      <p:sp>
        <p:nvSpPr>
          <p:cNvPr id="35" name="Text 28"/>
          <p:cNvSpPr txBox="1"/>
          <p:nvPr/>
        </p:nvSpPr>
        <p:spPr>
          <a:xfrm>
            <a:off x="731520" y="4416552"/>
            <a:ext cx="5486400" cy="274320"/>
          </a:xfrm>
          <a:prstGeom prst="rect">
            <a:avLst/>
          </a:prstGeom>
          <a:noFill/>
          <a:ln/>
        </p:spPr>
        <p:txBody>
          <a:bodyPr wrap="square" lIns="0" tIns="0" rIns="0" bIns="0" rtlCol="0" anchor="t"/>
          <a:lstStyle/>
          <a:p>
            <a:pPr indent="0" marL="0">
              <a:buNone/>
            </a:pPr>
            <a:r>
              <a:rPr lang="en-US" sz="1400" b="1" dirty="0">
                <a:solidFill>
                  <a:schemeClr val="tx2"/>
                </a:solidFill>
              </a:rPr>
              <a:t>Safeguards when a scenario is applied</a:t>
            </a:r>
            <a:endParaRPr lang="en-US" sz="1400" dirty="0"/>
          </a:p>
        </p:txBody>
      </p:sp>
      <p:sp>
        <p:nvSpPr>
          <p:cNvPr id="36" name="Text 29"/>
          <p:cNvSpPr txBox="1"/>
          <p:nvPr/>
        </p:nvSpPr>
        <p:spPr>
          <a:xfrm>
            <a:off x="731520" y="4800600"/>
            <a:ext cx="2606040" cy="274320"/>
          </a:xfrm>
          <a:prstGeom prst="rect">
            <a:avLst/>
          </a:prstGeom>
          <a:noFill/>
          <a:ln/>
        </p:spPr>
        <p:txBody>
          <a:bodyPr wrap="square" lIns="0" tIns="0" rIns="0" bIns="0" rtlCol="0" anchor="t"/>
          <a:lstStyle/>
          <a:p>
            <a:pPr indent="0" marL="0">
              <a:buNone/>
            </a:pPr>
            <a:r>
              <a:rPr lang="en-US" sz="1200" b="1" dirty="0">
                <a:solidFill>
                  <a:srgbClr val="A8811F"/>
                </a:solidFill>
              </a:rPr>
              <a:t>Only while preparing</a:t>
            </a:r>
            <a:endParaRPr lang="en-US" sz="1200" dirty="0"/>
          </a:p>
        </p:txBody>
      </p:sp>
      <p:sp>
        <p:nvSpPr>
          <p:cNvPr id="37" name="Text 30"/>
          <p:cNvSpPr txBox="1"/>
          <p:nvPr/>
        </p:nvSpPr>
        <p:spPr>
          <a:xfrm>
            <a:off x="731520" y="5093208"/>
            <a:ext cx="2606040" cy="914400"/>
          </a:xfrm>
          <a:prstGeom prst="rect">
            <a:avLst/>
          </a:prstGeom>
          <a:noFill/>
          <a:ln/>
        </p:spPr>
        <p:txBody>
          <a:bodyPr wrap="square" lIns="0" tIns="0" rIns="0" bIns="0" rtlCol="0" anchor="t"/>
          <a:lstStyle/>
          <a:p>
            <a:pPr indent="0" marL="0">
              <a:buNone/>
            </a:pPr>
            <a:r>
              <a:rPr lang="en-US" sz="1100" dirty="0">
                <a:solidFill>
                  <a:schemeClr val="tx1"/>
                </a:solidFill>
              </a:rPr>
              <a:t>Documents Pending, Draft or Changes Required</a:t>
            </a:r>
            <a:endParaRPr lang="en-US" sz="1100" dirty="0"/>
          </a:p>
        </p:txBody>
      </p:sp>
      <p:sp>
        <p:nvSpPr>
          <p:cNvPr id="38" name="Text 31"/>
          <p:cNvSpPr txBox="1"/>
          <p:nvPr/>
        </p:nvSpPr>
        <p:spPr>
          <a:xfrm>
            <a:off x="3520440" y="4800600"/>
            <a:ext cx="2606040" cy="274320"/>
          </a:xfrm>
          <a:prstGeom prst="rect">
            <a:avLst/>
          </a:prstGeom>
          <a:noFill/>
          <a:ln/>
        </p:spPr>
        <p:txBody>
          <a:bodyPr wrap="square" lIns="0" tIns="0" rIns="0" bIns="0" rtlCol="0" anchor="t"/>
          <a:lstStyle/>
          <a:p>
            <a:pPr indent="0" marL="0">
              <a:buNone/>
            </a:pPr>
            <a:r>
              <a:rPr lang="en-US" sz="1200" b="1" dirty="0">
                <a:solidFill>
                  <a:srgbClr val="A8811F"/>
                </a:solidFill>
              </a:rPr>
              <a:t>One at a time</a:t>
            </a:r>
            <a:endParaRPr lang="en-US" sz="1200" dirty="0"/>
          </a:p>
        </p:txBody>
      </p:sp>
      <p:sp>
        <p:nvSpPr>
          <p:cNvPr id="39" name="Text 32"/>
          <p:cNvSpPr txBox="1"/>
          <p:nvPr/>
        </p:nvSpPr>
        <p:spPr>
          <a:xfrm>
            <a:off x="3520440" y="5093208"/>
            <a:ext cx="2606040" cy="914400"/>
          </a:xfrm>
          <a:prstGeom prst="rect">
            <a:avLst/>
          </a:prstGeom>
          <a:noFill/>
          <a:ln/>
        </p:spPr>
        <p:txBody>
          <a:bodyPr wrap="square" lIns="0" tIns="0" rIns="0" bIns="0" rtlCol="0" anchor="t"/>
          <a:lstStyle/>
          <a:p>
            <a:pPr indent="0" marL="0">
              <a:buNone/>
            </a:pPr>
            <a:r>
              <a:rPr lang="en-US" sz="1100" dirty="0">
                <a:solidFill>
                  <a:schemeClr val="tx1"/>
                </a:solidFill>
              </a:rPr>
              <a:t>Undo the applied scenario before another</a:t>
            </a:r>
            <a:endParaRPr lang="en-US" sz="1100" dirty="0"/>
          </a:p>
        </p:txBody>
      </p:sp>
      <p:sp>
        <p:nvSpPr>
          <p:cNvPr id="40" name="Text 33"/>
          <p:cNvSpPr txBox="1"/>
          <p:nvPr/>
        </p:nvSpPr>
        <p:spPr>
          <a:xfrm>
            <a:off x="6309360" y="4800600"/>
            <a:ext cx="2606040" cy="274320"/>
          </a:xfrm>
          <a:prstGeom prst="rect">
            <a:avLst/>
          </a:prstGeom>
          <a:noFill/>
          <a:ln/>
        </p:spPr>
        <p:txBody>
          <a:bodyPr wrap="square" lIns="0" tIns="0" rIns="0" bIns="0" rtlCol="0" anchor="t"/>
          <a:lstStyle/>
          <a:p>
            <a:pPr indent="0" marL="0">
              <a:buNone/>
            </a:pPr>
            <a:r>
              <a:rPr lang="en-US" sz="1200" b="1" dirty="0">
                <a:solidFill>
                  <a:srgbClr val="A8811F"/>
                </a:solidFill>
              </a:rPr>
              <a:t>Evidence required</a:t>
            </a:r>
            <a:endParaRPr lang="en-US" sz="1200" dirty="0"/>
          </a:p>
        </p:txBody>
      </p:sp>
      <p:sp>
        <p:nvSpPr>
          <p:cNvPr id="41" name="Text 34"/>
          <p:cNvSpPr txBox="1"/>
          <p:nvPr/>
        </p:nvSpPr>
        <p:spPr>
          <a:xfrm>
            <a:off x="6309360" y="5093208"/>
            <a:ext cx="2606040" cy="914400"/>
          </a:xfrm>
          <a:prstGeom prst="rect">
            <a:avLst/>
          </a:prstGeom>
          <a:noFill/>
          <a:ln/>
        </p:spPr>
        <p:txBody>
          <a:bodyPr wrap="square" lIns="0" tIns="0" rIns="0" bIns="0" rtlCol="0" anchor="t"/>
          <a:lstStyle/>
          <a:p>
            <a:pPr indent="0" marL="0">
              <a:buNone/>
            </a:pPr>
            <a:r>
              <a:rPr lang="en-US" sz="1100" dirty="0">
                <a:solidFill>
                  <a:schemeClr val="tx1"/>
                </a:solidFill>
              </a:rPr>
              <a:t>New deductions / credits add required documents — Submit for Review blocked until verified</a:t>
            </a:r>
            <a:endParaRPr lang="en-US" sz="1100" dirty="0"/>
          </a:p>
        </p:txBody>
      </p:sp>
      <p:sp>
        <p:nvSpPr>
          <p:cNvPr id="42" name="Text 35"/>
          <p:cNvSpPr txBox="1"/>
          <p:nvPr/>
        </p:nvSpPr>
        <p:spPr>
          <a:xfrm>
            <a:off x="9098280" y="4800600"/>
            <a:ext cx="2606040" cy="274320"/>
          </a:xfrm>
          <a:prstGeom prst="rect">
            <a:avLst/>
          </a:prstGeom>
          <a:noFill/>
          <a:ln/>
        </p:spPr>
        <p:txBody>
          <a:bodyPr wrap="square" lIns="0" tIns="0" rIns="0" bIns="0" rtlCol="0" anchor="t"/>
          <a:lstStyle/>
          <a:p>
            <a:pPr indent="0" marL="0">
              <a:buNone/>
            </a:pPr>
            <a:r>
              <a:rPr lang="en-US" sz="1200" b="1" dirty="0">
                <a:solidFill>
                  <a:srgbClr val="A8811F"/>
                </a:solidFill>
              </a:rPr>
              <a:t>Undo</a:t>
            </a:r>
            <a:endParaRPr lang="en-US" sz="1200" dirty="0"/>
          </a:p>
        </p:txBody>
      </p:sp>
      <p:sp>
        <p:nvSpPr>
          <p:cNvPr id="43" name="Text 36"/>
          <p:cNvSpPr txBox="1"/>
          <p:nvPr/>
        </p:nvSpPr>
        <p:spPr>
          <a:xfrm>
            <a:off x="9098280" y="5093208"/>
            <a:ext cx="2606040" cy="914400"/>
          </a:xfrm>
          <a:prstGeom prst="rect">
            <a:avLst/>
          </a:prstGeom>
          <a:noFill/>
          <a:ln/>
        </p:spPr>
        <p:txBody>
          <a:bodyPr wrap="square" lIns="0" tIns="0" rIns="0" bIns="0" rtlCol="0" anchor="t"/>
          <a:lstStyle/>
          <a:p>
            <a:pPr indent="0" marL="0">
              <a:buNone/>
            </a:pPr>
            <a:r>
              <a:rPr lang="en-US" sz="1100" dirty="0">
                <a:solidFill>
                  <a:schemeClr val="tx1"/>
                </a:solidFill>
              </a:rPr>
              <a:t>Restores every line exactly and recalculates</a:t>
            </a:r>
            <a:endParaRPr lang="en-US" sz="11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REVIEW, APPROVAL &amp; FILING CONTROLS</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Built-in controls that protect client and firm</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Each control is enforced on the server when the state changes — not only hidden in the screen</a:t>
            </a:r>
            <a:endParaRPr lang="en-US" sz="1300" dirty="0"/>
          </a:p>
        </p:txBody>
      </p:sp>
      <p:sp>
        <p:nvSpPr>
          <p:cNvPr id="5" name="Shape 3"/>
          <p:cNvSpPr/>
          <p:nvPr/>
        </p:nvSpPr>
        <p:spPr>
          <a:xfrm>
            <a:off x="502920" y="1737360"/>
            <a:ext cx="3611880" cy="1828800"/>
          </a:xfrm>
          <a:prstGeom prst="roundRect">
            <a:avLst>
              <a:gd name="adj" fmla="val 4000"/>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6" name="Shape 4"/>
          <p:cNvSpPr/>
          <p:nvPr/>
        </p:nvSpPr>
        <p:spPr>
          <a:xfrm>
            <a:off x="704088" y="1938528"/>
            <a:ext cx="566928" cy="566928"/>
          </a:xfrm>
          <a:prstGeom prst="ellipse">
            <a:avLst/>
          </a:prstGeom>
          <a:solidFill>
            <a:srgbClr val="141416"/>
          </a:solidFill>
          <a:ln w="12700">
            <a:solidFill>
              <a:srgbClr val="141416"/>
            </a:solidFill>
            <a:prstDash val="solid"/>
          </a:ln>
        </p:spPr>
      </p:sp>
      <p:pic>
        <p:nvPicPr>
          <p:cNvPr id="7" name="Image 0" descr="preencoded.png">    </p:cNvPr>
          <p:cNvPicPr>
            <a:picLocks noChangeAspect="1"/>
          </p:cNvPicPr>
          <p:nvPr/>
        </p:nvPicPr>
        <p:blipFill>
          <a:blip r:embed="rId1"/>
          <a:stretch>
            <a:fillRect/>
          </a:stretch>
        </p:blipFill>
        <p:spPr>
          <a:xfrm>
            <a:off x="840151" y="2074591"/>
            <a:ext cx="294803" cy="294803"/>
          </a:xfrm>
          <a:prstGeom prst="rect">
            <a:avLst/>
          </a:prstGeom>
        </p:spPr>
      </p:pic>
      <p:sp>
        <p:nvSpPr>
          <p:cNvPr id="8" name="Text 5"/>
          <p:cNvSpPr txBox="1"/>
          <p:nvPr/>
        </p:nvSpPr>
        <p:spPr>
          <a:xfrm>
            <a:off x="1417320" y="2011680"/>
            <a:ext cx="2560320" cy="365760"/>
          </a:xfrm>
          <a:prstGeom prst="rect">
            <a:avLst/>
          </a:prstGeom>
          <a:noFill/>
          <a:ln/>
        </p:spPr>
        <p:txBody>
          <a:bodyPr wrap="square" lIns="0" tIns="0" rIns="0" bIns="0" rtlCol="0" anchor="t"/>
          <a:lstStyle/>
          <a:p>
            <a:pPr indent="0" marL="0">
              <a:buNone/>
            </a:pPr>
            <a:r>
              <a:rPr lang="en-US" sz="1500" b="1" dirty="0">
                <a:solidFill>
                  <a:schemeClr val="tx2"/>
                </a:solidFill>
              </a:rPr>
              <a:t>Four-eyes approval</a:t>
            </a:r>
            <a:endParaRPr lang="en-US" sz="1500" dirty="0"/>
          </a:p>
        </p:txBody>
      </p:sp>
      <p:sp>
        <p:nvSpPr>
          <p:cNvPr id="9" name="Text 6"/>
          <p:cNvSpPr txBox="1"/>
          <p:nvPr/>
        </p:nvSpPr>
        <p:spPr>
          <a:xfrm>
            <a:off x="704088" y="2633472"/>
            <a:ext cx="3200400" cy="868680"/>
          </a:xfrm>
          <a:prstGeom prst="rect">
            <a:avLst/>
          </a:prstGeom>
          <a:noFill/>
          <a:ln/>
        </p:spPr>
        <p:txBody>
          <a:bodyPr wrap="square" lIns="0" tIns="0" rIns="0" bIns="0" rtlCol="0" anchor="t"/>
          <a:lstStyle/>
          <a:p>
            <a:pPr indent="0" marL="0">
              <a:buNone/>
            </a:pPr>
            <a:r>
              <a:rPr lang="en-US" sz="1200" dirty="0">
                <a:solidFill>
                  <a:schemeClr val="tx1"/>
                </a:solidFill>
              </a:rPr>
              <a:t>The preparer can never approve; approval needs the client's confirmation first.</a:t>
            </a:r>
            <a:endParaRPr lang="en-US" sz="1200" dirty="0"/>
          </a:p>
        </p:txBody>
      </p:sp>
      <p:sp>
        <p:nvSpPr>
          <p:cNvPr id="10" name="Shape 7"/>
          <p:cNvSpPr/>
          <p:nvPr/>
        </p:nvSpPr>
        <p:spPr>
          <a:xfrm>
            <a:off x="4261104" y="1737360"/>
            <a:ext cx="3611880" cy="1828800"/>
          </a:xfrm>
          <a:prstGeom prst="roundRect">
            <a:avLst>
              <a:gd name="adj" fmla="val 4000"/>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11" name="Shape 8"/>
          <p:cNvSpPr/>
          <p:nvPr/>
        </p:nvSpPr>
        <p:spPr>
          <a:xfrm>
            <a:off x="4462272" y="1938528"/>
            <a:ext cx="566928" cy="566928"/>
          </a:xfrm>
          <a:prstGeom prst="ellipse">
            <a:avLst/>
          </a:prstGeom>
          <a:solidFill>
            <a:srgbClr val="141416"/>
          </a:solidFill>
          <a:ln w="12700">
            <a:solidFill>
              <a:srgbClr val="141416"/>
            </a:solidFill>
            <a:prstDash val="solid"/>
          </a:ln>
        </p:spPr>
      </p:sp>
      <p:pic>
        <p:nvPicPr>
          <p:cNvPr id="12" name="Image 1" descr="preencoded.png">    </p:cNvPr>
          <p:cNvPicPr>
            <a:picLocks noChangeAspect="1"/>
          </p:cNvPicPr>
          <p:nvPr/>
        </p:nvPicPr>
        <p:blipFill>
          <a:blip r:embed="rId2"/>
          <a:stretch>
            <a:fillRect/>
          </a:stretch>
        </p:blipFill>
        <p:spPr>
          <a:xfrm>
            <a:off x="4598335" y="2074591"/>
            <a:ext cx="294803" cy="294803"/>
          </a:xfrm>
          <a:prstGeom prst="rect">
            <a:avLst/>
          </a:prstGeom>
        </p:spPr>
      </p:pic>
      <p:sp>
        <p:nvSpPr>
          <p:cNvPr id="13" name="Text 9"/>
          <p:cNvSpPr txBox="1"/>
          <p:nvPr/>
        </p:nvSpPr>
        <p:spPr>
          <a:xfrm>
            <a:off x="5175504" y="2011680"/>
            <a:ext cx="2560320" cy="365760"/>
          </a:xfrm>
          <a:prstGeom prst="rect">
            <a:avLst/>
          </a:prstGeom>
          <a:noFill/>
          <a:ln/>
        </p:spPr>
        <p:txBody>
          <a:bodyPr wrap="square" lIns="0" tIns="0" rIns="0" bIns="0" rtlCol="0" anchor="t"/>
          <a:lstStyle/>
          <a:p>
            <a:pPr indent="0" marL="0">
              <a:buNone/>
            </a:pPr>
            <a:r>
              <a:rPr lang="en-US" sz="1500" b="1" dirty="0">
                <a:solidFill>
                  <a:schemeClr val="tx2"/>
                </a:solidFill>
              </a:rPr>
              <a:t>Content hash</a:t>
            </a:r>
            <a:endParaRPr lang="en-US" sz="1500" dirty="0"/>
          </a:p>
        </p:txBody>
      </p:sp>
      <p:sp>
        <p:nvSpPr>
          <p:cNvPr id="14" name="Text 10"/>
          <p:cNvSpPr txBox="1"/>
          <p:nvPr/>
        </p:nvSpPr>
        <p:spPr>
          <a:xfrm>
            <a:off x="4462272" y="2633472"/>
            <a:ext cx="3200400" cy="868680"/>
          </a:xfrm>
          <a:prstGeom prst="rect">
            <a:avLst/>
          </a:prstGeom>
          <a:noFill/>
          <a:ln/>
        </p:spPr>
        <p:txBody>
          <a:bodyPr wrap="square" lIns="0" tIns="0" rIns="0" bIns="0" rtlCol="0" anchor="t"/>
          <a:lstStyle/>
          <a:p>
            <a:pPr indent="0" marL="0">
              <a:buNone/>
            </a:pPr>
            <a:r>
              <a:rPr lang="en-US" sz="1200" dirty="0">
                <a:solidFill>
                  <a:schemeClr val="tx1"/>
                </a:solidFill>
              </a:rPr>
              <a:t>Approval stores a hash of the figures; any change cancels it and reopens review.</a:t>
            </a:r>
            <a:endParaRPr lang="en-US" sz="1200" dirty="0"/>
          </a:p>
        </p:txBody>
      </p:sp>
      <p:sp>
        <p:nvSpPr>
          <p:cNvPr id="15" name="Shape 11"/>
          <p:cNvSpPr/>
          <p:nvPr/>
        </p:nvSpPr>
        <p:spPr>
          <a:xfrm>
            <a:off x="8019288" y="1737360"/>
            <a:ext cx="3611880" cy="1828800"/>
          </a:xfrm>
          <a:prstGeom prst="roundRect">
            <a:avLst>
              <a:gd name="adj" fmla="val 4000"/>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16" name="Shape 12"/>
          <p:cNvSpPr/>
          <p:nvPr/>
        </p:nvSpPr>
        <p:spPr>
          <a:xfrm>
            <a:off x="8220456" y="1938528"/>
            <a:ext cx="566928" cy="566928"/>
          </a:xfrm>
          <a:prstGeom prst="ellipse">
            <a:avLst/>
          </a:prstGeom>
          <a:solidFill>
            <a:srgbClr val="141416"/>
          </a:solidFill>
          <a:ln w="12700">
            <a:solidFill>
              <a:srgbClr val="141416"/>
            </a:solidFill>
            <a:prstDash val="solid"/>
          </a:ln>
        </p:spPr>
      </p:sp>
      <p:pic>
        <p:nvPicPr>
          <p:cNvPr id="17" name="Image 2" descr="preencoded.png">    </p:cNvPr>
          <p:cNvPicPr>
            <a:picLocks noChangeAspect="1"/>
          </p:cNvPicPr>
          <p:nvPr/>
        </p:nvPicPr>
        <p:blipFill>
          <a:blip r:embed="rId3"/>
          <a:stretch>
            <a:fillRect/>
          </a:stretch>
        </p:blipFill>
        <p:spPr>
          <a:xfrm>
            <a:off x="8356519" y="2074591"/>
            <a:ext cx="294803" cy="294803"/>
          </a:xfrm>
          <a:prstGeom prst="rect">
            <a:avLst/>
          </a:prstGeom>
        </p:spPr>
      </p:pic>
      <p:sp>
        <p:nvSpPr>
          <p:cNvPr id="18" name="Text 13"/>
          <p:cNvSpPr txBox="1"/>
          <p:nvPr/>
        </p:nvSpPr>
        <p:spPr>
          <a:xfrm>
            <a:off x="8933688" y="2011680"/>
            <a:ext cx="2560320" cy="365760"/>
          </a:xfrm>
          <a:prstGeom prst="rect">
            <a:avLst/>
          </a:prstGeom>
          <a:noFill/>
          <a:ln/>
        </p:spPr>
        <p:txBody>
          <a:bodyPr wrap="square" lIns="0" tIns="0" rIns="0" bIns="0" rtlCol="0" anchor="t"/>
          <a:lstStyle/>
          <a:p>
            <a:pPr indent="0" marL="0">
              <a:buNone/>
            </a:pPr>
            <a:r>
              <a:rPr lang="en-US" sz="1500" b="1" dirty="0">
                <a:solidFill>
                  <a:schemeClr val="tx2"/>
                </a:solidFill>
              </a:rPr>
              <a:t>Review checklist</a:t>
            </a:r>
            <a:endParaRPr lang="en-US" sz="1500" dirty="0"/>
          </a:p>
        </p:txBody>
      </p:sp>
      <p:sp>
        <p:nvSpPr>
          <p:cNvPr id="19" name="Text 14"/>
          <p:cNvSpPr txBox="1"/>
          <p:nvPr/>
        </p:nvSpPr>
        <p:spPr>
          <a:xfrm>
            <a:off x="8220456" y="2633472"/>
            <a:ext cx="3200400" cy="868680"/>
          </a:xfrm>
          <a:prstGeom prst="rect">
            <a:avLst/>
          </a:prstGeom>
          <a:noFill/>
          <a:ln/>
        </p:spPr>
        <p:txBody>
          <a:bodyPr wrap="square" lIns="0" tIns="0" rIns="0" bIns="0" rtlCol="0" anchor="t"/>
          <a:lstStyle/>
          <a:p>
            <a:pPr indent="0" marL="0">
              <a:buNone/>
            </a:pPr>
            <a:r>
              <a:rPr lang="en-US" sz="1200" dirty="0">
                <a:solidFill>
                  <a:schemeClr val="tx1"/>
                </a:solidFill>
              </a:rPr>
              <a:t>Mark Reviewed needs a saved Tax Review with every checklist item answered.</a:t>
            </a:r>
            <a:endParaRPr lang="en-US" sz="1200" dirty="0"/>
          </a:p>
        </p:txBody>
      </p:sp>
      <p:sp>
        <p:nvSpPr>
          <p:cNvPr id="20" name="Shape 15"/>
          <p:cNvSpPr/>
          <p:nvPr/>
        </p:nvSpPr>
        <p:spPr>
          <a:xfrm>
            <a:off x="502920" y="3749040"/>
            <a:ext cx="3611880" cy="1828800"/>
          </a:xfrm>
          <a:prstGeom prst="roundRect">
            <a:avLst>
              <a:gd name="adj" fmla="val 4000"/>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21" name="Shape 16"/>
          <p:cNvSpPr/>
          <p:nvPr/>
        </p:nvSpPr>
        <p:spPr>
          <a:xfrm>
            <a:off x="704088" y="3950208"/>
            <a:ext cx="566928" cy="566928"/>
          </a:xfrm>
          <a:prstGeom prst="ellipse">
            <a:avLst/>
          </a:prstGeom>
          <a:solidFill>
            <a:srgbClr val="141416"/>
          </a:solidFill>
          <a:ln w="12700">
            <a:solidFill>
              <a:srgbClr val="141416"/>
            </a:solidFill>
            <a:prstDash val="solid"/>
          </a:ln>
        </p:spPr>
      </p:sp>
      <p:pic>
        <p:nvPicPr>
          <p:cNvPr id="22" name="Image 3" descr="preencoded.png">    </p:cNvPr>
          <p:cNvPicPr>
            <a:picLocks noChangeAspect="1"/>
          </p:cNvPicPr>
          <p:nvPr/>
        </p:nvPicPr>
        <p:blipFill>
          <a:blip r:embed="rId4"/>
          <a:stretch>
            <a:fillRect/>
          </a:stretch>
        </p:blipFill>
        <p:spPr>
          <a:xfrm>
            <a:off x="840151" y="4086271"/>
            <a:ext cx="294803" cy="294803"/>
          </a:xfrm>
          <a:prstGeom prst="rect">
            <a:avLst/>
          </a:prstGeom>
        </p:spPr>
      </p:pic>
      <p:sp>
        <p:nvSpPr>
          <p:cNvPr id="23" name="Text 17"/>
          <p:cNvSpPr txBox="1"/>
          <p:nvPr/>
        </p:nvSpPr>
        <p:spPr>
          <a:xfrm>
            <a:off x="1417320" y="4023360"/>
            <a:ext cx="2560320" cy="365760"/>
          </a:xfrm>
          <a:prstGeom prst="rect">
            <a:avLst/>
          </a:prstGeom>
          <a:noFill/>
          <a:ln/>
        </p:spPr>
        <p:txBody>
          <a:bodyPr wrap="square" lIns="0" tIns="0" rIns="0" bIns="0" rtlCol="0" anchor="t"/>
          <a:lstStyle/>
          <a:p>
            <a:pPr indent="0" marL="0">
              <a:buNone/>
            </a:pPr>
            <a:r>
              <a:rPr lang="en-US" sz="1500" b="1" dirty="0">
                <a:solidFill>
                  <a:schemeClr val="tx2"/>
                </a:solidFill>
              </a:rPr>
              <a:t>IRIS evidence</a:t>
            </a:r>
            <a:endParaRPr lang="en-US" sz="1500" dirty="0"/>
          </a:p>
        </p:txBody>
      </p:sp>
      <p:sp>
        <p:nvSpPr>
          <p:cNvPr id="24" name="Text 18"/>
          <p:cNvSpPr txBox="1"/>
          <p:nvPr/>
        </p:nvSpPr>
        <p:spPr>
          <a:xfrm>
            <a:off x="704088" y="4645152"/>
            <a:ext cx="3200400" cy="868680"/>
          </a:xfrm>
          <a:prstGeom prst="rect">
            <a:avLst/>
          </a:prstGeom>
          <a:noFill/>
          <a:ln/>
        </p:spPr>
        <p:txBody>
          <a:bodyPr wrap="square" lIns="0" tIns="0" rIns="0" bIns="0" rtlCol="0" anchor="t"/>
          <a:lstStyle/>
          <a:p>
            <a:pPr indent="0" marL="0">
              <a:buNone/>
            </a:pPr>
            <a:r>
              <a:rPr lang="en-US" sz="1200" dirty="0">
                <a:solidFill>
                  <a:schemeClr val="tx1"/>
                </a:solidFill>
              </a:rPr>
              <a:t>Acknowledged only with the IRIS number and the FBR receipt attached.</a:t>
            </a:r>
            <a:endParaRPr lang="en-US" sz="1200" dirty="0"/>
          </a:p>
        </p:txBody>
      </p:sp>
      <p:sp>
        <p:nvSpPr>
          <p:cNvPr id="25" name="Shape 19"/>
          <p:cNvSpPr/>
          <p:nvPr/>
        </p:nvSpPr>
        <p:spPr>
          <a:xfrm>
            <a:off x="4261104" y="3749040"/>
            <a:ext cx="3611880" cy="1828800"/>
          </a:xfrm>
          <a:prstGeom prst="roundRect">
            <a:avLst>
              <a:gd name="adj" fmla="val 4000"/>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26" name="Shape 20"/>
          <p:cNvSpPr/>
          <p:nvPr/>
        </p:nvSpPr>
        <p:spPr>
          <a:xfrm>
            <a:off x="4462272" y="3950208"/>
            <a:ext cx="566928" cy="566928"/>
          </a:xfrm>
          <a:prstGeom prst="ellipse">
            <a:avLst/>
          </a:prstGeom>
          <a:solidFill>
            <a:srgbClr val="141416"/>
          </a:solidFill>
          <a:ln w="12700">
            <a:solidFill>
              <a:srgbClr val="141416"/>
            </a:solidFill>
            <a:prstDash val="solid"/>
          </a:ln>
        </p:spPr>
      </p:sp>
      <p:pic>
        <p:nvPicPr>
          <p:cNvPr id="27" name="Image 4" descr="preencoded.png">    </p:cNvPr>
          <p:cNvPicPr>
            <a:picLocks noChangeAspect="1"/>
          </p:cNvPicPr>
          <p:nvPr/>
        </p:nvPicPr>
        <p:blipFill>
          <a:blip r:embed="rId5"/>
          <a:stretch>
            <a:fillRect/>
          </a:stretch>
        </p:blipFill>
        <p:spPr>
          <a:xfrm>
            <a:off x="4598335" y="4086271"/>
            <a:ext cx="294803" cy="294803"/>
          </a:xfrm>
          <a:prstGeom prst="rect">
            <a:avLst/>
          </a:prstGeom>
        </p:spPr>
      </p:pic>
      <p:sp>
        <p:nvSpPr>
          <p:cNvPr id="28" name="Text 21"/>
          <p:cNvSpPr txBox="1"/>
          <p:nvPr/>
        </p:nvSpPr>
        <p:spPr>
          <a:xfrm>
            <a:off x="5175504" y="4023360"/>
            <a:ext cx="2560320" cy="365760"/>
          </a:xfrm>
          <a:prstGeom prst="rect">
            <a:avLst/>
          </a:prstGeom>
          <a:noFill/>
          <a:ln/>
        </p:spPr>
        <p:txBody>
          <a:bodyPr wrap="square" lIns="0" tIns="0" rIns="0" bIns="0" rtlCol="0" anchor="t"/>
          <a:lstStyle/>
          <a:p>
            <a:pPr indent="0" marL="0">
              <a:buNone/>
            </a:pPr>
            <a:r>
              <a:rPr lang="en-US" sz="1500" b="1" dirty="0">
                <a:solidFill>
                  <a:schemeClr val="tx2"/>
                </a:solidFill>
              </a:rPr>
              <a:t>Filed is final</a:t>
            </a:r>
            <a:endParaRPr lang="en-US" sz="1500" dirty="0"/>
          </a:p>
        </p:txBody>
      </p:sp>
      <p:sp>
        <p:nvSpPr>
          <p:cNvPr id="29" name="Text 22"/>
          <p:cNvSpPr txBox="1"/>
          <p:nvPr/>
        </p:nvSpPr>
        <p:spPr>
          <a:xfrm>
            <a:off x="4462272" y="4645152"/>
            <a:ext cx="3200400" cy="868680"/>
          </a:xfrm>
          <a:prstGeom prst="rect">
            <a:avLst/>
          </a:prstGeom>
          <a:noFill/>
          <a:ln/>
        </p:spPr>
        <p:txBody>
          <a:bodyPr wrap="square" lIns="0" tIns="0" rIns="0" bIns="0" rtlCol="0" anchor="t"/>
          <a:lstStyle/>
          <a:p>
            <a:pPr indent="0" marL="0">
              <a:buNone/>
            </a:pPr>
            <a:r>
              <a:rPr lang="en-US" sz="1200" dirty="0">
                <a:solidFill>
                  <a:schemeClr val="tx1"/>
                </a:solidFill>
              </a:rPr>
              <a:t>A filed return cannot change — a revised return is created instead.</a:t>
            </a:r>
            <a:endParaRPr lang="en-US" sz="1200" dirty="0"/>
          </a:p>
        </p:txBody>
      </p:sp>
      <p:sp>
        <p:nvSpPr>
          <p:cNvPr id="30" name="Shape 23"/>
          <p:cNvSpPr/>
          <p:nvPr/>
        </p:nvSpPr>
        <p:spPr>
          <a:xfrm>
            <a:off x="8019288" y="3749040"/>
            <a:ext cx="3611880" cy="1828800"/>
          </a:xfrm>
          <a:prstGeom prst="roundRect">
            <a:avLst>
              <a:gd name="adj" fmla="val 4000"/>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31" name="Shape 24"/>
          <p:cNvSpPr/>
          <p:nvPr/>
        </p:nvSpPr>
        <p:spPr>
          <a:xfrm>
            <a:off x="8220456" y="3950208"/>
            <a:ext cx="566928" cy="566928"/>
          </a:xfrm>
          <a:prstGeom prst="ellipse">
            <a:avLst/>
          </a:prstGeom>
          <a:solidFill>
            <a:srgbClr val="141416"/>
          </a:solidFill>
          <a:ln w="12700">
            <a:solidFill>
              <a:srgbClr val="141416"/>
            </a:solidFill>
            <a:prstDash val="solid"/>
          </a:ln>
        </p:spPr>
      </p:sp>
      <p:pic>
        <p:nvPicPr>
          <p:cNvPr id="32" name="Image 5" descr="preencoded.png">    </p:cNvPr>
          <p:cNvPicPr>
            <a:picLocks noChangeAspect="1"/>
          </p:cNvPicPr>
          <p:nvPr/>
        </p:nvPicPr>
        <p:blipFill>
          <a:blip r:embed="rId6"/>
          <a:stretch>
            <a:fillRect/>
          </a:stretch>
        </p:blipFill>
        <p:spPr>
          <a:xfrm>
            <a:off x="8356519" y="4086271"/>
            <a:ext cx="294803" cy="294803"/>
          </a:xfrm>
          <a:prstGeom prst="rect">
            <a:avLst/>
          </a:prstGeom>
        </p:spPr>
      </p:pic>
      <p:sp>
        <p:nvSpPr>
          <p:cNvPr id="33" name="Text 25"/>
          <p:cNvSpPr txBox="1"/>
          <p:nvPr/>
        </p:nvSpPr>
        <p:spPr>
          <a:xfrm>
            <a:off x="8933688" y="4023360"/>
            <a:ext cx="2560320" cy="365760"/>
          </a:xfrm>
          <a:prstGeom prst="rect">
            <a:avLst/>
          </a:prstGeom>
          <a:noFill/>
          <a:ln/>
        </p:spPr>
        <p:txBody>
          <a:bodyPr wrap="square" lIns="0" tIns="0" rIns="0" bIns="0" rtlCol="0" anchor="t"/>
          <a:lstStyle/>
          <a:p>
            <a:pPr indent="0" marL="0">
              <a:buNone/>
            </a:pPr>
            <a:r>
              <a:rPr lang="en-US" sz="1500" b="1" dirty="0">
                <a:solidFill>
                  <a:schemeClr val="tx2"/>
                </a:solidFill>
              </a:rPr>
              <a:t>Audit trail</a:t>
            </a:r>
            <a:endParaRPr lang="en-US" sz="1500" dirty="0"/>
          </a:p>
        </p:txBody>
      </p:sp>
      <p:sp>
        <p:nvSpPr>
          <p:cNvPr id="34" name="Text 26"/>
          <p:cNvSpPr txBox="1"/>
          <p:nvPr/>
        </p:nvSpPr>
        <p:spPr>
          <a:xfrm>
            <a:off x="8220456" y="4645152"/>
            <a:ext cx="3200400" cy="868680"/>
          </a:xfrm>
          <a:prstGeom prst="rect">
            <a:avLst/>
          </a:prstGeom>
          <a:noFill/>
          <a:ln/>
        </p:spPr>
        <p:txBody>
          <a:bodyPr wrap="square" lIns="0" tIns="0" rIns="0" bIns="0" rtlCol="0" anchor="t"/>
          <a:lstStyle/>
          <a:p>
            <a:pPr indent="0" marL="0">
              <a:buNone/>
            </a:pPr>
            <a:r>
              <a:rPr lang="en-US" sz="1200" dirty="0">
                <a:solidFill>
                  <a:schemeClr val="tx1"/>
                </a:solidFill>
              </a:rPr>
              <a:t>790 events: who moved what, from which state, when.</a:t>
            </a:r>
            <a:endParaRPr lang="en-US" sz="12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BILLING &amp; ACCOUNTING</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Packages, fee proofs and the ERPNext postings</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This season: Rs 554,000 billed · Rs 330,500 collected · Rs 223,500 outstanding</a:t>
            </a:r>
            <a:endParaRPr lang="en-US" sz="1300" dirty="0"/>
          </a:p>
        </p:txBody>
      </p:sp>
      <p:sp>
        <p:nvSpPr>
          <p:cNvPr id="5" name="Shape 3"/>
          <p:cNvSpPr/>
          <p:nvPr/>
        </p:nvSpPr>
        <p:spPr>
          <a:xfrm>
            <a:off x="1310610" y="1737360"/>
            <a:ext cx="621792" cy="621792"/>
          </a:xfrm>
          <a:prstGeom prst="ellipse">
            <a:avLst/>
          </a:prstGeom>
          <a:solidFill>
            <a:srgbClr val="141416"/>
          </a:solidFill>
          <a:ln w="12700">
            <a:solidFill>
              <a:srgbClr val="141416"/>
            </a:solidFill>
            <a:prstDash val="solid"/>
          </a:ln>
        </p:spPr>
      </p:sp>
      <p:pic>
        <p:nvPicPr>
          <p:cNvPr id="6" name="Image 0" descr="preencoded.png">    </p:cNvPr>
          <p:cNvPicPr>
            <a:picLocks noChangeAspect="1"/>
          </p:cNvPicPr>
          <p:nvPr/>
        </p:nvPicPr>
        <p:blipFill>
          <a:blip r:embed="rId1"/>
          <a:stretch>
            <a:fillRect/>
          </a:stretch>
        </p:blipFill>
        <p:spPr>
          <a:xfrm>
            <a:off x="1459840" y="1886590"/>
            <a:ext cx="323332" cy="323332"/>
          </a:xfrm>
          <a:prstGeom prst="rect">
            <a:avLst/>
          </a:prstGeom>
        </p:spPr>
      </p:pic>
      <p:sp>
        <p:nvSpPr>
          <p:cNvPr id="7" name="Shape 4"/>
          <p:cNvSpPr/>
          <p:nvPr/>
        </p:nvSpPr>
        <p:spPr>
          <a:xfrm>
            <a:off x="2005554" y="2048256"/>
            <a:ext cx="1469075" cy="0"/>
          </a:xfrm>
          <a:prstGeom prst="line">
            <a:avLst/>
          </a:prstGeom>
          <a:noFill/>
          <a:ln w="15875">
            <a:solidFill>
              <a:srgbClr val="A8811F"/>
            </a:solidFill>
            <a:prstDash val="solid"/>
            <a:tailEnd type="triangle"/>
          </a:ln>
        </p:spPr>
      </p:sp>
      <p:sp>
        <p:nvSpPr>
          <p:cNvPr id="8" name="Text 5"/>
          <p:cNvSpPr txBox="1"/>
          <p:nvPr/>
        </p:nvSpPr>
        <p:spPr>
          <a:xfrm>
            <a:off x="594360" y="2468880"/>
            <a:ext cx="2054291" cy="292608"/>
          </a:xfrm>
          <a:prstGeom prst="rect">
            <a:avLst/>
          </a:prstGeom>
          <a:noFill/>
          <a:ln/>
        </p:spPr>
        <p:txBody>
          <a:bodyPr wrap="square" lIns="0" tIns="0" rIns="0" bIns="0" rtlCol="0" anchor="t"/>
          <a:lstStyle/>
          <a:p>
            <a:pPr algn="ctr" indent="0" marL="0">
              <a:buNone/>
            </a:pPr>
            <a:r>
              <a:rPr lang="en-US" sz="1300" b="1" dirty="0">
                <a:solidFill>
                  <a:schemeClr val="tx2"/>
                </a:solidFill>
              </a:rPr>
              <a:t>Package chosen</a:t>
            </a:r>
            <a:endParaRPr lang="en-US" sz="1300" dirty="0"/>
          </a:p>
        </p:txBody>
      </p:sp>
      <p:sp>
        <p:nvSpPr>
          <p:cNvPr id="9" name="Text 6"/>
          <p:cNvSpPr txBox="1"/>
          <p:nvPr/>
        </p:nvSpPr>
        <p:spPr>
          <a:xfrm>
            <a:off x="594360" y="2770632"/>
            <a:ext cx="2054291" cy="548640"/>
          </a:xfrm>
          <a:prstGeom prst="rect">
            <a:avLst/>
          </a:prstGeom>
          <a:noFill/>
          <a:ln/>
        </p:spPr>
        <p:txBody>
          <a:bodyPr wrap="square" lIns="0" tIns="0" rIns="0" bIns="0" rtlCol="0" anchor="t"/>
          <a:lstStyle/>
          <a:p>
            <a:pPr algn="ctr" indent="0" marL="0">
              <a:buNone/>
            </a:pPr>
            <a:r>
              <a:rPr lang="en-US" sz="1100" dirty="0">
                <a:solidFill>
                  <a:srgbClr val="5F6470"/>
                </a:solidFill>
              </a:rPr>
              <a:t>Client orders in the portal (promo codes optional)</a:t>
            </a:r>
            <a:endParaRPr lang="en-US" sz="1100" dirty="0"/>
          </a:p>
        </p:txBody>
      </p:sp>
      <p:sp>
        <p:nvSpPr>
          <p:cNvPr id="10" name="Shape 7"/>
          <p:cNvSpPr/>
          <p:nvPr/>
        </p:nvSpPr>
        <p:spPr>
          <a:xfrm>
            <a:off x="3547781" y="1737360"/>
            <a:ext cx="621792" cy="621792"/>
          </a:xfrm>
          <a:prstGeom prst="ellipse">
            <a:avLst/>
          </a:prstGeom>
          <a:solidFill>
            <a:srgbClr val="141416"/>
          </a:solidFill>
          <a:ln w="12700">
            <a:solidFill>
              <a:srgbClr val="141416"/>
            </a:solidFill>
            <a:prstDash val="solid"/>
          </a:ln>
        </p:spPr>
      </p:sp>
      <p:pic>
        <p:nvPicPr>
          <p:cNvPr id="11" name="Image 1" descr="preencoded.png">    </p:cNvPr>
          <p:cNvPicPr>
            <a:picLocks noChangeAspect="1"/>
          </p:cNvPicPr>
          <p:nvPr/>
        </p:nvPicPr>
        <p:blipFill>
          <a:blip r:embed="rId2"/>
          <a:stretch>
            <a:fillRect/>
          </a:stretch>
        </p:blipFill>
        <p:spPr>
          <a:xfrm>
            <a:off x="3697011" y="1886590"/>
            <a:ext cx="323332" cy="323332"/>
          </a:xfrm>
          <a:prstGeom prst="rect">
            <a:avLst/>
          </a:prstGeom>
        </p:spPr>
      </p:pic>
      <p:sp>
        <p:nvSpPr>
          <p:cNvPr id="12" name="Shape 8"/>
          <p:cNvSpPr/>
          <p:nvPr/>
        </p:nvSpPr>
        <p:spPr>
          <a:xfrm>
            <a:off x="4242725" y="2048256"/>
            <a:ext cx="1469075" cy="0"/>
          </a:xfrm>
          <a:prstGeom prst="line">
            <a:avLst/>
          </a:prstGeom>
          <a:noFill/>
          <a:ln w="15875">
            <a:solidFill>
              <a:srgbClr val="A8811F"/>
            </a:solidFill>
            <a:prstDash val="solid"/>
            <a:tailEnd type="triangle"/>
          </a:ln>
        </p:spPr>
      </p:sp>
      <p:sp>
        <p:nvSpPr>
          <p:cNvPr id="13" name="Text 9"/>
          <p:cNvSpPr txBox="1"/>
          <p:nvPr/>
        </p:nvSpPr>
        <p:spPr>
          <a:xfrm>
            <a:off x="2831531" y="2468880"/>
            <a:ext cx="2054291" cy="292608"/>
          </a:xfrm>
          <a:prstGeom prst="rect">
            <a:avLst/>
          </a:prstGeom>
          <a:noFill/>
          <a:ln/>
        </p:spPr>
        <p:txBody>
          <a:bodyPr wrap="square" lIns="0" tIns="0" rIns="0" bIns="0" rtlCol="0" anchor="t"/>
          <a:lstStyle/>
          <a:p>
            <a:pPr algn="ctr" indent="0" marL="0">
              <a:buNone/>
            </a:pPr>
            <a:r>
              <a:rPr lang="en-US" sz="1300" b="1" dirty="0">
                <a:solidFill>
                  <a:schemeClr val="tx2"/>
                </a:solidFill>
              </a:rPr>
              <a:t>Engagement</a:t>
            </a:r>
            <a:endParaRPr lang="en-US" sz="1300" dirty="0"/>
          </a:p>
        </p:txBody>
      </p:sp>
      <p:sp>
        <p:nvSpPr>
          <p:cNvPr id="14" name="Text 10"/>
          <p:cNvSpPr txBox="1"/>
          <p:nvPr/>
        </p:nvSpPr>
        <p:spPr>
          <a:xfrm>
            <a:off x="2831531" y="2770632"/>
            <a:ext cx="2054291" cy="548640"/>
          </a:xfrm>
          <a:prstGeom prst="rect">
            <a:avLst/>
          </a:prstGeom>
          <a:noFill/>
          <a:ln/>
        </p:spPr>
        <p:txBody>
          <a:bodyPr wrap="square" lIns="0" tIns="0" rIns="0" bIns="0" rtlCol="0" anchor="t"/>
          <a:lstStyle/>
          <a:p>
            <a:pPr algn="ctr" indent="0" marL="0">
              <a:buNone/>
            </a:pPr>
            <a:r>
              <a:rPr lang="en-US" sz="1100" dirty="0">
                <a:solidFill>
                  <a:srgbClr val="5F6470"/>
                </a:solidFill>
              </a:rPr>
              <a:t>Fee, discount, payment status</a:t>
            </a:r>
            <a:endParaRPr lang="en-US" sz="1100" dirty="0"/>
          </a:p>
        </p:txBody>
      </p:sp>
      <p:sp>
        <p:nvSpPr>
          <p:cNvPr id="15" name="Shape 11"/>
          <p:cNvSpPr/>
          <p:nvPr/>
        </p:nvSpPr>
        <p:spPr>
          <a:xfrm>
            <a:off x="5784952" y="1737360"/>
            <a:ext cx="621792" cy="621792"/>
          </a:xfrm>
          <a:prstGeom prst="ellipse">
            <a:avLst/>
          </a:prstGeom>
          <a:solidFill>
            <a:srgbClr val="141416"/>
          </a:solidFill>
          <a:ln w="12700">
            <a:solidFill>
              <a:srgbClr val="141416"/>
            </a:solidFill>
            <a:prstDash val="solid"/>
          </a:ln>
        </p:spPr>
      </p:sp>
      <p:pic>
        <p:nvPicPr>
          <p:cNvPr id="16" name="Image 2" descr="preencoded.png">    </p:cNvPr>
          <p:cNvPicPr>
            <a:picLocks noChangeAspect="1"/>
          </p:cNvPicPr>
          <p:nvPr/>
        </p:nvPicPr>
        <p:blipFill>
          <a:blip r:embed="rId3"/>
          <a:stretch>
            <a:fillRect/>
          </a:stretch>
        </p:blipFill>
        <p:spPr>
          <a:xfrm>
            <a:off x="5934182" y="1886590"/>
            <a:ext cx="323332" cy="323332"/>
          </a:xfrm>
          <a:prstGeom prst="rect">
            <a:avLst/>
          </a:prstGeom>
        </p:spPr>
      </p:pic>
      <p:sp>
        <p:nvSpPr>
          <p:cNvPr id="17" name="Shape 12"/>
          <p:cNvSpPr/>
          <p:nvPr/>
        </p:nvSpPr>
        <p:spPr>
          <a:xfrm>
            <a:off x="6479896" y="2048256"/>
            <a:ext cx="1469075" cy="0"/>
          </a:xfrm>
          <a:prstGeom prst="line">
            <a:avLst/>
          </a:prstGeom>
          <a:noFill/>
          <a:ln w="15875">
            <a:solidFill>
              <a:srgbClr val="A8811F"/>
            </a:solidFill>
            <a:prstDash val="solid"/>
            <a:tailEnd type="triangle"/>
          </a:ln>
        </p:spPr>
      </p:sp>
      <p:sp>
        <p:nvSpPr>
          <p:cNvPr id="18" name="Text 13"/>
          <p:cNvSpPr txBox="1"/>
          <p:nvPr/>
        </p:nvSpPr>
        <p:spPr>
          <a:xfrm>
            <a:off x="5068702" y="2468880"/>
            <a:ext cx="2054291" cy="292608"/>
          </a:xfrm>
          <a:prstGeom prst="rect">
            <a:avLst/>
          </a:prstGeom>
          <a:noFill/>
          <a:ln/>
        </p:spPr>
        <p:txBody>
          <a:bodyPr wrap="square" lIns="0" tIns="0" rIns="0" bIns="0" rtlCol="0" anchor="t"/>
          <a:lstStyle/>
          <a:p>
            <a:pPr algn="ctr" indent="0" marL="0">
              <a:buNone/>
            </a:pPr>
            <a:r>
              <a:rPr lang="en-US" sz="1300" b="1" dirty="0">
                <a:solidFill>
                  <a:schemeClr val="tx2"/>
                </a:solidFill>
              </a:rPr>
              <a:t>Payment proof</a:t>
            </a:r>
            <a:endParaRPr lang="en-US" sz="1300" dirty="0"/>
          </a:p>
        </p:txBody>
      </p:sp>
      <p:sp>
        <p:nvSpPr>
          <p:cNvPr id="19" name="Text 14"/>
          <p:cNvSpPr txBox="1"/>
          <p:nvPr/>
        </p:nvSpPr>
        <p:spPr>
          <a:xfrm>
            <a:off x="5068702" y="2770632"/>
            <a:ext cx="2054291" cy="548640"/>
          </a:xfrm>
          <a:prstGeom prst="rect">
            <a:avLst/>
          </a:prstGeom>
          <a:noFill/>
          <a:ln/>
        </p:spPr>
        <p:txBody>
          <a:bodyPr wrap="square" lIns="0" tIns="0" rIns="0" bIns="0" rtlCol="0" anchor="t"/>
          <a:lstStyle/>
          <a:p>
            <a:pPr algn="ctr" indent="0" marL="0">
              <a:buNone/>
            </a:pPr>
            <a:r>
              <a:rPr lang="en-US" sz="1100" dirty="0">
                <a:solidFill>
                  <a:srgbClr val="5F6470"/>
                </a:solidFill>
              </a:rPr>
              <a:t>Raast / bank / JazzCash / Easypaisa reference</a:t>
            </a:r>
            <a:endParaRPr lang="en-US" sz="1100" dirty="0"/>
          </a:p>
        </p:txBody>
      </p:sp>
      <p:sp>
        <p:nvSpPr>
          <p:cNvPr id="20" name="Shape 15"/>
          <p:cNvSpPr/>
          <p:nvPr/>
        </p:nvSpPr>
        <p:spPr>
          <a:xfrm>
            <a:off x="8022123" y="1737360"/>
            <a:ext cx="621792" cy="621792"/>
          </a:xfrm>
          <a:prstGeom prst="ellipse">
            <a:avLst/>
          </a:prstGeom>
          <a:solidFill>
            <a:srgbClr val="141416"/>
          </a:solidFill>
          <a:ln w="12700">
            <a:solidFill>
              <a:srgbClr val="141416"/>
            </a:solidFill>
            <a:prstDash val="solid"/>
          </a:ln>
        </p:spPr>
      </p:sp>
      <p:pic>
        <p:nvPicPr>
          <p:cNvPr id="21" name="Image 3" descr="preencoded.png">    </p:cNvPr>
          <p:cNvPicPr>
            <a:picLocks noChangeAspect="1"/>
          </p:cNvPicPr>
          <p:nvPr/>
        </p:nvPicPr>
        <p:blipFill>
          <a:blip r:embed="rId4"/>
          <a:stretch>
            <a:fillRect/>
          </a:stretch>
        </p:blipFill>
        <p:spPr>
          <a:xfrm>
            <a:off x="8171353" y="1886590"/>
            <a:ext cx="323332" cy="323332"/>
          </a:xfrm>
          <a:prstGeom prst="rect">
            <a:avLst/>
          </a:prstGeom>
        </p:spPr>
      </p:pic>
      <p:sp>
        <p:nvSpPr>
          <p:cNvPr id="22" name="Shape 16"/>
          <p:cNvSpPr/>
          <p:nvPr/>
        </p:nvSpPr>
        <p:spPr>
          <a:xfrm>
            <a:off x="8717067" y="2048256"/>
            <a:ext cx="1469075" cy="0"/>
          </a:xfrm>
          <a:prstGeom prst="line">
            <a:avLst/>
          </a:prstGeom>
          <a:noFill/>
          <a:ln w="15875">
            <a:solidFill>
              <a:srgbClr val="A8811F"/>
            </a:solidFill>
            <a:prstDash val="solid"/>
            <a:tailEnd type="triangle"/>
          </a:ln>
        </p:spPr>
      </p:sp>
      <p:sp>
        <p:nvSpPr>
          <p:cNvPr id="23" name="Text 17"/>
          <p:cNvSpPr txBox="1"/>
          <p:nvPr/>
        </p:nvSpPr>
        <p:spPr>
          <a:xfrm>
            <a:off x="7305873" y="2468880"/>
            <a:ext cx="2054291" cy="292608"/>
          </a:xfrm>
          <a:prstGeom prst="rect">
            <a:avLst/>
          </a:prstGeom>
          <a:noFill/>
          <a:ln/>
        </p:spPr>
        <p:txBody>
          <a:bodyPr wrap="square" lIns="0" tIns="0" rIns="0" bIns="0" rtlCol="0" anchor="t"/>
          <a:lstStyle/>
          <a:p>
            <a:pPr algn="ctr" indent="0" marL="0">
              <a:buNone/>
            </a:pPr>
            <a:r>
              <a:rPr lang="en-US" sz="1300" b="1" dirty="0">
                <a:solidFill>
                  <a:schemeClr val="tx2"/>
                </a:solidFill>
              </a:rPr>
              <a:t>Verified by admin</a:t>
            </a:r>
            <a:endParaRPr lang="en-US" sz="1300" dirty="0"/>
          </a:p>
        </p:txBody>
      </p:sp>
      <p:sp>
        <p:nvSpPr>
          <p:cNvPr id="24" name="Text 18"/>
          <p:cNvSpPr txBox="1"/>
          <p:nvPr/>
        </p:nvSpPr>
        <p:spPr>
          <a:xfrm>
            <a:off x="7305873" y="2770632"/>
            <a:ext cx="2054291" cy="548640"/>
          </a:xfrm>
          <a:prstGeom prst="rect">
            <a:avLst/>
          </a:prstGeom>
          <a:noFill/>
          <a:ln/>
        </p:spPr>
        <p:txBody>
          <a:bodyPr wrap="square" lIns="0" tIns="0" rIns="0" bIns="0" rtlCol="0" anchor="t"/>
          <a:lstStyle/>
          <a:p>
            <a:pPr algn="ctr" indent="0" marL="0">
              <a:buNone/>
            </a:pPr>
            <a:r>
              <a:rPr lang="en-US" sz="1100" dirty="0">
                <a:solidFill>
                  <a:srgbClr val="5F6470"/>
                </a:solidFill>
              </a:rPr>
              <a:t>Approve or reject with reason</a:t>
            </a:r>
            <a:endParaRPr lang="en-US" sz="1100" dirty="0"/>
          </a:p>
        </p:txBody>
      </p:sp>
      <p:sp>
        <p:nvSpPr>
          <p:cNvPr id="25" name="Shape 19"/>
          <p:cNvSpPr/>
          <p:nvPr/>
        </p:nvSpPr>
        <p:spPr>
          <a:xfrm>
            <a:off x="10259294" y="1737360"/>
            <a:ext cx="621792" cy="621792"/>
          </a:xfrm>
          <a:prstGeom prst="ellipse">
            <a:avLst/>
          </a:prstGeom>
          <a:solidFill>
            <a:srgbClr val="A8811F"/>
          </a:solidFill>
          <a:ln w="12700">
            <a:solidFill>
              <a:srgbClr val="A8811F"/>
            </a:solidFill>
            <a:prstDash val="solid"/>
          </a:ln>
        </p:spPr>
      </p:sp>
      <p:pic>
        <p:nvPicPr>
          <p:cNvPr id="26" name="Image 4" descr="preencoded.png">    </p:cNvPr>
          <p:cNvPicPr>
            <a:picLocks noChangeAspect="1"/>
          </p:cNvPicPr>
          <p:nvPr/>
        </p:nvPicPr>
        <p:blipFill>
          <a:blip r:embed="rId5"/>
          <a:stretch>
            <a:fillRect/>
          </a:stretch>
        </p:blipFill>
        <p:spPr>
          <a:xfrm>
            <a:off x="10408524" y="1886590"/>
            <a:ext cx="323332" cy="323332"/>
          </a:xfrm>
          <a:prstGeom prst="rect">
            <a:avLst/>
          </a:prstGeom>
        </p:spPr>
      </p:pic>
      <p:sp>
        <p:nvSpPr>
          <p:cNvPr id="27" name="Text 20"/>
          <p:cNvSpPr txBox="1"/>
          <p:nvPr/>
        </p:nvSpPr>
        <p:spPr>
          <a:xfrm>
            <a:off x="9543044" y="2468880"/>
            <a:ext cx="2054291" cy="292608"/>
          </a:xfrm>
          <a:prstGeom prst="rect">
            <a:avLst/>
          </a:prstGeom>
          <a:noFill/>
          <a:ln/>
        </p:spPr>
        <p:txBody>
          <a:bodyPr wrap="square" lIns="0" tIns="0" rIns="0" bIns="0" rtlCol="0" anchor="t"/>
          <a:lstStyle/>
          <a:p>
            <a:pPr algn="ctr" indent="0" marL="0">
              <a:buNone/>
            </a:pPr>
            <a:r>
              <a:rPr lang="en-US" sz="1300" b="1" dirty="0">
                <a:solidFill>
                  <a:schemeClr val="tx2"/>
                </a:solidFill>
              </a:rPr>
              <a:t>Posted to accounts</a:t>
            </a:r>
            <a:endParaRPr lang="en-US" sz="1300" dirty="0"/>
          </a:p>
        </p:txBody>
      </p:sp>
      <p:sp>
        <p:nvSpPr>
          <p:cNvPr id="28" name="Text 21"/>
          <p:cNvSpPr txBox="1"/>
          <p:nvPr/>
        </p:nvSpPr>
        <p:spPr>
          <a:xfrm>
            <a:off x="9543044" y="2770632"/>
            <a:ext cx="2054291" cy="548640"/>
          </a:xfrm>
          <a:prstGeom prst="rect">
            <a:avLst/>
          </a:prstGeom>
          <a:noFill/>
          <a:ln/>
        </p:spPr>
        <p:txBody>
          <a:bodyPr wrap="square" lIns="0" tIns="0" rIns="0" bIns="0" rtlCol="0" anchor="t"/>
          <a:lstStyle/>
          <a:p>
            <a:pPr algn="ctr" indent="0" marL="0">
              <a:buNone/>
            </a:pPr>
            <a:r>
              <a:rPr lang="en-US" sz="1100" dirty="0">
                <a:solidFill>
                  <a:srgbClr val="5F6470"/>
                </a:solidFill>
              </a:rPr>
              <a:t>Sales Invoice + Payment Entry in ERPNext</a:t>
            </a:r>
            <a:endParaRPr lang="en-US" sz="1100" dirty="0"/>
          </a:p>
        </p:txBody>
      </p:sp>
      <p:sp>
        <p:nvSpPr>
          <p:cNvPr id="29" name="Shape 22"/>
          <p:cNvSpPr/>
          <p:nvPr/>
        </p:nvSpPr>
        <p:spPr>
          <a:xfrm>
            <a:off x="502920" y="3611880"/>
            <a:ext cx="5486400" cy="2606040"/>
          </a:xfrm>
          <a:prstGeom prst="roundRect">
            <a:avLst>
              <a:gd name="adj" fmla="val 2807"/>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30" name="Text 23"/>
          <p:cNvSpPr txBox="1"/>
          <p:nvPr/>
        </p:nvSpPr>
        <p:spPr>
          <a:xfrm>
            <a:off x="685800" y="3730752"/>
            <a:ext cx="5120640" cy="274320"/>
          </a:xfrm>
          <a:prstGeom prst="rect">
            <a:avLst/>
          </a:prstGeom>
          <a:noFill/>
          <a:ln/>
        </p:spPr>
        <p:txBody>
          <a:bodyPr wrap="square" lIns="0" tIns="0" rIns="0" bIns="0" rtlCol="0" anchor="t"/>
          <a:lstStyle/>
          <a:p>
            <a:pPr indent="0" marL="0">
              <a:buNone/>
            </a:pPr>
            <a:r>
              <a:rPr lang="en-US" sz="1400" b="1" dirty="0">
                <a:solidFill>
                  <a:schemeClr val="tx2"/>
                </a:solidFill>
              </a:rPr>
              <a:t>Packages on the website</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5800" y="4069080"/>
          <a:ext cx="5120640" cy="914400"/>
        </p:xfrm>
        <a:graphic>
          <a:graphicData uri="http://schemas.openxmlformats.org/drawingml/2006/table">
            <a:tbl>
              <a:tblPr/>
              <a:tblGrid>
                <a:gridCol w="1417320"/>
                <a:gridCol w="1600200"/>
                <a:gridCol w="1188720"/>
                <a:gridCol w="914400"/>
              </a:tblGrid>
              <a:tr h="0">
                <a:tc>
                  <a:txBody>
                    <a:bodyPr/>
                    <a:lstStyle/>
                    <a:p>
                      <a:pPr indent="0" marL="0">
                        <a:buNone/>
                      </a:pPr>
                      <a:r>
                        <a:rPr lang="en-US" sz="1100" b="1" dirty="0">
                          <a:solidFill>
                            <a:srgbClr val="D4AF37"/>
                          </a:solidFill>
                        </a:rPr>
                        <a:t>Package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indent="0" marL="0">
                        <a:buNone/>
                      </a:pPr>
                      <a:r>
                        <a:rPr lang="en-US" sz="1100" b="1" dirty="0">
                          <a:solidFill>
                            <a:srgbClr val="D4AF37"/>
                          </a:solidFill>
                        </a:rPr>
                        <a:t>Service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indent="0" marL="0">
                        <a:buNone/>
                      </a:pPr>
                      <a:r>
                        <a:rPr lang="en-US" sz="1100" b="1" dirty="0">
                          <a:solidFill>
                            <a:srgbClr val="D4AF37"/>
                          </a:solidFill>
                        </a:rPr>
                        <a:t>Turnaround</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algn="r" indent="0" marL="0">
                        <a:buNone/>
                      </a:pPr>
                      <a:r>
                        <a:rPr lang="en-US" sz="1100" b="1" dirty="0">
                          <a:solidFill>
                            <a:srgbClr val="D4AF37"/>
                          </a:solidFill>
                        </a:rPr>
                        <a:t>Price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r>
              <a:tr h="0">
                <a:tc>
                  <a:txBody>
                    <a:bodyPr/>
                    <a:lstStyle/>
                    <a:p>
                      <a:pPr indent="0" marL="0">
                        <a:buNone/>
                      </a:pPr>
                      <a:r>
                        <a:rPr lang="en-US" sz="1100" b="1" dirty="0">
                          <a:solidFill>
                            <a:schemeClr val="tx1"/>
                          </a:solidFill>
                        </a:rPr>
                        <a:t>Basic Filing</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Income Tax Return Filing</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3–5 working days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dirty="0">
                          <a:solidFill>
                            <a:schemeClr val="tx1"/>
                          </a:solidFill>
                        </a:rPr>
                        <a:t>Rs 4,500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b="1" dirty="0">
                          <a:solidFill>
                            <a:schemeClr val="tx1"/>
                          </a:solidFill>
                        </a:rPr>
                        <a:t>Express Filing</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Income Tax Return Filing</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24–48 hours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dirty="0">
                          <a:solidFill>
                            <a:schemeClr val="tx1"/>
                          </a:solidFill>
                        </a:rPr>
                        <a:t>Rs 10,000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b="1" dirty="0">
                          <a:solidFill>
                            <a:schemeClr val="tx1"/>
                          </a:solidFill>
                        </a:rPr>
                        <a:t>Consultant Plus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Income Tax Return Filing</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By appointment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dirty="0">
                          <a:solidFill>
                            <a:schemeClr val="tx1"/>
                          </a:solidFill>
                        </a:rPr>
                        <a:t>Rs 20,000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0">
                <a:tc>
                  <a:txBody>
                    <a:bodyPr/>
                    <a:lstStyle/>
                    <a:p>
                      <a:pPr indent="0" marL="0">
                        <a:buNone/>
                      </a:pPr>
                      <a:r>
                        <a:rPr lang="en-US" sz="1100" b="1" dirty="0">
                          <a:solidFill>
                            <a:schemeClr val="tx1"/>
                          </a:solidFill>
                        </a:rPr>
                        <a:t>NTN Registration</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NTN Registration</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100" dirty="0">
                          <a:solidFill>
                            <a:schemeClr val="tx1"/>
                          </a:solidFill>
                        </a:rPr>
                        <a:t>1–2 working days</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r" indent="0" marL="0">
                        <a:buNone/>
                      </a:pPr>
                      <a:r>
                        <a:rPr lang="en-US" sz="1100" dirty="0">
                          <a:solidFill>
                            <a:schemeClr val="tx1"/>
                          </a:solidFill>
                        </a:rPr>
                        <a:t>Rs 2,000</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bl>
          </a:graphicData>
        </a:graphic>
      </p:graphicFrame>
      <p:sp>
        <p:nvSpPr>
          <p:cNvPr id="32" name="Shape 24"/>
          <p:cNvSpPr/>
          <p:nvPr/>
        </p:nvSpPr>
        <p:spPr>
          <a:xfrm>
            <a:off x="6263640" y="3611880"/>
            <a:ext cx="5422392" cy="2606040"/>
          </a:xfrm>
          <a:prstGeom prst="roundRect">
            <a:avLst>
              <a:gd name="adj" fmla="val 2807"/>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33" name="Text 25"/>
          <p:cNvSpPr txBox="1"/>
          <p:nvPr/>
        </p:nvSpPr>
        <p:spPr>
          <a:xfrm>
            <a:off x="6446520" y="3730752"/>
            <a:ext cx="5029200" cy="274320"/>
          </a:xfrm>
          <a:prstGeom prst="rect">
            <a:avLst/>
          </a:prstGeom>
          <a:noFill/>
          <a:ln/>
        </p:spPr>
        <p:txBody>
          <a:bodyPr wrap="square" lIns="0" tIns="0" rIns="0" bIns="0" rtlCol="0" anchor="t"/>
          <a:lstStyle/>
          <a:p>
            <a:pPr indent="0" marL="0">
              <a:buNone/>
            </a:pPr>
            <a:r>
              <a:rPr lang="en-US" sz="1400" b="1" dirty="0">
                <a:solidFill>
                  <a:schemeClr val="tx2"/>
                </a:solidFill>
              </a:rPr>
              <a:t>Packages sold · TY2026</a:t>
            </a:r>
            <a:endParaRPr lang="en-US" sz="1400" dirty="0"/>
          </a:p>
        </p:txBody>
      </p:sp>
      <p:graphicFrame>
        <p:nvGraphicFramePr>
          <p:cNvPr id="34" name="Chart 0" descr=""/>
          <p:cNvGraphicFramePr/>
          <p:nvPr/>
        </p:nvGraphicFramePr>
        <p:xfrm>
          <a:off x="6446520" y="4023360"/>
          <a:ext cx="5074920" cy="2103120"/>
        </p:xfrm>
        <a:graphic xmlns:a="http://schemas.openxmlformats.org/drawingml/2006/main">
          <a:graphicData uri="http://schemas.openxmlformats.org/drawingml/2006/chart">
            <c:chart xmlns:c="http://schemas.openxmlformats.org/drawingml/2006/chart" r:id="rId6"/>
          </a:graphicData>
        </a:graphic>
      </p:graphicFrame>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INSIGHTS &amp; REPORT CENTER</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The season at a glance, and every report</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Insights and reports are scoped like everything else: a consultant sees only their own clients</a:t>
            </a:r>
            <a:endParaRPr lang="en-US" sz="1300" dirty="0"/>
          </a:p>
        </p:txBody>
      </p:sp>
      <p:sp>
        <p:nvSpPr>
          <p:cNvPr id="5" name="Shape 3"/>
          <p:cNvSpPr/>
          <p:nvPr/>
        </p:nvSpPr>
        <p:spPr>
          <a:xfrm>
            <a:off x="502920" y="1737360"/>
            <a:ext cx="2624328" cy="960120"/>
          </a:xfrm>
          <a:prstGeom prst="roundRect">
            <a:avLst>
              <a:gd name="adj" fmla="val 7619"/>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6" name="Text 4"/>
          <p:cNvSpPr txBox="1"/>
          <p:nvPr/>
        </p:nvSpPr>
        <p:spPr>
          <a:xfrm>
            <a:off x="685800" y="1810512"/>
            <a:ext cx="2286000" cy="502920"/>
          </a:xfrm>
          <a:prstGeom prst="rect">
            <a:avLst/>
          </a:prstGeom>
          <a:noFill/>
          <a:ln/>
        </p:spPr>
        <p:txBody>
          <a:bodyPr wrap="square" lIns="0" tIns="0" rIns="0" bIns="0" rtlCol="0" anchor="t"/>
          <a:lstStyle/>
          <a:p>
            <a:pPr indent="0" marL="0">
              <a:buNone/>
            </a:pPr>
            <a:r>
              <a:rPr lang="en-US" sz="2600" b="1" dirty="0">
                <a:solidFill>
                  <a:srgbClr val="A8811F"/>
                </a:solidFill>
                <a:latin typeface="Cambria" pitchFamily="34" charset="0"/>
                <a:ea typeface="Cambria" pitchFamily="34" charset="-122"/>
                <a:cs typeface="Cambria" pitchFamily="34" charset="-120"/>
              </a:rPr>
              <a:t>13 / 54</a:t>
            </a:r>
            <a:endParaRPr lang="en-US" sz="2600" dirty="0"/>
          </a:p>
        </p:txBody>
      </p:sp>
      <p:sp>
        <p:nvSpPr>
          <p:cNvPr id="7" name="Text 5"/>
          <p:cNvSpPr txBox="1"/>
          <p:nvPr/>
        </p:nvSpPr>
        <p:spPr>
          <a:xfrm>
            <a:off x="685800" y="2331720"/>
            <a:ext cx="2286000" cy="274320"/>
          </a:xfrm>
          <a:prstGeom prst="rect">
            <a:avLst/>
          </a:prstGeom>
          <a:noFill/>
          <a:ln/>
        </p:spPr>
        <p:txBody>
          <a:bodyPr wrap="square" lIns="0" tIns="0" rIns="0" bIns="0" rtlCol="0" anchor="t"/>
          <a:lstStyle/>
          <a:p>
            <a:pPr indent="0" marL="0">
              <a:buNone/>
            </a:pPr>
            <a:r>
              <a:rPr lang="en-US" sz="1100" dirty="0">
                <a:solidFill>
                  <a:srgbClr val="5F6470"/>
                </a:solidFill>
              </a:rPr>
              <a:t>returns filed</a:t>
            </a:r>
            <a:endParaRPr lang="en-US" sz="1100" dirty="0"/>
          </a:p>
        </p:txBody>
      </p:sp>
      <p:sp>
        <p:nvSpPr>
          <p:cNvPr id="8" name="Shape 6"/>
          <p:cNvSpPr/>
          <p:nvPr/>
        </p:nvSpPr>
        <p:spPr>
          <a:xfrm>
            <a:off x="3310128" y="1737360"/>
            <a:ext cx="2624328" cy="960120"/>
          </a:xfrm>
          <a:prstGeom prst="roundRect">
            <a:avLst>
              <a:gd name="adj" fmla="val 7619"/>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9" name="Text 7"/>
          <p:cNvSpPr txBox="1"/>
          <p:nvPr/>
        </p:nvSpPr>
        <p:spPr>
          <a:xfrm>
            <a:off x="3493008" y="1810512"/>
            <a:ext cx="2286000" cy="502920"/>
          </a:xfrm>
          <a:prstGeom prst="rect">
            <a:avLst/>
          </a:prstGeom>
          <a:noFill/>
          <a:ln/>
        </p:spPr>
        <p:txBody>
          <a:bodyPr wrap="square" lIns="0" tIns="0" rIns="0" bIns="0" rtlCol="0" anchor="t"/>
          <a:lstStyle/>
          <a:p>
            <a:pPr indent="0" marL="0">
              <a:buNone/>
            </a:pPr>
            <a:r>
              <a:rPr lang="en-US" sz="2600" b="1" dirty="0">
                <a:solidFill>
                  <a:srgbClr val="A8811F"/>
                </a:solidFill>
                <a:latin typeface="Cambria" pitchFamily="34" charset="0"/>
                <a:ea typeface="Cambria" pitchFamily="34" charset="-122"/>
                <a:cs typeface="Cambria" pitchFamily="34" charset="-120"/>
              </a:rPr>
              <a:t>26.6 d</a:t>
            </a:r>
            <a:endParaRPr lang="en-US" sz="2600" dirty="0"/>
          </a:p>
        </p:txBody>
      </p:sp>
      <p:sp>
        <p:nvSpPr>
          <p:cNvPr id="10" name="Text 8"/>
          <p:cNvSpPr txBox="1"/>
          <p:nvPr/>
        </p:nvSpPr>
        <p:spPr>
          <a:xfrm>
            <a:off x="3493008" y="2331720"/>
            <a:ext cx="2286000" cy="274320"/>
          </a:xfrm>
          <a:prstGeom prst="rect">
            <a:avLst/>
          </a:prstGeom>
          <a:noFill/>
          <a:ln/>
        </p:spPr>
        <p:txBody>
          <a:bodyPr wrap="square" lIns="0" tIns="0" rIns="0" bIns="0" rtlCol="0" anchor="t"/>
          <a:lstStyle/>
          <a:p>
            <a:pPr indent="0" marL="0">
              <a:buNone/>
            </a:pPr>
            <a:r>
              <a:rPr lang="en-US" sz="1100" dirty="0">
                <a:solidFill>
                  <a:srgbClr val="5F6470"/>
                </a:solidFill>
              </a:rPr>
              <a:t>order → IRIS ack (avg)</a:t>
            </a:r>
            <a:endParaRPr lang="en-US" sz="1100" dirty="0"/>
          </a:p>
        </p:txBody>
      </p:sp>
      <p:sp>
        <p:nvSpPr>
          <p:cNvPr id="11" name="Shape 9"/>
          <p:cNvSpPr/>
          <p:nvPr/>
        </p:nvSpPr>
        <p:spPr>
          <a:xfrm>
            <a:off x="6117336" y="1737360"/>
            <a:ext cx="2624328" cy="960120"/>
          </a:xfrm>
          <a:prstGeom prst="roundRect">
            <a:avLst>
              <a:gd name="adj" fmla="val 7619"/>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12" name="Text 10"/>
          <p:cNvSpPr txBox="1"/>
          <p:nvPr/>
        </p:nvSpPr>
        <p:spPr>
          <a:xfrm>
            <a:off x="6300216" y="1810512"/>
            <a:ext cx="2286000" cy="502920"/>
          </a:xfrm>
          <a:prstGeom prst="rect">
            <a:avLst/>
          </a:prstGeom>
          <a:noFill/>
          <a:ln/>
        </p:spPr>
        <p:txBody>
          <a:bodyPr wrap="square" lIns="0" tIns="0" rIns="0" bIns="0" rtlCol="0" anchor="t"/>
          <a:lstStyle/>
          <a:p>
            <a:pPr indent="0" marL="0">
              <a:buNone/>
            </a:pPr>
            <a:r>
              <a:rPr lang="en-US" sz="2600" b="1" dirty="0">
                <a:solidFill>
                  <a:srgbClr val="A8811F"/>
                </a:solidFill>
                <a:latin typeface="Cambria" pitchFamily="34" charset="0"/>
                <a:ea typeface="Cambria" pitchFamily="34" charset="-122"/>
                <a:cs typeface="Cambria" pitchFamily="34" charset="-120"/>
              </a:rPr>
              <a:t>73%</a:t>
            </a:r>
            <a:endParaRPr lang="en-US" sz="2600" dirty="0"/>
          </a:p>
        </p:txBody>
      </p:sp>
      <p:sp>
        <p:nvSpPr>
          <p:cNvPr id="13" name="Text 11"/>
          <p:cNvSpPr txBox="1"/>
          <p:nvPr/>
        </p:nvSpPr>
        <p:spPr>
          <a:xfrm>
            <a:off x="6300216" y="2331720"/>
            <a:ext cx="2286000" cy="274320"/>
          </a:xfrm>
          <a:prstGeom prst="rect">
            <a:avLst/>
          </a:prstGeom>
          <a:noFill/>
          <a:ln/>
        </p:spPr>
        <p:txBody>
          <a:bodyPr wrap="square" lIns="0" tIns="0" rIns="0" bIns="0" rtlCol="0" anchor="t"/>
          <a:lstStyle/>
          <a:p>
            <a:pPr indent="0" marL="0">
              <a:buNone/>
            </a:pPr>
            <a:r>
              <a:rPr lang="en-US" sz="1100" dirty="0">
                <a:solidFill>
                  <a:srgbClr val="5F6470"/>
                </a:solidFill>
              </a:rPr>
              <a:t>field visits → clients</a:t>
            </a:r>
            <a:endParaRPr lang="en-US" sz="1100" dirty="0"/>
          </a:p>
        </p:txBody>
      </p:sp>
      <p:sp>
        <p:nvSpPr>
          <p:cNvPr id="14" name="Shape 12"/>
          <p:cNvSpPr/>
          <p:nvPr/>
        </p:nvSpPr>
        <p:spPr>
          <a:xfrm>
            <a:off x="8924544" y="1737360"/>
            <a:ext cx="2624328" cy="960120"/>
          </a:xfrm>
          <a:prstGeom prst="roundRect">
            <a:avLst>
              <a:gd name="adj" fmla="val 7619"/>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15" name="Text 13"/>
          <p:cNvSpPr txBox="1"/>
          <p:nvPr/>
        </p:nvSpPr>
        <p:spPr>
          <a:xfrm>
            <a:off x="9107424" y="1810512"/>
            <a:ext cx="2286000" cy="502920"/>
          </a:xfrm>
          <a:prstGeom prst="rect">
            <a:avLst/>
          </a:prstGeom>
          <a:noFill/>
          <a:ln/>
        </p:spPr>
        <p:txBody>
          <a:bodyPr wrap="square" lIns="0" tIns="0" rIns="0" bIns="0" rtlCol="0" anchor="t"/>
          <a:lstStyle/>
          <a:p>
            <a:pPr indent="0" marL="0">
              <a:buNone/>
            </a:pPr>
            <a:r>
              <a:rPr lang="en-US" sz="2600" b="1" dirty="0">
                <a:solidFill>
                  <a:srgbClr val="A8811F"/>
                </a:solidFill>
                <a:latin typeface="Cambria" pitchFamily="34" charset="0"/>
                <a:ea typeface="Cambria" pitchFamily="34" charset="-122"/>
                <a:cs typeface="Cambria" pitchFamily="34" charset="-120"/>
              </a:rPr>
              <a:t>Rs 223,500</a:t>
            </a:r>
            <a:endParaRPr lang="en-US" sz="2600" dirty="0"/>
          </a:p>
        </p:txBody>
      </p:sp>
      <p:sp>
        <p:nvSpPr>
          <p:cNvPr id="16" name="Text 14"/>
          <p:cNvSpPr txBox="1"/>
          <p:nvPr/>
        </p:nvSpPr>
        <p:spPr>
          <a:xfrm>
            <a:off x="9107424" y="2331720"/>
            <a:ext cx="2286000" cy="274320"/>
          </a:xfrm>
          <a:prstGeom prst="rect">
            <a:avLst/>
          </a:prstGeom>
          <a:noFill/>
          <a:ln/>
        </p:spPr>
        <p:txBody>
          <a:bodyPr wrap="square" lIns="0" tIns="0" rIns="0" bIns="0" rtlCol="0" anchor="t"/>
          <a:lstStyle/>
          <a:p>
            <a:pPr indent="0" marL="0">
              <a:buNone/>
            </a:pPr>
            <a:r>
              <a:rPr lang="en-US" sz="1100" dirty="0">
                <a:solidFill>
                  <a:srgbClr val="5F6470"/>
                </a:solidFill>
              </a:rPr>
              <a:t>fees outstanding</a:t>
            </a:r>
            <a:endParaRPr lang="en-US" sz="1100" dirty="0"/>
          </a:p>
        </p:txBody>
      </p:sp>
      <p:sp>
        <p:nvSpPr>
          <p:cNvPr id="17" name="Shape 15"/>
          <p:cNvSpPr/>
          <p:nvPr/>
        </p:nvSpPr>
        <p:spPr>
          <a:xfrm>
            <a:off x="502920" y="2880360"/>
            <a:ext cx="6949440" cy="3337560"/>
          </a:xfrm>
          <a:prstGeom prst="roundRect">
            <a:avLst>
              <a:gd name="adj" fmla="val 2192"/>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graphicFrame>
        <p:nvGraphicFramePr>
          <p:cNvPr id="18" name="Chart 0" descr=""/>
          <p:cNvGraphicFramePr/>
          <p:nvPr/>
        </p:nvGraphicFramePr>
        <p:xfrm>
          <a:off x="640080" y="2971800"/>
          <a:ext cx="6675120" cy="3154680"/>
        </p:xfrm>
        <a:graphic xmlns:a="http://schemas.openxmlformats.org/drawingml/2006/main">
          <a:graphicData uri="http://schemas.openxmlformats.org/drawingml/2006/chart">
            <c:chart xmlns:c="http://schemas.openxmlformats.org/drawingml/2006/chart" r:id="rId1"/>
          </a:graphicData>
        </a:graphic>
      </p:graphicFrame>
      <p:sp>
        <p:nvSpPr>
          <p:cNvPr id="19" name="Shape 16"/>
          <p:cNvSpPr/>
          <p:nvPr/>
        </p:nvSpPr>
        <p:spPr>
          <a:xfrm>
            <a:off x="7635240" y="2880360"/>
            <a:ext cx="4050792" cy="3337560"/>
          </a:xfrm>
          <a:prstGeom prst="roundRect">
            <a:avLst>
              <a:gd name="adj" fmla="val 2192"/>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20" name="Text 17"/>
          <p:cNvSpPr txBox="1"/>
          <p:nvPr/>
        </p:nvSpPr>
        <p:spPr>
          <a:xfrm>
            <a:off x="7818120" y="2999232"/>
            <a:ext cx="3657600" cy="274320"/>
          </a:xfrm>
          <a:prstGeom prst="rect">
            <a:avLst/>
          </a:prstGeom>
          <a:noFill/>
          <a:ln/>
        </p:spPr>
        <p:txBody>
          <a:bodyPr wrap="square" lIns="0" tIns="0" rIns="0" bIns="0" rtlCol="0" anchor="t"/>
          <a:lstStyle/>
          <a:p>
            <a:pPr indent="0" marL="0">
              <a:buNone/>
            </a:pPr>
            <a:r>
              <a:rPr lang="en-US" sz="1400" b="1" dirty="0">
                <a:solidFill>
                  <a:schemeClr val="tx2"/>
                </a:solidFill>
              </a:rPr>
              <a:t>Report center  ·  10 reports</a:t>
            </a:r>
            <a:endParaRPr lang="en-US" sz="1400" dirty="0"/>
          </a:p>
        </p:txBody>
      </p:sp>
      <p:sp>
        <p:nvSpPr>
          <p:cNvPr id="21" name="Text 18"/>
          <p:cNvSpPr txBox="1"/>
          <p:nvPr/>
        </p:nvSpPr>
        <p:spPr>
          <a:xfrm>
            <a:off x="7818120" y="3337560"/>
            <a:ext cx="3703320" cy="237744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chemeClr val="tx1"/>
                </a:solidFill>
              </a:rPr>
              <a:t>Returns by Status</a:t>
            </a:r>
            <a:endParaRPr lang="en-US" sz="1100" dirty="0"/>
          </a:p>
          <a:p>
            <a:pPr marL="342900" indent="-342900">
              <a:spcAft>
                <a:spcPts val="200"/>
              </a:spcAft>
              <a:buSzPct val="100000"/>
              <a:buChar char="•"/>
            </a:pPr>
            <a:r>
              <a:rPr lang="en-US" sz="1100" dirty="0">
                <a:solidFill>
                  <a:schemeClr val="tx1"/>
                </a:solidFill>
              </a:rPr>
              <a:t>Review and Approval Aging</a:t>
            </a:r>
            <a:endParaRPr lang="en-US" sz="1100" dirty="0"/>
          </a:p>
          <a:p>
            <a:pPr marL="342900" indent="-342900">
              <a:spcAft>
                <a:spcPts val="200"/>
              </a:spcAft>
              <a:buSzPct val="100000"/>
              <a:buChar char="•"/>
            </a:pPr>
            <a:r>
              <a:rPr lang="en-US" sz="1100" dirty="0">
                <a:solidFill>
                  <a:schemeClr val="tx1"/>
                </a:solidFill>
              </a:rPr>
              <a:t>Consultant Workload</a:t>
            </a:r>
            <a:endParaRPr lang="en-US" sz="1100" dirty="0"/>
          </a:p>
          <a:p>
            <a:pPr marL="342900" indent="-342900">
              <a:spcAft>
                <a:spcPts val="200"/>
              </a:spcAft>
              <a:buSzPct val="100000"/>
              <a:buChar char="•"/>
            </a:pPr>
            <a:r>
              <a:rPr lang="en-US" sz="1100" dirty="0">
                <a:solidFill>
                  <a:schemeClr val="tx1"/>
                </a:solidFill>
              </a:rPr>
              <a:t>Missing Documents</a:t>
            </a:r>
            <a:endParaRPr lang="en-US" sz="1100" dirty="0"/>
          </a:p>
          <a:p>
            <a:pPr marL="342900" indent="-342900">
              <a:spcAft>
                <a:spcPts val="200"/>
              </a:spcAft>
              <a:buSzPct val="100000"/>
              <a:buChar char="•"/>
            </a:pPr>
            <a:r>
              <a:rPr lang="en-US" sz="1100" dirty="0">
                <a:solidFill>
                  <a:schemeClr val="tx1"/>
                </a:solidFill>
              </a:rPr>
              <a:t>Filing Status and Errors</a:t>
            </a:r>
            <a:endParaRPr lang="en-US" sz="1100" dirty="0"/>
          </a:p>
          <a:p>
            <a:pPr marL="342900" indent="-342900">
              <a:spcAft>
                <a:spcPts val="200"/>
              </a:spcAft>
              <a:buSzPct val="100000"/>
              <a:buChar char="•"/>
            </a:pPr>
            <a:r>
              <a:rPr lang="en-US" sz="1100" dirty="0">
                <a:solidFill>
                  <a:schemeClr val="tx1"/>
                </a:solidFill>
              </a:rPr>
              <a:t>Tax Payable and Refund Summary</a:t>
            </a:r>
            <a:endParaRPr lang="en-US" sz="1100" dirty="0"/>
          </a:p>
          <a:p>
            <a:pPr marL="342900" indent="-342900">
              <a:spcAft>
                <a:spcPts val="200"/>
              </a:spcAft>
              <a:buSzPct val="100000"/>
              <a:buChar char="•"/>
            </a:pPr>
            <a:r>
              <a:rPr lang="en-US" sz="1100" dirty="0">
                <a:solidFill>
                  <a:schemeClr val="tx1"/>
                </a:solidFill>
              </a:rPr>
              <a:t>Fees and Collections</a:t>
            </a:r>
            <a:endParaRPr lang="en-US" sz="1100" dirty="0"/>
          </a:p>
          <a:p>
            <a:pPr marL="342900" indent="-342900">
              <a:spcAft>
                <a:spcPts val="200"/>
              </a:spcAft>
              <a:buSzPct val="100000"/>
              <a:buChar char="•"/>
            </a:pPr>
            <a:r>
              <a:rPr lang="en-US" sz="1100" dirty="0">
                <a:solidFill>
                  <a:schemeClr val="tx1"/>
                </a:solidFill>
              </a:rPr>
              <a:t>Client Master</a:t>
            </a:r>
            <a:endParaRPr lang="en-US" sz="1100" dirty="0"/>
          </a:p>
          <a:p>
            <a:pPr marL="342900" indent="-342900">
              <a:spcAft>
                <a:spcPts val="200"/>
              </a:spcAft>
              <a:buSzPct val="100000"/>
              <a:buChar char="•"/>
            </a:pPr>
            <a:r>
              <a:rPr lang="en-US" sz="1100" dirty="0">
                <a:solidFill>
                  <a:schemeClr val="tx1"/>
                </a:solidFill>
              </a:rPr>
              <a:t>Site Visits and Follow-ups</a:t>
            </a:r>
            <a:endParaRPr lang="en-US" sz="1100" dirty="0"/>
          </a:p>
          <a:p>
            <a:pPr marL="342900" indent="-342900">
              <a:spcAft>
                <a:spcPts val="200"/>
              </a:spcAft>
              <a:buSzPct val="100000"/>
              <a:buChar char="•"/>
            </a:pPr>
            <a:r>
              <a:rPr lang="en-US" sz="1100" dirty="0">
                <a:solidFill>
                  <a:schemeClr val="tx1"/>
                </a:solidFill>
              </a:rPr>
              <a:t>Consultation Requests Report</a:t>
            </a:r>
            <a:endParaRPr lang="en-US" sz="1100" dirty="0"/>
          </a:p>
        </p:txBody>
      </p:sp>
      <p:sp>
        <p:nvSpPr>
          <p:cNvPr id="22" name="Text 19"/>
          <p:cNvSpPr txBox="1"/>
          <p:nvPr/>
        </p:nvSpPr>
        <p:spPr>
          <a:xfrm>
            <a:off x="7818120" y="5806440"/>
            <a:ext cx="3703320" cy="274320"/>
          </a:xfrm>
          <a:prstGeom prst="rect">
            <a:avLst/>
          </a:prstGeom>
          <a:noFill/>
          <a:ln/>
        </p:spPr>
        <p:txBody>
          <a:bodyPr wrap="square" lIns="0" tIns="0" rIns="0" bIns="0" rtlCol="0" anchor="t"/>
          <a:lstStyle/>
          <a:p>
            <a:pPr indent="0" marL="0">
              <a:buNone/>
            </a:pPr>
            <a:r>
              <a:rPr lang="en-US" sz="1000" i="1" dirty="0">
                <a:solidFill>
                  <a:srgbClr val="5F6470"/>
                </a:solidFill>
              </a:rPr>
              <a:t>Run in the portal · filter · sort · search · CSV · open in desk</a:t>
            </a:r>
            <a:endParaRPr lang="en-US" sz="10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ROLES &amp; PERMISSIONS</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What each role may do on the key records</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R read · E edit · C create · D delete. Editable per role in Setup → Roles &amp; Permissions (Tax Admin, System Manager and Client are fixed)</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85855" cy="914400"/>
        </p:xfrm>
        <a:graphic>
          <a:graphicData uri="http://schemas.openxmlformats.org/drawingml/2006/table">
            <a:tbl>
              <a:tblPr/>
              <a:tblGrid>
                <a:gridCol w="2148840"/>
                <a:gridCol w="1289304"/>
                <a:gridCol w="1289304"/>
                <a:gridCol w="1289304"/>
                <a:gridCol w="1289304"/>
                <a:gridCol w="1289304"/>
                <a:gridCol w="1289304"/>
                <a:gridCol w="1289304"/>
              </a:tblGrid>
              <a:tr h="292608">
                <a:tc>
                  <a:txBody>
                    <a:bodyPr/>
                    <a:lstStyle/>
                    <a:p>
                      <a:pPr indent="0" marL="0">
                        <a:buNone/>
                      </a:pPr>
                      <a:r>
                        <a:rPr lang="en-US" sz="1100" b="1" dirty="0">
                          <a:solidFill>
                            <a:srgbClr val="D4AF37"/>
                          </a:solidFill>
                        </a:rPr>
                        <a:t>Record</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algn="ctr" indent="0" marL="0">
                        <a:buNone/>
                      </a:pPr>
                      <a:r>
                        <a:rPr lang="en-US" sz="1100" b="1" dirty="0">
                          <a:solidFill>
                            <a:srgbClr val="D4AF37"/>
                          </a:solidFill>
                        </a:rPr>
                        <a:t>Admin</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algn="ctr" indent="0" marL="0">
                        <a:buNone/>
                      </a:pPr>
                      <a:r>
                        <a:rPr lang="en-US" sz="1100" b="1" dirty="0">
                          <a:solidFill>
                            <a:srgbClr val="D4AF37"/>
                          </a:solidFill>
                        </a:rPr>
                        <a:t>Consultant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algn="ctr" indent="0" marL="0">
                        <a:buNone/>
                      </a:pPr>
                      <a:r>
                        <a:rPr lang="en-US" sz="1100" b="1" dirty="0">
                          <a:solidFill>
                            <a:srgbClr val="D4AF37"/>
                          </a:solidFill>
                        </a:rPr>
                        <a:t>Reviewer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algn="ctr" indent="0" marL="0">
                        <a:buNone/>
                      </a:pPr>
                      <a:r>
                        <a:rPr lang="en-US" sz="1100" b="1" dirty="0">
                          <a:solidFill>
                            <a:srgbClr val="D4AF37"/>
                          </a:solidFill>
                        </a:rPr>
                        <a:t>Approver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algn="ctr" indent="0" marL="0">
                        <a:buNone/>
                      </a:pPr>
                      <a:r>
                        <a:rPr lang="en-US" sz="1100" b="1" dirty="0">
                          <a:solidFill>
                            <a:srgbClr val="D4AF37"/>
                          </a:solidFill>
                        </a:rPr>
                        <a:t>Filing Officer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algn="ctr" indent="0" marL="0">
                        <a:buNone/>
                      </a:pPr>
                      <a:r>
                        <a:rPr lang="en-US" sz="1100" b="1" dirty="0">
                          <a:solidFill>
                            <a:srgbClr val="D4AF37"/>
                          </a:solidFill>
                        </a:rPr>
                        <a:t>Field Officer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algn="ctr" indent="0" marL="0">
                        <a:buNone/>
                      </a:pPr>
                      <a:r>
                        <a:rPr lang="en-US" sz="1100" b="1" dirty="0">
                          <a:solidFill>
                            <a:srgbClr val="D4AF37"/>
                          </a:solidFill>
                        </a:rPr>
                        <a:t>Client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r>
              <a:tr h="292608">
                <a:tc>
                  <a:txBody>
                    <a:bodyPr/>
                    <a:lstStyle/>
                    <a:p>
                      <a:pPr indent="0" marL="0">
                        <a:buNone/>
                      </a:pPr>
                      <a:r>
                        <a:rPr lang="en-US" sz="1100" b="1" dirty="0">
                          <a:solidFill>
                            <a:schemeClr val="tx1"/>
                          </a:solidFill>
                        </a:rPr>
                        <a:t>Tax Client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 D</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92608">
                <a:tc>
                  <a:txBody>
                    <a:bodyPr/>
                    <a:lstStyle/>
                    <a:p>
                      <a:pPr indent="0" marL="0">
                        <a:buNone/>
                      </a:pPr>
                      <a:r>
                        <a:rPr lang="en-US" sz="1100" b="1" dirty="0">
                          <a:solidFill>
                            <a:schemeClr val="tx1"/>
                          </a:solidFill>
                        </a:rPr>
                        <a:t>Site Visit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 D</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92608">
                <a:tc>
                  <a:txBody>
                    <a:bodyPr/>
                    <a:lstStyle/>
                    <a:p>
                      <a:pPr indent="0" marL="0">
                        <a:buNone/>
                      </a:pPr>
                      <a:r>
                        <a:rPr lang="en-US" sz="1100" b="1" dirty="0">
                          <a:solidFill>
                            <a:schemeClr val="tx1"/>
                          </a:solidFill>
                        </a:rPr>
                        <a:t>Tax Return</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92608">
                <a:tc>
                  <a:txBody>
                    <a:bodyPr/>
                    <a:lstStyle/>
                    <a:p>
                      <a:pPr indent="0" marL="0">
                        <a:buNone/>
                      </a:pPr>
                      <a:r>
                        <a:rPr lang="en-US" sz="1100" b="1" dirty="0">
                          <a:solidFill>
                            <a:schemeClr val="tx1"/>
                          </a:solidFill>
                        </a:rPr>
                        <a:t>Tax Calculation</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92608">
                <a:tc>
                  <a:txBody>
                    <a:bodyPr/>
                    <a:lstStyle/>
                    <a:p>
                      <a:pPr indent="0" marL="0">
                        <a:buNone/>
                      </a:pPr>
                      <a:r>
                        <a:rPr lang="en-US" sz="1100" b="1" dirty="0">
                          <a:solidFill>
                            <a:schemeClr val="tx1"/>
                          </a:solidFill>
                        </a:rPr>
                        <a:t>Tax Scenario</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 D</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 D</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92608">
                <a:tc>
                  <a:txBody>
                    <a:bodyPr/>
                    <a:lstStyle/>
                    <a:p>
                      <a:pPr indent="0" marL="0">
                        <a:buNone/>
                      </a:pPr>
                      <a:r>
                        <a:rPr lang="en-US" sz="1100" b="1" dirty="0">
                          <a:solidFill>
                            <a:schemeClr val="tx1"/>
                          </a:solidFill>
                        </a:rPr>
                        <a:t>Tax Review</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92608">
                <a:tc>
                  <a:txBody>
                    <a:bodyPr/>
                    <a:lstStyle/>
                    <a:p>
                      <a:pPr indent="0" marL="0">
                        <a:buNone/>
                      </a:pPr>
                      <a:r>
                        <a:rPr lang="en-US" sz="1100" b="1" dirty="0">
                          <a:solidFill>
                            <a:schemeClr val="tx1"/>
                          </a:solidFill>
                        </a:rPr>
                        <a:t>Tax Approval</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92608">
                <a:tc>
                  <a:txBody>
                    <a:bodyPr/>
                    <a:lstStyle/>
                    <a:p>
                      <a:pPr indent="0" marL="0">
                        <a:buNone/>
                      </a:pPr>
                      <a:r>
                        <a:rPr lang="en-US" sz="1100" b="1" dirty="0">
                          <a:solidFill>
                            <a:schemeClr val="tx1"/>
                          </a:solidFill>
                        </a:rPr>
                        <a:t>Filing Record</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92608">
                <a:tc>
                  <a:txBody>
                    <a:bodyPr/>
                    <a:lstStyle/>
                    <a:p>
                      <a:pPr indent="0" marL="0">
                        <a:buNone/>
                      </a:pPr>
                      <a:r>
                        <a:rPr lang="en-US" sz="1100" b="1" dirty="0">
                          <a:solidFill>
                            <a:schemeClr val="tx1"/>
                          </a:solidFill>
                        </a:rPr>
                        <a:t>Tax Document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 D</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92608">
                <a:tc>
                  <a:txBody>
                    <a:bodyPr/>
                    <a:lstStyle/>
                    <a:p>
                      <a:pPr indent="0" marL="0">
                        <a:buNone/>
                      </a:pPr>
                      <a:r>
                        <a:rPr lang="en-US" sz="1100" b="1" dirty="0">
                          <a:solidFill>
                            <a:schemeClr val="tx1"/>
                          </a:solidFill>
                        </a:rPr>
                        <a:t>Generated Document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 D</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92608">
                <a:tc>
                  <a:txBody>
                    <a:bodyPr/>
                    <a:lstStyle/>
                    <a:p>
                      <a:pPr indent="0" marL="0">
                        <a:buNone/>
                      </a:pPr>
                      <a:r>
                        <a:rPr lang="en-US" sz="1100" b="1" dirty="0">
                          <a:solidFill>
                            <a:schemeClr val="tx1"/>
                          </a:solidFill>
                        </a:rPr>
                        <a:t>Payment Proof</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 D</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C</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292608">
                <a:tc>
                  <a:txBody>
                    <a:bodyPr/>
                    <a:lstStyle/>
                    <a:p>
                      <a:pPr indent="0" marL="0">
                        <a:buNone/>
                      </a:pPr>
                      <a:r>
                        <a:rPr lang="en-US" sz="1100" b="1" dirty="0">
                          <a:solidFill>
                            <a:schemeClr val="tx1"/>
                          </a:solidFill>
                        </a:rPr>
                        <a:t>Tax Slab Setting</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b="1" dirty="0">
                          <a:solidFill>
                            <a:srgbClr val="A8811F"/>
                          </a:solidFill>
                        </a:rPr>
                        <a:t>R E C</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chemeClr val="tx1"/>
                          </a:solidFill>
                        </a:rPr>
                        <a:t>R</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algn="ctr" indent="0" marL="0">
                        <a:buNone/>
                      </a:pPr>
                      <a:r>
                        <a:rPr lang="en-US" sz="1100" dirty="0">
                          <a:solidFill>
                            <a:srgbClr val="B9B4A6"/>
                          </a:solidFill>
                        </a:rPr>
                        <a:t>·</a:t>
                      </a:r>
                      <a:endParaRPr lang="en-US" sz="11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SECURITY, PRIVACY &amp; COMPLIANCE</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Client data stays private by design</a:t>
            </a:r>
            <a:endParaRPr lang="en-US" sz="2800" dirty="0"/>
          </a:p>
        </p:txBody>
      </p:sp>
      <p:sp>
        <p:nvSpPr>
          <p:cNvPr id="4" name="Shape 2"/>
          <p:cNvSpPr/>
          <p:nvPr/>
        </p:nvSpPr>
        <p:spPr>
          <a:xfrm>
            <a:off x="502920" y="1417320"/>
            <a:ext cx="5486400" cy="1417320"/>
          </a:xfrm>
          <a:prstGeom prst="roundRect">
            <a:avLst>
              <a:gd name="adj" fmla="val 5161"/>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5" name="Shape 3"/>
          <p:cNvSpPr/>
          <p:nvPr/>
        </p:nvSpPr>
        <p:spPr>
          <a:xfrm>
            <a:off x="704088" y="1691640"/>
            <a:ext cx="566928" cy="566928"/>
          </a:xfrm>
          <a:prstGeom prst="ellipse">
            <a:avLst/>
          </a:prstGeom>
          <a:solidFill>
            <a:srgbClr val="A8811F"/>
          </a:solidFill>
          <a:ln w="12700">
            <a:solidFill>
              <a:srgbClr val="A8811F"/>
            </a:solidFill>
            <a:prstDash val="solid"/>
          </a:ln>
        </p:spPr>
      </p:sp>
      <p:pic>
        <p:nvPicPr>
          <p:cNvPr id="6" name="Image 0" descr="preencoded.png">    </p:cNvPr>
          <p:cNvPicPr>
            <a:picLocks noChangeAspect="1"/>
          </p:cNvPicPr>
          <p:nvPr/>
        </p:nvPicPr>
        <p:blipFill>
          <a:blip r:embed="rId1"/>
          <a:stretch>
            <a:fillRect/>
          </a:stretch>
        </p:blipFill>
        <p:spPr>
          <a:xfrm>
            <a:off x="840151" y="1827703"/>
            <a:ext cx="294803" cy="294803"/>
          </a:xfrm>
          <a:prstGeom prst="rect">
            <a:avLst/>
          </a:prstGeom>
        </p:spPr>
      </p:pic>
      <p:sp>
        <p:nvSpPr>
          <p:cNvPr id="7" name="Text 4"/>
          <p:cNvSpPr txBox="1"/>
          <p:nvPr/>
        </p:nvSpPr>
        <p:spPr>
          <a:xfrm>
            <a:off x="1463040" y="1618488"/>
            <a:ext cx="4389120" cy="320040"/>
          </a:xfrm>
          <a:prstGeom prst="rect">
            <a:avLst/>
          </a:prstGeom>
          <a:noFill/>
          <a:ln/>
        </p:spPr>
        <p:txBody>
          <a:bodyPr wrap="square" lIns="0" tIns="0" rIns="0" bIns="0" rtlCol="0" anchor="t"/>
          <a:lstStyle/>
          <a:p>
            <a:pPr indent="0" marL="0">
              <a:buNone/>
            </a:pPr>
            <a:r>
              <a:rPr lang="en-US" sz="1500" b="1" dirty="0">
                <a:solidFill>
                  <a:schemeClr val="tx2"/>
                </a:solidFill>
              </a:rPr>
              <a:t>Identifiers masked</a:t>
            </a:r>
            <a:endParaRPr lang="en-US" sz="1500" dirty="0"/>
          </a:p>
        </p:txBody>
      </p:sp>
      <p:sp>
        <p:nvSpPr>
          <p:cNvPr id="8" name="Text 5"/>
          <p:cNvSpPr txBox="1"/>
          <p:nvPr/>
        </p:nvSpPr>
        <p:spPr>
          <a:xfrm>
            <a:off x="1463040" y="1984248"/>
            <a:ext cx="4389120" cy="777240"/>
          </a:xfrm>
          <a:prstGeom prst="rect">
            <a:avLst/>
          </a:prstGeom>
          <a:noFill/>
          <a:ln/>
        </p:spPr>
        <p:txBody>
          <a:bodyPr wrap="square" lIns="0" tIns="0" rIns="0" bIns="0" rtlCol="0" anchor="t"/>
          <a:lstStyle/>
          <a:p>
            <a:pPr indent="0" marL="0">
              <a:buNone/>
            </a:pPr>
            <a:r>
              <a:rPr lang="en-US" sz="1200" dirty="0">
                <a:solidFill>
                  <a:schemeClr val="tx1"/>
                </a:solidFill>
              </a:rPr>
              <a:t>CNIC shown as *****-*******-1; NTN and bank details never sent by WhatsApp or in templates.</a:t>
            </a:r>
            <a:endParaRPr lang="en-US" sz="1200" dirty="0"/>
          </a:p>
        </p:txBody>
      </p:sp>
      <p:sp>
        <p:nvSpPr>
          <p:cNvPr id="9" name="Shape 6"/>
          <p:cNvSpPr/>
          <p:nvPr/>
        </p:nvSpPr>
        <p:spPr>
          <a:xfrm>
            <a:off x="6144768" y="1417320"/>
            <a:ext cx="5486400" cy="1417320"/>
          </a:xfrm>
          <a:prstGeom prst="roundRect">
            <a:avLst>
              <a:gd name="adj" fmla="val 5161"/>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10" name="Shape 7"/>
          <p:cNvSpPr/>
          <p:nvPr/>
        </p:nvSpPr>
        <p:spPr>
          <a:xfrm>
            <a:off x="6345936" y="1691640"/>
            <a:ext cx="566928" cy="566928"/>
          </a:xfrm>
          <a:prstGeom prst="ellipse">
            <a:avLst/>
          </a:prstGeom>
          <a:solidFill>
            <a:srgbClr val="A8811F"/>
          </a:solidFill>
          <a:ln w="12700">
            <a:solidFill>
              <a:srgbClr val="A8811F"/>
            </a:solidFill>
            <a:prstDash val="solid"/>
          </a:ln>
        </p:spPr>
      </p:sp>
      <p:pic>
        <p:nvPicPr>
          <p:cNvPr id="11" name="Image 1" descr="preencoded.png">    </p:cNvPr>
          <p:cNvPicPr>
            <a:picLocks noChangeAspect="1"/>
          </p:cNvPicPr>
          <p:nvPr/>
        </p:nvPicPr>
        <p:blipFill>
          <a:blip r:embed="rId2"/>
          <a:stretch>
            <a:fillRect/>
          </a:stretch>
        </p:blipFill>
        <p:spPr>
          <a:xfrm>
            <a:off x="6481999" y="1827703"/>
            <a:ext cx="294803" cy="294803"/>
          </a:xfrm>
          <a:prstGeom prst="rect">
            <a:avLst/>
          </a:prstGeom>
        </p:spPr>
      </p:pic>
      <p:sp>
        <p:nvSpPr>
          <p:cNvPr id="12" name="Text 8"/>
          <p:cNvSpPr txBox="1"/>
          <p:nvPr/>
        </p:nvSpPr>
        <p:spPr>
          <a:xfrm>
            <a:off x="7104888" y="1618488"/>
            <a:ext cx="4389120" cy="320040"/>
          </a:xfrm>
          <a:prstGeom prst="rect">
            <a:avLst/>
          </a:prstGeom>
          <a:noFill/>
          <a:ln/>
        </p:spPr>
        <p:txBody>
          <a:bodyPr wrap="square" lIns="0" tIns="0" rIns="0" bIns="0" rtlCol="0" anchor="t"/>
          <a:lstStyle/>
          <a:p>
            <a:pPr indent="0" marL="0">
              <a:buNone/>
            </a:pPr>
            <a:r>
              <a:rPr lang="en-US" sz="1500" b="1" dirty="0">
                <a:solidFill>
                  <a:schemeClr val="tx2"/>
                </a:solidFill>
              </a:rPr>
              <a:t>Private files</a:t>
            </a:r>
            <a:endParaRPr lang="en-US" sz="1500" dirty="0"/>
          </a:p>
        </p:txBody>
      </p:sp>
      <p:sp>
        <p:nvSpPr>
          <p:cNvPr id="13" name="Text 9"/>
          <p:cNvSpPr txBox="1"/>
          <p:nvPr/>
        </p:nvSpPr>
        <p:spPr>
          <a:xfrm>
            <a:off x="7104888" y="1984248"/>
            <a:ext cx="4389120" cy="777240"/>
          </a:xfrm>
          <a:prstGeom prst="rect">
            <a:avLst/>
          </a:prstGeom>
          <a:noFill/>
          <a:ln/>
        </p:spPr>
        <p:txBody>
          <a:bodyPr wrap="square" lIns="0" tIns="0" rIns="0" bIns="0" rtlCol="0" anchor="t"/>
          <a:lstStyle/>
          <a:p>
            <a:pPr indent="0" marL="0">
              <a:buNone/>
            </a:pPr>
            <a:r>
              <a:rPr lang="en-US" sz="1200" dirty="0">
                <a:solidFill>
                  <a:schemeClr val="tx1"/>
                </a:solidFill>
              </a:rPr>
              <a:t>Documents and generated PDFs are private files, streamed only after a permission check.</a:t>
            </a:r>
            <a:endParaRPr lang="en-US" sz="1200" dirty="0"/>
          </a:p>
        </p:txBody>
      </p:sp>
      <p:sp>
        <p:nvSpPr>
          <p:cNvPr id="14" name="Shape 10"/>
          <p:cNvSpPr/>
          <p:nvPr/>
        </p:nvSpPr>
        <p:spPr>
          <a:xfrm>
            <a:off x="502920" y="3017520"/>
            <a:ext cx="5486400" cy="1417320"/>
          </a:xfrm>
          <a:prstGeom prst="roundRect">
            <a:avLst>
              <a:gd name="adj" fmla="val 5161"/>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15" name="Shape 11"/>
          <p:cNvSpPr/>
          <p:nvPr/>
        </p:nvSpPr>
        <p:spPr>
          <a:xfrm>
            <a:off x="704088" y="3291840"/>
            <a:ext cx="566928" cy="566928"/>
          </a:xfrm>
          <a:prstGeom prst="ellipse">
            <a:avLst/>
          </a:prstGeom>
          <a:solidFill>
            <a:srgbClr val="A8811F"/>
          </a:solidFill>
          <a:ln w="12700">
            <a:solidFill>
              <a:srgbClr val="A8811F"/>
            </a:solidFill>
            <a:prstDash val="solid"/>
          </a:ln>
        </p:spPr>
      </p:sp>
      <p:pic>
        <p:nvPicPr>
          <p:cNvPr id="16" name="Image 2" descr="preencoded.png">    </p:cNvPr>
          <p:cNvPicPr>
            <a:picLocks noChangeAspect="1"/>
          </p:cNvPicPr>
          <p:nvPr/>
        </p:nvPicPr>
        <p:blipFill>
          <a:blip r:embed="rId3"/>
          <a:stretch>
            <a:fillRect/>
          </a:stretch>
        </p:blipFill>
        <p:spPr>
          <a:xfrm>
            <a:off x="840151" y="3427903"/>
            <a:ext cx="294803" cy="294803"/>
          </a:xfrm>
          <a:prstGeom prst="rect">
            <a:avLst/>
          </a:prstGeom>
        </p:spPr>
      </p:pic>
      <p:sp>
        <p:nvSpPr>
          <p:cNvPr id="17" name="Text 12"/>
          <p:cNvSpPr txBox="1"/>
          <p:nvPr/>
        </p:nvSpPr>
        <p:spPr>
          <a:xfrm>
            <a:off x="1463040" y="3218688"/>
            <a:ext cx="4389120" cy="320040"/>
          </a:xfrm>
          <a:prstGeom prst="rect">
            <a:avLst/>
          </a:prstGeom>
          <a:noFill/>
          <a:ln/>
        </p:spPr>
        <p:txBody>
          <a:bodyPr wrap="square" lIns="0" tIns="0" rIns="0" bIns="0" rtlCol="0" anchor="t"/>
          <a:lstStyle/>
          <a:p>
            <a:pPr indent="0" marL="0">
              <a:buNone/>
            </a:pPr>
            <a:r>
              <a:rPr lang="en-US" sz="1500" b="1" dirty="0">
                <a:solidFill>
                  <a:schemeClr val="tx2"/>
                </a:solidFill>
              </a:rPr>
              <a:t>Record-level isolation</a:t>
            </a:r>
            <a:endParaRPr lang="en-US" sz="1500" dirty="0"/>
          </a:p>
        </p:txBody>
      </p:sp>
      <p:sp>
        <p:nvSpPr>
          <p:cNvPr id="18" name="Text 13"/>
          <p:cNvSpPr txBox="1"/>
          <p:nvPr/>
        </p:nvSpPr>
        <p:spPr>
          <a:xfrm>
            <a:off x="1463040" y="3584448"/>
            <a:ext cx="4389120" cy="777240"/>
          </a:xfrm>
          <a:prstGeom prst="rect">
            <a:avLst/>
          </a:prstGeom>
          <a:noFill/>
          <a:ln/>
        </p:spPr>
        <p:txBody>
          <a:bodyPr wrap="square" lIns="0" tIns="0" rIns="0" bIns="0" rtlCol="0" anchor="t"/>
          <a:lstStyle/>
          <a:p>
            <a:pPr indent="0" marL="0">
              <a:buNone/>
            </a:pPr>
            <a:r>
              <a:rPr lang="en-US" sz="1200" dirty="0">
                <a:solidFill>
                  <a:schemeClr val="tx1"/>
                </a:solidFill>
              </a:rPr>
              <a:t>Every list and document is filtered by scope: all / assigned / own registrations / own portal.</a:t>
            </a:r>
            <a:endParaRPr lang="en-US" sz="1200" dirty="0"/>
          </a:p>
        </p:txBody>
      </p:sp>
      <p:sp>
        <p:nvSpPr>
          <p:cNvPr id="19" name="Shape 14"/>
          <p:cNvSpPr/>
          <p:nvPr/>
        </p:nvSpPr>
        <p:spPr>
          <a:xfrm>
            <a:off x="6144768" y="3017520"/>
            <a:ext cx="5486400" cy="1417320"/>
          </a:xfrm>
          <a:prstGeom prst="roundRect">
            <a:avLst>
              <a:gd name="adj" fmla="val 5161"/>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20" name="Shape 15"/>
          <p:cNvSpPr/>
          <p:nvPr/>
        </p:nvSpPr>
        <p:spPr>
          <a:xfrm>
            <a:off x="6345936" y="3291840"/>
            <a:ext cx="566928" cy="566928"/>
          </a:xfrm>
          <a:prstGeom prst="ellipse">
            <a:avLst/>
          </a:prstGeom>
          <a:solidFill>
            <a:srgbClr val="A8811F"/>
          </a:solidFill>
          <a:ln w="12700">
            <a:solidFill>
              <a:srgbClr val="A8811F"/>
            </a:solidFill>
            <a:prstDash val="solid"/>
          </a:ln>
        </p:spPr>
      </p:sp>
      <p:pic>
        <p:nvPicPr>
          <p:cNvPr id="21" name="Image 3" descr="preencoded.png">    </p:cNvPr>
          <p:cNvPicPr>
            <a:picLocks noChangeAspect="1"/>
          </p:cNvPicPr>
          <p:nvPr/>
        </p:nvPicPr>
        <p:blipFill>
          <a:blip r:embed="rId4"/>
          <a:stretch>
            <a:fillRect/>
          </a:stretch>
        </p:blipFill>
        <p:spPr>
          <a:xfrm>
            <a:off x="6481999" y="3427903"/>
            <a:ext cx="294803" cy="294803"/>
          </a:xfrm>
          <a:prstGeom prst="rect">
            <a:avLst/>
          </a:prstGeom>
        </p:spPr>
      </p:pic>
      <p:sp>
        <p:nvSpPr>
          <p:cNvPr id="22" name="Text 16"/>
          <p:cNvSpPr txBox="1"/>
          <p:nvPr/>
        </p:nvSpPr>
        <p:spPr>
          <a:xfrm>
            <a:off x="7104888" y="3218688"/>
            <a:ext cx="4389120" cy="320040"/>
          </a:xfrm>
          <a:prstGeom prst="rect">
            <a:avLst/>
          </a:prstGeom>
          <a:noFill/>
          <a:ln/>
        </p:spPr>
        <p:txBody>
          <a:bodyPr wrap="square" lIns="0" tIns="0" rIns="0" bIns="0" rtlCol="0" anchor="t"/>
          <a:lstStyle/>
          <a:p>
            <a:pPr indent="0" marL="0">
              <a:buNone/>
            </a:pPr>
            <a:r>
              <a:rPr lang="en-US" sz="1500" b="1" dirty="0">
                <a:solidFill>
                  <a:schemeClr val="tx2"/>
                </a:solidFill>
              </a:rPr>
              <a:t>Secrets write-only</a:t>
            </a:r>
            <a:endParaRPr lang="en-US" sz="1500" dirty="0"/>
          </a:p>
        </p:txBody>
      </p:sp>
      <p:sp>
        <p:nvSpPr>
          <p:cNvPr id="23" name="Text 17"/>
          <p:cNvSpPr txBox="1"/>
          <p:nvPr/>
        </p:nvSpPr>
        <p:spPr>
          <a:xfrm>
            <a:off x="7104888" y="3584448"/>
            <a:ext cx="4389120" cy="777240"/>
          </a:xfrm>
          <a:prstGeom prst="rect">
            <a:avLst/>
          </a:prstGeom>
          <a:noFill/>
          <a:ln/>
        </p:spPr>
        <p:txBody>
          <a:bodyPr wrap="square" lIns="0" tIns="0" rIns="0" bIns="0" rtlCol="0" anchor="t"/>
          <a:lstStyle/>
          <a:p>
            <a:pPr indent="0" marL="0">
              <a:buNone/>
            </a:pPr>
            <a:r>
              <a:rPr lang="en-US" sz="1200" dirty="0">
                <a:solidFill>
                  <a:schemeClr val="tx1"/>
                </a:solidFill>
              </a:rPr>
              <a:t>Tokens and API keys stored encrypted; the browser only learns whether one is set.</a:t>
            </a:r>
            <a:endParaRPr lang="en-US" sz="1200" dirty="0"/>
          </a:p>
        </p:txBody>
      </p:sp>
      <p:sp>
        <p:nvSpPr>
          <p:cNvPr id="24" name="Shape 18"/>
          <p:cNvSpPr/>
          <p:nvPr/>
        </p:nvSpPr>
        <p:spPr>
          <a:xfrm>
            <a:off x="502920" y="4617720"/>
            <a:ext cx="5486400" cy="1417320"/>
          </a:xfrm>
          <a:prstGeom prst="roundRect">
            <a:avLst>
              <a:gd name="adj" fmla="val 5161"/>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25" name="Shape 19"/>
          <p:cNvSpPr/>
          <p:nvPr/>
        </p:nvSpPr>
        <p:spPr>
          <a:xfrm>
            <a:off x="704088" y="4892040"/>
            <a:ext cx="566928" cy="566928"/>
          </a:xfrm>
          <a:prstGeom prst="ellipse">
            <a:avLst/>
          </a:prstGeom>
          <a:solidFill>
            <a:srgbClr val="A8811F"/>
          </a:solidFill>
          <a:ln w="12700">
            <a:solidFill>
              <a:srgbClr val="A8811F"/>
            </a:solidFill>
            <a:prstDash val="solid"/>
          </a:ln>
        </p:spPr>
      </p:sp>
      <p:pic>
        <p:nvPicPr>
          <p:cNvPr id="26" name="Image 4" descr="preencoded.png">    </p:cNvPr>
          <p:cNvPicPr>
            <a:picLocks noChangeAspect="1"/>
          </p:cNvPicPr>
          <p:nvPr/>
        </p:nvPicPr>
        <p:blipFill>
          <a:blip r:embed="rId5"/>
          <a:stretch>
            <a:fillRect/>
          </a:stretch>
        </p:blipFill>
        <p:spPr>
          <a:xfrm>
            <a:off x="840151" y="5028103"/>
            <a:ext cx="294803" cy="294803"/>
          </a:xfrm>
          <a:prstGeom prst="rect">
            <a:avLst/>
          </a:prstGeom>
        </p:spPr>
      </p:pic>
      <p:sp>
        <p:nvSpPr>
          <p:cNvPr id="27" name="Text 20"/>
          <p:cNvSpPr txBox="1"/>
          <p:nvPr/>
        </p:nvSpPr>
        <p:spPr>
          <a:xfrm>
            <a:off x="1463040" y="4818888"/>
            <a:ext cx="4389120" cy="320040"/>
          </a:xfrm>
          <a:prstGeom prst="rect">
            <a:avLst/>
          </a:prstGeom>
          <a:noFill/>
          <a:ln/>
        </p:spPr>
        <p:txBody>
          <a:bodyPr wrap="square" lIns="0" tIns="0" rIns="0" bIns="0" rtlCol="0" anchor="t"/>
          <a:lstStyle/>
          <a:p>
            <a:pPr indent="0" marL="0">
              <a:buNone/>
            </a:pPr>
            <a:r>
              <a:rPr lang="en-US" sz="1500" b="1" dirty="0">
                <a:solidFill>
                  <a:schemeClr val="tx2"/>
                </a:solidFill>
              </a:rPr>
              <a:t>Codes hashed</a:t>
            </a:r>
            <a:endParaRPr lang="en-US" sz="1500" dirty="0"/>
          </a:p>
        </p:txBody>
      </p:sp>
      <p:sp>
        <p:nvSpPr>
          <p:cNvPr id="28" name="Text 21"/>
          <p:cNvSpPr txBox="1"/>
          <p:nvPr/>
        </p:nvSpPr>
        <p:spPr>
          <a:xfrm>
            <a:off x="1463040" y="5184648"/>
            <a:ext cx="4389120" cy="777240"/>
          </a:xfrm>
          <a:prstGeom prst="rect">
            <a:avLst/>
          </a:prstGeom>
          <a:noFill/>
          <a:ln/>
        </p:spPr>
        <p:txBody>
          <a:bodyPr wrap="square" lIns="0" tIns="0" rIns="0" bIns="0" rtlCol="0" anchor="t"/>
          <a:lstStyle/>
          <a:p>
            <a:pPr indent="0" marL="0">
              <a:buNone/>
            </a:pPr>
            <a:r>
              <a:rPr lang="en-US" sz="1200" dirty="0">
                <a:solidFill>
                  <a:schemeClr val="tx1"/>
                </a:solidFill>
              </a:rPr>
              <a:t>Verification codes stored as hashes, rate-limited, never logged in readable form.</a:t>
            </a:r>
            <a:endParaRPr lang="en-US" sz="1200" dirty="0"/>
          </a:p>
        </p:txBody>
      </p:sp>
      <p:sp>
        <p:nvSpPr>
          <p:cNvPr id="29" name="Shape 22"/>
          <p:cNvSpPr/>
          <p:nvPr/>
        </p:nvSpPr>
        <p:spPr>
          <a:xfrm>
            <a:off x="6144768" y="4617720"/>
            <a:ext cx="5486400" cy="1417320"/>
          </a:xfrm>
          <a:prstGeom prst="roundRect">
            <a:avLst>
              <a:gd name="adj" fmla="val 5161"/>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sp>
        <p:nvSpPr>
          <p:cNvPr id="30" name="Shape 23"/>
          <p:cNvSpPr/>
          <p:nvPr/>
        </p:nvSpPr>
        <p:spPr>
          <a:xfrm>
            <a:off x="6345936" y="4892040"/>
            <a:ext cx="566928" cy="566928"/>
          </a:xfrm>
          <a:prstGeom prst="ellipse">
            <a:avLst/>
          </a:prstGeom>
          <a:solidFill>
            <a:srgbClr val="A8811F"/>
          </a:solidFill>
          <a:ln w="12700">
            <a:solidFill>
              <a:srgbClr val="A8811F"/>
            </a:solidFill>
            <a:prstDash val="solid"/>
          </a:ln>
        </p:spPr>
      </p:sp>
      <p:pic>
        <p:nvPicPr>
          <p:cNvPr id="31" name="Image 5" descr="preencoded.png">    </p:cNvPr>
          <p:cNvPicPr>
            <a:picLocks noChangeAspect="1"/>
          </p:cNvPicPr>
          <p:nvPr/>
        </p:nvPicPr>
        <p:blipFill>
          <a:blip r:embed="rId6"/>
          <a:stretch>
            <a:fillRect/>
          </a:stretch>
        </p:blipFill>
        <p:spPr>
          <a:xfrm>
            <a:off x="6481999" y="5028103"/>
            <a:ext cx="294803" cy="294803"/>
          </a:xfrm>
          <a:prstGeom prst="rect">
            <a:avLst/>
          </a:prstGeom>
        </p:spPr>
      </p:pic>
      <p:sp>
        <p:nvSpPr>
          <p:cNvPr id="32" name="Text 24"/>
          <p:cNvSpPr txBox="1"/>
          <p:nvPr/>
        </p:nvSpPr>
        <p:spPr>
          <a:xfrm>
            <a:off x="7104888" y="4818888"/>
            <a:ext cx="4389120" cy="320040"/>
          </a:xfrm>
          <a:prstGeom prst="rect">
            <a:avLst/>
          </a:prstGeom>
          <a:noFill/>
          <a:ln/>
        </p:spPr>
        <p:txBody>
          <a:bodyPr wrap="square" lIns="0" tIns="0" rIns="0" bIns="0" rtlCol="0" anchor="t"/>
          <a:lstStyle/>
          <a:p>
            <a:pPr indent="0" marL="0">
              <a:buNone/>
            </a:pPr>
            <a:r>
              <a:rPr lang="en-US" sz="1500" b="1" dirty="0">
                <a:solidFill>
                  <a:schemeClr val="tx2"/>
                </a:solidFill>
              </a:rPr>
              <a:t>Consent</a:t>
            </a:r>
            <a:endParaRPr lang="en-US" sz="1500" dirty="0"/>
          </a:p>
        </p:txBody>
      </p:sp>
      <p:sp>
        <p:nvSpPr>
          <p:cNvPr id="33" name="Text 25"/>
          <p:cNvSpPr txBox="1"/>
          <p:nvPr/>
        </p:nvSpPr>
        <p:spPr>
          <a:xfrm>
            <a:off x="7104888" y="5184648"/>
            <a:ext cx="4389120" cy="777240"/>
          </a:xfrm>
          <a:prstGeom prst="rect">
            <a:avLst/>
          </a:prstGeom>
          <a:noFill/>
          <a:ln/>
        </p:spPr>
        <p:txBody>
          <a:bodyPr wrap="square" lIns="0" tIns="0" rIns="0" bIns="0" rtlCol="0" anchor="t"/>
          <a:lstStyle/>
          <a:p>
            <a:pPr indent="0" marL="0">
              <a:buNone/>
            </a:pPr>
            <a:r>
              <a:rPr lang="en-US" sz="1200" dirty="0">
                <a:solidFill>
                  <a:schemeClr val="tx1"/>
                </a:solidFill>
              </a:rPr>
              <a:t>Privacy consent at sign-up; WhatsApp only with opt-in; STOP honoured in broadcasts.</a:t>
            </a:r>
            <a:endParaRPr lang="en-US" sz="1200" dirty="0"/>
          </a:p>
        </p:txBody>
      </p:sp>
      <p:sp>
        <p:nvSpPr>
          <p:cNvPr id="3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endParaRPr lang="en-US" sz="13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INTEGRATIONS &amp; SETTINGS</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External services: live today, and what waits</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Configured in Setup → Settings by the Tax Admin; secrets are stored encrypted</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85855" cy="914400"/>
        </p:xfrm>
        <a:graphic>
          <a:graphicData uri="http://schemas.openxmlformats.org/drawingml/2006/table">
            <a:tbl>
              <a:tblPr/>
              <a:tblGrid>
                <a:gridCol w="2377440"/>
                <a:gridCol w="2743200"/>
                <a:gridCol w="2834640"/>
                <a:gridCol w="3227832"/>
              </a:tblGrid>
              <a:tr h="438912">
                <a:tc>
                  <a:txBody>
                    <a:bodyPr/>
                    <a:lstStyle/>
                    <a:p>
                      <a:pPr indent="0" marL="0">
                        <a:buNone/>
                      </a:pPr>
                      <a:r>
                        <a:rPr lang="en-US" sz="1200" b="1" dirty="0">
                          <a:solidFill>
                            <a:srgbClr val="D4AF37"/>
                          </a:solidFill>
                        </a:rPr>
                        <a:t>Integration</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indent="0" marL="0">
                        <a:buNone/>
                      </a:pPr>
                      <a:r>
                        <a:rPr lang="en-US" sz="1200" b="1" dirty="0">
                          <a:solidFill>
                            <a:srgbClr val="D4AF37"/>
                          </a:solidFill>
                        </a:rPr>
                        <a:t>Used for</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indent="0" marL="0">
                        <a:buNone/>
                      </a:pPr>
                      <a:r>
                        <a:rPr lang="en-US" sz="1200" b="1" dirty="0">
                          <a:solidFill>
                            <a:srgbClr val="D4AF37"/>
                          </a:solidFill>
                        </a:rPr>
                        <a:t>Status on this site</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c>
                  <a:txBody>
                    <a:bodyPr/>
                    <a:lstStyle/>
                    <a:p>
                      <a:pPr indent="0" marL="0">
                        <a:buNone/>
                      </a:pPr>
                      <a:r>
                        <a:rPr lang="en-US" sz="1200" b="1" dirty="0">
                          <a:solidFill>
                            <a:srgbClr val="D4AF37"/>
                          </a:solidFill>
                        </a:rPr>
                        <a:t>Needed to go live</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solidFill>
                      <a:srgbClr val="141416"/>
                    </a:solidFill>
                  </a:tcPr>
                </a:tc>
              </a:tr>
              <a:tr h="438912">
                <a:tc>
                  <a:txBody>
                    <a:bodyPr/>
                    <a:lstStyle/>
                    <a:p>
                      <a:pPr indent="0" marL="0">
                        <a:buNone/>
                      </a:pPr>
                      <a:r>
                        <a:rPr lang="en-US" sz="1200" dirty="0">
                          <a:solidFill>
                            <a:schemeClr val="tx1"/>
                          </a:solidFill>
                        </a:rPr>
                        <a:t>WhatsApp Cloud API (Meta)</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dirty="0">
                          <a:solidFill>
                            <a:schemeClr val="tx1"/>
                          </a:solidFill>
                        </a:rPr>
                        <a:t>Inbox, templates, broadcasts, codes</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b="1" dirty="0">
                          <a:solidFill>
                            <a:srgbClr val="EB6834"/>
                          </a:solidFill>
                        </a:rPr>
                        <a:t>Test mode — nothing leaves the server</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dirty="0">
                          <a:solidFill>
                            <a:schemeClr val="tx1"/>
                          </a:solidFill>
                        </a:rPr>
                        <a:t>Meta app, phone ID, token, approved templates</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438912">
                <a:tc>
                  <a:txBody>
                    <a:bodyPr/>
                    <a:lstStyle/>
                    <a:p>
                      <a:pPr indent="0" marL="0">
                        <a:buNone/>
                      </a:pPr>
                      <a:r>
                        <a:rPr lang="en-US" sz="1200" dirty="0">
                          <a:solidFill>
                            <a:schemeClr val="tx1"/>
                          </a:solidFill>
                        </a:rPr>
                        <a:t>SMS gateway</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dirty="0">
                          <a:solidFill>
                            <a:schemeClr val="tx1"/>
                          </a:solidFill>
                        </a:rPr>
                        <a:t>Verification-code backup</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b="1" dirty="0">
                          <a:solidFill>
                            <a:srgbClr val="EB6834"/>
                          </a:solidFill>
                        </a:rPr>
                        <a:t>Console (development)</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dirty="0">
                          <a:solidFill>
                            <a:schemeClr val="tx1"/>
                          </a:solidFill>
                        </a:rPr>
                        <a:t>Twilio or PK bulk-SMS link + PTA sender ID</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438912">
                <a:tc>
                  <a:txBody>
                    <a:bodyPr/>
                    <a:lstStyle/>
                    <a:p>
                      <a:pPr indent="0" marL="0">
                        <a:buNone/>
                      </a:pPr>
                      <a:r>
                        <a:rPr lang="en-US" sz="1200" dirty="0">
                          <a:solidFill>
                            <a:schemeClr val="tx1"/>
                          </a:solidFill>
                        </a:rPr>
                        <a:t>Outgoing email</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dirty="0">
                          <a:solidFill>
                            <a:schemeClr val="tx1"/>
                          </a:solidFill>
                        </a:rPr>
                        <a:t>Notices, invites, direct email</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b="1" dirty="0">
                          <a:solidFill>
                            <a:srgbClr val="DC2626"/>
                          </a:solidFill>
                        </a:rPr>
                        <a:t>Not set up</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dirty="0">
                          <a:solidFill>
                            <a:schemeClr val="tx1"/>
                          </a:solidFill>
                        </a:rPr>
                        <a:t>SMTP account (Settings → Email)</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438912">
                <a:tc>
                  <a:txBody>
                    <a:bodyPr/>
                    <a:lstStyle/>
                    <a:p>
                      <a:pPr indent="0" marL="0">
                        <a:buNone/>
                      </a:pPr>
                      <a:r>
                        <a:rPr lang="en-US" sz="1200" dirty="0">
                          <a:solidFill>
                            <a:schemeClr val="tx1"/>
                          </a:solidFill>
                        </a:rPr>
                        <a:t>Apify (Google Maps)</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dirty="0">
                          <a:solidFill>
                            <a:schemeClr val="tx1"/>
                          </a:solidFill>
                        </a:rPr>
                        <a:t>Lead Finder searches</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b="1" dirty="0">
                          <a:solidFill>
                            <a:srgbClr val="1BAF7A"/>
                          </a:solidFill>
                        </a:rPr>
                        <a:t>Live — token saved</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dirty="0">
                          <a:solidFill>
                            <a:schemeClr val="tx1"/>
                          </a:solidFill>
                        </a:rPr>
                        <a:t>—</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438912">
                <a:tc>
                  <a:txBody>
                    <a:bodyPr/>
                    <a:lstStyle/>
                    <a:p>
                      <a:pPr indent="0" marL="0">
                        <a:buNone/>
                      </a:pPr>
                      <a:r>
                        <a:rPr lang="en-US" sz="1200" dirty="0">
                          <a:solidFill>
                            <a:schemeClr val="tx1"/>
                          </a:solidFill>
                        </a:rPr>
                        <a:t>Payment gateway</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dirty="0">
                          <a:solidFill>
                            <a:schemeClr val="tx1"/>
                          </a:solidFill>
                        </a:rPr>
                        <a:t>Online fee payment</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b="1" dirty="0">
                          <a:solidFill>
                            <a:srgbClr val="EB6834"/>
                          </a:solidFill>
                        </a:rPr>
                        <a:t>Manual proofs only</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dirty="0">
                          <a:solidFill>
                            <a:schemeClr val="tx1"/>
                          </a:solidFill>
                        </a:rPr>
                        <a:t>Choose JazzCash / Easypaisa / Safepay</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438912">
                <a:tc>
                  <a:txBody>
                    <a:bodyPr/>
                    <a:lstStyle/>
                    <a:p>
                      <a:pPr indent="0" marL="0">
                        <a:buNone/>
                      </a:pPr>
                      <a:r>
                        <a:rPr lang="en-US" sz="1200" dirty="0">
                          <a:solidFill>
                            <a:schemeClr val="tx1"/>
                          </a:solidFill>
                        </a:rPr>
                        <a:t>FBR IRIS</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dirty="0">
                          <a:solidFill>
                            <a:schemeClr val="tx1"/>
                          </a:solidFill>
                        </a:rPr>
                        <a:t>Return filing</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b="1" dirty="0">
                          <a:solidFill>
                            <a:srgbClr val="2A78D6"/>
                          </a:solidFill>
                        </a:rPr>
                        <a:t>Manual by filing officer</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dirty="0">
                          <a:solidFill>
                            <a:schemeClr val="tx1"/>
                          </a:solidFill>
                        </a:rPr>
                        <a:t>No official API — evidence attached by hand</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r h="438912">
                <a:tc>
                  <a:txBody>
                    <a:bodyPr/>
                    <a:lstStyle/>
                    <a:p>
                      <a:pPr indent="0" marL="0">
                        <a:buNone/>
                      </a:pPr>
                      <a:r>
                        <a:rPr lang="en-US" sz="1200" dirty="0">
                          <a:solidFill>
                            <a:schemeClr val="tx1"/>
                          </a:solidFill>
                        </a:rPr>
                        <a:t>ERPNext Accounts</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dirty="0">
                          <a:solidFill>
                            <a:schemeClr val="tx1"/>
                          </a:solidFill>
                        </a:rPr>
                        <a:t>Invoices and payment entries</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b="1" dirty="0">
                          <a:solidFill>
                            <a:srgbClr val="1BAF7A"/>
                          </a:solidFill>
                        </a:rPr>
                        <a:t>Live</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c>
                  <a:txBody>
                    <a:bodyPr/>
                    <a:lstStyle/>
                    <a:p>
                      <a:pPr indent="0" marL="0">
                        <a:buNone/>
                      </a:pPr>
                      <a:r>
                        <a:rPr lang="en-US" sz="1200" dirty="0">
                          <a:solidFill>
                            <a:schemeClr val="tx1"/>
                          </a:solidFill>
                        </a:rPr>
                        <a:t>—</a:t>
                      </a:r>
                      <a:endParaRPr lang="en-US" sz="1200" dirty="0"/>
                    </a:p>
                  </a:txBody>
                  <a:tcPr marL="73152" marR="73152" marT="36576" marB="36576" anchor="ctr">
                    <a:lnL w="9525" cap="flat" cmpd="sng" algn="ctr">
                      <a:solidFill>
                        <a:srgbClr val="E2DED2"/>
                      </a:solidFill>
                      <a:prstDash val="solid"/>
                      <a:round/>
                      <a:headEnd type="none" w="med" len="med"/>
                      <a:tailEnd type="none" w="med" len="med"/>
                    </a:lnL>
                    <a:lnR w="9525" cap="flat" cmpd="sng" algn="ctr">
                      <a:solidFill>
                        <a:srgbClr val="E2DED2"/>
                      </a:solidFill>
                      <a:prstDash val="solid"/>
                      <a:round/>
                      <a:headEnd type="none" w="med" len="med"/>
                      <a:tailEnd type="none" w="med" len="med"/>
                    </a:lnR>
                    <a:lnT w="9525" cap="flat" cmpd="sng" algn="ctr">
                      <a:solidFill>
                        <a:srgbClr val="E2DED2"/>
                      </a:solidFill>
                      <a:prstDash val="solid"/>
                      <a:round/>
                      <a:headEnd type="none" w="med" len="med"/>
                      <a:tailEnd type="none" w="med" len="med"/>
                    </a:lnT>
                    <a:lnB w="9525" cap="flat" cmpd="sng" algn="ctr">
                      <a:solidFill>
                        <a:srgbClr val="E2DED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body" hasCustomPrompt="1"/>
          </p:nvPr>
        </p:nvSpPr>
        <p:spPr>
          <a:xfrm>
            <a:off x="502920" y="329184"/>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DEMO VIDEOS</a:t>
            </a:r>
            <a:endParaRPr lang="en-US" sz="1100" dirty="0"/>
          </a:p>
        </p:txBody>
      </p:sp>
      <p:sp>
        <p:nvSpPr>
          <p:cNvPr id="3" name="Text 0"/>
          <p:cNvSpPr/>
          <p:nvPr>
            <p:ph idx="102" type="title" hasCustomPrompt="1"/>
          </p:nvPr>
        </p:nvSpPr>
        <p:spPr>
          <a:xfrm>
            <a:off x="502920" y="603504"/>
            <a:ext cx="10241280" cy="566928"/>
          </a:xfrm>
          <a:prstGeom prst="rect">
            <a:avLst/>
          </a:prstGeom>
          <a:noFill/>
          <a:ln/>
        </p:spPr>
        <p:txBody>
          <a:bodyPr wrap="square" lIns="0" tIns="0" rIns="0" bIns="0" rtlCol="0" anchor="ctr"/>
          <a:lstStyle/>
          <a:p>
            <a:pPr algn="l" indent="0" marL="0">
              <a:buNone/>
            </a:pPr>
            <a:r>
              <a:rPr lang="en-US" sz="2800" b="1" dirty="0">
                <a:solidFill>
                  <a:schemeClr val="tx2"/>
                </a:solidFill>
              </a:rPr>
              <a:t>See both routes end to end</a:t>
            </a:r>
            <a:endParaRPr lang="en-US" sz="2800" dirty="0"/>
          </a:p>
        </p:txBody>
      </p:sp>
      <p:sp>
        <p:nvSpPr>
          <p:cNvPr id="4" name="Text 0"/>
          <p:cNvSpPr/>
          <p:nvPr>
            <p:ph idx="103" type="body" hasCustomPrompt="1"/>
          </p:nvPr>
        </p:nvSpPr>
        <p:spPr>
          <a:xfrm>
            <a:off x="502920" y="1188720"/>
            <a:ext cx="11185855" cy="411480"/>
          </a:xfrm>
          <a:prstGeom prst="rect">
            <a:avLst/>
          </a:prstGeom>
          <a:noFill/>
          <a:ln/>
        </p:spPr>
        <p:txBody>
          <a:bodyPr wrap="square" lIns="0" tIns="0" rIns="0" bIns="0" rtlCol="0" anchor="t"/>
          <a:lstStyle/>
          <a:p>
            <a:pPr algn="l" indent="0" marL="0">
              <a:buNone/>
            </a:pPr>
            <a:r>
              <a:rPr lang="en-US" sz="1300" dirty="0">
                <a:solidFill>
                  <a:srgbClr val="5F6470"/>
                </a:solidFill>
              </a:rPr>
              <a:t>Recorded on the demo site with fictitious clients — every screen, entry and approval is the real system</a:t>
            </a:r>
            <a:endParaRPr lang="en-US" sz="1300" dirty="0"/>
          </a:p>
        </p:txBody>
      </p:sp>
      <p:sp>
        <p:nvSpPr>
          <p:cNvPr id="5" name="Shape 3"/>
          <p:cNvSpPr/>
          <p:nvPr/>
        </p:nvSpPr>
        <p:spPr>
          <a:xfrm>
            <a:off x="502920" y="1645920"/>
            <a:ext cx="5455768" cy="4663440"/>
          </a:xfrm>
          <a:prstGeom prst="roundRect">
            <a:avLst>
              <a:gd name="adj" fmla="val 1569"/>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pic>
        <p:nvPicPr>
          <p:cNvPr id="6" name="Image 0" descr="Video 1 · Team-assisted filing">    </p:cNvPr>
          <p:cNvPicPr>
            <a:picLocks noChangeAspect="1"/>
          </p:cNvPicPr>
          <p:nvPr/>
        </p:nvPicPr>
        <p:blipFill>
          <a:blip r:embed="rId1"/>
          <a:stretch>
            <a:fillRect/>
          </a:stretch>
        </p:blipFill>
        <p:spPr>
          <a:xfrm>
            <a:off x="822960" y="1783080"/>
            <a:ext cx="4815688" cy="3009805"/>
          </a:xfrm>
          <a:prstGeom prst="rect">
            <a:avLst/>
          </a:prstGeom>
        </p:spPr>
      </p:pic>
      <p:sp>
        <p:nvSpPr>
          <p:cNvPr id="7" name="Shape 4"/>
          <p:cNvSpPr/>
          <p:nvPr/>
        </p:nvSpPr>
        <p:spPr>
          <a:xfrm>
            <a:off x="2865044" y="2922222"/>
            <a:ext cx="731520" cy="731520"/>
          </a:xfrm>
          <a:prstGeom prst="ellipse">
            <a:avLst/>
          </a:prstGeom>
          <a:solidFill>
            <a:srgbClr val="D4AF37">
              <a:alpha val="90000"/>
            </a:srgbClr>
          </a:solidFill>
          <a:ln w="19050">
            <a:solidFill>
              <a:srgbClr val="FFFFFF"/>
            </a:solidFill>
            <a:prstDash val="solid"/>
          </a:ln>
        </p:spPr>
      </p:sp>
      <p:sp>
        <p:nvSpPr>
          <p:cNvPr id="8" name="Shape 5"/>
          <p:cNvSpPr/>
          <p:nvPr/>
        </p:nvSpPr>
        <p:spPr>
          <a:xfrm rot="5400000">
            <a:off x="3111932" y="3105102"/>
            <a:ext cx="329184" cy="365760"/>
          </a:xfrm>
          <a:prstGeom prst="triangle">
            <a:avLst/>
          </a:prstGeom>
          <a:solidFill>
            <a:srgbClr val="141416"/>
          </a:solidFill>
          <a:ln w="12700">
            <a:solidFill>
              <a:srgbClr val="141416"/>
            </a:solidFill>
            <a:prstDash val="solid"/>
          </a:ln>
        </p:spPr>
      </p:sp>
      <p:sp>
        <p:nvSpPr>
          <p:cNvPr id="9" name="Text 6"/>
          <p:cNvSpPr txBox="1"/>
          <p:nvPr/>
        </p:nvSpPr>
        <p:spPr>
          <a:xfrm>
            <a:off x="685800" y="4930045"/>
            <a:ext cx="5090008" cy="310896"/>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Video 1 · Team-assisted filing</a:t>
            </a:r>
            <a:endParaRPr lang="en-US" sz="1500" dirty="0"/>
          </a:p>
        </p:txBody>
      </p:sp>
      <p:sp>
        <p:nvSpPr>
          <p:cNvPr id="10" name="Text 7"/>
          <p:cNvSpPr txBox="1"/>
          <p:nvPr/>
        </p:nvSpPr>
        <p:spPr>
          <a:xfrm>
            <a:off x="685800" y="5240941"/>
            <a:ext cx="5090008" cy="228600"/>
          </a:xfrm>
          <a:prstGeom prst="rect">
            <a:avLst/>
          </a:prstGeom>
          <a:noFill/>
          <a:ln/>
        </p:spPr>
        <p:txBody>
          <a:bodyPr wrap="square" lIns="0" tIns="0" rIns="0" bIns="0" rtlCol="0" anchor="t"/>
          <a:lstStyle/>
          <a:p>
            <a:pPr indent="0" marL="0">
              <a:buNone/>
            </a:pPr>
            <a:r>
              <a:rPr lang="en-US" sz="1000" b="1" dirty="0">
                <a:solidFill>
                  <a:srgbClr val="A8811F"/>
                </a:solidFill>
              </a:rPr>
              <a:t>VVS_Tax_Return_Full_Process.mp4  ·  4 min 32 s</a:t>
            </a:r>
            <a:endParaRPr lang="en-US" sz="1000" dirty="0"/>
          </a:p>
        </p:txBody>
      </p:sp>
      <p:sp>
        <p:nvSpPr>
          <p:cNvPr id="11" name="Text 8"/>
          <p:cNvSpPr txBox="1"/>
          <p:nvPr/>
        </p:nvSpPr>
        <p:spPr>
          <a:xfrm>
            <a:off x="685800" y="5496973"/>
            <a:ext cx="5090008" cy="868680"/>
          </a:xfrm>
          <a:prstGeom prst="rect">
            <a:avLst/>
          </a:prstGeom>
          <a:noFill/>
          <a:ln/>
        </p:spPr>
        <p:txBody>
          <a:bodyPr wrap="square" lIns="0" tIns="0" rIns="0" bIns="0" rtlCol="0" anchor="t"/>
          <a:lstStyle/>
          <a:p>
            <a:pPr indent="0" marL="0">
              <a:buNone/>
            </a:pPr>
            <a:r>
              <a:rPr lang="en-US" sz="1100" dirty="0">
                <a:solidFill>
                  <a:schemeClr val="tx1"/>
                </a:solidFill>
              </a:rPr>
              <a:t>Walk-in client Usman Tariq. Admin registers him; documents arrive on WhatsApp; Zara (Data Entry) enters what he said and attaches the files; consultant prepares; reviewer checks; Zara records his phone approval; approver signs off; filing officer records the IRIS acknowledgment.</a:t>
            </a:r>
            <a:endParaRPr lang="en-US" sz="1100" dirty="0"/>
          </a:p>
        </p:txBody>
      </p:sp>
      <p:sp>
        <p:nvSpPr>
          <p:cNvPr id="12" name="Shape 9"/>
          <p:cNvSpPr/>
          <p:nvPr/>
        </p:nvSpPr>
        <p:spPr>
          <a:xfrm>
            <a:off x="6233008" y="1645920"/>
            <a:ext cx="5455768" cy="4663440"/>
          </a:xfrm>
          <a:prstGeom prst="roundRect">
            <a:avLst>
              <a:gd name="adj" fmla="val 1569"/>
            </a:avLst>
          </a:prstGeom>
          <a:solidFill>
            <a:schemeClr val="bg1"/>
          </a:solidFill>
          <a:ln w="9525">
            <a:solidFill>
              <a:srgbClr val="E2DED2"/>
            </a:solidFill>
            <a:prstDash val="solid"/>
          </a:ln>
          <a:effectLst>
            <a:outerShdw sx="100000" sy="100000" kx="0" ky="0" algn="bl" rotWithShape="0" blurRad="76200" dist="25400" dir="5400000">
              <a:srgbClr val="141416">
                <a:alpha val="10000"/>
              </a:srgbClr>
            </a:outerShdw>
          </a:effectLst>
        </p:spPr>
      </p:sp>
      <p:pic>
        <p:nvPicPr>
          <p:cNvPr id="13" name="Image 1" descr="Video 2 · Client journey from the website">    </p:cNvPr>
          <p:cNvPicPr>
            <a:picLocks noChangeAspect="1"/>
          </p:cNvPicPr>
          <p:nvPr/>
        </p:nvPicPr>
        <p:blipFill>
          <a:blip r:embed="rId2"/>
          <a:stretch>
            <a:fillRect/>
          </a:stretch>
        </p:blipFill>
        <p:spPr>
          <a:xfrm>
            <a:off x="6553048" y="1783080"/>
            <a:ext cx="4815688" cy="3009805"/>
          </a:xfrm>
          <a:prstGeom prst="rect">
            <a:avLst/>
          </a:prstGeom>
        </p:spPr>
      </p:pic>
      <p:sp>
        <p:nvSpPr>
          <p:cNvPr id="14" name="Shape 10"/>
          <p:cNvSpPr/>
          <p:nvPr/>
        </p:nvSpPr>
        <p:spPr>
          <a:xfrm>
            <a:off x="8595131" y="2922222"/>
            <a:ext cx="731520" cy="731520"/>
          </a:xfrm>
          <a:prstGeom prst="ellipse">
            <a:avLst/>
          </a:prstGeom>
          <a:solidFill>
            <a:srgbClr val="D4AF37">
              <a:alpha val="90000"/>
            </a:srgbClr>
          </a:solidFill>
          <a:ln w="19050">
            <a:solidFill>
              <a:srgbClr val="FFFFFF"/>
            </a:solidFill>
            <a:prstDash val="solid"/>
          </a:ln>
        </p:spPr>
      </p:sp>
      <p:sp>
        <p:nvSpPr>
          <p:cNvPr id="15" name="Shape 11"/>
          <p:cNvSpPr/>
          <p:nvPr/>
        </p:nvSpPr>
        <p:spPr>
          <a:xfrm rot="5400000">
            <a:off x="8842019" y="3105102"/>
            <a:ext cx="329184" cy="365760"/>
          </a:xfrm>
          <a:prstGeom prst="triangle">
            <a:avLst/>
          </a:prstGeom>
          <a:solidFill>
            <a:srgbClr val="141416"/>
          </a:solidFill>
          <a:ln w="12700">
            <a:solidFill>
              <a:srgbClr val="141416"/>
            </a:solidFill>
            <a:prstDash val="solid"/>
          </a:ln>
        </p:spPr>
      </p:sp>
      <p:sp>
        <p:nvSpPr>
          <p:cNvPr id="16" name="Text 12"/>
          <p:cNvSpPr txBox="1"/>
          <p:nvPr/>
        </p:nvSpPr>
        <p:spPr>
          <a:xfrm>
            <a:off x="6415888" y="4930045"/>
            <a:ext cx="5090008" cy="310896"/>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Video 2 · Client journey from the website</a:t>
            </a:r>
            <a:endParaRPr lang="en-US" sz="1500" dirty="0"/>
          </a:p>
        </p:txBody>
      </p:sp>
      <p:sp>
        <p:nvSpPr>
          <p:cNvPr id="17" name="Text 13"/>
          <p:cNvSpPr txBox="1"/>
          <p:nvPr/>
        </p:nvSpPr>
        <p:spPr>
          <a:xfrm>
            <a:off x="6415888" y="5240941"/>
            <a:ext cx="5090008" cy="228600"/>
          </a:xfrm>
          <a:prstGeom prst="rect">
            <a:avLst/>
          </a:prstGeom>
          <a:noFill/>
          <a:ln/>
        </p:spPr>
        <p:txBody>
          <a:bodyPr wrap="square" lIns="0" tIns="0" rIns="0" bIns="0" rtlCol="0" anchor="t"/>
          <a:lstStyle/>
          <a:p>
            <a:pPr indent="0" marL="0">
              <a:buNone/>
            </a:pPr>
            <a:r>
              <a:rPr lang="en-US" sz="1000" b="1" dirty="0">
                <a:solidFill>
                  <a:srgbClr val="A8811F"/>
                </a:solidFill>
              </a:rPr>
              <a:t>VVS_Client_Journey_Website_to_Filed.mp4  ·  4 min 40 s</a:t>
            </a:r>
            <a:endParaRPr lang="en-US" sz="1000" dirty="0"/>
          </a:p>
        </p:txBody>
      </p:sp>
      <p:sp>
        <p:nvSpPr>
          <p:cNvPr id="18" name="Text 14"/>
          <p:cNvSpPr txBox="1"/>
          <p:nvPr/>
        </p:nvSpPr>
        <p:spPr>
          <a:xfrm>
            <a:off x="6415888" y="5496973"/>
            <a:ext cx="5090008" cy="868680"/>
          </a:xfrm>
          <a:prstGeom prst="rect">
            <a:avLst/>
          </a:prstGeom>
          <a:noFill/>
          <a:ln/>
        </p:spPr>
        <p:txBody>
          <a:bodyPr wrap="square" lIns="0" tIns="0" rIns="0" bIns="0" rtlCol="0" anchor="t"/>
          <a:lstStyle/>
          <a:p>
            <a:pPr indent="0" marL="0">
              <a:buNone/>
            </a:pPr>
            <a:r>
              <a:rPr lang="en-US" sz="1100" dirty="0">
                <a:solidFill>
                  <a:schemeClr val="tx1"/>
                </a:solidFill>
              </a:rPr>
              <a:t>Hira Naveed finds the website, requests a login with a 6-digit code, enters her own details and documents, pays by JazzCash; the team verifies and prepares; she confirms in the portal; the return is filed and acknowledged.</a:t>
            </a:r>
            <a:endParaRPr lang="en-US" sz="11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988C"/>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body" hasCustomPrompt="1"/>
          </p:nvPr>
        </p:nvSpPr>
        <p:spPr>
          <a:xfrm>
            <a:off x="502920" y="2148840"/>
            <a:ext cx="8229600" cy="320040"/>
          </a:xfrm>
          <a:prstGeom prst="rect">
            <a:avLst/>
          </a:prstGeom>
          <a:noFill/>
          <a:ln/>
        </p:spPr>
        <p:txBody>
          <a:bodyPr wrap="square" lIns="0" tIns="0" rIns="0" bIns="0" rtlCol="0"/>
          <a:lstStyle/>
          <a:p>
            <a:pPr indent="0" marL="0">
              <a:buNone/>
            </a:pPr>
            <a:r>
              <a:rPr lang="en-US" sz="1300" b="1" spc="300" kern="0" dirty="0">
                <a:solidFill>
                  <a:schemeClr val="accent2"/>
                </a:solidFill>
              </a:rPr>
              <a:t>NEXT STEPS</a:t>
            </a:r>
            <a:endParaRPr lang="en-US" sz="1300" dirty="0"/>
          </a:p>
        </p:txBody>
      </p:sp>
      <p:sp>
        <p:nvSpPr>
          <p:cNvPr id="3" name="Text 0"/>
          <p:cNvSpPr/>
          <p:nvPr>
            <p:ph idx="102" type="title" hasCustomPrompt="1"/>
          </p:nvPr>
        </p:nvSpPr>
        <p:spPr>
          <a:xfrm>
            <a:off x="502920" y="251460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Decisions needed to go live</a:t>
            </a:r>
            <a:endParaRPr lang="en-US" sz="4000" dirty="0"/>
          </a:p>
        </p:txBody>
      </p:sp>
      <p:sp>
        <p:nvSpPr>
          <p:cNvPr id="4" name="Shape 2"/>
          <p:cNvSpPr/>
          <p:nvPr/>
        </p:nvSpPr>
        <p:spPr>
          <a:xfrm>
            <a:off x="502920" y="3840480"/>
            <a:ext cx="3611880" cy="1005840"/>
          </a:xfrm>
          <a:prstGeom prst="roundRect">
            <a:avLst>
              <a:gd name="adj" fmla="val 7273"/>
            </a:avLst>
          </a:prstGeom>
          <a:solidFill>
            <a:srgbClr val="1F1E22"/>
          </a:solidFill>
          <a:ln w="9525">
            <a:solidFill>
              <a:srgbClr val="3A352A"/>
            </a:solidFill>
            <a:prstDash val="solid"/>
          </a:ln>
        </p:spPr>
      </p:sp>
      <p:sp>
        <p:nvSpPr>
          <p:cNvPr id="5" name="Text 3"/>
          <p:cNvSpPr txBox="1"/>
          <p:nvPr/>
        </p:nvSpPr>
        <p:spPr>
          <a:xfrm>
            <a:off x="685800" y="3977640"/>
            <a:ext cx="365760" cy="365760"/>
          </a:xfrm>
          <a:prstGeom prst="rect">
            <a:avLst/>
          </a:prstGeom>
          <a:noFill/>
          <a:ln/>
        </p:spPr>
        <p:txBody>
          <a:bodyPr wrap="square" lIns="0" tIns="0" rIns="0" bIns="0" rtlCol="0" anchor="t"/>
          <a:lstStyle/>
          <a:p>
            <a:pPr indent="0" marL="0">
              <a:buNone/>
            </a:pPr>
            <a:r>
              <a:rPr lang="en-US" sz="2000" b="1" dirty="0">
                <a:solidFill>
                  <a:srgbClr val="D4AF37"/>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097280" y="3977640"/>
            <a:ext cx="2880360" cy="292608"/>
          </a:xfrm>
          <a:prstGeom prst="rect">
            <a:avLst/>
          </a:prstGeom>
          <a:noFill/>
          <a:ln/>
        </p:spPr>
        <p:txBody>
          <a:bodyPr wrap="square" lIns="0" tIns="0" rIns="0" bIns="0" rtlCol="0" anchor="t"/>
          <a:lstStyle/>
          <a:p>
            <a:pPr indent="0" marL="0">
              <a:buNone/>
            </a:pPr>
            <a:r>
              <a:rPr lang="en-US" sz="1400" b="1" dirty="0">
                <a:solidFill>
                  <a:srgbClr val="FFFFFF"/>
                </a:solidFill>
              </a:rPr>
              <a:t>Validate tax rates</a:t>
            </a:r>
            <a:endParaRPr lang="en-US" sz="1400" dirty="0"/>
          </a:p>
        </p:txBody>
      </p:sp>
      <p:sp>
        <p:nvSpPr>
          <p:cNvPr id="7" name="Text 5"/>
          <p:cNvSpPr txBox="1"/>
          <p:nvPr/>
        </p:nvSpPr>
        <p:spPr>
          <a:xfrm>
            <a:off x="1097280" y="4297680"/>
            <a:ext cx="2880360" cy="502920"/>
          </a:xfrm>
          <a:prstGeom prst="rect">
            <a:avLst/>
          </a:prstGeom>
          <a:noFill/>
          <a:ln/>
        </p:spPr>
        <p:txBody>
          <a:bodyPr wrap="square" lIns="0" tIns="0" rIns="0" bIns="0" rtlCol="0" anchor="t"/>
          <a:lstStyle/>
          <a:p>
            <a:pPr indent="0" marL="0">
              <a:buNone/>
            </a:pPr>
            <a:r>
              <a:rPr lang="en-US" sz="1100" dirty="0">
                <a:solidFill>
                  <a:srgbClr val="C9C3B3"/>
                </a:solidFill>
              </a:rPr>
              <a:t>Slabs and credit rules are demo values — confirm against the Finance Act</a:t>
            </a:r>
            <a:endParaRPr lang="en-US" sz="1100" dirty="0"/>
          </a:p>
        </p:txBody>
      </p:sp>
      <p:sp>
        <p:nvSpPr>
          <p:cNvPr id="8" name="Shape 6"/>
          <p:cNvSpPr/>
          <p:nvPr/>
        </p:nvSpPr>
        <p:spPr>
          <a:xfrm>
            <a:off x="4261104" y="3840480"/>
            <a:ext cx="3611880" cy="1005840"/>
          </a:xfrm>
          <a:prstGeom prst="roundRect">
            <a:avLst>
              <a:gd name="adj" fmla="val 7273"/>
            </a:avLst>
          </a:prstGeom>
          <a:solidFill>
            <a:srgbClr val="1F1E22"/>
          </a:solidFill>
          <a:ln w="9525">
            <a:solidFill>
              <a:srgbClr val="3A352A"/>
            </a:solidFill>
            <a:prstDash val="solid"/>
          </a:ln>
        </p:spPr>
      </p:sp>
      <p:sp>
        <p:nvSpPr>
          <p:cNvPr id="9" name="Text 7"/>
          <p:cNvSpPr txBox="1"/>
          <p:nvPr/>
        </p:nvSpPr>
        <p:spPr>
          <a:xfrm>
            <a:off x="4443984" y="3977640"/>
            <a:ext cx="365760" cy="365760"/>
          </a:xfrm>
          <a:prstGeom prst="rect">
            <a:avLst/>
          </a:prstGeom>
          <a:noFill/>
          <a:ln/>
        </p:spPr>
        <p:txBody>
          <a:bodyPr wrap="square" lIns="0" tIns="0" rIns="0" bIns="0" rtlCol="0" anchor="t"/>
          <a:lstStyle/>
          <a:p>
            <a:pPr indent="0" marL="0">
              <a:buNone/>
            </a:pPr>
            <a:r>
              <a:rPr lang="en-US" sz="2000" b="1" dirty="0">
                <a:solidFill>
                  <a:srgbClr val="D4AF37"/>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4855464" y="3977640"/>
            <a:ext cx="2880360" cy="292608"/>
          </a:xfrm>
          <a:prstGeom prst="rect">
            <a:avLst/>
          </a:prstGeom>
          <a:noFill/>
          <a:ln/>
        </p:spPr>
        <p:txBody>
          <a:bodyPr wrap="square" lIns="0" tIns="0" rIns="0" bIns="0" rtlCol="0" anchor="t"/>
          <a:lstStyle/>
          <a:p>
            <a:pPr indent="0" marL="0">
              <a:buNone/>
            </a:pPr>
            <a:r>
              <a:rPr lang="en-US" sz="1400" b="1" dirty="0">
                <a:solidFill>
                  <a:srgbClr val="FFFFFF"/>
                </a:solidFill>
              </a:rPr>
              <a:t>Connect messaging</a:t>
            </a:r>
            <a:endParaRPr lang="en-US" sz="1400" dirty="0"/>
          </a:p>
        </p:txBody>
      </p:sp>
      <p:sp>
        <p:nvSpPr>
          <p:cNvPr id="11" name="Text 9"/>
          <p:cNvSpPr txBox="1"/>
          <p:nvPr/>
        </p:nvSpPr>
        <p:spPr>
          <a:xfrm>
            <a:off x="4855464" y="4297680"/>
            <a:ext cx="2880360" cy="502920"/>
          </a:xfrm>
          <a:prstGeom prst="rect">
            <a:avLst/>
          </a:prstGeom>
          <a:noFill/>
          <a:ln/>
        </p:spPr>
        <p:txBody>
          <a:bodyPr wrap="square" lIns="0" tIns="0" rIns="0" bIns="0" rtlCol="0" anchor="t"/>
          <a:lstStyle/>
          <a:p>
            <a:pPr indent="0" marL="0">
              <a:buNone/>
            </a:pPr>
            <a:r>
              <a:rPr lang="en-US" sz="1100" dirty="0">
                <a:solidFill>
                  <a:srgbClr val="C9C3B3"/>
                </a:solidFill>
              </a:rPr>
              <a:t>Meta WhatsApp account + authentication template; SMS provider</a:t>
            </a:r>
            <a:endParaRPr lang="en-US" sz="1100" dirty="0"/>
          </a:p>
        </p:txBody>
      </p:sp>
      <p:sp>
        <p:nvSpPr>
          <p:cNvPr id="12" name="Shape 10"/>
          <p:cNvSpPr/>
          <p:nvPr/>
        </p:nvSpPr>
        <p:spPr>
          <a:xfrm>
            <a:off x="8019288" y="3840480"/>
            <a:ext cx="3611880" cy="1005840"/>
          </a:xfrm>
          <a:prstGeom prst="roundRect">
            <a:avLst>
              <a:gd name="adj" fmla="val 7273"/>
            </a:avLst>
          </a:prstGeom>
          <a:solidFill>
            <a:srgbClr val="1F1E22"/>
          </a:solidFill>
          <a:ln w="9525">
            <a:solidFill>
              <a:srgbClr val="3A352A"/>
            </a:solidFill>
            <a:prstDash val="solid"/>
          </a:ln>
        </p:spPr>
      </p:sp>
      <p:sp>
        <p:nvSpPr>
          <p:cNvPr id="13" name="Text 11"/>
          <p:cNvSpPr txBox="1"/>
          <p:nvPr/>
        </p:nvSpPr>
        <p:spPr>
          <a:xfrm>
            <a:off x="8202168" y="3977640"/>
            <a:ext cx="365760" cy="365760"/>
          </a:xfrm>
          <a:prstGeom prst="rect">
            <a:avLst/>
          </a:prstGeom>
          <a:noFill/>
          <a:ln/>
        </p:spPr>
        <p:txBody>
          <a:bodyPr wrap="square" lIns="0" tIns="0" rIns="0" bIns="0" rtlCol="0" anchor="t"/>
          <a:lstStyle/>
          <a:p>
            <a:pPr indent="0" marL="0">
              <a:buNone/>
            </a:pPr>
            <a:r>
              <a:rPr lang="en-US" sz="2000" b="1" dirty="0">
                <a:solidFill>
                  <a:srgbClr val="D4AF37"/>
                </a:solidFill>
                <a:latin typeface="Cambria" pitchFamily="34" charset="0"/>
                <a:ea typeface="Cambria" pitchFamily="34" charset="-122"/>
                <a:cs typeface="Cambria" pitchFamily="34" charset="-120"/>
              </a:rPr>
              <a:t>3</a:t>
            </a:r>
            <a:endParaRPr lang="en-US" sz="2000" dirty="0"/>
          </a:p>
        </p:txBody>
      </p:sp>
      <p:sp>
        <p:nvSpPr>
          <p:cNvPr id="14" name="Text 12"/>
          <p:cNvSpPr txBox="1"/>
          <p:nvPr/>
        </p:nvSpPr>
        <p:spPr>
          <a:xfrm>
            <a:off x="8613648" y="3977640"/>
            <a:ext cx="2880360" cy="292608"/>
          </a:xfrm>
          <a:prstGeom prst="rect">
            <a:avLst/>
          </a:prstGeom>
          <a:noFill/>
          <a:ln/>
        </p:spPr>
        <p:txBody>
          <a:bodyPr wrap="square" lIns="0" tIns="0" rIns="0" bIns="0" rtlCol="0" anchor="t"/>
          <a:lstStyle/>
          <a:p>
            <a:pPr indent="0" marL="0">
              <a:buNone/>
            </a:pPr>
            <a:r>
              <a:rPr lang="en-US" sz="1400" b="1" dirty="0">
                <a:solidFill>
                  <a:srgbClr val="FFFFFF"/>
                </a:solidFill>
              </a:rPr>
              <a:t>Set up email</a:t>
            </a:r>
            <a:endParaRPr lang="en-US" sz="1400" dirty="0"/>
          </a:p>
        </p:txBody>
      </p:sp>
      <p:sp>
        <p:nvSpPr>
          <p:cNvPr id="15" name="Text 13"/>
          <p:cNvSpPr txBox="1"/>
          <p:nvPr/>
        </p:nvSpPr>
        <p:spPr>
          <a:xfrm>
            <a:off x="8613648" y="4297680"/>
            <a:ext cx="2880360" cy="502920"/>
          </a:xfrm>
          <a:prstGeom prst="rect">
            <a:avLst/>
          </a:prstGeom>
          <a:noFill/>
          <a:ln/>
        </p:spPr>
        <p:txBody>
          <a:bodyPr wrap="square" lIns="0" tIns="0" rIns="0" bIns="0" rtlCol="0" anchor="t"/>
          <a:lstStyle/>
          <a:p>
            <a:pPr indent="0" marL="0">
              <a:buNone/>
            </a:pPr>
            <a:r>
              <a:rPr lang="en-US" sz="1100" dirty="0">
                <a:solidFill>
                  <a:srgbClr val="C9C3B3"/>
                </a:solidFill>
              </a:rPr>
              <a:t>Outgoing SMTP for notices and invites</a:t>
            </a:r>
            <a:endParaRPr lang="en-US" sz="1100" dirty="0"/>
          </a:p>
        </p:txBody>
      </p:sp>
      <p:sp>
        <p:nvSpPr>
          <p:cNvPr id="16" name="Shape 14"/>
          <p:cNvSpPr/>
          <p:nvPr/>
        </p:nvSpPr>
        <p:spPr>
          <a:xfrm>
            <a:off x="502920" y="5029200"/>
            <a:ext cx="3611880" cy="1005840"/>
          </a:xfrm>
          <a:prstGeom prst="roundRect">
            <a:avLst>
              <a:gd name="adj" fmla="val 7273"/>
            </a:avLst>
          </a:prstGeom>
          <a:solidFill>
            <a:srgbClr val="1F1E22"/>
          </a:solidFill>
          <a:ln w="9525">
            <a:solidFill>
              <a:srgbClr val="3A352A"/>
            </a:solidFill>
            <a:prstDash val="solid"/>
          </a:ln>
        </p:spPr>
      </p:sp>
      <p:sp>
        <p:nvSpPr>
          <p:cNvPr id="17" name="Text 15"/>
          <p:cNvSpPr txBox="1"/>
          <p:nvPr/>
        </p:nvSpPr>
        <p:spPr>
          <a:xfrm>
            <a:off x="685800" y="5166360"/>
            <a:ext cx="365760" cy="365760"/>
          </a:xfrm>
          <a:prstGeom prst="rect">
            <a:avLst/>
          </a:prstGeom>
          <a:noFill/>
          <a:ln/>
        </p:spPr>
        <p:txBody>
          <a:bodyPr wrap="square" lIns="0" tIns="0" rIns="0" bIns="0" rtlCol="0" anchor="t"/>
          <a:lstStyle/>
          <a:p>
            <a:pPr indent="0" marL="0">
              <a:buNone/>
            </a:pPr>
            <a:r>
              <a:rPr lang="en-US" sz="2000" b="1" dirty="0">
                <a:solidFill>
                  <a:srgbClr val="D4AF37"/>
                </a:solidFill>
                <a:latin typeface="Cambria" pitchFamily="34" charset="0"/>
                <a:ea typeface="Cambria" pitchFamily="34" charset="-122"/>
                <a:cs typeface="Cambria" pitchFamily="34" charset="-120"/>
              </a:rPr>
              <a:t>4</a:t>
            </a:r>
            <a:endParaRPr lang="en-US" sz="2000" dirty="0"/>
          </a:p>
        </p:txBody>
      </p:sp>
      <p:sp>
        <p:nvSpPr>
          <p:cNvPr id="18" name="Text 16"/>
          <p:cNvSpPr txBox="1"/>
          <p:nvPr/>
        </p:nvSpPr>
        <p:spPr>
          <a:xfrm>
            <a:off x="1097280" y="5166360"/>
            <a:ext cx="2880360" cy="292608"/>
          </a:xfrm>
          <a:prstGeom prst="rect">
            <a:avLst/>
          </a:prstGeom>
          <a:noFill/>
          <a:ln/>
        </p:spPr>
        <p:txBody>
          <a:bodyPr wrap="square" lIns="0" tIns="0" rIns="0" bIns="0" rtlCol="0" anchor="t"/>
          <a:lstStyle/>
          <a:p>
            <a:pPr indent="0" marL="0">
              <a:buNone/>
            </a:pPr>
            <a:r>
              <a:rPr lang="en-US" sz="1400" b="1" dirty="0">
                <a:solidFill>
                  <a:srgbClr val="FFFFFF"/>
                </a:solidFill>
              </a:rPr>
              <a:t>Confirm prices</a:t>
            </a:r>
            <a:endParaRPr lang="en-US" sz="1400" dirty="0"/>
          </a:p>
        </p:txBody>
      </p:sp>
      <p:sp>
        <p:nvSpPr>
          <p:cNvPr id="19" name="Text 17"/>
          <p:cNvSpPr txBox="1"/>
          <p:nvPr/>
        </p:nvSpPr>
        <p:spPr>
          <a:xfrm>
            <a:off x="1097280" y="5486400"/>
            <a:ext cx="2880360" cy="502920"/>
          </a:xfrm>
          <a:prstGeom prst="rect">
            <a:avLst/>
          </a:prstGeom>
          <a:noFill/>
          <a:ln/>
        </p:spPr>
        <p:txBody>
          <a:bodyPr wrap="square" lIns="0" tIns="0" rIns="0" bIns="0" rtlCol="0" anchor="t"/>
          <a:lstStyle/>
          <a:p>
            <a:pPr indent="0" marL="0">
              <a:buNone/>
            </a:pPr>
            <a:r>
              <a:rPr lang="en-US" sz="1100" dirty="0">
                <a:solidFill>
                  <a:srgbClr val="C9C3B3"/>
                </a:solidFill>
              </a:rPr>
              <a:t>Express Filing Rs 10,000 shown vs Rs 12,000 discussed</a:t>
            </a:r>
            <a:endParaRPr lang="en-US" sz="1100" dirty="0"/>
          </a:p>
        </p:txBody>
      </p:sp>
      <p:sp>
        <p:nvSpPr>
          <p:cNvPr id="20" name="Shape 18"/>
          <p:cNvSpPr/>
          <p:nvPr/>
        </p:nvSpPr>
        <p:spPr>
          <a:xfrm>
            <a:off x="4261104" y="5029200"/>
            <a:ext cx="3611880" cy="1005840"/>
          </a:xfrm>
          <a:prstGeom prst="roundRect">
            <a:avLst>
              <a:gd name="adj" fmla="val 7273"/>
            </a:avLst>
          </a:prstGeom>
          <a:solidFill>
            <a:srgbClr val="1F1E22"/>
          </a:solidFill>
          <a:ln w="9525">
            <a:solidFill>
              <a:srgbClr val="3A352A"/>
            </a:solidFill>
            <a:prstDash val="solid"/>
          </a:ln>
        </p:spPr>
      </p:sp>
      <p:sp>
        <p:nvSpPr>
          <p:cNvPr id="21" name="Text 19"/>
          <p:cNvSpPr txBox="1"/>
          <p:nvPr/>
        </p:nvSpPr>
        <p:spPr>
          <a:xfrm>
            <a:off x="4443984" y="5166360"/>
            <a:ext cx="365760" cy="365760"/>
          </a:xfrm>
          <a:prstGeom prst="rect">
            <a:avLst/>
          </a:prstGeom>
          <a:noFill/>
          <a:ln/>
        </p:spPr>
        <p:txBody>
          <a:bodyPr wrap="square" lIns="0" tIns="0" rIns="0" bIns="0" rtlCol="0" anchor="t"/>
          <a:lstStyle/>
          <a:p>
            <a:pPr indent="0" marL="0">
              <a:buNone/>
            </a:pPr>
            <a:r>
              <a:rPr lang="en-US" sz="2000" b="1" dirty="0">
                <a:solidFill>
                  <a:srgbClr val="D4AF37"/>
                </a:solidFill>
                <a:latin typeface="Cambria" pitchFamily="34" charset="0"/>
                <a:ea typeface="Cambria" pitchFamily="34" charset="-122"/>
                <a:cs typeface="Cambria" pitchFamily="34" charset="-120"/>
              </a:rPr>
              <a:t>5</a:t>
            </a:r>
            <a:endParaRPr lang="en-US" sz="2000" dirty="0"/>
          </a:p>
        </p:txBody>
      </p:sp>
      <p:sp>
        <p:nvSpPr>
          <p:cNvPr id="22" name="Text 20"/>
          <p:cNvSpPr txBox="1"/>
          <p:nvPr/>
        </p:nvSpPr>
        <p:spPr>
          <a:xfrm>
            <a:off x="4855464" y="5166360"/>
            <a:ext cx="2880360" cy="292608"/>
          </a:xfrm>
          <a:prstGeom prst="rect">
            <a:avLst/>
          </a:prstGeom>
          <a:noFill/>
          <a:ln/>
        </p:spPr>
        <p:txBody>
          <a:bodyPr wrap="square" lIns="0" tIns="0" rIns="0" bIns="0" rtlCol="0" anchor="t"/>
          <a:lstStyle/>
          <a:p>
            <a:pPr indent="0" marL="0">
              <a:buNone/>
            </a:pPr>
            <a:r>
              <a:rPr lang="en-US" sz="1400" b="1" dirty="0">
                <a:solidFill>
                  <a:srgbClr val="FFFFFF"/>
                </a:solidFill>
              </a:rPr>
              <a:t>Firm payment details</a:t>
            </a:r>
            <a:endParaRPr lang="en-US" sz="1400" dirty="0"/>
          </a:p>
        </p:txBody>
      </p:sp>
      <p:sp>
        <p:nvSpPr>
          <p:cNvPr id="23" name="Text 21"/>
          <p:cNvSpPr txBox="1"/>
          <p:nvPr/>
        </p:nvSpPr>
        <p:spPr>
          <a:xfrm>
            <a:off x="4855464" y="5486400"/>
            <a:ext cx="2880360" cy="502920"/>
          </a:xfrm>
          <a:prstGeom prst="rect">
            <a:avLst/>
          </a:prstGeom>
          <a:noFill/>
          <a:ln/>
        </p:spPr>
        <p:txBody>
          <a:bodyPr wrap="square" lIns="0" tIns="0" rIns="0" bIns="0" rtlCol="0" anchor="t"/>
          <a:lstStyle/>
          <a:p>
            <a:pPr indent="0" marL="0">
              <a:buNone/>
            </a:pPr>
            <a:r>
              <a:rPr lang="en-US" sz="1100" dirty="0">
                <a:solidFill>
                  <a:srgbClr val="C9C3B3"/>
                </a:solidFill>
              </a:rPr>
              <a:t>Bank / Raast / wallet titles for the How to pay box</a:t>
            </a:r>
            <a:endParaRPr lang="en-US" sz="1100" dirty="0"/>
          </a:p>
        </p:txBody>
      </p:sp>
      <p:sp>
        <p:nvSpPr>
          <p:cNvPr id="24" name="Shape 22"/>
          <p:cNvSpPr/>
          <p:nvPr/>
        </p:nvSpPr>
        <p:spPr>
          <a:xfrm>
            <a:off x="8019288" y="5029200"/>
            <a:ext cx="3611880" cy="1005840"/>
          </a:xfrm>
          <a:prstGeom prst="roundRect">
            <a:avLst>
              <a:gd name="adj" fmla="val 7273"/>
            </a:avLst>
          </a:prstGeom>
          <a:solidFill>
            <a:srgbClr val="1F1E22"/>
          </a:solidFill>
          <a:ln w="9525">
            <a:solidFill>
              <a:srgbClr val="3A352A"/>
            </a:solidFill>
            <a:prstDash val="solid"/>
          </a:ln>
        </p:spPr>
      </p:sp>
      <p:sp>
        <p:nvSpPr>
          <p:cNvPr id="25" name="Text 23"/>
          <p:cNvSpPr txBox="1"/>
          <p:nvPr/>
        </p:nvSpPr>
        <p:spPr>
          <a:xfrm>
            <a:off x="8202168" y="5166360"/>
            <a:ext cx="365760" cy="365760"/>
          </a:xfrm>
          <a:prstGeom prst="rect">
            <a:avLst/>
          </a:prstGeom>
          <a:noFill/>
          <a:ln/>
        </p:spPr>
        <p:txBody>
          <a:bodyPr wrap="square" lIns="0" tIns="0" rIns="0" bIns="0" rtlCol="0" anchor="t"/>
          <a:lstStyle/>
          <a:p>
            <a:pPr indent="0" marL="0">
              <a:buNone/>
            </a:pPr>
            <a:r>
              <a:rPr lang="en-US" sz="2000" b="1" dirty="0">
                <a:solidFill>
                  <a:srgbClr val="D4AF37"/>
                </a:solidFill>
                <a:latin typeface="Cambria" pitchFamily="34" charset="0"/>
                <a:ea typeface="Cambria" pitchFamily="34" charset="-122"/>
                <a:cs typeface="Cambria" pitchFamily="34" charset="-120"/>
              </a:rPr>
              <a:t>6</a:t>
            </a:r>
            <a:endParaRPr lang="en-US" sz="2000" dirty="0"/>
          </a:p>
        </p:txBody>
      </p:sp>
      <p:sp>
        <p:nvSpPr>
          <p:cNvPr id="26" name="Text 24"/>
          <p:cNvSpPr txBox="1"/>
          <p:nvPr/>
        </p:nvSpPr>
        <p:spPr>
          <a:xfrm>
            <a:off x="8613648" y="5166360"/>
            <a:ext cx="2880360" cy="292608"/>
          </a:xfrm>
          <a:prstGeom prst="rect">
            <a:avLst/>
          </a:prstGeom>
          <a:noFill/>
          <a:ln/>
        </p:spPr>
        <p:txBody>
          <a:bodyPr wrap="square" lIns="0" tIns="0" rIns="0" bIns="0" rtlCol="0" anchor="t"/>
          <a:lstStyle/>
          <a:p>
            <a:pPr indent="0" marL="0">
              <a:buNone/>
            </a:pPr>
            <a:r>
              <a:rPr lang="en-US" sz="1400" b="1" dirty="0">
                <a:solidFill>
                  <a:srgbClr val="FFFFFF"/>
                </a:solidFill>
              </a:rPr>
              <a:t>Targets (SLAs)</a:t>
            </a:r>
            <a:endParaRPr lang="en-US" sz="1400" dirty="0"/>
          </a:p>
        </p:txBody>
      </p:sp>
      <p:sp>
        <p:nvSpPr>
          <p:cNvPr id="27" name="Text 25"/>
          <p:cNvSpPr txBox="1"/>
          <p:nvPr/>
        </p:nvSpPr>
        <p:spPr>
          <a:xfrm>
            <a:off x="8613648" y="5486400"/>
            <a:ext cx="2880360" cy="502920"/>
          </a:xfrm>
          <a:prstGeom prst="rect">
            <a:avLst/>
          </a:prstGeom>
          <a:noFill/>
          <a:ln/>
        </p:spPr>
        <p:txBody>
          <a:bodyPr wrap="square" lIns="0" tIns="0" rIns="0" bIns="0" rtlCol="0" anchor="t"/>
          <a:lstStyle/>
          <a:p>
            <a:pPr indent="0" marL="0">
              <a:buNone/>
            </a:pPr>
            <a:r>
              <a:rPr lang="en-US" sz="1100" dirty="0">
                <a:solidFill>
                  <a:srgbClr val="C9C3B3"/>
                </a:solidFill>
              </a:rPr>
              <a:t>Days allowed per step for the late flags</a:t>
            </a:r>
            <a:endParaRPr lang="en-US" sz="1100" dirty="0"/>
          </a:p>
        </p:txBody>
      </p:sp>
      <p:sp>
        <p:nvSpPr>
          <p:cNvPr id="29" name="Text 0"/>
          <p:cNvSpPr/>
          <p:nvPr>
            <p:ph idx="103" type="body" hasCustomPrompt="1"/>
          </p:nvPr>
        </p:nvSpPr>
        <p:spPr>
          <a:xfrm>
            <a:off x="502920" y="3520440"/>
            <a:ext cx="8686800" cy="100584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114013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677"/>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VVS Tax Portal FSD">
  <a:themeElements>
    <a:clrScheme name="VVS Tax Portal FSD">
      <a:dk1>
        <a:srgbClr val="1B1B21"/>
      </a:dk1>
      <a:lt1>
        <a:srgbClr val="FFFFFF"/>
      </a:lt1>
      <a:dk2>
        <a:srgbClr val="141416"/>
      </a:dk2>
      <a:lt2>
        <a:srgbClr val="F3F1EA"/>
      </a:lt2>
      <a:accent1>
        <a:srgbClr val="A8811F"/>
      </a:accent1>
      <a:accent2>
        <a:srgbClr val="D4AF37"/>
      </a:accent2>
      <a:accent3>
        <a:srgbClr val="2A78D6"/>
      </a:accent3>
      <a:accent4>
        <a:srgbClr val="1BAF7A"/>
      </a:accent4>
      <a:accent5>
        <a:srgbClr val="EB6834"/>
      </a:accent5>
      <a:accent6>
        <a:srgbClr val="DC2626"/>
      </a:accent6>
      <a:hlink>
        <a:srgbClr val="A8811F"/>
      </a:hlink>
      <a:folHlink>
        <a:srgbClr val="6B5214"/>
      </a:folHlink>
    </a:clrScheme>
    <a:fontScheme name="VVS Tax Portal FS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MicroMax Erp Pvt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VVS Tax Consultancy Portal — Functional Specification Document</dc:title>
  <dc:subject>PptxGenJS Presentation</dc:subject>
  <dc:creator>MicroMax Erp Pvt Ltd</dc:creator>
  <cp:lastModifiedBy>MicroMax Erp Pvt Ltd</cp:lastModifiedBy>
  <cp:revision>1</cp:revision>
  <dcterms:created xsi:type="dcterms:W3CDTF">2026-10-19T13:47:52Z</dcterms:created>
  <dcterms:modified xsi:type="dcterms:W3CDTF">2026-10-19T13:47:52Z</dcterms:modified>
</cp:coreProperties>
</file>